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280160"/>
          </a:xfrm>
          <a:prstGeom prst="rect">
            <a:avLst/>
          </a:prstGeom>
          <a:noFill/>
        </p:spPr>
        <p:txBody>
          <a:bodyPr wrap="none">
            <a:spAutoFit/>
          </a:bodyPr>
          <a:lstStyle/>
          <a:p>
            <a:pPr algn="ctr"/>
            <a:r>
              <a:rPr sz="4000" b="1">
                <a:solidFill>
                  <a:srgbClr val="FFFFFF"/>
                </a:solidFill>
              </a:rPr>
              <a:t>MuBench — Walkthrough del Codigo</a:t>
            </a:r>
          </a:p>
        </p:txBody>
      </p:sp>
      <p:sp>
        <p:nvSpPr>
          <p:cNvPr id="4" name="TextBox 3"/>
          <p:cNvSpPr txBox="1"/>
          <p:nvPr/>
        </p:nvSpPr>
        <p:spPr>
          <a:xfrm>
            <a:off x="914400" y="3017520"/>
            <a:ext cx="10058400" cy="731520"/>
          </a:xfrm>
          <a:prstGeom prst="rect">
            <a:avLst/>
          </a:prstGeom>
          <a:noFill/>
        </p:spPr>
        <p:txBody>
          <a:bodyPr wrap="none">
            <a:spAutoFit/>
          </a:bodyPr>
          <a:lstStyle/>
          <a:p>
            <a:pPr algn="ctr"/>
            <a:r>
              <a:rPr sz="2000">
                <a:solidFill>
                  <a:srgbClr val="BDD7EE"/>
                </a:solidFill>
              </a:rPr>
              <a:t>Explicacion linea a linea de cada modulo y sus interacciones</a:t>
            </a:r>
          </a:p>
        </p:txBody>
      </p:sp>
      <p:sp>
        <p:nvSpPr>
          <p:cNvPr id="5" name="TextBox 4"/>
          <p:cNvSpPr txBox="1"/>
          <p:nvPr/>
        </p:nvSpPr>
        <p:spPr>
          <a:xfrm>
            <a:off x="914400" y="3931920"/>
            <a:ext cx="10058400" cy="548640"/>
          </a:xfrm>
          <a:prstGeom prst="rect">
            <a:avLst/>
          </a:prstGeom>
          <a:noFill/>
        </p:spPr>
        <p:txBody>
          <a:bodyPr wrap="none">
            <a:spAutoFit/>
          </a:bodyPr>
          <a:lstStyle/>
          <a:p>
            <a:pPr algn="ctr"/>
            <a:r>
              <a:rPr sz="1500">
                <a:solidFill>
                  <a:srgbClr val="9DB8D2"/>
                </a:solidFill>
              </a:rPr>
              <a:t>Add-on/HPA/create-hpa.py  |  mayo 2026</a:t>
            </a:r>
          </a:p>
        </p:txBody>
      </p:sp>
      <p:sp>
        <p:nvSpPr>
          <p:cNvPr id="6" name="TextBox 5"/>
          <p:cNvSpPr txBox="1"/>
          <p:nvPr/>
        </p:nvSpPr>
        <p:spPr>
          <a:xfrm>
            <a:off x="2286000" y="4663440"/>
            <a:ext cx="7772400" cy="256032"/>
          </a:xfrm>
          <a:prstGeom prst="rect">
            <a:avLst/>
          </a:prstGeom>
          <a:noFill/>
        </p:spPr>
        <p:txBody>
          <a:bodyPr wrap="none">
            <a:spAutoFit/>
          </a:bodyPr>
          <a:lstStyle/>
          <a:p>
            <a:r>
              <a:rPr sz="1200">
                <a:solidFill>
                  <a:srgbClr val="7EA8D0"/>
                </a:solidFill>
              </a:rPr>
              <a:t>01 — create-hpa.py: proposito e imports</a:t>
            </a:r>
          </a:p>
        </p:txBody>
      </p:sp>
      <p:sp>
        <p:nvSpPr>
          <p:cNvPr id="7" name="TextBox 6"/>
          <p:cNvSpPr txBox="1"/>
          <p:nvPr/>
        </p:nvSpPr>
        <p:spPr>
          <a:xfrm>
            <a:off x="2286000" y="4910328"/>
            <a:ext cx="7772400" cy="256032"/>
          </a:xfrm>
          <a:prstGeom prst="rect">
            <a:avLst/>
          </a:prstGeom>
          <a:noFill/>
        </p:spPr>
        <p:txBody>
          <a:bodyPr wrap="none">
            <a:spAutoFit/>
          </a:bodyPr>
          <a:lstStyle/>
          <a:p>
            <a:r>
              <a:rPr sz="1200">
                <a:solidFill>
                  <a:srgbClr val="7EA8D0"/>
                </a:solidFill>
              </a:rPr>
              <a:t>02 — Funcion create_hpa(): parametros y flujo</a:t>
            </a:r>
          </a:p>
        </p:txBody>
      </p:sp>
      <p:sp>
        <p:nvSpPr>
          <p:cNvPr id="8" name="TextBox 7"/>
          <p:cNvSpPr txBox="1"/>
          <p:nvPr/>
        </p:nvSpPr>
        <p:spPr>
          <a:xfrm>
            <a:off x="2286000" y="5157216"/>
            <a:ext cx="7772400" cy="256032"/>
          </a:xfrm>
          <a:prstGeom prst="rect">
            <a:avLst/>
          </a:prstGeom>
          <a:noFill/>
        </p:spPr>
        <p:txBody>
          <a:bodyPr wrap="none">
            <a:spAutoFit/>
          </a:bodyPr>
          <a:lstStyle/>
          <a:p>
            <a:r>
              <a:rPr sz="1200">
                <a:solidFill>
                  <a:srgbClr val="7EA8D0"/>
                </a:solidFill>
              </a:rPr>
              <a:t>03 — Limpieza de placeholders (re.sub)</a:t>
            </a:r>
          </a:p>
        </p:txBody>
      </p:sp>
      <p:sp>
        <p:nvSpPr>
          <p:cNvPr id="9" name="TextBox 8"/>
          <p:cNvSpPr txBox="1"/>
          <p:nvPr/>
        </p:nvSpPr>
        <p:spPr>
          <a:xfrm>
            <a:off x="2286000" y="5404104"/>
            <a:ext cx="7772400" cy="256032"/>
          </a:xfrm>
          <a:prstGeom prst="rect">
            <a:avLst/>
          </a:prstGeom>
          <a:noFill/>
        </p:spPr>
        <p:txBody>
          <a:bodyPr wrap="none">
            <a:spAutoFit/>
          </a:bodyPr>
          <a:lstStyle/>
          <a:p>
            <a:r>
              <a:rPr sz="1200">
                <a:solidFill>
                  <a:srgbClr val="7EA8D0"/>
                </a:solidFill>
              </a:rPr>
              <a:t>04 — Parseo multi-documento YAML</a:t>
            </a:r>
          </a:p>
        </p:txBody>
      </p:sp>
      <p:sp>
        <p:nvSpPr>
          <p:cNvPr id="10" name="TextBox 9"/>
          <p:cNvSpPr txBox="1"/>
          <p:nvPr/>
        </p:nvSpPr>
        <p:spPr>
          <a:xfrm>
            <a:off x="2286000" y="5650992"/>
            <a:ext cx="7772400" cy="256032"/>
          </a:xfrm>
          <a:prstGeom prst="rect">
            <a:avLst/>
          </a:prstGeom>
          <a:noFill/>
        </p:spPr>
        <p:txBody>
          <a:bodyPr wrap="none">
            <a:spAutoFit/>
          </a:bodyPr>
          <a:lstStyle/>
          <a:p>
            <a:r>
              <a:rPr sz="1200">
                <a:solidFill>
                  <a:srgbClr val="7EA8D0"/>
                </a:solidFill>
              </a:rPr>
              <a:t>05 — Construccion y escritura del HPA</a:t>
            </a:r>
          </a:p>
        </p:txBody>
      </p:sp>
      <p:sp>
        <p:nvSpPr>
          <p:cNvPr id="11" name="TextBox 10"/>
          <p:cNvSpPr txBox="1"/>
          <p:nvPr/>
        </p:nvSpPr>
        <p:spPr>
          <a:xfrm>
            <a:off x="2286000" y="5897880"/>
            <a:ext cx="7772400" cy="256032"/>
          </a:xfrm>
          <a:prstGeom prst="rect">
            <a:avLst/>
          </a:prstGeom>
          <a:noFill/>
        </p:spPr>
        <p:txBody>
          <a:bodyPr wrap="none">
            <a:spAutoFit/>
          </a:bodyPr>
          <a:lstStyle/>
          <a:p>
            <a:r>
              <a:rPr sz="1200">
                <a:solidFill>
                  <a:srgbClr val="7EA8D0"/>
                </a:solidFill>
              </a:rPr>
              <a:t>06 — Funcion main(): CLI y orquestacion</a:t>
            </a:r>
          </a:p>
        </p:txBody>
      </p:sp>
      <p:sp>
        <p:nvSpPr>
          <p:cNvPr id="12" name="TextBox 11"/>
          <p:cNvSpPr txBox="1"/>
          <p:nvPr/>
        </p:nvSpPr>
        <p:spPr>
          <a:xfrm>
            <a:off x="2286000" y="6144768"/>
            <a:ext cx="7772400" cy="256032"/>
          </a:xfrm>
          <a:prstGeom prst="rect">
            <a:avLst/>
          </a:prstGeom>
          <a:noFill/>
        </p:spPr>
        <p:txBody>
          <a:bodyPr wrap="none">
            <a:spAutoFit/>
          </a:bodyPr>
          <a:lstStyle/>
          <a:p>
            <a:r>
              <a:rPr sz="1200">
                <a:solidFill>
                  <a:srgbClr val="7EA8D0"/>
                </a:solidFill>
              </a:rPr>
              <a:t>07 — Flujo completo de datos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MuBench — Diagrama de Integración Completo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9 capas · ServiceGraphGenerator → WorkModel → K8sDeployer → ServiceCell → Monitoring → Testing · microk8s v1.32</a:t>
            </a:r>
          </a:p>
        </p:txBody>
      </p:sp>
      <p:sp>
        <p:nvSpPr>
          <p:cNvPr id="5" name="Rectangle 4"/>
          <p:cNvSpPr/>
          <p:nvPr/>
        </p:nvSpPr>
        <p:spPr>
          <a:xfrm>
            <a:off x="228600" y="1143000"/>
            <a:ext cx="3657600" cy="1325880"/>
          </a:xfrm>
          <a:prstGeom prst="rect">
            <a:avLst/>
          </a:prstGeom>
          <a:solidFill>
            <a:srgbClr val="F0F4F8"/>
          </a:solidFill>
          <a:ln w="1905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555555"/>
                </a:solidFill>
                <a:latin typeface="Courier New"/>
              </a:rPr>
              <a:t>LAYER 0 — Configs/</a:t>
            </a:r>
          </a:p>
          <a:p>
            <a:r>
              <a:rPr sz="800">
                <a:solidFill>
                  <a:srgbClr val="555555"/>
                </a:solidFill>
                <a:latin typeface="Courier New"/>
              </a:rPr>
              <a:t>ServiceGraphParameters.json
WorkModelParameters.json
K8sParameters.json
K8sAutopilotConf.json
RunnerParameters.json</a:t>
            </a:r>
          </a:p>
        </p:txBody>
      </p:sp>
      <p:sp>
        <p:nvSpPr>
          <p:cNvPr id="6" name="Rectangle 5"/>
          <p:cNvSpPr/>
          <p:nvPr/>
        </p:nvSpPr>
        <p:spPr>
          <a:xfrm>
            <a:off x="228600" y="2532888"/>
            <a:ext cx="3657600" cy="1325880"/>
          </a:xfrm>
          <a:prstGeom prst="rect">
            <a:avLst/>
          </a:prstGeom>
          <a:solidFill>
            <a:srgbClr val="F0F4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E75B6"/>
                </a:solidFill>
                <a:latin typeface="Courier New"/>
              </a:rPr>
              <a:t>LAYER 1 — Generation Pipeline</a:t>
            </a:r>
          </a:p>
          <a:p>
            <a:r>
              <a:rPr sz="800">
                <a:solidFill>
                  <a:srgbClr val="555555"/>
                </a:solidFill>
                <a:latin typeface="Courier New"/>
              </a:rPr>
              <a:t>ServiceGraphGenerator.py
  → Graph.Barabasi(vertices, power)
  → servicegraph.json
WorkModelGenerator.py
  → select_internal_service(prob)
  → workmodel.json
K8sAutopilot → orquesta 1+2+3</a:t>
            </a:r>
          </a:p>
        </p:txBody>
      </p:sp>
      <p:sp>
        <p:nvSpPr>
          <p:cNvPr id="7" name="Rectangle 6"/>
          <p:cNvSpPr/>
          <p:nvPr/>
        </p:nvSpPr>
        <p:spPr>
          <a:xfrm>
            <a:off x="228600" y="3922776"/>
            <a:ext cx="3657600" cy="1325880"/>
          </a:xfrm>
          <a:prstGeom prst="rect">
            <a:avLst/>
          </a:prstGeom>
          <a:solidFill>
            <a:srgbClr val="F0F4F8"/>
          </a:solidFill>
          <a:ln w="19050">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E6B3A"/>
                </a:solidFill>
                <a:latin typeface="Courier New"/>
              </a:rPr>
              <a:t>LAYER 2 — K8sDeployer</a:t>
            </a:r>
          </a:p>
          <a:p>
            <a:r>
              <a:rPr sz="800">
                <a:solidFill>
                  <a:srgbClr val="555555"/>
                </a:solidFill>
                <a:latin typeface="Courier New"/>
              </a:rPr>
              <a:t>K8sYamlBuilder.py
  + Templates/DeploymentTemplate
  + Templates/ConfigMapWorkmodel
K8sYamlDeployer.py
  → kubernetes-client API
  → kubectl apply equivalente</a:t>
            </a:r>
          </a:p>
        </p:txBody>
      </p:sp>
      <p:sp>
        <p:nvSpPr>
          <p:cNvPr id="8" name="Rectangle 7"/>
          <p:cNvSpPr/>
          <p:nvPr/>
        </p:nvSpPr>
        <p:spPr>
          <a:xfrm>
            <a:off x="228600" y="5312664"/>
            <a:ext cx="3657600" cy="1325880"/>
          </a:xfrm>
          <a:prstGeom prst="rect">
            <a:avLst/>
          </a:prstGeom>
          <a:solidFill>
            <a:srgbClr val="F0F4F8"/>
          </a:solidFill>
          <a:ln w="19050">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D3690F"/>
                </a:solidFill>
                <a:latin typeface="Courier New"/>
              </a:rPr>
              <a:t>LAYER 3 — Kubernetes Cluster</a:t>
            </a:r>
          </a:p>
          <a:p>
            <a:r>
              <a:rPr sz="800">
                <a:solidFill>
                  <a:srgbClr val="555555"/>
                </a:solidFill>
                <a:latin typeface="Courier New"/>
              </a:rPr>
              <a:t>Gateway: gw-nginx :31213
         Kong :32080
         Istio :31486
Pods: msvcbench/microservice:latest
  CellController-mp.py (Flask+Gunicorn)
  InternalServiceExecutor (compute_pi)
  ExternalServiceExecutor (fan-out)
  gRPC server :51313
ConfigMaps: workmodel.json
            AuthFunction.py
            DataFunction.py</a:t>
            </a:r>
          </a:p>
        </p:txBody>
      </p:sp>
      <p:sp>
        <p:nvSpPr>
          <p:cNvPr id="9" name="Rectangle 8"/>
          <p:cNvSpPr/>
          <p:nvPr/>
        </p:nvSpPr>
        <p:spPr>
          <a:xfrm>
            <a:off x="4069080" y="1143000"/>
            <a:ext cx="3657600" cy="1325880"/>
          </a:xfrm>
          <a:prstGeom prst="rect">
            <a:avLst/>
          </a:prstGeom>
          <a:solidFill>
            <a:srgbClr val="F0F4F8"/>
          </a:solidFill>
          <a:ln w="19050">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6844B4"/>
                </a:solidFill>
                <a:latin typeface="Courier New"/>
              </a:rPr>
              <a:t>LAYER 4 — Add-on/</a:t>
            </a:r>
          </a:p>
          <a:p>
            <a:r>
              <a:rPr sz="800">
                <a:solidFill>
                  <a:srgbClr val="555555"/>
                </a:solidFill>
                <a:latin typeface="Courier New"/>
              </a:rPr>
              <a:t>HPA: cpu 60% · min1/max5
Istio: DestinationRule
       VirtualService · mTLS
Topology-affinity:
  affinity-yamls/
  eu-west1 · us-east1
  ap-southeast1</a:t>
            </a:r>
          </a:p>
        </p:txBody>
      </p:sp>
      <p:sp>
        <p:nvSpPr>
          <p:cNvPr id="10" name="Rectangle 9"/>
          <p:cNvSpPr/>
          <p:nvPr/>
        </p:nvSpPr>
        <p:spPr>
          <a:xfrm>
            <a:off x="4069080" y="2532888"/>
            <a:ext cx="3657600" cy="1325880"/>
          </a:xfrm>
          <a:prstGeom prst="rect">
            <a:avLst/>
          </a:prstGeom>
          <a:solidFill>
            <a:srgbClr val="F0F4F8"/>
          </a:solidFill>
          <a:ln w="19050">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9E2AF"/>
                </a:solidFill>
                <a:latin typeface="Courier New"/>
              </a:rPr>
              <a:t>LAYER 5 — Monitoring/</a:t>
            </a:r>
          </a:p>
          <a:p>
            <a:r>
              <a:rPr sz="800">
                <a:solidFill>
                  <a:srgbClr val="555555"/>
                </a:solidFill>
                <a:latin typeface="Courier New"/>
              </a:rPr>
              <a:t>Prometheus (kube-prometheus-stack)
  scrape /metrics :8080
  ServiceMonitor / PodMonitor
Grafana :30001
  mubench-dashboard.json
Jaeger :30002 (tracing)
Kiali :30003 (mesh visual)</a:t>
            </a:r>
          </a:p>
        </p:txBody>
      </p:sp>
      <p:sp>
        <p:nvSpPr>
          <p:cNvPr id="11" name="Rectangle 10"/>
          <p:cNvSpPr/>
          <p:nvPr/>
        </p:nvSpPr>
        <p:spPr>
          <a:xfrm>
            <a:off x="4069080" y="3922776"/>
            <a:ext cx="3657600" cy="1325880"/>
          </a:xfrm>
          <a:prstGeom prst="rect">
            <a:avLst/>
          </a:prstGeom>
          <a:solidFill>
            <a:srgbClr val="F0F4F8"/>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C0392B"/>
                </a:solidFill>
                <a:latin typeface="Courier New"/>
              </a:rPr>
              <a:t>LAYER 6 — RealisticServices/ (FastAPI)</a:t>
            </a:r>
          </a:p>
          <a:p>
            <a:r>
              <a:rPr sz="800">
                <a:solidFill>
                  <a:srgbClr val="555555"/>
                </a:solidFill>
                <a:latin typeface="Courier New"/>
              </a:rPr>
              <a:t>api-service :8000
  FastAPI · JWT validation
  Prometheus middleware
auth-service :8001
  JWT HS256 (PyJWT)
data-service :8002
  PostgreSQL asyncpg</a:t>
            </a:r>
          </a:p>
        </p:txBody>
      </p:sp>
      <p:sp>
        <p:nvSpPr>
          <p:cNvPr id="12" name="Rectangle 11"/>
          <p:cNvSpPr/>
          <p:nvPr/>
        </p:nvSpPr>
        <p:spPr>
          <a:xfrm>
            <a:off x="4069080" y="5312664"/>
            <a:ext cx="3657600" cy="1325880"/>
          </a:xfrm>
          <a:prstGeom prst="rect">
            <a:avLst/>
          </a:prstGeom>
          <a:solidFill>
            <a:srgbClr val="F0F4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E75B6"/>
                </a:solidFill>
                <a:latin typeface="Courier New"/>
              </a:rPr>
              <a:t>LAYER 7 — scripts/</a:t>
            </a:r>
          </a:p>
          <a:p>
            <a:r>
              <a:rPr sz="800">
                <a:solidFill>
                  <a:srgbClr val="555555"/>
                </a:solidFill>
                <a:latin typeface="Courier New"/>
              </a:rPr>
              <a:t>zero_absolute_precheck.sh (paso 1)
deploy_microk8s.sh (maestro)
validate_environment.sh
export_resource_metrics.sh
cleanup_results.sh
run_c1_only_tech_comparison.sh</a:t>
            </a:r>
          </a:p>
        </p:txBody>
      </p:sp>
      <p:sp>
        <p:nvSpPr>
          <p:cNvPr id="13" name="Rectangle 12"/>
          <p:cNvSpPr/>
          <p:nvPr/>
        </p:nvSpPr>
        <p:spPr>
          <a:xfrm>
            <a:off x="7909560" y="1143000"/>
            <a:ext cx="4206240" cy="1325880"/>
          </a:xfrm>
          <a:prstGeom prst="rect">
            <a:avLst/>
          </a:prstGeom>
          <a:solidFill>
            <a:srgbClr val="F0F4F8"/>
          </a:solidFill>
          <a:ln w="19050">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E6B3A"/>
                </a:solidFill>
                <a:latin typeface="Courier New"/>
              </a:rPr>
              <a:t>LAYER 8 — Testing/ + Benchmarks/</a:t>
            </a:r>
          </a:p>
          <a:p>
            <a:r>
              <a:rPr sz="800">
                <a:solidFill>
                  <a:srgbClr val="555555"/>
                </a:solidFill>
                <a:latin typeface="Courier New"/>
              </a:rPr>
              <a:t>k6 Load Generator
  affinity-benchmark.js
  baseline.js · inter-service-test.js
  VUs=10 · Duration=30-60s
analyze_k6_results.py
generate_plots.py
Runner.py (multi-run orchestrator)</a:t>
            </a:r>
          </a:p>
        </p:txBody>
      </p:sp>
      <p:sp>
        <p:nvSpPr>
          <p:cNvPr id="14" name="Rectangle 13"/>
          <p:cNvSpPr/>
          <p:nvPr/>
        </p:nvSpPr>
        <p:spPr>
          <a:xfrm>
            <a:off x="7909560" y="2532888"/>
            <a:ext cx="4206240" cy="1325880"/>
          </a:xfrm>
          <a:prstGeom prst="rect">
            <a:avLst/>
          </a:prstGeom>
          <a:solidFill>
            <a:srgbClr val="F0F4F8"/>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C0392B"/>
                </a:solidFill>
                <a:latin typeface="Courier New"/>
              </a:rPr>
              <a:t>LAYER 9 — experiments/ (C1-C4)</a:t>
            </a:r>
          </a:p>
          <a:p>
            <a:r>
              <a:rPr sz="800">
                <a:solidFill>
                  <a:srgbClr val="555555"/>
                </a:solidFill>
                <a:latin typeface="Courier New"/>
              </a:rPr>
              <a:t>01-api-gateway
  Baseline vs NGINX vs Kong
02-mtls-service-mesh
  Istio STRICT vs Linkerd
03-network-policies
  default-deny + allow-list
04-rate-limiting
  NGINX annotations · 429 tracking</a:t>
            </a:r>
          </a:p>
        </p:txBody>
      </p:sp>
      <p:sp>
        <p:nvSpPr>
          <p:cNvPr id="15" name="Rectangle 14"/>
          <p:cNvSpPr/>
          <p:nvPr/>
        </p:nvSpPr>
        <p:spPr>
          <a:xfrm>
            <a:off x="7909560" y="3922776"/>
            <a:ext cx="4206240" cy="1325880"/>
          </a:xfrm>
          <a:prstGeom prst="rect">
            <a:avLst/>
          </a:prstGeom>
          <a:solidFill>
            <a:srgbClr val="F0F4F8"/>
          </a:solidFill>
          <a:ln w="19050">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6844B4"/>
                </a:solidFill>
                <a:latin typeface="Courier New"/>
              </a:rPr>
              <a:t>CustomFunctions/ (plugins)</a:t>
            </a:r>
          </a:p>
          <a:p>
            <a:r>
              <a:rPr sz="800">
                <a:solidFill>
                  <a:srgbClr val="555555"/>
                </a:solidFill>
                <a:latin typeface="Courier New"/>
              </a:rPr>
              <a:t>Loader.py: cpu/memory/disk/sleep stress
Colosseum.py: carga avanzada
AuthFunction.py: JWT mock
DataFunction.py: DB simulation
ApiFunction.py: orquesta auth+data
→ plugin system via glob
→ ConfigMap sin rebuild de imagen</a:t>
            </a:r>
          </a:p>
        </p:txBody>
      </p:sp>
      <p:sp>
        <p:nvSpPr>
          <p:cNvPr id="16" name="Rectangle 15"/>
          <p:cNvSpPr/>
          <p:nvPr/>
        </p:nvSpPr>
        <p:spPr>
          <a:xfrm>
            <a:off x="7909560" y="5312664"/>
            <a:ext cx="4206240" cy="1325880"/>
          </a:xfrm>
          <a:prstGeom prst="rect">
            <a:avLst/>
          </a:prstGeom>
          <a:solidFill>
            <a:srgbClr val="F0F4F8"/>
          </a:solidFill>
          <a:ln w="19050">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D3690F"/>
                </a:solidFill>
                <a:latin typeface="Courier New"/>
              </a:rPr>
              <a:t>Resultados Benchmark (env-var sim)</a:t>
            </a:r>
          </a:p>
          <a:p>
            <a:r>
              <a:rPr sz="800">
                <a:solidFill>
                  <a:srgbClr val="555555"/>
                </a:solidFill>
                <a:latin typeface="Courier New"/>
              </a:rPr>
              <a:t>eu-west1:      p95=81.38ms  error=0.30%
us-east1:      p95=65.09ms  error=0.00% ★
ap-southeast1: p95=65.59ms  error=0.00%
────────────────────────────────────
Threshold p95&lt;500ms: ✓ PASS 3/3
Threshold error&lt;5%:  ✓ PASS 3/3
12 Deployments · 3 región:zona</a:t>
            </a:r>
          </a:p>
        </p:txBody>
      </p:sp>
      <p:sp>
        <p:nvSpPr>
          <p:cNvPr id="17" name="TextBox 16"/>
          <p:cNvSpPr txBox="1"/>
          <p:nvPr/>
        </p:nvSpPr>
        <p:spPr>
          <a:xfrm>
            <a:off x="228600" y="2423160"/>
            <a:ext cx="3657600" cy="182880"/>
          </a:xfrm>
          <a:prstGeom prst="rect">
            <a:avLst/>
          </a:prstGeom>
          <a:noFill/>
        </p:spPr>
        <p:txBody>
          <a:bodyPr wrap="none">
            <a:spAutoFit/>
          </a:bodyPr>
          <a:lstStyle/>
          <a:p>
            <a:r>
              <a:rPr sz="800">
                <a:solidFill>
                  <a:srgbClr val="555555"/>
                </a:solidFill>
                <a:latin typeface="Courier New"/>
              </a:rPr>
              <a:t>        ↓ params →</a:t>
            </a:r>
          </a:p>
        </p:txBody>
      </p:sp>
      <p:sp>
        <p:nvSpPr>
          <p:cNvPr id="18" name="TextBox 17"/>
          <p:cNvSpPr txBox="1"/>
          <p:nvPr/>
        </p:nvSpPr>
        <p:spPr>
          <a:xfrm>
            <a:off x="228600" y="3813048"/>
            <a:ext cx="3657600" cy="182880"/>
          </a:xfrm>
          <a:prstGeom prst="rect">
            <a:avLst/>
          </a:prstGeom>
          <a:noFill/>
        </p:spPr>
        <p:txBody>
          <a:bodyPr wrap="none">
            <a:spAutoFit/>
          </a:bodyPr>
          <a:lstStyle/>
          <a:p>
            <a:r>
              <a:rPr sz="800">
                <a:solidFill>
                  <a:srgbClr val="2E75B6"/>
                </a:solidFill>
                <a:latin typeface="Courier New"/>
              </a:rPr>
              <a:t>        ↓ genera →</a:t>
            </a:r>
          </a:p>
        </p:txBody>
      </p:sp>
      <p:sp>
        <p:nvSpPr>
          <p:cNvPr id="19" name="TextBox 18"/>
          <p:cNvSpPr txBox="1"/>
          <p:nvPr/>
        </p:nvSpPr>
        <p:spPr>
          <a:xfrm>
            <a:off x="228600" y="5202936"/>
            <a:ext cx="3657600" cy="182880"/>
          </a:xfrm>
          <a:prstGeom prst="rect">
            <a:avLst/>
          </a:prstGeom>
          <a:noFill/>
        </p:spPr>
        <p:txBody>
          <a:bodyPr wrap="none">
            <a:spAutoFit/>
          </a:bodyPr>
          <a:lstStyle/>
          <a:p>
            <a:r>
              <a:rPr sz="800">
                <a:solidFill>
                  <a:srgbClr val="1E6B3A"/>
                </a:solidFill>
                <a:latin typeface="Courier New"/>
              </a:rPr>
              <a:t>        ↓ despliega →</a:t>
            </a:r>
          </a:p>
        </p:txBody>
      </p:sp>
      <p:sp>
        <p:nvSpPr>
          <p:cNvPr id="20" name="TextBox 19"/>
          <p:cNvSpPr txBox="1"/>
          <p:nvPr/>
        </p:nvSpPr>
        <p:spPr>
          <a:xfrm>
            <a:off x="228600" y="6592824"/>
            <a:ext cx="3657600" cy="182880"/>
          </a:xfrm>
          <a:prstGeom prst="rect">
            <a:avLst/>
          </a:prstGeom>
          <a:noFill/>
        </p:spPr>
        <p:txBody>
          <a:bodyPr wrap="none">
            <a:spAutoFit/>
          </a:bodyPr>
          <a:lstStyle/>
          <a:p>
            <a:r>
              <a:rPr sz="800">
                <a:solidFill>
                  <a:srgbClr val="D3690F"/>
                </a:solidFill>
                <a:latin typeface="Courier New"/>
              </a:rPr>
              <a:t>        ↓ ejecuta →</a:t>
            </a:r>
          </a:p>
        </p:txBody>
      </p:sp>
      <p:sp>
        <p:nvSpPr>
          <p:cNvPr id="21" name="TextBox 20"/>
          <p:cNvSpPr txBox="1"/>
          <p:nvPr/>
        </p:nvSpPr>
        <p:spPr>
          <a:xfrm>
            <a:off x="228600" y="6492240"/>
            <a:ext cx="11887200" cy="274320"/>
          </a:xfrm>
          <a:prstGeom prst="rect">
            <a:avLst/>
          </a:prstGeom>
          <a:noFill/>
        </p:spPr>
        <p:txBody>
          <a:bodyPr wrap="none">
            <a:spAutoFit/>
          </a:bodyPr>
          <a:lstStyle/>
          <a:p>
            <a:r>
              <a:rPr sz="900">
                <a:solidFill>
                  <a:srgbClr val="555555"/>
                </a:solidFill>
                <a:latin typeface="Courier New"/>
              </a:rPr>
              <a:t>Flujo principal: Configs → ServiceGraphGen → WorkModelGen → K8sDeployer → pods(ServiceCell) → Gateway(nginx/Kong/Istio) → k6 Load Test → Prometheus/Grafana → analyze_k6_results.py → Testing/results/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Add-on/HPA/create-hpa.py</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Generador de HorizontalPodAutoscaler para Kubernetes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create-hpa.py — Proposito y contexto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Add-on/HPA/create-hpa.py</a:t>
            </a:r>
          </a:p>
        </p:txBody>
      </p:sp>
      <p:sp>
        <p:nvSpPr>
          <p:cNvPr id="5" name="Rectangle 4"/>
          <p:cNvSpPr/>
          <p:nvPr/>
        </p:nvSpPr>
        <p:spPr>
          <a:xfrm>
            <a:off x="365760" y="1143000"/>
            <a:ext cx="7132320" cy="23774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497D"/>
                </a:solidFill>
              </a:rPr>
              <a:t>Que hace</a:t>
            </a:r>
          </a:p>
          <a:p>
            <a:r>
              <a:rPr sz="1200">
                <a:solidFill>
                  <a:srgbClr val="555555"/>
                </a:solidFill>
              </a:rPr>
              <a:t>Genera archivos YAML de HorizontalPodAutoscaler (HPA) de Kubernetes</a:t>
            </a:r>
          </a:p>
          <a:p>
            <a:r>
              <a:rPr sz="1200">
                <a:solidFill>
                  <a:srgbClr val="555555"/>
                </a:solidFill>
              </a:rPr>
              <a:t>a partir de YAMLs de Deployment existentes + una plantilla HPA.</a:t>
            </a:r>
          </a:p>
          <a:p>
            <a:r>
              <a:rPr sz="1200">
                <a:solidFill>
                  <a:srgbClr val="555555"/>
                </a:solidFill>
              </a:rPr>
              <a:t/>
            </a:r>
          </a:p>
          <a:p>
            <a:r>
              <a:rPr sz="1200">
                <a:solidFill>
                  <a:srgbClr val="555555"/>
                </a:solidFill>
              </a:rPr>
              <a:t>Uso tipico en MuBench:</a:t>
            </a:r>
          </a:p>
          <a:p>
            <a:r>
              <a:rPr sz="1200">
                <a:solidFill>
                  <a:srgbClr val="555555"/>
                </a:solidFill>
              </a:rPr>
              <a:t>  1. ServiceGraphGenerator crea Deployments en SimulationWorkspace/yamls/</a:t>
            </a:r>
          </a:p>
          <a:p>
            <a:r>
              <a:rPr sz="1200">
                <a:solidFill>
                  <a:srgbClr val="555555"/>
                </a:solidFill>
              </a:rPr>
              <a:t>  2. create-hpa.py lee esos Deployments y produce hpa-*.yaml</a:t>
            </a:r>
          </a:p>
          <a:p>
            <a:r>
              <a:rPr sz="1200">
                <a:solidFill>
                  <a:srgbClr val="555555"/>
                </a:solidFill>
              </a:rPr>
              <a:t>  3. El operador aplica los HPAs con kubectl apply</a:t>
            </a:r>
          </a:p>
        </p:txBody>
      </p:sp>
      <p:sp>
        <p:nvSpPr>
          <p:cNvPr id="6" name="Rectangle 5"/>
          <p:cNvSpPr/>
          <p:nvPr/>
        </p:nvSpPr>
        <p:spPr>
          <a:xfrm>
            <a:off x="7680960" y="1143000"/>
            <a:ext cx="4023360" cy="9144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Deployment
YAML</a:t>
            </a:r>
          </a:p>
        </p:txBody>
      </p:sp>
      <p:sp>
        <p:nvSpPr>
          <p:cNvPr id="7" name="TextBox 6"/>
          <p:cNvSpPr txBox="1"/>
          <p:nvPr/>
        </p:nvSpPr>
        <p:spPr>
          <a:xfrm>
            <a:off x="9326880" y="2057400"/>
            <a:ext cx="731520" cy="256032"/>
          </a:xfrm>
          <a:prstGeom prst="rect">
            <a:avLst/>
          </a:prstGeom>
          <a:noFill/>
        </p:spPr>
        <p:txBody>
          <a:bodyPr wrap="none">
            <a:spAutoFit/>
          </a:bodyPr>
          <a:lstStyle/>
          <a:p>
            <a:r>
              <a:rPr sz="1400">
                <a:solidFill>
                  <a:srgbClr val="1F497D"/>
                </a:solidFill>
              </a:rPr>
              <a:t>v</a:t>
            </a:r>
          </a:p>
        </p:txBody>
      </p:sp>
      <p:sp>
        <p:nvSpPr>
          <p:cNvPr id="8" name="Rectangle 7"/>
          <p:cNvSpPr/>
          <p:nvPr/>
        </p:nvSpPr>
        <p:spPr>
          <a:xfrm>
            <a:off x="7680960" y="2331720"/>
            <a:ext cx="4023360" cy="914400"/>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hpa-template
.yaml</a:t>
            </a:r>
          </a:p>
        </p:txBody>
      </p:sp>
      <p:sp>
        <p:nvSpPr>
          <p:cNvPr id="9" name="TextBox 8"/>
          <p:cNvSpPr txBox="1"/>
          <p:nvPr/>
        </p:nvSpPr>
        <p:spPr>
          <a:xfrm>
            <a:off x="9326880" y="3246120"/>
            <a:ext cx="731520" cy="256032"/>
          </a:xfrm>
          <a:prstGeom prst="rect">
            <a:avLst/>
          </a:prstGeom>
          <a:noFill/>
        </p:spPr>
        <p:txBody>
          <a:bodyPr wrap="none">
            <a:spAutoFit/>
          </a:bodyPr>
          <a:lstStyle/>
          <a:p>
            <a:r>
              <a:rPr sz="1400">
                <a:solidFill>
                  <a:srgbClr val="1F497D"/>
                </a:solidFill>
              </a:rPr>
              <a:t>v</a:t>
            </a:r>
          </a:p>
        </p:txBody>
      </p:sp>
      <p:sp>
        <p:nvSpPr>
          <p:cNvPr id="10" name="Rectangle 9"/>
          <p:cNvSpPr/>
          <p:nvPr/>
        </p:nvSpPr>
        <p:spPr>
          <a:xfrm>
            <a:off x="7680960" y="3520440"/>
            <a:ext cx="4023360" cy="914400"/>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create_hpa()
</a:t>
            </a:r>
          </a:p>
        </p:txBody>
      </p:sp>
      <p:sp>
        <p:nvSpPr>
          <p:cNvPr id="11" name="TextBox 10"/>
          <p:cNvSpPr txBox="1"/>
          <p:nvPr/>
        </p:nvSpPr>
        <p:spPr>
          <a:xfrm>
            <a:off x="9326880" y="4434840"/>
            <a:ext cx="731520" cy="256032"/>
          </a:xfrm>
          <a:prstGeom prst="rect">
            <a:avLst/>
          </a:prstGeom>
          <a:noFill/>
        </p:spPr>
        <p:txBody>
          <a:bodyPr wrap="none">
            <a:spAutoFit/>
          </a:bodyPr>
          <a:lstStyle/>
          <a:p>
            <a:r>
              <a:rPr sz="1400">
                <a:solidFill>
                  <a:srgbClr val="1F497D"/>
                </a:solidFill>
              </a:rPr>
              <a:t>v</a:t>
            </a:r>
          </a:p>
        </p:txBody>
      </p:sp>
      <p:sp>
        <p:nvSpPr>
          <p:cNvPr id="12" name="Rectangle 11"/>
          <p:cNvSpPr/>
          <p:nvPr/>
        </p:nvSpPr>
        <p:spPr>
          <a:xfrm>
            <a:off x="7680960" y="4709160"/>
            <a:ext cx="4023360" cy="914400"/>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hpa-*.yaml
(salida)</a:t>
            </a:r>
          </a:p>
        </p:txBody>
      </p:sp>
      <p:sp>
        <p:nvSpPr>
          <p:cNvPr id="13" name="Rectangle 12"/>
          <p:cNvSpPr/>
          <p:nvPr/>
        </p:nvSpPr>
        <p:spPr>
          <a:xfrm>
            <a:off x="365760" y="3657600"/>
            <a:ext cx="7132320" cy="26517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import re        # expresiones regulares → limpiar placeholders</a:t>
            </a:r>
          </a:p>
          <a:p>
            <a:r>
              <a:rPr sz="1100">
                <a:solidFill>
                  <a:srgbClr val="F9E2AF"/>
                </a:solidFill>
                <a:latin typeface="Courier New"/>
              </a:rPr>
              <a:t>import yaml      # parsear y escribir YAML</a:t>
            </a:r>
          </a:p>
          <a:p>
            <a:r>
              <a:rPr sz="1100">
                <a:solidFill>
                  <a:srgbClr val="F9E2AF"/>
                </a:solidFill>
                <a:latin typeface="Courier New"/>
              </a:rPr>
              <a:t>import os        # listar directorios, crear carpetas</a:t>
            </a:r>
          </a:p>
          <a:p>
            <a:r>
              <a:rPr sz="1100">
                <a:solidFill>
                  <a:srgbClr val="F9E2AF"/>
                </a:solidFill>
                <a:latin typeface="Courier New"/>
              </a:rPr>
              <a:t>import argparse  # parsear argumentos de linea de comandos</a:t>
            </a:r>
          </a:p>
          <a:p>
            <a:r>
              <a:rPr sz="1100">
                <a:solidFill>
                  <a:srgbClr val="CBD3F0"/>
                </a:solidFill>
                <a:latin typeface="Courier New"/>
              </a:rPr>
              <a:t/>
            </a:r>
          </a:p>
          <a:p>
            <a:r>
              <a:rPr sz="1100">
                <a:solidFill>
                  <a:srgbClr val="CBD3F0"/>
                </a:solidFill>
                <a:latin typeface="Courier New"/>
              </a:rPr>
              <a:t># No hay clases. El archivo tiene 2 funciones:</a:t>
            </a:r>
          </a:p>
          <a:p>
            <a:r>
              <a:rPr sz="1100">
                <a:solidFill>
                  <a:srgbClr val="CBD3F0"/>
                </a:solidFill>
                <a:latin typeface="Courier New"/>
              </a:rPr>
              <a:t>#   create_hpa()  ← logica principal</a:t>
            </a:r>
          </a:p>
          <a:p>
            <a:r>
              <a:rPr sz="1100">
                <a:solidFill>
                  <a:srgbClr val="CBD3F0"/>
                </a:solidFill>
                <a:latin typeface="Courier New"/>
              </a:rPr>
              <a:t>#   main()        ← punto de entrada CLI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create_hpa() — Firma y parametros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Funcion principal: recibe 3 rutas, produce 1 archivo HPA</a:t>
            </a:r>
          </a:p>
        </p:txBody>
      </p:sp>
      <p:sp>
        <p:nvSpPr>
          <p:cNvPr id="5" name="Rectangle 4"/>
          <p:cNvSpPr/>
          <p:nvPr/>
        </p:nvSpPr>
        <p:spPr>
          <a:xfrm>
            <a:off x="365760" y="1143000"/>
            <a:ext cx="11430000" cy="9144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def create_hpa(yaml_file_in, yaml_file_out, hpa_template_file):</a:t>
            </a:r>
          </a:p>
        </p:txBody>
      </p:sp>
      <p:sp>
        <p:nvSpPr>
          <p:cNvPr id="6" name="Rectangle 5"/>
          <p:cNvSpPr/>
          <p:nvPr/>
        </p:nvSpPr>
        <p:spPr>
          <a:xfrm>
            <a:off x="365760" y="2286000"/>
            <a:ext cx="3657600"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yaml_file_in</a:t>
            </a:r>
          </a:p>
        </p:txBody>
      </p:sp>
      <p:sp>
        <p:nvSpPr>
          <p:cNvPr id="7" name="Rectangle 6"/>
          <p:cNvSpPr/>
          <p:nvPr/>
        </p:nvSpPr>
        <p:spPr>
          <a:xfrm>
            <a:off x="365760" y="2834640"/>
            <a:ext cx="3657600" cy="182880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rPr>
              <a:t>Ruta al YAML de entrada (Deployment de K8s).
Ejemplo: SimulationWorkspace/yamls/s0.yaml
Puede contener multiples documentos (---) y placeholders {{...}}</a:t>
            </a:r>
          </a:p>
        </p:txBody>
      </p:sp>
      <p:sp>
        <p:nvSpPr>
          <p:cNvPr id="8" name="Rectangle 7"/>
          <p:cNvSpPr/>
          <p:nvPr/>
        </p:nvSpPr>
        <p:spPr>
          <a:xfrm>
            <a:off x="4297680" y="2286000"/>
            <a:ext cx="3657600" cy="457200"/>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yaml_file_out</a:t>
            </a:r>
          </a:p>
        </p:txBody>
      </p:sp>
      <p:sp>
        <p:nvSpPr>
          <p:cNvPr id="9" name="Rectangle 8"/>
          <p:cNvSpPr/>
          <p:nvPr/>
        </p:nvSpPr>
        <p:spPr>
          <a:xfrm>
            <a:off x="4297680" y="2834640"/>
            <a:ext cx="3657600" cy="182880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rPr>
              <a:t>Ruta donde se escribe el HPA generado.
Ejemplo: SimulationWorkspace/hpa/hpa-s0.yaml
Si el archivo existe, se sobreescribe sin advertencia.</a:t>
            </a:r>
          </a:p>
        </p:txBody>
      </p:sp>
      <p:sp>
        <p:nvSpPr>
          <p:cNvPr id="10" name="Rectangle 9"/>
          <p:cNvSpPr/>
          <p:nvPr/>
        </p:nvSpPr>
        <p:spPr>
          <a:xfrm>
            <a:off x="8229600" y="2286000"/>
            <a:ext cx="3657600" cy="457200"/>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hpa_template_file</a:t>
            </a:r>
          </a:p>
        </p:txBody>
      </p:sp>
      <p:sp>
        <p:nvSpPr>
          <p:cNvPr id="11" name="Rectangle 10"/>
          <p:cNvSpPr/>
          <p:nvPr/>
        </p:nvSpPr>
        <p:spPr>
          <a:xfrm>
            <a:off x="8229600" y="2834640"/>
            <a:ext cx="3657600" cy="182880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rPr>
              <a:t>Plantilla YAML con la estructura base del HPA.
Ejemplo: Add-on/HPA/hpa-template.yaml
Define minReplicas, maxReplicas, targetCPUUtilizationPercentage, etc.</a:t>
            </a:r>
          </a:p>
        </p:txBody>
      </p:sp>
      <p:sp>
        <p:nvSpPr>
          <p:cNvPr id="12" name="Rectangle 11"/>
          <p:cNvSpPr/>
          <p:nvPr/>
        </p:nvSpPr>
        <p:spPr>
          <a:xfrm>
            <a:off x="365760" y="4846320"/>
            <a:ext cx="11430000" cy="640080"/>
          </a:xfrm>
          <a:prstGeom prst="rect">
            <a:avLst/>
          </a:prstGeom>
          <a:solidFill>
            <a:srgbClr val="FFF3CD"/>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D3690F"/>
                </a:solidFill>
              </a:rPr>
              <a:t>IMPORTANTE: la funcion asume que yaml_file_in contiene exactamente UN Deployment. Si hay varios documentos (---), solo procesa el primero que encuentre con kind=Deployment.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create_hpa() — Paso 1: Cargar plantilla y leer archivo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Lineas 2-5: apertura de archivos con context managers</a:t>
            </a:r>
          </a:p>
        </p:txBody>
      </p:sp>
      <p:sp>
        <p:nvSpPr>
          <p:cNvPr id="5" name="Rectangle 4"/>
          <p:cNvSpPr/>
          <p:nvPr/>
        </p:nvSpPr>
        <p:spPr>
          <a:xfrm>
            <a:off x="365760" y="1143000"/>
            <a:ext cx="5943600" cy="27432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with open(hpa_template_file, 'r') as template_file:</a:t>
            </a:r>
          </a:p>
          <a:p>
            <a:r>
              <a:rPr sz="1100">
                <a:solidFill>
                  <a:srgbClr val="F9E2AF"/>
                </a:solidFill>
                <a:latin typeface="Courier New"/>
              </a:rPr>
              <a:t>    hpa_template = yaml.safe_load(template_file)</a:t>
            </a:r>
          </a:p>
          <a:p>
            <a:r>
              <a:rPr sz="1100">
                <a:solidFill>
                  <a:srgbClr val="CBD3F0"/>
                </a:solidFill>
                <a:latin typeface="Courier New"/>
              </a:rPr>
              <a:t/>
            </a:r>
          </a:p>
          <a:p>
            <a:r>
              <a:rPr sz="1100">
                <a:solidFill>
                  <a:srgbClr val="F9E2AF"/>
                </a:solidFill>
                <a:latin typeface="Courier New"/>
              </a:rPr>
              <a:t>with open(yaml_file_in, 'r') as file:</a:t>
            </a:r>
          </a:p>
          <a:p>
            <a:r>
              <a:rPr sz="1100">
                <a:solidFill>
                  <a:srgbClr val="F9E2AF"/>
                </a:solidFill>
                <a:latin typeface="Courier New"/>
              </a:rPr>
              <a:t>    raw = file.read()</a:t>
            </a:r>
          </a:p>
        </p:txBody>
      </p:sp>
      <p:sp>
        <p:nvSpPr>
          <p:cNvPr id="6" name="Rectangle 5"/>
          <p:cNvSpPr/>
          <p:nvPr/>
        </p:nvSpPr>
        <p:spPr>
          <a:xfrm>
            <a:off x="6583680" y="1143000"/>
            <a:ext cx="2606040" cy="16916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with open(...) as ...</a:t>
            </a:r>
          </a:p>
          <a:p>
            <a:r>
              <a:rPr sz="1100">
                <a:solidFill>
                  <a:srgbClr val="555555"/>
                </a:solidFill>
              </a:rPr>
              <a:t>Context manager de Python: abre el archivo y lo cierra
automaticamente al salir del bloque, aunque haya excepcion.</a:t>
            </a:r>
          </a:p>
        </p:txBody>
      </p:sp>
      <p:sp>
        <p:nvSpPr>
          <p:cNvPr id="7" name="Rectangle 6"/>
          <p:cNvSpPr/>
          <p:nvPr/>
        </p:nvSpPr>
        <p:spPr>
          <a:xfrm>
            <a:off x="9326880" y="1143000"/>
            <a:ext cx="2606040" cy="16916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yaml.safe_load()</a:t>
            </a:r>
          </a:p>
          <a:p>
            <a:r>
              <a:rPr sz="1100">
                <a:solidFill>
                  <a:srgbClr val="555555"/>
                </a:solidFill>
              </a:rPr>
              <a:t>Parsea un YAML a dict/list de Python.
'safe' significa que NO ejecuta constructores YAML arbitrarios.
Retorna el PRIMER documento del archivo solamente.</a:t>
            </a:r>
          </a:p>
        </p:txBody>
      </p:sp>
      <p:sp>
        <p:nvSpPr>
          <p:cNvPr id="8" name="Rectangle 7"/>
          <p:cNvSpPr/>
          <p:nvPr/>
        </p:nvSpPr>
        <p:spPr>
          <a:xfrm>
            <a:off x="6583680" y="2971800"/>
            <a:ext cx="2606040" cy="16916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file.read()</a:t>
            </a:r>
          </a:p>
          <a:p>
            <a:r>
              <a:rPr sz="1100">
                <a:solidFill>
                  <a:srgbClr val="555555"/>
                </a:solidFill>
              </a:rPr>
              <a:t>Lee TODO el contenido del archivo como string.
Se guarda en 'raw' para poder manipularlo con regex
ANTES de parsearlo como YAML.</a:t>
            </a:r>
          </a:p>
        </p:txBody>
      </p:sp>
      <p:sp>
        <p:nvSpPr>
          <p:cNvPr id="9" name="Rectangle 8"/>
          <p:cNvSpPr/>
          <p:nvPr/>
        </p:nvSpPr>
        <p:spPr>
          <a:xfrm>
            <a:off x="9326880" y="2971800"/>
            <a:ext cx="2606040" cy="16916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Diferencia clave</a:t>
            </a:r>
          </a:p>
          <a:p>
            <a:r>
              <a:rPr sz="1100">
                <a:solidFill>
                  <a:srgbClr val="555555"/>
                </a:solidFill>
              </a:rPr>
              <a:t>La plantilla se parsea directamente a dict (yaml.safe_load).
El Deployment se lee como texto primero porque necesita
limpieza de placeholders {{...}} antes de poder parsearse.</a:t>
            </a:r>
          </a:p>
        </p:txBody>
      </p:sp>
      <p:sp>
        <p:nvSpPr>
          <p:cNvPr id="10" name="Rectangle 9"/>
          <p:cNvSpPr/>
          <p:nvPr/>
        </p:nvSpPr>
        <p:spPr>
          <a:xfrm>
            <a:off x="365760" y="4023360"/>
            <a:ext cx="5943600" cy="24688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hpa_template despues de safe_load luce asi:</a:t>
            </a:r>
          </a:p>
          <a:p>
            <a:r>
              <a:rPr sz="1100">
                <a:solidFill>
                  <a:srgbClr val="CBD3F0"/>
                </a:solidFill>
                <a:latin typeface="Courier New"/>
              </a:rPr>
              <a:t># {</a:t>
            </a:r>
          </a:p>
          <a:p>
            <a:r>
              <a:rPr sz="1100">
                <a:solidFill>
                  <a:srgbClr val="CBD3F0"/>
                </a:solidFill>
                <a:latin typeface="Courier New"/>
              </a:rPr>
              <a:t>#   'apiVersion': 'autoscaling/v2',</a:t>
            </a:r>
          </a:p>
          <a:p>
            <a:r>
              <a:rPr sz="1100">
                <a:solidFill>
                  <a:srgbClr val="CBD3F0"/>
                </a:solidFill>
                <a:latin typeface="Courier New"/>
              </a:rPr>
              <a:t>#   'kind': 'HorizontalPodAutoscaler',</a:t>
            </a:r>
          </a:p>
          <a:p>
            <a:r>
              <a:rPr sz="1100">
                <a:solidFill>
                  <a:srgbClr val="CBD3F0"/>
                </a:solidFill>
                <a:latin typeface="Courier New"/>
              </a:rPr>
              <a:t>#   'metadata': {'name': 'PLACEHOLDER', ...},</a:t>
            </a:r>
          </a:p>
          <a:p>
            <a:r>
              <a:rPr sz="1100">
                <a:solidFill>
                  <a:srgbClr val="CBD3F0"/>
                </a:solidFill>
                <a:latin typeface="Courier New"/>
              </a:rPr>
              <a:t>#   'spec': {</a:t>
            </a:r>
          </a:p>
          <a:p>
            <a:r>
              <a:rPr sz="1100">
                <a:solidFill>
                  <a:srgbClr val="CBD3F0"/>
                </a:solidFill>
                <a:latin typeface="Courier New"/>
              </a:rPr>
              <a:t>#     'scaleTargetRef': {'name': 'PLACEHOLDER'},</a:t>
            </a:r>
          </a:p>
          <a:p>
            <a:r>
              <a:rPr sz="1100">
                <a:solidFill>
                  <a:srgbClr val="CBD3F0"/>
                </a:solidFill>
                <a:latin typeface="Courier New"/>
              </a:rPr>
              <a:t>#     'minReplicas': 1, 'maxReplicas': 10, ...</a:t>
            </a:r>
          </a:p>
          <a:p>
            <a:r>
              <a:rPr sz="1100">
                <a:solidFill>
                  <a:srgbClr val="CBD3F0"/>
                </a:solidFill>
                <a:latin typeface="Courier New"/>
              </a:rPr>
              <a:t>#   }</a:t>
            </a:r>
          </a:p>
          <a:p>
            <a:r>
              <a:rPr sz="1100">
                <a:solidFill>
                  <a:srgbClr val="CBD3F0"/>
                </a:solidFill>
                <a:latin typeface="Courier New"/>
              </a:rPr>
              <a: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create_hpa() — Paso 2: Limpieza de placeholders {{...}}</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Lineas 6-7: por que y como se usan expresiones regulares</a:t>
            </a:r>
          </a:p>
        </p:txBody>
      </p:sp>
      <p:sp>
        <p:nvSpPr>
          <p:cNvPr id="5" name="Rectangle 4"/>
          <p:cNvSpPr/>
          <p:nvPr/>
        </p:nvSpPr>
        <p:spPr>
          <a:xfrm>
            <a:off x="365760" y="1143000"/>
            <a:ext cx="11430000" cy="11887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Remove unresolved {{PLACEHOLDER}} lines before parsing</a:t>
            </a:r>
          </a:p>
          <a:p>
            <a:r>
              <a:rPr sz="1100">
                <a:solidFill>
                  <a:srgbClr val="F9E2AF"/>
                </a:solidFill>
                <a:latin typeface="Courier New"/>
              </a:rPr>
              <a:t>raw = re.sub(r'^\s*\{\{[^}]+\}\}\s*\n', '', raw, flags=re.MULTILINE)</a:t>
            </a:r>
          </a:p>
          <a:p>
            <a:r>
              <a:rPr sz="1100">
                <a:solidFill>
                  <a:srgbClr val="F9E2AF"/>
                </a:solidFill>
                <a:latin typeface="Courier New"/>
              </a:rPr>
              <a:t>raw = re.sub(r'\{\{[^}]+\}\}',             '', raw)</a:t>
            </a:r>
          </a:p>
        </p:txBody>
      </p:sp>
      <p:sp>
        <p:nvSpPr>
          <p:cNvPr id="6" name="Rectangle 5"/>
          <p:cNvSpPr/>
          <p:nvPr/>
        </p:nvSpPr>
        <p:spPr>
          <a:xfrm>
            <a:off x="365760" y="2514600"/>
            <a:ext cx="5303520" cy="2011680"/>
          </a:xfrm>
          <a:prstGeom prst="rect">
            <a:avLst/>
          </a:prstGeom>
          <a:solidFill>
            <a:srgbClr val="FFF3CD"/>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497D"/>
                </a:solidFill>
              </a:rPr>
              <a:t>Por que existen los {{PLACEHOLDER}}?</a:t>
            </a:r>
          </a:p>
          <a:p>
            <a:r>
              <a:rPr sz="1200">
                <a:solidFill>
                  <a:srgbClr val="555555"/>
                </a:solidFill>
              </a:rPr>
              <a:t>MuBench genera YAMLs con plantillas Jinja-like.</a:t>
            </a:r>
          </a:p>
          <a:p>
            <a:r>
              <a:rPr sz="1200">
                <a:solidFill>
                  <a:srgbClr val="555555"/>
                </a:solidFill>
              </a:rPr>
              <a:t>Si el WorkModel no especifica todos los campos,</a:t>
            </a:r>
          </a:p>
          <a:p>
            <a:r>
              <a:rPr sz="1200">
                <a:solidFill>
                  <a:srgbClr val="555555"/>
                </a:solidFill>
              </a:rPr>
              <a:t>algunos {{PLACEHOLDER}} quedan sin sustituir.</a:t>
            </a:r>
          </a:p>
          <a:p>
            <a:r>
              <a:rPr sz="1200">
                <a:solidFill>
                  <a:srgbClr val="555555"/>
                </a:solidFill>
              </a:rPr>
              <a:t>yaml.safe_load() falla al encontrar {{ porque</a:t>
            </a:r>
          </a:p>
          <a:p>
            <a:r>
              <a:rPr sz="1200">
                <a:solidFill>
                  <a:srgbClr val="555555"/>
                </a:solidFill>
              </a:rPr>
              <a:t>lo interpreta como un mapeo YAML invalido.</a:t>
            </a:r>
          </a:p>
        </p:txBody>
      </p:sp>
      <p:sp>
        <p:nvSpPr>
          <p:cNvPr id="7" name="Rectangle 6"/>
          <p:cNvSpPr/>
          <p:nvPr/>
        </p:nvSpPr>
        <p:spPr>
          <a:xfrm>
            <a:off x="365760" y="4663440"/>
            <a:ext cx="5303520" cy="19202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1F497D"/>
                </a:solidFill>
              </a:rPr>
              <a:t>Regex 1 — elimina LINEAS completas</a:t>
            </a:r>
          </a:p>
          <a:p>
            <a:r>
              <a:rPr sz="1100">
                <a:solidFill>
                  <a:srgbClr val="555555"/>
                </a:solidFill>
              </a:rPr>
              <a:t>  ^\s*   → inicio de linea (con re.MULTILINE)</a:t>
            </a:r>
          </a:p>
          <a:p>
            <a:r>
              <a:rPr sz="1100">
                <a:solidFill>
                  <a:srgbClr val="555555"/>
                </a:solidFill>
              </a:rPr>
              <a:t>  \{\{   → literal {{</a:t>
            </a:r>
          </a:p>
          <a:p>
            <a:r>
              <a:rPr sz="1100">
                <a:solidFill>
                  <a:srgbClr val="555555"/>
                </a:solidFill>
              </a:rPr>
              <a:t>  [^}]+  → uno o mas chars que NO sean }</a:t>
            </a:r>
          </a:p>
          <a:p>
            <a:r>
              <a:rPr sz="1100">
                <a:solidFill>
                  <a:srgbClr val="555555"/>
                </a:solidFill>
              </a:rPr>
              <a:t>  \}\}   → literal }}</a:t>
            </a:r>
          </a:p>
          <a:p>
            <a:r>
              <a:rPr sz="1100">
                <a:solidFill>
                  <a:srgbClr val="555555"/>
                </a:solidFill>
              </a:rPr>
              <a:t>  \s*\n  → espacios opcionales + salto de linea</a:t>
            </a:r>
          </a:p>
          <a:p>
            <a:r>
              <a:rPr sz="1100">
                <a:solidFill>
                  <a:srgbClr val="555555"/>
                </a:solidFill>
              </a:rPr>
              <a:t>  Sustituye todo eso por '' (borra la linea)</a:t>
            </a:r>
          </a:p>
        </p:txBody>
      </p:sp>
      <p:sp>
        <p:nvSpPr>
          <p:cNvPr id="8" name="Rectangle 7"/>
          <p:cNvSpPr/>
          <p:nvPr/>
        </p:nvSpPr>
        <p:spPr>
          <a:xfrm>
            <a:off x="5943600" y="2514600"/>
            <a:ext cx="5852160" cy="201168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1F497D"/>
                </a:solidFill>
              </a:rPr>
              <a:t>Regex 2 — elimina {{...}} INLINE</a:t>
            </a:r>
          </a:p>
          <a:p>
            <a:r>
              <a:rPr sz="1100">
                <a:solidFill>
                  <a:srgbClr val="555555"/>
                </a:solidFill>
              </a:rPr>
              <a:t>  Misma expresion pero SIN re.MULTILINE ni \n.</a:t>
            </a:r>
          </a:p>
          <a:p>
            <a:r>
              <a:rPr sz="1100">
                <a:solidFill>
                  <a:srgbClr val="555555"/>
                </a:solidFill>
              </a:rPr>
              <a:t>  Captura {{...}} que aparezca dentro de un valor,</a:t>
            </a:r>
          </a:p>
          <a:p>
            <a:r>
              <a:rPr sz="1100">
                <a:solidFill>
                  <a:srgbClr val="555555"/>
                </a:solidFill>
              </a:rPr>
              <a:t>  por ejemplo:  name: {{SERVICE_NAME}}</a:t>
            </a:r>
          </a:p>
          <a:p>
            <a:r>
              <a:rPr sz="1100">
                <a:solidFill>
                  <a:srgbClr val="555555"/>
                </a:solidFill>
              </a:rPr>
              <a:t>  Lo reemplaza por '':  name: </a:t>
            </a:r>
          </a:p>
          <a:p>
            <a:r>
              <a:rPr sz="1100">
                <a:solidFill>
                  <a:srgbClr val="555555"/>
                </a:solidFill>
              </a:rPr>
              <a:t>  (deja el campo vacio pero no rompe el YAML)</a:t>
            </a:r>
          </a:p>
        </p:txBody>
      </p:sp>
      <p:sp>
        <p:nvSpPr>
          <p:cNvPr id="9" name="Rectangle 8"/>
          <p:cNvSpPr/>
          <p:nvPr/>
        </p:nvSpPr>
        <p:spPr>
          <a:xfrm>
            <a:off x="5943600" y="4663440"/>
            <a:ext cx="5852160" cy="19202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ANTES de re.sub:</a:t>
            </a:r>
          </a:p>
          <a:p>
            <a:r>
              <a:rPr sz="1100">
                <a:solidFill>
                  <a:srgbClr val="CBD3F0"/>
                </a:solidFill>
                <a:latin typeface="Courier New"/>
              </a:rPr>
              <a:t>spec:</a:t>
            </a:r>
          </a:p>
          <a:p>
            <a:r>
              <a:rPr sz="1100">
                <a:solidFill>
                  <a:srgbClr val="F9E2AF"/>
                </a:solidFill>
                <a:latin typeface="Courier New"/>
              </a:rPr>
              <a:t>  {{EXTRA_SPEC}}</a:t>
            </a:r>
          </a:p>
          <a:p>
            <a:r>
              <a:rPr sz="1100">
                <a:solidFill>
                  <a:srgbClr val="CBD3F0"/>
                </a:solidFill>
                <a:latin typeface="Courier New"/>
              </a:rPr>
              <a:t>  containers:</a:t>
            </a:r>
          </a:p>
          <a:p>
            <a:r>
              <a:rPr sz="1100">
                <a:solidFill>
                  <a:srgbClr val="F9E2AF"/>
                </a:solidFill>
                <a:latin typeface="Courier New"/>
              </a:rPr>
              <a:t>    - name: {{SERVICE_NAME}}</a:t>
            </a:r>
          </a:p>
          <a:p>
            <a:r>
              <a:rPr sz="1100">
                <a:solidFill>
                  <a:srgbClr val="CBD3F0"/>
                </a:solidFill>
                <a:latin typeface="Courier New"/>
              </a:rPr>
              <a:t/>
            </a:r>
          </a:p>
          <a:p>
            <a:r>
              <a:rPr sz="1100">
                <a:solidFill>
                  <a:srgbClr val="CBD3F0"/>
                </a:solidFill>
                <a:latin typeface="Courier New"/>
              </a:rPr>
              <a:t># DESPUES de re.sub:</a:t>
            </a:r>
          </a:p>
          <a:p>
            <a:r>
              <a:rPr sz="1100">
                <a:solidFill>
                  <a:srgbClr val="CBD3F0"/>
                </a:solidFill>
                <a:latin typeface="Courier New"/>
              </a:rPr>
              <a:t>spec:</a:t>
            </a:r>
          </a:p>
          <a:p>
            <a:r>
              <a:rPr sz="1100">
                <a:solidFill>
                  <a:srgbClr val="F9E2AF"/>
                </a:solidFill>
                <a:latin typeface="Courier New"/>
              </a:rPr>
              <a:t>  containers:</a:t>
            </a:r>
          </a:p>
          <a:p>
            <a:r>
              <a:rPr sz="1100">
                <a:solidFill>
                  <a:srgbClr val="F9E2AF"/>
                </a:solidFill>
                <a:latin typeface="Courier New"/>
              </a:rPr>
              <a:t>    - name: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create_hpa() — Paso 3: Parseo multi-documento YAML</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Linea 8: yaml.safe_load_all y busqueda de Deployment</a:t>
            </a:r>
          </a:p>
        </p:txBody>
      </p:sp>
      <p:sp>
        <p:nvSpPr>
          <p:cNvPr id="5" name="Rectangle 4"/>
          <p:cNvSpPr/>
          <p:nvPr/>
        </p:nvSpPr>
        <p:spPr>
          <a:xfrm>
            <a:off x="365760" y="1143000"/>
            <a:ext cx="5943600" cy="18288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complete_yaml = list(yaml.safe_load_all(raw))</a:t>
            </a:r>
          </a:p>
          <a:p>
            <a:r>
              <a:rPr sz="1100">
                <a:solidFill>
                  <a:srgbClr val="CBD3F0"/>
                </a:solidFill>
                <a:latin typeface="Courier New"/>
              </a:rPr>
              <a:t/>
            </a:r>
          </a:p>
          <a:p>
            <a:r>
              <a:rPr sz="1100">
                <a:solidFill>
                  <a:srgbClr val="F9E2AF"/>
                </a:solidFill>
                <a:latin typeface="Courier New"/>
              </a:rPr>
              <a:t>for partial_yaml in complete_yaml:</a:t>
            </a:r>
          </a:p>
          <a:p>
            <a:r>
              <a:rPr sz="1100">
                <a:solidFill>
                  <a:srgbClr val="F9E2AF"/>
                </a:solidFill>
                <a:latin typeface="Courier New"/>
              </a:rPr>
              <a:t>    if partial_yaml['kind'] == 'Deployment':</a:t>
            </a:r>
          </a:p>
          <a:p>
            <a:r>
              <a:rPr sz="1100">
                <a:solidFill>
                  <a:srgbClr val="CBD3F0"/>
                </a:solidFill>
                <a:latin typeface="Courier New"/>
              </a:rPr>
              <a:t>        if 'metadata' not in partial_yaml \</a:t>
            </a:r>
          </a:p>
          <a:p>
            <a:r>
              <a:rPr sz="1100">
                <a:solidFill>
                  <a:srgbClr val="CBD3F0"/>
                </a:solidFill>
                <a:latin typeface="Courier New"/>
              </a:rPr>
              <a:t>           or 'name' not in partial_yaml['metadata']:</a:t>
            </a:r>
          </a:p>
          <a:p>
            <a:r>
              <a:rPr sz="1100">
                <a:solidFill>
                  <a:srgbClr val="CBD3F0"/>
                </a:solidFill>
                <a:latin typeface="Courier New"/>
              </a:rPr>
              <a:t>            raise ValueError('Invalid Kubernetes Service YAML')</a:t>
            </a:r>
          </a:p>
          <a:p>
            <a:r>
              <a:rPr sz="1100">
                <a:solidFill>
                  <a:srgbClr val="CBD3F0"/>
                </a:solidFill>
                <a:latin typeface="Courier New"/>
              </a:rPr>
              <a:t>        else:</a:t>
            </a:r>
          </a:p>
          <a:p>
            <a:r>
              <a:rPr sz="1100">
                <a:solidFill>
                  <a:srgbClr val="CBD3F0"/>
                </a:solidFill>
                <a:latin typeface="Courier New"/>
              </a:rPr>
              <a:t>            # ... construir HPA</a:t>
            </a:r>
          </a:p>
        </p:txBody>
      </p:sp>
      <p:sp>
        <p:nvSpPr>
          <p:cNvPr id="6" name="Rectangle 5"/>
          <p:cNvSpPr/>
          <p:nvPr/>
        </p:nvSpPr>
        <p:spPr>
          <a:xfrm>
            <a:off x="6583680" y="1143000"/>
            <a:ext cx="2606040" cy="16916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yaml.safe_load_all()</a:t>
            </a:r>
          </a:p>
          <a:p>
            <a:r>
              <a:rPr sz="1100">
                <a:solidFill>
                  <a:srgbClr val="555555"/>
                </a:solidFill>
              </a:rPr>
              <a:t>A diferencia de safe_load(), carga TODOS los documentos
del archivo (separados por '---').
Retorna un generador — list() lo convierte a lista.</a:t>
            </a:r>
          </a:p>
        </p:txBody>
      </p:sp>
      <p:sp>
        <p:nvSpPr>
          <p:cNvPr id="7" name="Rectangle 6"/>
          <p:cNvSpPr/>
          <p:nvPr/>
        </p:nvSpPr>
        <p:spPr>
          <a:xfrm>
            <a:off x="9326880" y="1143000"/>
            <a:ext cx="2606040" cy="16916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list(...)</a:t>
            </a:r>
          </a:p>
          <a:p>
            <a:r>
              <a:rPr sz="1100">
                <a:solidFill>
                  <a:srgbClr val="555555"/>
                </a:solidFill>
              </a:rPr>
              <a:t>Materializa el generador en memoria.
Necesario para iterar multiples veces o depurar.
Un YAML tipico de MuBench tiene: Deployment + Service.</a:t>
            </a:r>
          </a:p>
        </p:txBody>
      </p:sp>
      <p:sp>
        <p:nvSpPr>
          <p:cNvPr id="8" name="Rectangle 7"/>
          <p:cNvSpPr/>
          <p:nvPr/>
        </p:nvSpPr>
        <p:spPr>
          <a:xfrm>
            <a:off x="6583680" y="2971800"/>
            <a:ext cx="2606040" cy="16916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partial_yaml['kind']</a:t>
            </a:r>
          </a:p>
          <a:p>
            <a:r>
              <a:rPr sz="1100">
                <a:solidFill>
                  <a:srgbClr val="555555"/>
                </a:solidFill>
              </a:rPr>
              <a:t>Filtra por tipo de recurso K8s.
Solo procesa Deployments; ignora Services,
ConfigMaps, etc. que puedan estar en el mismo archivo.</a:t>
            </a:r>
          </a:p>
        </p:txBody>
      </p:sp>
      <p:sp>
        <p:nvSpPr>
          <p:cNvPr id="9" name="Rectangle 8"/>
          <p:cNvSpPr/>
          <p:nvPr/>
        </p:nvSpPr>
        <p:spPr>
          <a:xfrm>
            <a:off x="9326880" y="2971800"/>
            <a:ext cx="2606040" cy="16916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raise ValueError(...)</a:t>
            </a:r>
          </a:p>
          <a:p>
            <a:r>
              <a:rPr sz="1100">
                <a:solidFill>
                  <a:srgbClr val="555555"/>
                </a:solidFill>
              </a:rPr>
              <a:t>Validacion explicita: si el Deployment no tiene
metadata.name, falla rapido con mensaje claro.
Evita errores silenciosos en el HPA generado.</a:t>
            </a:r>
          </a:p>
        </p:txBody>
      </p:sp>
      <p:sp>
        <p:nvSpPr>
          <p:cNvPr id="10" name="Rectangle 9"/>
          <p:cNvSpPr/>
          <p:nvPr/>
        </p:nvSpPr>
        <p:spPr>
          <a:xfrm>
            <a:off x="365760" y="3108960"/>
            <a:ext cx="5943600" cy="33832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Ejemplo: s0.yaml con 2 documentos</a:t>
            </a:r>
          </a:p>
          <a:p>
            <a:r>
              <a:rPr sz="1100">
                <a:solidFill>
                  <a:srgbClr val="CBD3F0"/>
                </a:solidFill>
                <a:latin typeface="Courier New"/>
              </a:rPr>
              <a:t>---</a:t>
            </a:r>
          </a:p>
          <a:p>
            <a:r>
              <a:rPr sz="1100">
                <a:solidFill>
                  <a:srgbClr val="CBD3F0"/>
                </a:solidFill>
                <a:latin typeface="Courier New"/>
              </a:rPr>
              <a:t>apiVersion: apps/v1</a:t>
            </a:r>
          </a:p>
          <a:p>
            <a:r>
              <a:rPr sz="1100">
                <a:solidFill>
                  <a:srgbClr val="F9E2AF"/>
                </a:solidFill>
                <a:latin typeface="Courier New"/>
              </a:rPr>
              <a:t>kind: Deployment     # &lt;-- este se procesa</a:t>
            </a:r>
          </a:p>
          <a:p>
            <a:r>
              <a:rPr sz="1100">
                <a:solidFill>
                  <a:srgbClr val="CBD3F0"/>
                </a:solidFill>
                <a:latin typeface="Courier New"/>
              </a:rPr>
              <a:t>metadata:</a:t>
            </a:r>
          </a:p>
          <a:p>
            <a:r>
              <a:rPr sz="1100">
                <a:solidFill>
                  <a:srgbClr val="CBD3F0"/>
                </a:solidFill>
                <a:latin typeface="Courier New"/>
              </a:rPr>
              <a:t>  name: s0</a:t>
            </a:r>
          </a:p>
          <a:p>
            <a:r>
              <a:rPr sz="1100">
                <a:solidFill>
                  <a:srgbClr val="CBD3F0"/>
                </a:solidFill>
                <a:latin typeface="Courier New"/>
              </a:rPr>
              <a:t>  namespace: default</a:t>
            </a:r>
          </a:p>
          <a:p>
            <a:r>
              <a:rPr sz="1100">
                <a:solidFill>
                  <a:srgbClr val="CBD3F0"/>
                </a:solidFill>
                <a:latin typeface="Courier New"/>
              </a:rPr>
              <a:t>spec: ...</a:t>
            </a:r>
          </a:p>
          <a:p>
            <a:r>
              <a:rPr sz="1100">
                <a:solidFill>
                  <a:srgbClr val="CBD3F0"/>
                </a:solidFill>
                <a:latin typeface="Courier New"/>
              </a:rPr>
              <a:t>---</a:t>
            </a:r>
          </a:p>
          <a:p>
            <a:r>
              <a:rPr sz="1100">
                <a:solidFill>
                  <a:srgbClr val="CBD3F0"/>
                </a:solidFill>
                <a:latin typeface="Courier New"/>
              </a:rPr>
              <a:t>apiVersion: v1</a:t>
            </a:r>
          </a:p>
          <a:p>
            <a:r>
              <a:rPr sz="1100">
                <a:solidFill>
                  <a:srgbClr val="F9E2AF"/>
                </a:solidFill>
                <a:latin typeface="Courier New"/>
              </a:rPr>
              <a:t>kind: Service        # &lt;-- este se ignora</a:t>
            </a:r>
          </a:p>
          <a:p>
            <a:r>
              <a:rPr sz="1100">
                <a:solidFill>
                  <a:srgbClr val="CBD3F0"/>
                </a:solidFill>
                <a:latin typeface="Courier New"/>
              </a:rPr>
              <a:t>metadata:</a:t>
            </a:r>
          </a:p>
          <a:p>
            <a:r>
              <a:rPr sz="1100">
                <a:solidFill>
                  <a:srgbClr val="CBD3F0"/>
                </a:solidFill>
                <a:latin typeface="Courier New"/>
              </a:rPr>
              <a:t>  name: s0</a:t>
            </a:r>
          </a:p>
          <a:p>
            <a:r>
              <a:rPr sz="1100">
                <a:solidFill>
                  <a:srgbClr val="CBD3F0"/>
                </a:solidFill>
                <a:latin typeface="Courier New"/>
              </a:rPr>
              <a:t>spec: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create_hpa() — Paso 4: Construir y escribir el HPA</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Lineas 9-13: copiar plantilla, inyectar nombre/namespace, serializar YAML</a:t>
            </a:r>
          </a:p>
        </p:txBody>
      </p:sp>
      <p:sp>
        <p:nvSpPr>
          <p:cNvPr id="5" name="Rectangle 4"/>
          <p:cNvSpPr/>
          <p:nvPr/>
        </p:nvSpPr>
        <p:spPr>
          <a:xfrm>
            <a:off x="365760" y="1143000"/>
            <a:ext cx="5943600" cy="32004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hpa = hpa_template.copy()</a:t>
            </a:r>
          </a:p>
          <a:p>
            <a:r>
              <a:rPr sz="1100">
                <a:solidFill>
                  <a:srgbClr val="CBD3F0"/>
                </a:solidFill>
                <a:latin typeface="Courier New"/>
              </a:rPr>
              <a:t/>
            </a:r>
          </a:p>
          <a:p>
            <a:r>
              <a:rPr sz="1100">
                <a:solidFill>
                  <a:srgbClr val="F9E2AF"/>
                </a:solidFill>
                <a:latin typeface="Courier New"/>
              </a:rPr>
              <a:t>hpa['metadata']['name'] = partial_yaml['metadata']['name']</a:t>
            </a:r>
          </a:p>
          <a:p>
            <a:r>
              <a:rPr sz="1100">
                <a:solidFill>
                  <a:srgbClr val="F9E2AF"/>
                </a:solidFill>
                <a:latin typeface="Courier New"/>
              </a:rPr>
              <a:t>hpa['spec']['scaleTargetRef']['name'] = \</a:t>
            </a:r>
          </a:p>
          <a:p>
            <a:r>
              <a:rPr sz="1100">
                <a:solidFill>
                  <a:srgbClr val="F9E2AF"/>
                </a:solidFill>
                <a:latin typeface="Courier New"/>
              </a:rPr>
              <a:t>    partial_yaml['metadata']['name']</a:t>
            </a:r>
          </a:p>
          <a:p>
            <a:r>
              <a:rPr sz="1100">
                <a:solidFill>
                  <a:srgbClr val="CBD3F0"/>
                </a:solidFill>
                <a:latin typeface="Courier New"/>
              </a:rPr>
              <a:t/>
            </a:r>
          </a:p>
          <a:p>
            <a:r>
              <a:rPr sz="1100">
                <a:solidFill>
                  <a:srgbClr val="F9E2AF"/>
                </a:solidFill>
                <a:latin typeface="Courier New"/>
              </a:rPr>
              <a:t>if 'namespace' in partial_yaml['metadata']:</a:t>
            </a:r>
          </a:p>
          <a:p>
            <a:r>
              <a:rPr sz="1100">
                <a:solidFill>
                  <a:srgbClr val="F9E2AF"/>
                </a:solidFill>
                <a:latin typeface="Courier New"/>
              </a:rPr>
              <a:t>    hpa['metadata']['namespace'] = \</a:t>
            </a:r>
          </a:p>
          <a:p>
            <a:r>
              <a:rPr sz="1100">
                <a:solidFill>
                  <a:srgbClr val="F9E2AF"/>
                </a:solidFill>
                <a:latin typeface="Courier New"/>
              </a:rPr>
              <a:t>        partial_yaml['metadata']['namespace']</a:t>
            </a:r>
          </a:p>
          <a:p>
            <a:r>
              <a:rPr sz="1100">
                <a:solidFill>
                  <a:srgbClr val="CBD3F0"/>
                </a:solidFill>
                <a:latin typeface="Courier New"/>
              </a:rPr>
              <a:t/>
            </a:r>
          </a:p>
          <a:p>
            <a:r>
              <a:rPr sz="1100">
                <a:solidFill>
                  <a:srgbClr val="F9E2AF"/>
                </a:solidFill>
                <a:latin typeface="Courier New"/>
              </a:rPr>
              <a:t>with open(yaml_file_out, 'w') as file:</a:t>
            </a:r>
          </a:p>
          <a:p>
            <a:r>
              <a:rPr sz="1100">
                <a:solidFill>
                  <a:srgbClr val="F9E2AF"/>
                </a:solidFill>
                <a:latin typeface="Courier New"/>
              </a:rPr>
              <a:t>    yaml.dump(hpa, file, default_flow_style=False)</a:t>
            </a:r>
          </a:p>
          <a:p>
            <a:r>
              <a:rPr sz="1100">
                <a:solidFill>
                  <a:srgbClr val="CBD3F0"/>
                </a:solidFill>
                <a:latin typeface="Courier New"/>
              </a:rPr>
              <a:t>    print(f'Created HPA yaml file: {yaml_file_out}')</a:t>
            </a:r>
          </a:p>
        </p:txBody>
      </p:sp>
      <p:sp>
        <p:nvSpPr>
          <p:cNvPr id="6" name="Rectangle 5"/>
          <p:cNvSpPr/>
          <p:nvPr/>
        </p:nvSpPr>
        <p:spPr>
          <a:xfrm>
            <a:off x="6583680" y="1143000"/>
            <a:ext cx="2606040" cy="19659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hpa_template.copy()</a:t>
            </a:r>
          </a:p>
          <a:p>
            <a:r>
              <a:rPr sz="1100">
                <a:solidFill>
                  <a:srgbClr val="555555"/>
                </a:solidFill>
              </a:rPr>
              <a:t>Copia SHALLOW del dict de la plantilla.
ATENCION: copy() es shallow — los sub-dicts
(metadata, spec) son referencias compartidas.
Funciona si solo hay un Deployment por archivo.</a:t>
            </a:r>
          </a:p>
        </p:txBody>
      </p:sp>
      <p:sp>
        <p:nvSpPr>
          <p:cNvPr id="7" name="Rectangle 6"/>
          <p:cNvSpPr/>
          <p:nvPr/>
        </p:nvSpPr>
        <p:spPr>
          <a:xfrm>
            <a:off x="9326880" y="1143000"/>
            <a:ext cx="2606040" cy="19659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scaleTargetRef.name</a:t>
            </a:r>
          </a:p>
          <a:p>
            <a:r>
              <a:rPr sz="1100">
                <a:solidFill>
                  <a:srgbClr val="555555"/>
                </a:solidFill>
              </a:rPr>
              <a:t>El HPA necesita saber A QUE Deployment escalar.
Se vincula por nombre exacto del Deployment.
Si el nombre no coincide, el HPA no funciona.</a:t>
            </a:r>
          </a:p>
        </p:txBody>
      </p:sp>
      <p:sp>
        <p:nvSpPr>
          <p:cNvPr id="8" name="Rectangle 7"/>
          <p:cNvSpPr/>
          <p:nvPr/>
        </p:nvSpPr>
        <p:spPr>
          <a:xfrm>
            <a:off x="6583680" y="3246120"/>
            <a:ext cx="2606040" cy="19659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namespace (opcional)</a:t>
            </a:r>
          </a:p>
          <a:p>
            <a:r>
              <a:rPr sz="1100">
                <a:solidFill>
                  <a:srgbClr val="555555"/>
                </a:solidFill>
              </a:rPr>
              <a:t>Solo se copia si el Deployment lo define.
Si no existe, el HPA quedara en el namespace
que ya tenia la plantilla (generalmente 'default').</a:t>
            </a:r>
          </a:p>
        </p:txBody>
      </p:sp>
      <p:sp>
        <p:nvSpPr>
          <p:cNvPr id="9" name="Rectangle 8"/>
          <p:cNvSpPr/>
          <p:nvPr/>
        </p:nvSpPr>
        <p:spPr>
          <a:xfrm>
            <a:off x="9326880" y="3246120"/>
            <a:ext cx="2606040" cy="19659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yaml.dump(..., default_flow_style=False)</a:t>
            </a:r>
          </a:p>
          <a:p>
            <a:r>
              <a:rPr sz="1100">
                <a:solidFill>
                  <a:srgbClr val="555555"/>
                </a:solidFill>
              </a:rPr>
              <a:t>Serializa el dict Python de vuelta a YAML.
default_flow_style=False → formato block (legible),
no inline como {key: val, ...}.</a:t>
            </a:r>
          </a:p>
        </p:txBody>
      </p:sp>
      <p:sp>
        <p:nvSpPr>
          <p:cNvPr id="10" name="Rectangle 9"/>
          <p:cNvSpPr/>
          <p:nvPr/>
        </p:nvSpPr>
        <p:spPr>
          <a:xfrm>
            <a:off x="365760" y="4572000"/>
            <a:ext cx="5943600" cy="822960"/>
          </a:xfrm>
          <a:prstGeom prst="rect">
            <a:avLst/>
          </a:prstGeom>
          <a:solidFill>
            <a:srgbClr val="FFEBEB"/>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a:solidFill>
                  <a:srgbClr val="C0392B"/>
                </a:solidFill>
              </a:rPr>
              <a:t>ALERTA: hpa_template.copy() es shallow copy. Si el archivo contiene multiples Deployments, la segunda iteracion pisaria los valores del primero en el mismo dict de plantilla. En la practica un archivo = un Deployment.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main() — Punto de entrada CLI y orquestacion</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Parsea argumentos, crea carpetas e itera archivos .yaml</a:t>
            </a:r>
          </a:p>
        </p:txBody>
      </p:sp>
      <p:sp>
        <p:nvSpPr>
          <p:cNvPr id="5" name="Rectangle 4"/>
          <p:cNvSpPr/>
          <p:nvPr/>
        </p:nvSpPr>
        <p:spPr>
          <a:xfrm>
            <a:off x="365760" y="1143000"/>
            <a:ext cx="5943600" cy="53035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def main():</a:t>
            </a:r>
          </a:p>
          <a:p>
            <a:r>
              <a:rPr sz="1100">
                <a:solidFill>
                  <a:srgbClr val="CBD3F0"/>
                </a:solidFill>
                <a:latin typeface="Courier New"/>
              </a:rPr>
              <a:t>  parser = argparse.ArgumentParser(...)</a:t>
            </a:r>
          </a:p>
          <a:p>
            <a:r>
              <a:rPr sz="1100">
                <a:solidFill>
                  <a:srgbClr val="CBD3F0"/>
                </a:solidFill>
                <a:latin typeface="Courier New"/>
              </a:rPr>
              <a:t>  parser.add_argument('--in',</a:t>
            </a:r>
          </a:p>
          <a:p>
            <a:r>
              <a:rPr sz="1100">
                <a:solidFill>
                  <a:srgbClr val="CBD3F0"/>
                </a:solidFill>
                <a:latin typeface="Courier New"/>
              </a:rPr>
              <a:t>    dest='yaml_file_in_path',</a:t>
            </a:r>
          </a:p>
          <a:p>
            <a:r>
              <a:rPr sz="1100">
                <a:solidFill>
                  <a:srgbClr val="CBD3F0"/>
                </a:solidFill>
                <a:latin typeface="Courier New"/>
              </a:rPr>
              <a:t>    default='SimulationWorkspace/yamls')</a:t>
            </a:r>
          </a:p>
          <a:p>
            <a:r>
              <a:rPr sz="1100">
                <a:solidFill>
                  <a:srgbClr val="CBD3F0"/>
                </a:solidFill>
                <a:latin typeface="Courier New"/>
              </a:rPr>
              <a:t>  parser.add_argument('--out',</a:t>
            </a:r>
          </a:p>
          <a:p>
            <a:r>
              <a:rPr sz="1100">
                <a:solidFill>
                  <a:srgbClr val="CBD3F0"/>
                </a:solidFill>
                <a:latin typeface="Courier New"/>
              </a:rPr>
              <a:t>    dest='yaml_file_out_path',</a:t>
            </a:r>
          </a:p>
          <a:p>
            <a:r>
              <a:rPr sz="1100">
                <a:solidFill>
                  <a:srgbClr val="CBD3F0"/>
                </a:solidFill>
                <a:latin typeface="Courier New"/>
              </a:rPr>
              <a:t>    default='not-defined')</a:t>
            </a:r>
          </a:p>
          <a:p>
            <a:r>
              <a:rPr sz="1100">
                <a:solidFill>
                  <a:srgbClr val="CBD3F0"/>
                </a:solidFill>
                <a:latin typeface="Courier New"/>
              </a:rPr>
              <a:t>  parser.add_argument('--template',</a:t>
            </a:r>
          </a:p>
          <a:p>
            <a:r>
              <a:rPr sz="1100">
                <a:solidFill>
                  <a:srgbClr val="CBD3F0"/>
                </a:solidFill>
                <a:latin typeface="Courier New"/>
              </a:rPr>
              <a:t>    dest='hpa_template_file',</a:t>
            </a:r>
          </a:p>
          <a:p>
            <a:r>
              <a:rPr sz="1100">
                <a:solidFill>
                  <a:srgbClr val="CBD3F0"/>
                </a:solidFill>
                <a:latin typeface="Courier New"/>
              </a:rPr>
              <a:t>    default='Add-on/HPA/hpa-template.yaml')</a:t>
            </a:r>
          </a:p>
          <a:p>
            <a:r>
              <a:rPr sz="1100">
                <a:solidFill>
                  <a:srgbClr val="CBD3F0"/>
                </a:solidFill>
                <a:latin typeface="Courier New"/>
              </a:rPr>
              <a:t>  args = parser.parse_args()</a:t>
            </a:r>
          </a:p>
          <a:p>
            <a:r>
              <a:rPr sz="1100">
                <a:solidFill>
                  <a:srgbClr val="CBD3F0"/>
                </a:solidFill>
                <a:latin typeface="Courier New"/>
              </a:rPr>
              <a:t/>
            </a:r>
          </a:p>
          <a:p>
            <a:r>
              <a:rPr sz="1100">
                <a:solidFill>
                  <a:srgbClr val="CBD3F0"/>
                </a:solidFill>
                <a:latin typeface="Courier New"/>
              </a:rPr>
              <a:t>  yaml_file_in_path  = args.yaml_file_in_path</a:t>
            </a:r>
          </a:p>
          <a:p>
            <a:r>
              <a:rPr sz="1100">
                <a:solidFill>
                  <a:srgbClr val="CBD3F0"/>
                </a:solidFill>
                <a:latin typeface="Courier New"/>
              </a:rPr>
              <a:t>  yaml_file_out_path = args.yaml_file_out_path</a:t>
            </a:r>
          </a:p>
          <a:p>
            <a:r>
              <a:rPr sz="1100">
                <a:solidFill>
                  <a:srgbClr val="F9E2AF"/>
                </a:solidFill>
                <a:latin typeface="Courier New"/>
              </a:rPr>
              <a:t>  if yaml_file_out_path == 'not-defined':</a:t>
            </a:r>
          </a:p>
          <a:p>
            <a:r>
              <a:rPr sz="1100">
                <a:solidFill>
                  <a:srgbClr val="F9E2AF"/>
                </a:solidFill>
                <a:latin typeface="Courier New"/>
              </a:rPr>
              <a:t>      yaml_file_out_path = yaml_file_in_path</a:t>
            </a:r>
          </a:p>
          <a:p>
            <a:r>
              <a:rPr sz="1100">
                <a:solidFill>
                  <a:srgbClr val="F9E2AF"/>
                </a:solidFill>
                <a:latin typeface="Courier New"/>
              </a:rPr>
              <a:t>  os.makedirs(yaml_file_out_path, exist_ok=True)</a:t>
            </a:r>
          </a:p>
          <a:p>
            <a:r>
              <a:rPr sz="1100">
                <a:solidFill>
                  <a:srgbClr val="CBD3F0"/>
                </a:solidFill>
                <a:latin typeface="Courier New"/>
              </a:rPr>
              <a:t/>
            </a:r>
          </a:p>
          <a:p>
            <a:r>
              <a:rPr sz="1100">
                <a:solidFill>
                  <a:srgbClr val="F9E2AF"/>
                </a:solidFill>
                <a:latin typeface="Courier New"/>
              </a:rPr>
              <a:t>  for filename in os.listdir(yaml_file_in_path):</a:t>
            </a:r>
          </a:p>
          <a:p>
            <a:r>
              <a:rPr sz="1100">
                <a:solidFill>
                  <a:srgbClr val="F9E2AF"/>
                </a:solidFill>
                <a:latin typeface="Courier New"/>
              </a:rPr>
              <a:t>      if filename.endswith('.yaml'):</a:t>
            </a:r>
          </a:p>
          <a:p>
            <a:r>
              <a:rPr sz="1100">
                <a:solidFill>
                  <a:srgbClr val="F9E2AF"/>
                </a:solidFill>
                <a:latin typeface="Courier New"/>
              </a:rPr>
              <a:t>          yaml_file_out = os.path.join(</a:t>
            </a:r>
          </a:p>
          <a:p>
            <a:r>
              <a:rPr sz="1100">
                <a:solidFill>
                  <a:srgbClr val="F9E2AF"/>
                </a:solidFill>
                <a:latin typeface="Courier New"/>
              </a:rPr>
              <a:t>              yaml_file_out_path, 'hpa-'+filename)</a:t>
            </a:r>
          </a:p>
          <a:p>
            <a:r>
              <a:rPr sz="1100">
                <a:solidFill>
                  <a:srgbClr val="CBD3F0"/>
                </a:solidFill>
                <a:latin typeface="Courier New"/>
              </a:rPr>
              <a:t>          yaml_file_in = os.path.join(</a:t>
            </a:r>
          </a:p>
          <a:p>
            <a:r>
              <a:rPr sz="1100">
                <a:solidFill>
                  <a:srgbClr val="CBD3F0"/>
                </a:solidFill>
                <a:latin typeface="Courier New"/>
              </a:rPr>
              <a:t>              yaml_file_in_path, filename)</a:t>
            </a:r>
          </a:p>
          <a:p>
            <a:r>
              <a:rPr sz="1100">
                <a:solidFill>
                  <a:srgbClr val="CBD3F0"/>
                </a:solidFill>
                <a:latin typeface="Courier New"/>
              </a:rPr>
              <a:t>          create_hpa(yaml_file_in, yaml_file_out,</a:t>
            </a:r>
          </a:p>
          <a:p>
            <a:r>
              <a:rPr sz="1100">
                <a:solidFill>
                  <a:srgbClr val="CBD3F0"/>
                </a:solidFill>
                <a:latin typeface="Courier New"/>
              </a:rPr>
              <a:t>              hpa_template_file=args.hpa_template_file)</a:t>
            </a:r>
          </a:p>
        </p:txBody>
      </p:sp>
      <p:sp>
        <p:nvSpPr>
          <p:cNvPr id="6" name="Rectangle 5"/>
          <p:cNvSpPr/>
          <p:nvPr/>
        </p:nvSpPr>
        <p:spPr>
          <a:xfrm>
            <a:off x="6583680" y="1143000"/>
            <a:ext cx="5212080" cy="12801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--out default='not-defined'</a:t>
            </a:r>
          </a:p>
          <a:p>
            <a:r>
              <a:rPr sz="1100">
                <a:solidFill>
                  <a:srgbClr val="555555"/>
                </a:solidFill>
              </a:rPr>
              <a:t>Truco: si no se pasa --out, el valor es el string literal
'not-defined'. Luego se detecta y se usa --in como destino.
Los HPAs se escriben junto a los Deployments.</a:t>
            </a:r>
          </a:p>
        </p:txBody>
      </p:sp>
      <p:sp>
        <p:nvSpPr>
          <p:cNvPr id="7" name="Rectangle 6"/>
          <p:cNvSpPr/>
          <p:nvPr/>
        </p:nvSpPr>
        <p:spPr>
          <a:xfrm>
            <a:off x="6583680" y="2532888"/>
            <a:ext cx="5212080" cy="12801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os.makedirs(exist_ok=True)</a:t>
            </a:r>
          </a:p>
          <a:p>
            <a:r>
              <a:rPr sz="1100">
                <a:solidFill>
                  <a:srgbClr val="555555"/>
                </a:solidFill>
              </a:rPr>
              <a:t>Crea la carpeta de salida si no existe.
exist_ok=True evita error si ya existe.
Seguro para ejecutar multiples veces.</a:t>
            </a:r>
          </a:p>
        </p:txBody>
      </p:sp>
      <p:sp>
        <p:nvSpPr>
          <p:cNvPr id="8" name="Rectangle 7"/>
          <p:cNvSpPr/>
          <p:nvPr/>
        </p:nvSpPr>
        <p:spPr>
          <a:xfrm>
            <a:off x="6583680" y="3922776"/>
            <a:ext cx="5212080" cy="12801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os.listdir() + endswith('.yaml')</a:t>
            </a:r>
          </a:p>
          <a:p>
            <a:r>
              <a:rPr sz="1100">
                <a:solidFill>
                  <a:srgbClr val="555555"/>
                </a:solidFill>
              </a:rPr>
              <a:t>Itera TODOS los archivos de la carpeta.
Filtra solo .yaml (excluye README, .json, etc.).
ATENCION: no es recursivo — solo un nivel.</a:t>
            </a:r>
          </a:p>
        </p:txBody>
      </p:sp>
      <p:sp>
        <p:nvSpPr>
          <p:cNvPr id="9" name="Rectangle 8"/>
          <p:cNvSpPr/>
          <p:nvPr/>
        </p:nvSpPr>
        <p:spPr>
          <a:xfrm>
            <a:off x="6583680" y="5312664"/>
            <a:ext cx="5212080" cy="12801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497D"/>
                </a:solidFill>
              </a:rPr>
              <a:t>Prefijo 'hpa-'</a:t>
            </a:r>
          </a:p>
          <a:p>
            <a:r>
              <a:rPr sz="1100">
                <a:solidFill>
                  <a:srgbClr val="555555"/>
                </a:solidFill>
              </a:rPr>
              <a:t>El nombre de salida es 'hpa-' + nombre original.
hpa-s0.yaml, hpa-s1.yaml, etc.
Facil de identificar y de ignorar con .gitignore.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create-hpa.py — Flujo completo de datos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De archivos de entrada a HPA listo para kubectl apply</a:t>
            </a:r>
          </a:p>
        </p:txBody>
      </p:sp>
      <p:sp>
        <p:nvSpPr>
          <p:cNvPr id="5" name="Rectangle 4"/>
          <p:cNvSpPr/>
          <p:nvPr/>
        </p:nvSpPr>
        <p:spPr>
          <a:xfrm>
            <a:off x="274320" y="1371600"/>
            <a:ext cx="2560320" cy="20116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SimulationWorkspace
/yamls/s0.yaml</a:t>
            </a:r>
          </a:p>
          <a:p>
            <a:pPr algn="ctr"/>
            <a:r>
              <a:rPr sz="1100">
                <a:solidFill>
                  <a:srgbClr val="DDEEFF"/>
                </a:solidFill>
              </a:rPr>
              <a:t>Deployment YAML
(puede tener {{...}})</a:t>
            </a:r>
          </a:p>
        </p:txBody>
      </p:sp>
      <p:sp>
        <p:nvSpPr>
          <p:cNvPr id="6" name="Rectangle 5"/>
          <p:cNvSpPr/>
          <p:nvPr/>
        </p:nvSpPr>
        <p:spPr>
          <a:xfrm>
            <a:off x="2926080" y="1371600"/>
            <a:ext cx="2560320" cy="2011680"/>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Add-on/HPA
/hpa-template.yaml</a:t>
            </a:r>
          </a:p>
          <a:p>
            <a:pPr algn="ctr"/>
            <a:r>
              <a:rPr sz="1100">
                <a:solidFill>
                  <a:srgbClr val="DDEEFF"/>
                </a:solidFill>
              </a:rPr>
              <a:t>Plantilla HPA base
(minReplicas, maxReplicas...)</a:t>
            </a:r>
          </a:p>
        </p:txBody>
      </p:sp>
      <p:sp>
        <p:nvSpPr>
          <p:cNvPr id="7" name="Rectangle 6"/>
          <p:cNvSpPr/>
          <p:nvPr/>
        </p:nvSpPr>
        <p:spPr>
          <a:xfrm>
            <a:off x="5577840" y="1371600"/>
            <a:ext cx="2560320" cy="2011680"/>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create_hpa()
</a:t>
            </a:r>
          </a:p>
          <a:p>
            <a:pPr algn="ctr"/>
            <a:r>
              <a:rPr sz="1100">
                <a:solidFill>
                  <a:srgbClr val="DDEEFF"/>
                </a:solidFill>
              </a:rPr>
              <a:t>1. Lee plantilla
2. Limpia placeholders
3. Parsea YAML
4. Inyecta nombre</a:t>
            </a:r>
          </a:p>
        </p:txBody>
      </p:sp>
      <p:sp>
        <p:nvSpPr>
          <p:cNvPr id="8" name="Rectangle 7"/>
          <p:cNvSpPr/>
          <p:nvPr/>
        </p:nvSpPr>
        <p:spPr>
          <a:xfrm>
            <a:off x="8229600" y="1371600"/>
            <a:ext cx="2560320" cy="2011680"/>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SimulationWorkspace
/hpa/hpa-s0.yaml</a:t>
            </a:r>
          </a:p>
          <a:p>
            <a:pPr algn="ctr"/>
            <a:r>
              <a:rPr sz="1100">
                <a:solidFill>
                  <a:srgbClr val="DDEEFF"/>
                </a:solidFill>
              </a:rPr>
              <a:t>HPA listo para apply
kind: HorizontalPodAutoscaler</a:t>
            </a:r>
          </a:p>
        </p:txBody>
      </p:sp>
      <p:sp>
        <p:nvSpPr>
          <p:cNvPr id="9" name="TextBox 8"/>
          <p:cNvSpPr txBox="1"/>
          <p:nvPr/>
        </p:nvSpPr>
        <p:spPr>
          <a:xfrm>
            <a:off x="2834640" y="2103120"/>
            <a:ext cx="274320" cy="457200"/>
          </a:xfrm>
          <a:prstGeom prst="rect">
            <a:avLst/>
          </a:prstGeom>
          <a:noFill/>
        </p:spPr>
        <p:txBody>
          <a:bodyPr wrap="none">
            <a:spAutoFit/>
          </a:bodyPr>
          <a:lstStyle/>
          <a:p>
            <a:r>
              <a:rPr sz="2200">
                <a:solidFill>
                  <a:srgbClr val="1F497D"/>
                </a:solidFill>
              </a:rPr>
              <a:t>&gt;</a:t>
            </a:r>
          </a:p>
        </p:txBody>
      </p:sp>
      <p:sp>
        <p:nvSpPr>
          <p:cNvPr id="10" name="TextBox 9"/>
          <p:cNvSpPr txBox="1"/>
          <p:nvPr/>
        </p:nvSpPr>
        <p:spPr>
          <a:xfrm>
            <a:off x="5486400" y="2103120"/>
            <a:ext cx="274320" cy="457200"/>
          </a:xfrm>
          <a:prstGeom prst="rect">
            <a:avLst/>
          </a:prstGeom>
          <a:noFill/>
        </p:spPr>
        <p:txBody>
          <a:bodyPr wrap="none">
            <a:spAutoFit/>
          </a:bodyPr>
          <a:lstStyle/>
          <a:p>
            <a:r>
              <a:rPr sz="2200">
                <a:solidFill>
                  <a:srgbClr val="1F497D"/>
                </a:solidFill>
              </a:rPr>
              <a:t>&gt;</a:t>
            </a:r>
          </a:p>
        </p:txBody>
      </p:sp>
      <p:sp>
        <p:nvSpPr>
          <p:cNvPr id="11" name="TextBox 10"/>
          <p:cNvSpPr txBox="1"/>
          <p:nvPr/>
        </p:nvSpPr>
        <p:spPr>
          <a:xfrm>
            <a:off x="8138160" y="2103120"/>
            <a:ext cx="274320" cy="457200"/>
          </a:xfrm>
          <a:prstGeom prst="rect">
            <a:avLst/>
          </a:prstGeom>
          <a:noFill/>
        </p:spPr>
        <p:txBody>
          <a:bodyPr wrap="none">
            <a:spAutoFit/>
          </a:bodyPr>
          <a:lstStyle/>
          <a:p>
            <a:r>
              <a:rPr sz="2200">
                <a:solidFill>
                  <a:srgbClr val="1F497D"/>
                </a:solidFill>
              </a:rPr>
              <a:t>&gt;</a:t>
            </a:r>
          </a:p>
        </p:txBody>
      </p:sp>
      <p:sp>
        <p:nvSpPr>
          <p:cNvPr id="12" name="Rectangle 11"/>
          <p:cNvSpPr/>
          <p:nvPr/>
        </p:nvSpPr>
        <p:spPr>
          <a:xfrm>
            <a:off x="274320" y="3611880"/>
            <a:ext cx="11612880" cy="29260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Estado de hpa_template a lo largo del flujo:</a:t>
            </a:r>
          </a:p>
          <a:p>
            <a:r>
              <a:rPr sz="1100">
                <a:solidFill>
                  <a:srgbClr val="CBD3F0"/>
                </a:solidFill>
                <a:latin typeface="Courier New"/>
              </a:rPr>
              <a:t/>
            </a:r>
          </a:p>
          <a:p>
            <a:r>
              <a:rPr sz="1100">
                <a:solidFill>
                  <a:srgbClr val="F9E2AF"/>
                </a:solidFill>
                <a:latin typeface="Courier New"/>
              </a:rPr>
              <a:t># INICIO:  hpa_template = yaml.safe_load(hpa-template.yaml)</a:t>
            </a:r>
          </a:p>
          <a:p>
            <a:r>
              <a:rPr sz="1100">
                <a:solidFill>
                  <a:srgbClr val="CBD3F0"/>
                </a:solidFill>
                <a:latin typeface="Courier New"/>
              </a:rPr>
              <a:t>#          → {'kind': 'HPA', 'metadata': {'name': 'PLACEHOLDER'}, ...}</a:t>
            </a:r>
          </a:p>
          <a:p>
            <a:r>
              <a:rPr sz="1100">
                <a:solidFill>
                  <a:srgbClr val="CBD3F0"/>
                </a:solidFill>
                <a:latin typeface="Courier New"/>
              </a:rPr>
              <a:t/>
            </a:r>
          </a:p>
          <a:p>
            <a:r>
              <a:rPr sz="1100">
                <a:solidFill>
                  <a:srgbClr val="F9E2AF"/>
                </a:solidFill>
                <a:latin typeface="Courier New"/>
              </a:rPr>
              <a:t># COPIA:   hpa = hpa_template.copy()</a:t>
            </a:r>
          </a:p>
          <a:p>
            <a:r>
              <a:rPr sz="1100">
                <a:solidFill>
                  <a:srgbClr val="CBD3F0"/>
                </a:solidFill>
                <a:latin typeface="Courier New"/>
              </a:rPr>
              <a:t>#          → mismo dict, nueva referencia de nivel superior</a:t>
            </a:r>
          </a:p>
          <a:p>
            <a:r>
              <a:rPr sz="1100">
                <a:solidFill>
                  <a:srgbClr val="CBD3F0"/>
                </a:solidFill>
                <a:latin typeface="Courier New"/>
              </a:rPr>
              <a:t/>
            </a:r>
          </a:p>
          <a:p>
            <a:r>
              <a:rPr sz="1100">
                <a:solidFill>
                  <a:srgbClr val="F9E2AF"/>
                </a:solidFill>
                <a:latin typeface="Courier New"/>
              </a:rPr>
              <a:t># INJECT:  hpa['metadata']['name'] = 's0'</a:t>
            </a:r>
          </a:p>
          <a:p>
            <a:r>
              <a:rPr sz="1100">
                <a:solidFill>
                  <a:srgbClr val="F9E2AF"/>
                </a:solidFill>
                <a:latin typeface="Courier New"/>
              </a:rPr>
              <a:t>#          hpa['spec']['scaleTargetRef']['name'] = 's0'</a:t>
            </a:r>
          </a:p>
          <a:p>
            <a:r>
              <a:rPr sz="1100">
                <a:solidFill>
                  <a:srgbClr val="F9E2AF"/>
                </a:solidFill>
                <a:latin typeface="Courier New"/>
              </a:rPr>
              <a:t>#          hpa['metadata']['namespace'] = 'default'  (si existe)</a:t>
            </a:r>
          </a:p>
          <a:p>
            <a:r>
              <a:rPr sz="1100">
                <a:solidFill>
                  <a:srgbClr val="CBD3F0"/>
                </a:solidFill>
                <a:latin typeface="Courier New"/>
              </a:rPr>
              <a:t/>
            </a:r>
          </a:p>
          <a:p>
            <a:r>
              <a:rPr sz="1100">
                <a:solidFill>
                  <a:srgbClr val="F9E2AF"/>
                </a:solidFill>
                <a:latin typeface="Courier New"/>
              </a:rPr>
              <a:t># OUTPUT:  yaml.dump(hpa, file) → hpa-s0.yaml con nombre real</a:t>
            </a:r>
          </a:p>
          <a:p>
            <a:r>
              <a:rPr sz="1100">
                <a:solidFill>
                  <a:srgbClr val="F9E2AF"/>
                </a:solidFill>
                <a:latin typeface="Courier New"/>
              </a:rPr>
              <a:t>#          kubectl apply -f hpa-s0.yaml → HPA activo en K8s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YAMLs del proyecto</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hpa-template.yaml + 4 HPAs de mubench-realistic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hpa-template.yaml — Plantilla base</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Add-on/HPA/hpa-template.yaml · Estructura minima de un HPA autoscaling/v2</a:t>
            </a:r>
          </a:p>
        </p:txBody>
      </p:sp>
      <p:sp>
        <p:nvSpPr>
          <p:cNvPr id="5" name="Rectangle 4"/>
          <p:cNvSpPr/>
          <p:nvPr/>
        </p:nvSpPr>
        <p:spPr>
          <a:xfrm>
            <a:off x="365760" y="1143000"/>
            <a:ext cx="5303520" cy="53035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apiVersion: autoscaling/v2</a:t>
            </a:r>
          </a:p>
          <a:p>
            <a:r>
              <a:rPr sz="1100">
                <a:solidFill>
                  <a:srgbClr val="CBD3F0"/>
                </a:solidFill>
                <a:latin typeface="Courier New"/>
              </a:rPr>
              <a:t>kind: HorizontalPodAutoscaler</a:t>
            </a:r>
          </a:p>
          <a:p>
            <a:r>
              <a:rPr sz="1100">
                <a:solidFill>
                  <a:srgbClr val="F9E2AF"/>
                </a:solidFill>
                <a:latin typeface="Courier New"/>
              </a:rPr>
              <a:t>metadata: {}          # &lt;-- vacio: se rellena por create-hpa.py</a:t>
            </a:r>
          </a:p>
          <a:p>
            <a:r>
              <a:rPr sz="1100">
                <a:solidFill>
                  <a:srgbClr val="CBD3F0"/>
                </a:solidFill>
                <a:latin typeface="Courier New"/>
              </a:rPr>
              <a:t>spec:</a:t>
            </a:r>
          </a:p>
          <a:p>
            <a:r>
              <a:rPr sz="1100">
                <a:solidFill>
                  <a:srgbClr val="CBD3F0"/>
                </a:solidFill>
                <a:latin typeface="Courier New"/>
              </a:rPr>
              <a:t>  scaleTargetRef:</a:t>
            </a:r>
          </a:p>
          <a:p>
            <a:r>
              <a:rPr sz="1100">
                <a:solidFill>
                  <a:srgbClr val="CBD3F0"/>
                </a:solidFill>
                <a:latin typeface="Courier New"/>
              </a:rPr>
              <a:t>    apiVersion: apps/v1</a:t>
            </a:r>
          </a:p>
          <a:p>
            <a:r>
              <a:rPr sz="1100">
                <a:solidFill>
                  <a:srgbClr val="CBD3F0"/>
                </a:solidFill>
                <a:latin typeface="Courier New"/>
              </a:rPr>
              <a:t>    kind: Deployment  # &lt;-- siempre apunta a un Deployment</a:t>
            </a:r>
          </a:p>
          <a:p>
            <a:r>
              <a:rPr sz="1100">
                <a:solidFill>
                  <a:srgbClr val="F9E2AF"/>
                </a:solidFill>
                <a:latin typeface="Courier New"/>
              </a:rPr>
              <a:t>                      # name: se inyecta por create-hpa.py</a:t>
            </a:r>
          </a:p>
          <a:p>
            <a:r>
              <a:rPr sz="1100">
                <a:solidFill>
                  <a:srgbClr val="F9E2AF"/>
                </a:solidFill>
                <a:latin typeface="Courier New"/>
              </a:rPr>
              <a:t>  minReplicas: 1</a:t>
            </a:r>
          </a:p>
          <a:p>
            <a:r>
              <a:rPr sz="1100">
                <a:solidFill>
                  <a:srgbClr val="CBD3F0"/>
                </a:solidFill>
                <a:latin typeface="Courier New"/>
              </a:rPr>
              <a:t>  maxReplicas: 10</a:t>
            </a:r>
          </a:p>
          <a:p>
            <a:r>
              <a:rPr sz="1100">
                <a:solidFill>
                  <a:srgbClr val="CBD3F0"/>
                </a:solidFill>
                <a:latin typeface="Courier New"/>
              </a:rPr>
              <a:t>  metrics:</a:t>
            </a:r>
          </a:p>
          <a:p>
            <a:r>
              <a:rPr sz="1100">
                <a:solidFill>
                  <a:srgbClr val="CBD3F0"/>
                </a:solidFill>
                <a:latin typeface="Courier New"/>
              </a:rPr>
              <a:t>  - type: Resource</a:t>
            </a:r>
          </a:p>
          <a:p>
            <a:r>
              <a:rPr sz="1100">
                <a:solidFill>
                  <a:srgbClr val="CBD3F0"/>
                </a:solidFill>
                <a:latin typeface="Courier New"/>
              </a:rPr>
              <a:t>    resource:</a:t>
            </a:r>
          </a:p>
          <a:p>
            <a:r>
              <a:rPr sz="1100">
                <a:solidFill>
                  <a:srgbClr val="CBD3F0"/>
                </a:solidFill>
                <a:latin typeface="Courier New"/>
              </a:rPr>
              <a:t>      name: cpu</a:t>
            </a:r>
          </a:p>
          <a:p>
            <a:r>
              <a:rPr sz="1100">
                <a:solidFill>
                  <a:srgbClr val="CBD3F0"/>
                </a:solidFill>
                <a:latin typeface="Courier New"/>
              </a:rPr>
              <a:t>      target:</a:t>
            </a:r>
          </a:p>
          <a:p>
            <a:r>
              <a:rPr sz="1100">
                <a:solidFill>
                  <a:srgbClr val="CBD3F0"/>
                </a:solidFill>
                <a:latin typeface="Courier New"/>
              </a:rPr>
              <a:t>        type: Utilization</a:t>
            </a:r>
          </a:p>
          <a:p>
            <a:r>
              <a:rPr sz="1100">
                <a:solidFill>
                  <a:srgbClr val="F9E2AF"/>
                </a:solidFill>
                <a:latin typeface="Courier New"/>
              </a:rPr>
              <a:t>        averageUtilization: 60  # &lt;-- 60% CPU por pod</a:t>
            </a:r>
          </a:p>
        </p:txBody>
      </p:sp>
      <p:sp>
        <p:nvSpPr>
          <p:cNvPr id="6" name="Rectangle 5"/>
          <p:cNvSpPr/>
          <p:nvPr/>
        </p:nvSpPr>
        <p:spPr>
          <a:xfrm>
            <a:off x="5943600" y="1143000"/>
            <a:ext cx="2926080" cy="16459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apiVersion: autoscaling/v2</a:t>
            </a:r>
          </a:p>
          <a:p>
            <a:r>
              <a:rPr sz="1100">
                <a:solidFill>
                  <a:srgbClr val="555555"/>
                </a:solidFill>
              </a:rPr>
              <a:t>V2 permite multiples metricas (CPU, memoria, custom).
V1 solo soportaba CPU. Usar siempre v2 en K8s &gt;= 1.23.</a:t>
            </a:r>
          </a:p>
        </p:txBody>
      </p:sp>
      <p:sp>
        <p:nvSpPr>
          <p:cNvPr id="7" name="Rectangle 6"/>
          <p:cNvSpPr/>
          <p:nvPr/>
        </p:nvSpPr>
        <p:spPr>
          <a:xfrm>
            <a:off x="9052560" y="1143000"/>
            <a:ext cx="2926080" cy="16459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metadata: {}</a:t>
            </a:r>
          </a:p>
          <a:p>
            <a:r>
              <a:rPr sz="1100">
                <a:solidFill>
                  <a:srgbClr val="555555"/>
                </a:solidFill>
              </a:rPr>
              <a:t>Dict vacio intencional: create-hpa.py inyecta
name y namespace en tiempo de generacion.</a:t>
            </a:r>
          </a:p>
        </p:txBody>
      </p:sp>
      <p:sp>
        <p:nvSpPr>
          <p:cNvPr id="8" name="Rectangle 7"/>
          <p:cNvSpPr/>
          <p:nvPr/>
        </p:nvSpPr>
        <p:spPr>
          <a:xfrm>
            <a:off x="5943600" y="2926080"/>
            <a:ext cx="2926080" cy="16459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scaleTargetRef</a:t>
            </a:r>
          </a:p>
          <a:p>
            <a:r>
              <a:rPr sz="1100">
                <a:solidFill>
                  <a:srgbClr val="555555"/>
                </a:solidFill>
              </a:rPr>
              <a:t>Referencia al Deployment que el HPA controla.
Solo se puede apuntar a un recurso a la vez.</a:t>
            </a:r>
          </a:p>
        </p:txBody>
      </p:sp>
      <p:sp>
        <p:nvSpPr>
          <p:cNvPr id="9" name="Rectangle 8"/>
          <p:cNvSpPr/>
          <p:nvPr/>
        </p:nvSpPr>
        <p:spPr>
          <a:xfrm>
            <a:off x="9052560" y="2926080"/>
            <a:ext cx="2926080" cy="16459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minReplicas: 1</a:t>
            </a:r>
          </a:p>
          <a:p>
            <a:r>
              <a:rPr sz="1100">
                <a:solidFill>
                  <a:srgbClr val="555555"/>
                </a:solidFill>
              </a:rPr>
              <a:t>Nunca baja de 1 replica — el pod siempre existe.
Poner 0 causa cold starts (no recomendado para prod).</a:t>
            </a:r>
          </a:p>
        </p:txBody>
      </p:sp>
      <p:sp>
        <p:nvSpPr>
          <p:cNvPr id="10" name="Rectangle 9"/>
          <p:cNvSpPr/>
          <p:nvPr/>
        </p:nvSpPr>
        <p:spPr>
          <a:xfrm>
            <a:off x="5943600" y="4709160"/>
            <a:ext cx="2926080" cy="16459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maxReplicas: 10</a:t>
            </a:r>
          </a:p>
          <a:p>
            <a:r>
              <a:rPr sz="1100">
                <a:solidFill>
                  <a:srgbClr val="555555"/>
                </a:solidFill>
              </a:rPr>
              <a:t>Limite superior de escalado.
Los HPAs del proyecto lo sobreescriben por servicio:
api=20, auth=15, sdb-data=8, gw-nginx=10.</a:t>
            </a:r>
          </a:p>
        </p:txBody>
      </p:sp>
      <p:sp>
        <p:nvSpPr>
          <p:cNvPr id="11" name="Rectangle 10"/>
          <p:cNvSpPr/>
          <p:nvPr/>
        </p:nvSpPr>
        <p:spPr>
          <a:xfrm>
            <a:off x="9052560" y="4709160"/>
            <a:ext cx="2926080" cy="16459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averageUtilization: 60</a:t>
            </a:r>
          </a:p>
          <a:p>
            <a:r>
              <a:rPr sz="1100">
                <a:solidFill>
                  <a:srgbClr val="555555"/>
                </a:solidFill>
              </a:rPr>
              <a:t>Si el promedio de CPU de todos los pods supera 60%,
K8s agrega replicas. Por debajo, las quita.
Los HPAs del proyecto usan 50/55/60/70% segun servicio.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HPAs del proyecto — mubench-realistic</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4 archivos generados con parametros especificos por rol de servicio</a:t>
            </a:r>
          </a:p>
        </p:txBody>
      </p:sp>
      <p:sp>
        <p:nvSpPr>
          <p:cNvPr id="5" name="Rectangle 4"/>
          <p:cNvSpPr/>
          <p:nvPr/>
        </p:nvSpPr>
        <p:spPr>
          <a:xfrm>
            <a:off x="274320" y="1143000"/>
            <a:ext cx="5669280"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hpa-realistic-api.yaml</a:t>
            </a:r>
          </a:p>
        </p:txBody>
      </p:sp>
      <p:sp>
        <p:nvSpPr>
          <p:cNvPr id="6" name="Rectangle 5"/>
          <p:cNvSpPr/>
          <p:nvPr/>
        </p:nvSpPr>
        <p:spPr>
          <a:xfrm>
            <a:off x="274320" y="1527048"/>
            <a:ext cx="5669280" cy="21945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metadata:</a:t>
            </a:r>
          </a:p>
          <a:p>
            <a:r>
              <a:rPr sz="1100">
                <a:solidFill>
                  <a:srgbClr val="CBD3F0"/>
                </a:solidFill>
                <a:latin typeface="Courier New"/>
              </a:rPr>
              <a:t>  name: api</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CBD3F0"/>
                </a:solidFill>
                <a:latin typeface="Courier New"/>
              </a:rPr>
              <a:t>  minReplicas: 1</a:t>
            </a:r>
          </a:p>
          <a:p>
            <a:r>
              <a:rPr sz="1100">
                <a:solidFill>
                  <a:srgbClr val="F9E2AF"/>
                </a:solidFill>
                <a:latin typeface="Courier New"/>
              </a:rPr>
              <a:t>  maxReplicas: 20   # mas replicas</a:t>
            </a:r>
          </a:p>
          <a:p>
            <a:r>
              <a:rPr sz="1100">
                <a:solidFill>
                  <a:srgbClr val="CBD3F0"/>
                </a:solidFill>
                <a:latin typeface="Courier New"/>
              </a:rPr>
              <a:t>  scaleTargetRef:</a:t>
            </a:r>
          </a:p>
          <a:p>
            <a:r>
              <a:rPr sz="1100">
                <a:solidFill>
                  <a:srgbClr val="CBD3F0"/>
                </a:solidFill>
                <a:latin typeface="Courier New"/>
              </a:rPr>
              <a:t>    name: api</a:t>
            </a:r>
          </a:p>
          <a:p>
            <a:r>
              <a:rPr sz="1100">
                <a:solidFill>
                  <a:srgbClr val="CBD3F0"/>
                </a:solidFill>
                <a:latin typeface="Courier New"/>
              </a:rPr>
              <a:t>  metrics:</a:t>
            </a:r>
          </a:p>
          <a:p>
            <a:r>
              <a:rPr sz="1100">
                <a:solidFill>
                  <a:srgbClr val="CBD3F0"/>
                </a:solidFill>
                <a:latin typeface="Courier New"/>
              </a:rPr>
              <a:t>  - type: Resource</a:t>
            </a:r>
          </a:p>
          <a:p>
            <a:r>
              <a:rPr sz="1100">
                <a:solidFill>
                  <a:srgbClr val="CBD3F0"/>
                </a:solidFill>
                <a:latin typeface="Courier New"/>
              </a:rPr>
              <a:t>    resource:</a:t>
            </a:r>
          </a:p>
          <a:p>
            <a:r>
              <a:rPr sz="1100">
                <a:solidFill>
                  <a:srgbClr val="CBD3F0"/>
                </a:solidFill>
                <a:latin typeface="Courier New"/>
              </a:rPr>
              <a:t>      name: cpu</a:t>
            </a:r>
          </a:p>
          <a:p>
            <a:r>
              <a:rPr sz="1100">
                <a:solidFill>
                  <a:srgbClr val="CBD3F0"/>
                </a:solidFill>
                <a:latin typeface="Courier New"/>
              </a:rPr>
              <a:t>      target:</a:t>
            </a:r>
          </a:p>
          <a:p>
            <a:r>
              <a:rPr sz="1100">
                <a:solidFill>
                  <a:srgbClr val="F9E2AF"/>
                </a:solidFill>
                <a:latin typeface="Courier New"/>
              </a:rPr>
              <a:t>        averageUtilization: 50  # umbral bajo</a:t>
            </a:r>
          </a:p>
        </p:txBody>
      </p:sp>
      <p:sp>
        <p:nvSpPr>
          <p:cNvPr id="7" name="Rectangle 6"/>
          <p:cNvSpPr/>
          <p:nvPr/>
        </p:nvSpPr>
        <p:spPr>
          <a:xfrm>
            <a:off x="6217920" y="1143000"/>
            <a:ext cx="5669280" cy="384048"/>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hpa-realistic-auth.yaml</a:t>
            </a:r>
          </a:p>
        </p:txBody>
      </p:sp>
      <p:sp>
        <p:nvSpPr>
          <p:cNvPr id="8" name="Rectangle 7"/>
          <p:cNvSpPr/>
          <p:nvPr/>
        </p:nvSpPr>
        <p:spPr>
          <a:xfrm>
            <a:off x="6217920" y="1527048"/>
            <a:ext cx="5669280" cy="21945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metadata:</a:t>
            </a:r>
          </a:p>
          <a:p>
            <a:r>
              <a:rPr sz="1100">
                <a:solidFill>
                  <a:srgbClr val="CBD3F0"/>
                </a:solidFill>
                <a:latin typeface="Courier New"/>
              </a:rPr>
              <a:t>  name: auth</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CBD3F0"/>
                </a:solidFill>
                <a:latin typeface="Courier New"/>
              </a:rPr>
              <a:t>  minReplicas: 1</a:t>
            </a:r>
          </a:p>
          <a:p>
            <a:r>
              <a:rPr sz="1100">
                <a:solidFill>
                  <a:srgbClr val="F9E2AF"/>
                </a:solidFill>
                <a:latin typeface="Courier New"/>
              </a:rPr>
              <a:t>  maxReplicas: 15   # intermedio</a:t>
            </a:r>
          </a:p>
          <a:p>
            <a:r>
              <a:rPr sz="1100">
                <a:solidFill>
                  <a:srgbClr val="CBD3F0"/>
                </a:solidFill>
                <a:latin typeface="Courier New"/>
              </a:rPr>
              <a:t>  scaleTargetRef:</a:t>
            </a:r>
          </a:p>
          <a:p>
            <a:r>
              <a:rPr sz="1100">
                <a:solidFill>
                  <a:srgbClr val="CBD3F0"/>
                </a:solidFill>
                <a:latin typeface="Courier New"/>
              </a:rPr>
              <a:t>    name: auth</a:t>
            </a:r>
          </a:p>
          <a:p>
            <a:r>
              <a:rPr sz="1100">
                <a:solidFill>
                  <a:srgbClr val="CBD3F0"/>
                </a:solidFill>
                <a:latin typeface="Courier New"/>
              </a:rPr>
              <a:t>  metrics:</a:t>
            </a:r>
          </a:p>
          <a:p>
            <a:r>
              <a:rPr sz="1100">
                <a:solidFill>
                  <a:srgbClr val="CBD3F0"/>
                </a:solidFill>
                <a:latin typeface="Courier New"/>
              </a:rPr>
              <a:t>  - type: Resource</a:t>
            </a:r>
          </a:p>
          <a:p>
            <a:r>
              <a:rPr sz="1100">
                <a:solidFill>
                  <a:srgbClr val="CBD3F0"/>
                </a:solidFill>
                <a:latin typeface="Courier New"/>
              </a:rPr>
              <a:t>    resource:</a:t>
            </a:r>
          </a:p>
          <a:p>
            <a:r>
              <a:rPr sz="1100">
                <a:solidFill>
                  <a:srgbClr val="CBD3F0"/>
                </a:solidFill>
                <a:latin typeface="Courier New"/>
              </a:rPr>
              <a:t>      name: cpu</a:t>
            </a:r>
          </a:p>
          <a:p>
            <a:r>
              <a:rPr sz="1100">
                <a:solidFill>
                  <a:srgbClr val="CBD3F0"/>
                </a:solidFill>
                <a:latin typeface="Courier New"/>
              </a:rPr>
              <a:t>      target:</a:t>
            </a:r>
          </a:p>
          <a:p>
            <a:r>
              <a:rPr sz="1100">
                <a:solidFill>
                  <a:srgbClr val="F9E2AF"/>
                </a:solidFill>
                <a:latin typeface="Courier New"/>
              </a:rPr>
              <a:t>        averageUtilization: 55  # umbral medio</a:t>
            </a:r>
          </a:p>
        </p:txBody>
      </p:sp>
      <p:sp>
        <p:nvSpPr>
          <p:cNvPr id="9" name="Rectangle 8"/>
          <p:cNvSpPr/>
          <p:nvPr/>
        </p:nvSpPr>
        <p:spPr>
          <a:xfrm>
            <a:off x="274320" y="3886200"/>
            <a:ext cx="5669280" cy="384048"/>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hpa-realistic-sdb-data.yaml</a:t>
            </a:r>
          </a:p>
        </p:txBody>
      </p:sp>
      <p:sp>
        <p:nvSpPr>
          <p:cNvPr id="10" name="Rectangle 9"/>
          <p:cNvSpPr/>
          <p:nvPr/>
        </p:nvSpPr>
        <p:spPr>
          <a:xfrm>
            <a:off x="274320" y="4270248"/>
            <a:ext cx="5669280" cy="21945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metadata:</a:t>
            </a:r>
          </a:p>
          <a:p>
            <a:r>
              <a:rPr sz="1100">
                <a:solidFill>
                  <a:srgbClr val="CBD3F0"/>
                </a:solidFill>
                <a:latin typeface="Courier New"/>
              </a:rPr>
              <a:t>  name: sdb-data</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CBD3F0"/>
                </a:solidFill>
                <a:latin typeface="Courier New"/>
              </a:rPr>
              <a:t>  minReplicas: 1</a:t>
            </a:r>
          </a:p>
          <a:p>
            <a:r>
              <a:rPr sz="1100">
                <a:solidFill>
                  <a:srgbClr val="F9E2AF"/>
                </a:solidFill>
                <a:latin typeface="Courier New"/>
              </a:rPr>
              <a:t>  maxReplicas: 8    # conservador</a:t>
            </a:r>
          </a:p>
          <a:p>
            <a:r>
              <a:rPr sz="1100">
                <a:solidFill>
                  <a:srgbClr val="CBD3F0"/>
                </a:solidFill>
                <a:latin typeface="Courier New"/>
              </a:rPr>
              <a:t>  scaleTargetRef:</a:t>
            </a:r>
          </a:p>
          <a:p>
            <a:r>
              <a:rPr sz="1100">
                <a:solidFill>
                  <a:srgbClr val="CBD3F0"/>
                </a:solidFill>
                <a:latin typeface="Courier New"/>
              </a:rPr>
              <a:t>    name: sdb-data</a:t>
            </a:r>
          </a:p>
          <a:p>
            <a:r>
              <a:rPr sz="1100">
                <a:solidFill>
                  <a:srgbClr val="CBD3F0"/>
                </a:solidFill>
                <a:latin typeface="Courier New"/>
              </a:rPr>
              <a:t>  metrics:</a:t>
            </a:r>
          </a:p>
          <a:p>
            <a:r>
              <a:rPr sz="1100">
                <a:solidFill>
                  <a:srgbClr val="CBD3F0"/>
                </a:solidFill>
                <a:latin typeface="Courier New"/>
              </a:rPr>
              <a:t>  - type: Resource</a:t>
            </a:r>
          </a:p>
          <a:p>
            <a:r>
              <a:rPr sz="1100">
                <a:solidFill>
                  <a:srgbClr val="CBD3F0"/>
                </a:solidFill>
                <a:latin typeface="Courier New"/>
              </a:rPr>
              <a:t>    resource:</a:t>
            </a:r>
          </a:p>
          <a:p>
            <a:r>
              <a:rPr sz="1100">
                <a:solidFill>
                  <a:srgbClr val="CBD3F0"/>
                </a:solidFill>
                <a:latin typeface="Courier New"/>
              </a:rPr>
              <a:t>      name: cpu</a:t>
            </a:r>
          </a:p>
          <a:p>
            <a:r>
              <a:rPr sz="1100">
                <a:solidFill>
                  <a:srgbClr val="CBD3F0"/>
                </a:solidFill>
                <a:latin typeface="Courier New"/>
              </a:rPr>
              <a:t>      target:</a:t>
            </a:r>
          </a:p>
          <a:p>
            <a:r>
              <a:rPr sz="1100">
                <a:solidFill>
                  <a:srgbClr val="F9E2AF"/>
                </a:solidFill>
                <a:latin typeface="Courier New"/>
              </a:rPr>
              <a:t>        averageUtilization: 70  # umbral alto</a:t>
            </a:r>
          </a:p>
        </p:txBody>
      </p:sp>
      <p:sp>
        <p:nvSpPr>
          <p:cNvPr id="11" name="Rectangle 10"/>
          <p:cNvSpPr/>
          <p:nvPr/>
        </p:nvSpPr>
        <p:spPr>
          <a:xfrm>
            <a:off x="6217920" y="3886200"/>
            <a:ext cx="5669280" cy="384048"/>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hpa-realistic-gw-nginx.yaml</a:t>
            </a:r>
          </a:p>
        </p:txBody>
      </p:sp>
      <p:sp>
        <p:nvSpPr>
          <p:cNvPr id="12" name="Rectangle 11"/>
          <p:cNvSpPr/>
          <p:nvPr/>
        </p:nvSpPr>
        <p:spPr>
          <a:xfrm>
            <a:off x="6217920" y="4270248"/>
            <a:ext cx="5669280" cy="21945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metadata:</a:t>
            </a:r>
          </a:p>
          <a:p>
            <a:r>
              <a:rPr sz="1100">
                <a:solidFill>
                  <a:srgbClr val="CBD3F0"/>
                </a:solidFill>
                <a:latin typeface="Courier New"/>
              </a:rPr>
              <a:t>  name: gw-nginx</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CBD3F0"/>
                </a:solidFill>
                <a:latin typeface="Courier New"/>
              </a:rPr>
              <a:t>  minReplicas: 1</a:t>
            </a:r>
          </a:p>
          <a:p>
            <a:r>
              <a:rPr sz="1100">
                <a:solidFill>
                  <a:srgbClr val="F9E2AF"/>
                </a:solidFill>
                <a:latin typeface="Courier New"/>
              </a:rPr>
              <a:t>  maxReplicas: 10   # gateway limitado</a:t>
            </a:r>
          </a:p>
          <a:p>
            <a:r>
              <a:rPr sz="1100">
                <a:solidFill>
                  <a:srgbClr val="CBD3F0"/>
                </a:solidFill>
                <a:latin typeface="Courier New"/>
              </a:rPr>
              <a:t>  scaleTargetRef:</a:t>
            </a:r>
          </a:p>
          <a:p>
            <a:r>
              <a:rPr sz="1100">
                <a:solidFill>
                  <a:srgbClr val="CBD3F0"/>
                </a:solidFill>
                <a:latin typeface="Courier New"/>
              </a:rPr>
              <a:t>    name: gw-nginx</a:t>
            </a:r>
          </a:p>
          <a:p>
            <a:r>
              <a:rPr sz="1100">
                <a:solidFill>
                  <a:srgbClr val="CBD3F0"/>
                </a:solidFill>
                <a:latin typeface="Courier New"/>
              </a:rPr>
              <a:t>  metrics:</a:t>
            </a:r>
          </a:p>
          <a:p>
            <a:r>
              <a:rPr sz="1100">
                <a:solidFill>
                  <a:srgbClr val="CBD3F0"/>
                </a:solidFill>
                <a:latin typeface="Courier New"/>
              </a:rPr>
              <a:t>  - type: Resource</a:t>
            </a:r>
          </a:p>
          <a:p>
            <a:r>
              <a:rPr sz="1100">
                <a:solidFill>
                  <a:srgbClr val="CBD3F0"/>
                </a:solidFill>
                <a:latin typeface="Courier New"/>
              </a:rPr>
              <a:t>    resource:</a:t>
            </a:r>
          </a:p>
          <a:p>
            <a:r>
              <a:rPr sz="1100">
                <a:solidFill>
                  <a:srgbClr val="CBD3F0"/>
                </a:solidFill>
                <a:latin typeface="Courier New"/>
              </a:rPr>
              <a:t>      name: cpu</a:t>
            </a:r>
          </a:p>
          <a:p>
            <a:r>
              <a:rPr sz="1100">
                <a:solidFill>
                  <a:srgbClr val="CBD3F0"/>
                </a:solidFill>
                <a:latin typeface="Courier New"/>
              </a:rPr>
              <a:t>      target:</a:t>
            </a:r>
          </a:p>
          <a:p>
            <a:r>
              <a:rPr sz="1100">
                <a:solidFill>
                  <a:srgbClr val="F9E2AF"/>
                </a:solidFill>
                <a:latin typeface="Courier New"/>
              </a:rPr>
              <a:t>        averageUtilization: 60  # umbral estandar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HPAs — Comparativa y razonamiento de parametros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Por que cada servicio tiene umbrales y limites distintos</a:t>
            </a:r>
          </a:p>
        </p:txBody>
      </p:sp>
      <p:sp>
        <p:nvSpPr>
          <p:cNvPr id="5" name="Rectangle 4"/>
          <p:cNvSpPr/>
          <p:nvPr/>
        </p:nvSpPr>
        <p:spPr>
          <a:xfrm>
            <a:off x="274320" y="1188720"/>
            <a:ext cx="1371600" cy="4572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Servicio</a:t>
            </a:r>
          </a:p>
        </p:txBody>
      </p:sp>
      <p:sp>
        <p:nvSpPr>
          <p:cNvPr id="6" name="Rectangle 5"/>
          <p:cNvSpPr/>
          <p:nvPr/>
        </p:nvSpPr>
        <p:spPr>
          <a:xfrm>
            <a:off x="1645920" y="1188720"/>
            <a:ext cx="2560320" cy="4572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Rol</a:t>
            </a:r>
          </a:p>
        </p:txBody>
      </p:sp>
      <p:sp>
        <p:nvSpPr>
          <p:cNvPr id="7" name="Rectangle 6"/>
          <p:cNvSpPr/>
          <p:nvPr/>
        </p:nvSpPr>
        <p:spPr>
          <a:xfrm>
            <a:off x="4206240" y="1188720"/>
            <a:ext cx="1280160" cy="4572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maxReplicas</a:t>
            </a:r>
          </a:p>
        </p:txBody>
      </p:sp>
      <p:sp>
        <p:nvSpPr>
          <p:cNvPr id="8" name="Rectangle 7"/>
          <p:cNvSpPr/>
          <p:nvPr/>
        </p:nvSpPr>
        <p:spPr>
          <a:xfrm>
            <a:off x="5486400" y="1188720"/>
            <a:ext cx="1280160" cy="4572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CPU umbral</a:t>
            </a:r>
          </a:p>
        </p:txBody>
      </p:sp>
      <p:sp>
        <p:nvSpPr>
          <p:cNvPr id="9" name="Rectangle 8"/>
          <p:cNvSpPr/>
          <p:nvPr/>
        </p:nvSpPr>
        <p:spPr>
          <a:xfrm>
            <a:off x="6766560" y="1188720"/>
            <a:ext cx="5212080" cy="4572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Razonamiento</a:t>
            </a:r>
          </a:p>
        </p:txBody>
      </p:sp>
      <p:sp>
        <p:nvSpPr>
          <p:cNvPr id="10" name="Rectangle 9"/>
          <p:cNvSpPr/>
          <p:nvPr/>
        </p:nvSpPr>
        <p:spPr>
          <a:xfrm>
            <a:off x="274320" y="1645920"/>
            <a:ext cx="1371600" cy="10972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api</a:t>
            </a:r>
          </a:p>
        </p:txBody>
      </p:sp>
      <p:sp>
        <p:nvSpPr>
          <p:cNvPr id="11" name="Rectangle 10"/>
          <p:cNvSpPr/>
          <p:nvPr/>
        </p:nvSpPr>
        <p:spPr>
          <a:xfrm>
            <a:off x="1645920" y="1645920"/>
            <a:ext cx="2560320" cy="109728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Entry point
Todo el trafico entra aqui</a:t>
            </a:r>
          </a:p>
        </p:txBody>
      </p:sp>
      <p:sp>
        <p:nvSpPr>
          <p:cNvPr id="12" name="Rectangle 11"/>
          <p:cNvSpPr/>
          <p:nvPr/>
        </p:nvSpPr>
        <p:spPr>
          <a:xfrm>
            <a:off x="4206240" y="1645920"/>
            <a:ext cx="1280160" cy="109728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20</a:t>
            </a:r>
          </a:p>
        </p:txBody>
      </p:sp>
      <p:sp>
        <p:nvSpPr>
          <p:cNvPr id="13" name="Rectangle 12"/>
          <p:cNvSpPr/>
          <p:nvPr/>
        </p:nvSpPr>
        <p:spPr>
          <a:xfrm>
            <a:off x="5486400" y="1645920"/>
            <a:ext cx="1280160" cy="109728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50%</a:t>
            </a:r>
          </a:p>
        </p:txBody>
      </p:sp>
      <p:sp>
        <p:nvSpPr>
          <p:cNvPr id="14" name="Rectangle 13"/>
          <p:cNvSpPr/>
          <p:nvPr/>
        </p:nvSpPr>
        <p:spPr>
          <a:xfrm>
            <a:off x="6766560" y="1645920"/>
            <a:ext cx="5212080" cy="109728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a:solidFill>
                  <a:srgbClr val="1F497D"/>
                </a:solidFill>
              </a:rPr>
              <a:t>Escala agresivo: es el cuello de botella principal.
Umbral bajo (50%) → reacciona rapido antes de saturarse.</a:t>
            </a:r>
          </a:p>
        </p:txBody>
      </p:sp>
      <p:sp>
        <p:nvSpPr>
          <p:cNvPr id="15" name="Rectangle 14"/>
          <p:cNvSpPr/>
          <p:nvPr/>
        </p:nvSpPr>
        <p:spPr>
          <a:xfrm>
            <a:off x="274320" y="2834640"/>
            <a:ext cx="1371600" cy="1097280"/>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auth</a:t>
            </a:r>
          </a:p>
        </p:txBody>
      </p:sp>
      <p:sp>
        <p:nvSpPr>
          <p:cNvPr id="16" name="Rectangle 15"/>
          <p:cNvSpPr/>
          <p:nvPr/>
        </p:nvSpPr>
        <p:spPr>
          <a:xfrm>
            <a:off x="1645920" y="2834640"/>
            <a:ext cx="2560320" cy="109728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Genera/valida JWT
CPU intensivo por crypto</a:t>
            </a:r>
          </a:p>
        </p:txBody>
      </p:sp>
      <p:sp>
        <p:nvSpPr>
          <p:cNvPr id="17" name="Rectangle 16"/>
          <p:cNvSpPr/>
          <p:nvPr/>
        </p:nvSpPr>
        <p:spPr>
          <a:xfrm>
            <a:off x="4206240" y="2834640"/>
            <a:ext cx="1280160" cy="109728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15</a:t>
            </a:r>
          </a:p>
        </p:txBody>
      </p:sp>
      <p:sp>
        <p:nvSpPr>
          <p:cNvPr id="18" name="Rectangle 17"/>
          <p:cNvSpPr/>
          <p:nvPr/>
        </p:nvSpPr>
        <p:spPr>
          <a:xfrm>
            <a:off x="5486400" y="2834640"/>
            <a:ext cx="1280160" cy="109728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55%</a:t>
            </a:r>
          </a:p>
        </p:txBody>
      </p:sp>
      <p:sp>
        <p:nvSpPr>
          <p:cNvPr id="19" name="Rectangle 18"/>
          <p:cNvSpPr/>
          <p:nvPr/>
        </p:nvSpPr>
        <p:spPr>
          <a:xfrm>
            <a:off x="6766560" y="2834640"/>
            <a:ext cx="5212080" cy="109728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a:solidFill>
                  <a:srgbClr val="1F497D"/>
                </a:solidFill>
              </a:rPr>
              <a:t>Escalado intermedio: crypto es predecible en CPU.
Umbral 55%: buffer para picos de validacion JWT.</a:t>
            </a:r>
          </a:p>
        </p:txBody>
      </p:sp>
      <p:sp>
        <p:nvSpPr>
          <p:cNvPr id="20" name="Rectangle 19"/>
          <p:cNvSpPr/>
          <p:nvPr/>
        </p:nvSpPr>
        <p:spPr>
          <a:xfrm>
            <a:off x="274320" y="4023360"/>
            <a:ext cx="1371600" cy="1097280"/>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sdb-data</a:t>
            </a:r>
          </a:p>
        </p:txBody>
      </p:sp>
      <p:sp>
        <p:nvSpPr>
          <p:cNvPr id="21" name="Rectangle 20"/>
          <p:cNvSpPr/>
          <p:nvPr/>
        </p:nvSpPr>
        <p:spPr>
          <a:xfrm>
            <a:off x="1645920" y="4023360"/>
            <a:ext cx="2560320" cy="109728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Simula base de datos
Acceso a datos lento</a:t>
            </a:r>
          </a:p>
        </p:txBody>
      </p:sp>
      <p:sp>
        <p:nvSpPr>
          <p:cNvPr id="22" name="Rectangle 21"/>
          <p:cNvSpPr/>
          <p:nvPr/>
        </p:nvSpPr>
        <p:spPr>
          <a:xfrm>
            <a:off x="4206240" y="4023360"/>
            <a:ext cx="1280160" cy="109728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8</a:t>
            </a:r>
          </a:p>
        </p:txBody>
      </p:sp>
      <p:sp>
        <p:nvSpPr>
          <p:cNvPr id="23" name="Rectangle 22"/>
          <p:cNvSpPr/>
          <p:nvPr/>
        </p:nvSpPr>
        <p:spPr>
          <a:xfrm>
            <a:off x="5486400" y="4023360"/>
            <a:ext cx="1280160" cy="109728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70%</a:t>
            </a:r>
          </a:p>
        </p:txBody>
      </p:sp>
      <p:sp>
        <p:nvSpPr>
          <p:cNvPr id="24" name="Rectangle 23"/>
          <p:cNvSpPr/>
          <p:nvPr/>
        </p:nvSpPr>
        <p:spPr>
          <a:xfrm>
            <a:off x="6766560" y="4023360"/>
            <a:ext cx="5212080" cy="109728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a:solidFill>
                  <a:srgbClr val="1F497D"/>
                </a:solidFill>
              </a:rPr>
              <a:t>Conservador: las DBs reales no escalan facilmente.
Umbral alto (70%): tolera mas carga antes de escalar.</a:t>
            </a:r>
          </a:p>
        </p:txBody>
      </p:sp>
      <p:sp>
        <p:nvSpPr>
          <p:cNvPr id="25" name="Rectangle 24"/>
          <p:cNvSpPr/>
          <p:nvPr/>
        </p:nvSpPr>
        <p:spPr>
          <a:xfrm>
            <a:off x="274320" y="5212080"/>
            <a:ext cx="1371600" cy="1097280"/>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gw-nginx</a:t>
            </a:r>
          </a:p>
        </p:txBody>
      </p:sp>
      <p:sp>
        <p:nvSpPr>
          <p:cNvPr id="26" name="Rectangle 25"/>
          <p:cNvSpPr/>
          <p:nvPr/>
        </p:nvSpPr>
        <p:spPr>
          <a:xfrm>
            <a:off x="1645920" y="5212080"/>
            <a:ext cx="2560320" cy="109728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Proxy de entrada
L7 reverse proxy</a:t>
            </a:r>
          </a:p>
        </p:txBody>
      </p:sp>
      <p:sp>
        <p:nvSpPr>
          <p:cNvPr id="27" name="Rectangle 26"/>
          <p:cNvSpPr/>
          <p:nvPr/>
        </p:nvSpPr>
        <p:spPr>
          <a:xfrm>
            <a:off x="4206240" y="5212080"/>
            <a:ext cx="1280160" cy="109728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10</a:t>
            </a:r>
          </a:p>
        </p:txBody>
      </p:sp>
      <p:sp>
        <p:nvSpPr>
          <p:cNvPr id="28" name="Rectangle 27"/>
          <p:cNvSpPr/>
          <p:nvPr/>
        </p:nvSpPr>
        <p:spPr>
          <a:xfrm>
            <a:off x="5486400" y="5212080"/>
            <a:ext cx="1280160" cy="109728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60%</a:t>
            </a:r>
          </a:p>
        </p:txBody>
      </p:sp>
      <p:sp>
        <p:nvSpPr>
          <p:cNvPr id="29" name="Rectangle 28"/>
          <p:cNvSpPr/>
          <p:nvPr/>
        </p:nvSpPr>
        <p:spPr>
          <a:xfrm>
            <a:off x="6766560" y="5212080"/>
            <a:ext cx="5212080" cy="109728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a:solidFill>
                  <a:srgbClr val="1F497D"/>
                </a:solidFill>
              </a:rPr>
              <a:t>Balanceado: nginx es muy eficiente por CPU.
60% es el valor de la plantilla base sin ajuste.</a:t>
            </a:r>
          </a:p>
        </p:txBody>
      </p:sp>
      <p:sp>
        <p:nvSpPr>
          <p:cNvPr id="30" name="Rectangle 29"/>
          <p:cNvSpPr/>
          <p:nvPr/>
        </p:nvSpPr>
        <p:spPr>
          <a:xfrm>
            <a:off x="274320" y="6080760"/>
            <a:ext cx="11612880" cy="548640"/>
          </a:xfrm>
          <a:prstGeom prst="rect">
            <a:avLst/>
          </a:prstGeom>
          <a:solidFill>
            <a:srgbClr val="E8F5E9"/>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a:solidFill>
                  <a:srgbClr val="1E6B3A"/>
                </a:solidFill>
              </a:rPr>
              <a:t>NOTA: estos YAMLs NO fueron generados por create-hpa.py + hpa-template.yaml. Fueron escritos manualmente con parametros ajustados por rol. hpa-template.yaml es la base generica para servicios sinteticos (s0, s1, sdb1).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Add-on/Istio</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create-destination-rule.py + DestinationRules + Gateway + VirtualServices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Add-on/Istio — Proposito y archivos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Configura el service mesh Istio para el proyecto mubench-realistic</a:t>
            </a:r>
          </a:p>
        </p:txBody>
      </p:sp>
      <p:sp>
        <p:nvSpPr>
          <p:cNvPr id="5" name="Rectangle 4"/>
          <p:cNvSpPr/>
          <p:nvPr/>
        </p:nvSpPr>
        <p:spPr>
          <a:xfrm>
            <a:off x="274320" y="1188720"/>
            <a:ext cx="3749039"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ourier New"/>
              </a:rPr>
              <a:t>create-destination-rule.py</a:t>
            </a:r>
          </a:p>
        </p:txBody>
      </p:sp>
      <p:sp>
        <p:nvSpPr>
          <p:cNvPr id="6" name="Rectangle 5"/>
          <p:cNvSpPr/>
          <p:nvPr/>
        </p:nvSpPr>
        <p:spPr>
          <a:xfrm>
            <a:off x="274320" y="1572768"/>
            <a:ext cx="3749039" cy="137160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rPr>
              <a:t>Script Python: genera DestinationRules
automaticamente desde YAMLs de Service.</a:t>
            </a:r>
          </a:p>
        </p:txBody>
      </p:sp>
      <p:sp>
        <p:nvSpPr>
          <p:cNvPr id="7" name="Rectangle 6"/>
          <p:cNvSpPr/>
          <p:nvPr/>
        </p:nvSpPr>
        <p:spPr>
          <a:xfrm>
            <a:off x="4206240" y="1188720"/>
            <a:ext cx="3749039" cy="384048"/>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ourier New"/>
              </a:rPr>
              <a:t>destination-rule-template.yaml</a:t>
            </a:r>
          </a:p>
        </p:txBody>
      </p:sp>
      <p:sp>
        <p:nvSpPr>
          <p:cNvPr id="8" name="Rectangle 7"/>
          <p:cNvSpPr/>
          <p:nvPr/>
        </p:nvSpPr>
        <p:spPr>
          <a:xfrm>
            <a:off x="4206240" y="1572768"/>
            <a:ext cx="3749039" cy="137160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rPr>
              <a:t>Plantilla base para DestinationRules.
Define load balancer y circuit breaker.</a:t>
            </a:r>
          </a:p>
        </p:txBody>
      </p:sp>
      <p:sp>
        <p:nvSpPr>
          <p:cNvPr id="9" name="Rectangle 8"/>
          <p:cNvSpPr/>
          <p:nvPr/>
        </p:nvSpPr>
        <p:spPr>
          <a:xfrm>
            <a:off x="8138160" y="1188720"/>
            <a:ext cx="3749039" cy="384048"/>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ourier New"/>
              </a:rPr>
              <a:t>destrule-realistic-*.yaml</a:t>
            </a:r>
          </a:p>
        </p:txBody>
      </p:sp>
      <p:sp>
        <p:nvSpPr>
          <p:cNvPr id="10" name="Rectangle 9"/>
          <p:cNvSpPr/>
          <p:nvPr/>
        </p:nvSpPr>
        <p:spPr>
          <a:xfrm>
            <a:off x="8138160" y="1572768"/>
            <a:ext cx="3749039" cy="137160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rPr>
              <a:t>4 DestinationRules del proyecto:
api, auth, sdb-data, gw-nginx.</a:t>
            </a:r>
          </a:p>
        </p:txBody>
      </p:sp>
      <p:sp>
        <p:nvSpPr>
          <p:cNvPr id="11" name="Rectangle 10"/>
          <p:cNvSpPr/>
          <p:nvPr/>
        </p:nvSpPr>
        <p:spPr>
          <a:xfrm>
            <a:off x="274320" y="3108960"/>
            <a:ext cx="3749039" cy="384048"/>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ourier New"/>
              </a:rPr>
              <a:t>istio-gateway.yaml</a:t>
            </a:r>
          </a:p>
        </p:txBody>
      </p:sp>
      <p:sp>
        <p:nvSpPr>
          <p:cNvPr id="12" name="Rectangle 11"/>
          <p:cNvSpPr/>
          <p:nvPr/>
        </p:nvSpPr>
        <p:spPr>
          <a:xfrm>
            <a:off x="274320" y="3493008"/>
            <a:ext cx="3749039" cy="137160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rPr>
              <a:t>Gateway Istio: punto de entrada HTTP
al mesh desde el exterior.</a:t>
            </a:r>
          </a:p>
        </p:txBody>
      </p:sp>
      <p:sp>
        <p:nvSpPr>
          <p:cNvPr id="13" name="Rectangle 12"/>
          <p:cNvSpPr/>
          <p:nvPr/>
        </p:nvSpPr>
        <p:spPr>
          <a:xfrm>
            <a:off x="4206240" y="3108960"/>
            <a:ext cx="3749039"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ourier New"/>
              </a:rPr>
              <a:t>istio-api-virtual-service.yaml</a:t>
            </a:r>
          </a:p>
        </p:txBody>
      </p:sp>
      <p:sp>
        <p:nvSpPr>
          <p:cNvPr id="14" name="Rectangle 13"/>
          <p:cNvSpPr/>
          <p:nvPr/>
        </p:nvSpPr>
        <p:spPr>
          <a:xfrm>
            <a:off x="4206240" y="3493008"/>
            <a:ext cx="3749039" cy="137160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rPr>
              <a:t>VirtualService: enruta /api → api
con rewrite de URI a /api/v1.</a:t>
            </a:r>
          </a:p>
        </p:txBody>
      </p:sp>
      <p:sp>
        <p:nvSpPr>
          <p:cNvPr id="15" name="Rectangle 14"/>
          <p:cNvSpPr/>
          <p:nvPr/>
        </p:nvSpPr>
        <p:spPr>
          <a:xfrm>
            <a:off x="8138160" y="3108960"/>
            <a:ext cx="3749039" cy="384048"/>
          </a:xfrm>
          <a:prstGeom prst="rect">
            <a:avLst/>
          </a:prstGeom>
          <a:solidFill>
            <a:srgbClr val="6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ourier New"/>
              </a:rPr>
              <a:t>istio-s0-virtual-service.yaml</a:t>
            </a:r>
          </a:p>
        </p:txBody>
      </p:sp>
      <p:sp>
        <p:nvSpPr>
          <p:cNvPr id="16" name="Rectangle 15"/>
          <p:cNvSpPr/>
          <p:nvPr/>
        </p:nvSpPr>
        <p:spPr>
          <a:xfrm>
            <a:off x="8138160" y="3493008"/>
            <a:ext cx="3749039" cy="1371600"/>
          </a:xfrm>
          <a:prstGeom prst="rect">
            <a:avLst/>
          </a:prstGeom>
          <a:solidFill>
            <a:srgbClr val="F0F4F8"/>
          </a:solidFill>
          <a:ln>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rPr>
              <a:t>VirtualService sintetico: enruta /s0
hacia el servicio s0 (namespace default).</a:t>
            </a:r>
          </a:p>
        </p:txBody>
      </p:sp>
      <p:sp>
        <p:nvSpPr>
          <p:cNvPr id="17" name="Rectangle 16"/>
          <p:cNvSpPr/>
          <p:nvPr/>
        </p:nvSpPr>
        <p:spPr>
          <a:xfrm>
            <a:off x="274320" y="5120640"/>
            <a:ext cx="11612880" cy="502920"/>
          </a:xfrm>
          <a:prstGeom prst="rect">
            <a:avLst/>
          </a:prstGeom>
          <a:solidFill>
            <a:srgbClr val="E8F5E9"/>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1E6B3A"/>
                </a:solidFill>
              </a:rPr>
              <a:t>mubench-istio-grafana.json — Dashboard de Grafana para visualizar metricas Istio. Importar en Grafana UI. No se genera por script, es un JSON estatico.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create-destination-rule.py — Codigo completo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Identico en estructura a create-hpa.py — busca Service en vez de Deployment</a:t>
            </a:r>
          </a:p>
        </p:txBody>
      </p:sp>
      <p:sp>
        <p:nvSpPr>
          <p:cNvPr id="5" name="Rectangle 4"/>
          <p:cNvSpPr/>
          <p:nvPr/>
        </p:nvSpPr>
        <p:spPr>
          <a:xfrm>
            <a:off x="365760" y="1143000"/>
            <a:ext cx="594360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def create_dest_rule(yaml_file_in,</a:t>
            </a:r>
          </a:p>
          <a:p>
            <a:r>
              <a:rPr sz="1100">
                <a:solidFill>
                  <a:srgbClr val="CBD3F0"/>
                </a:solidFill>
                <a:latin typeface="Courier New"/>
              </a:rPr>
              <a:t>                     yaml_file_out,</a:t>
            </a:r>
          </a:p>
          <a:p>
            <a:r>
              <a:rPr sz="1100">
                <a:solidFill>
                  <a:srgbClr val="CBD3F0"/>
                </a:solidFill>
                <a:latin typeface="Courier New"/>
              </a:rPr>
              <a:t>                     destrule_template_file):</a:t>
            </a:r>
          </a:p>
          <a:p>
            <a:r>
              <a:rPr sz="1100">
                <a:solidFill>
                  <a:srgbClr val="CBD3F0"/>
                </a:solidFill>
                <a:latin typeface="Courier New"/>
              </a:rPr>
              <a:t/>
            </a:r>
          </a:p>
          <a:p>
            <a:r>
              <a:rPr sz="1100">
                <a:solidFill>
                  <a:srgbClr val="CBD3F0"/>
                </a:solidFill>
                <a:latin typeface="Courier New"/>
              </a:rPr>
              <a:t>  # 1. Cargar plantilla DestinationRule</a:t>
            </a:r>
          </a:p>
          <a:p>
            <a:r>
              <a:rPr sz="1100">
                <a:solidFill>
                  <a:srgbClr val="CBD3F0"/>
                </a:solidFill>
                <a:latin typeface="Courier New"/>
              </a:rPr>
              <a:t>  with open(destrule_template_file) as f:</a:t>
            </a:r>
          </a:p>
          <a:p>
            <a:r>
              <a:rPr sz="1100">
                <a:solidFill>
                  <a:srgbClr val="CBD3F0"/>
                </a:solidFill>
                <a:latin typeface="Courier New"/>
              </a:rPr>
              <a:t>      destrule_template = yaml.safe_load(f)</a:t>
            </a:r>
          </a:p>
          <a:p>
            <a:r>
              <a:rPr sz="1100">
                <a:solidFill>
                  <a:srgbClr val="CBD3F0"/>
                </a:solidFill>
                <a:latin typeface="Courier New"/>
              </a:rPr>
              <a:t/>
            </a:r>
          </a:p>
          <a:p>
            <a:r>
              <a:rPr sz="1100">
                <a:solidFill>
                  <a:srgbClr val="CBD3F0"/>
                </a:solidFill>
                <a:latin typeface="Courier New"/>
              </a:rPr>
              <a:t>  # 2. Leer YAML y limpiar placeholders</a:t>
            </a:r>
          </a:p>
          <a:p>
            <a:r>
              <a:rPr sz="1100">
                <a:solidFill>
                  <a:srgbClr val="CBD3F0"/>
                </a:solidFill>
                <a:latin typeface="Courier New"/>
              </a:rPr>
              <a:t>  with open(yaml_file_in) as f:</a:t>
            </a:r>
          </a:p>
          <a:p>
            <a:r>
              <a:rPr sz="1100">
                <a:solidFill>
                  <a:srgbClr val="CBD3F0"/>
                </a:solidFill>
                <a:latin typeface="Courier New"/>
              </a:rPr>
              <a:t>      raw = f.read()</a:t>
            </a:r>
          </a:p>
          <a:p>
            <a:r>
              <a:rPr sz="1100">
                <a:solidFill>
                  <a:srgbClr val="CBD3F0"/>
                </a:solidFill>
                <a:latin typeface="Courier New"/>
              </a:rPr>
              <a:t>  raw = re.sub(r'^\s*{{[^}]+}}\s*\n','',raw,</a:t>
            </a:r>
          </a:p>
          <a:p>
            <a:r>
              <a:rPr sz="1100">
                <a:solidFill>
                  <a:srgbClr val="CBD3F0"/>
                </a:solidFill>
                <a:latin typeface="Courier New"/>
              </a:rPr>
              <a:t>               flags=re.MULTILINE)</a:t>
            </a:r>
          </a:p>
          <a:p>
            <a:r>
              <a:rPr sz="1100">
                <a:solidFill>
                  <a:srgbClr val="CBD3F0"/>
                </a:solidFill>
                <a:latin typeface="Courier New"/>
              </a:rPr>
              <a:t>  raw = re.sub(r'{{[^}]+}}', '', raw)</a:t>
            </a:r>
          </a:p>
          <a:p>
            <a:r>
              <a:rPr sz="1100">
                <a:solidFill>
                  <a:srgbClr val="CBD3F0"/>
                </a:solidFill>
                <a:latin typeface="Courier New"/>
              </a:rPr>
              <a:t/>
            </a:r>
          </a:p>
          <a:p>
            <a:r>
              <a:rPr sz="1100">
                <a:solidFill>
                  <a:srgbClr val="CBD3F0"/>
                </a:solidFill>
                <a:latin typeface="Courier New"/>
              </a:rPr>
              <a:t>  # 3. Parsear multi-documento</a:t>
            </a:r>
          </a:p>
          <a:p>
            <a:r>
              <a:rPr sz="1100">
                <a:solidFill>
                  <a:srgbClr val="CBD3F0"/>
                </a:solidFill>
                <a:latin typeface="Courier New"/>
              </a:rPr>
              <a:t>  complete_yaml = list(yaml.safe_load_all(raw))</a:t>
            </a:r>
          </a:p>
          <a:p>
            <a:r>
              <a:rPr sz="1100">
                <a:solidFill>
                  <a:srgbClr val="CBD3F0"/>
                </a:solidFill>
                <a:latin typeface="Courier New"/>
              </a:rPr>
              <a:t/>
            </a:r>
          </a:p>
          <a:p>
            <a:r>
              <a:rPr sz="1100">
                <a:solidFill>
                  <a:srgbClr val="CBD3F0"/>
                </a:solidFill>
                <a:latin typeface="Courier New"/>
              </a:rPr>
              <a:t>  # 4. Buscar kind: Service  &lt;-- DIFERENCIA vs create-hpa.py</a:t>
            </a:r>
          </a:p>
          <a:p>
            <a:r>
              <a:rPr sz="1100">
                <a:solidFill>
                  <a:srgbClr val="CBD3F0"/>
                </a:solidFill>
                <a:latin typeface="Courier New"/>
              </a:rPr>
              <a:t>  for partial_yaml in complete_yaml:</a:t>
            </a:r>
          </a:p>
          <a:p>
            <a:r>
              <a:rPr sz="1100">
                <a:solidFill>
                  <a:srgbClr val="F9E2AF"/>
                </a:solidFill>
                <a:latin typeface="Courier New"/>
              </a:rPr>
              <a:t>      if partial_yaml['kind'] == 'Service':   # no Deployment</a:t>
            </a:r>
          </a:p>
          <a:p>
            <a:r>
              <a:rPr sz="1100">
                <a:solidFill>
                  <a:srgbClr val="CBD3F0"/>
                </a:solidFill>
                <a:latin typeface="Courier New"/>
              </a:rPr>
              <a:t>          destrule = destrule_template.copy()</a:t>
            </a:r>
          </a:p>
          <a:p>
            <a:r>
              <a:rPr sz="1100">
                <a:solidFill>
                  <a:srgbClr val="CBD3F0"/>
                </a:solidFill>
                <a:latin typeface="Courier New"/>
              </a:rPr>
              <a:t>          destrule['metadata']['name'] = \</a:t>
            </a:r>
          </a:p>
          <a:p>
            <a:r>
              <a:rPr sz="1100">
                <a:solidFill>
                  <a:srgbClr val="CBD3F0"/>
                </a:solidFill>
                <a:latin typeface="Courier New"/>
              </a:rPr>
              <a:t>              partial_yaml['metadata']['name']</a:t>
            </a:r>
          </a:p>
          <a:p>
            <a:r>
              <a:rPr sz="1100">
                <a:solidFill>
                  <a:srgbClr val="F9E2AF"/>
                </a:solidFill>
                <a:latin typeface="Courier New"/>
              </a:rPr>
              <a:t>          destrule['spec']['host'] = \</a:t>
            </a:r>
          </a:p>
          <a:p>
            <a:r>
              <a:rPr sz="1100">
                <a:solidFill>
                  <a:srgbClr val="F9E2AF"/>
                </a:solidFill>
                <a:latin typeface="Courier New"/>
              </a:rPr>
              <a:t>              partial_yaml['metadata']['name']  # nuevo campo</a:t>
            </a:r>
          </a:p>
          <a:p>
            <a:r>
              <a:rPr sz="1100">
                <a:solidFill>
                  <a:srgbClr val="CBD3F0"/>
                </a:solidFill>
                <a:latin typeface="Courier New"/>
              </a:rPr>
              <a:t>          if 'namespace' in partial_yaml['metadata']:</a:t>
            </a:r>
          </a:p>
          <a:p>
            <a:r>
              <a:rPr sz="1100">
                <a:solidFill>
                  <a:srgbClr val="CBD3F0"/>
                </a:solidFill>
                <a:latin typeface="Courier New"/>
              </a:rPr>
              <a:t>              destrule['metadata']['namespace'] = \</a:t>
            </a:r>
          </a:p>
          <a:p>
            <a:r>
              <a:rPr sz="1100">
                <a:solidFill>
                  <a:srgbClr val="CBD3F0"/>
                </a:solidFill>
                <a:latin typeface="Courier New"/>
              </a:rPr>
              <a:t>                  partial_yaml['metadata']['namespace']</a:t>
            </a:r>
          </a:p>
          <a:p>
            <a:r>
              <a:rPr sz="1100">
                <a:solidFill>
                  <a:srgbClr val="CBD3F0"/>
                </a:solidFill>
                <a:latin typeface="Courier New"/>
              </a:rPr>
              <a:t>          yaml.dump(destrule, open(yaml_file_out,'w'),</a:t>
            </a:r>
          </a:p>
          <a:p>
            <a:r>
              <a:rPr sz="1100">
                <a:solidFill>
                  <a:srgbClr val="CBD3F0"/>
                </a:solidFill>
                <a:latin typeface="Courier New"/>
              </a:rPr>
              <a:t>                    default_flow_style=False)</a:t>
            </a:r>
          </a:p>
        </p:txBody>
      </p:sp>
      <p:sp>
        <p:nvSpPr>
          <p:cNvPr id="6" name="Rectangle 5"/>
          <p:cNvSpPr/>
          <p:nvPr/>
        </p:nvSpPr>
        <p:spPr>
          <a:xfrm>
            <a:off x="6583680" y="1143000"/>
            <a:ext cx="5212080" cy="1664208"/>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C0392B"/>
                </a:solidFill>
              </a:rPr>
              <a:t>Diferencia 1
kind buscado</a:t>
            </a:r>
          </a:p>
          <a:p>
            <a:r>
              <a:rPr sz="1100">
                <a:solidFill>
                  <a:srgbClr val="555555"/>
                </a:solidFill>
                <a:latin typeface="Courier New"/>
              </a:rPr>
              <a:t>create-hpa.py busca: kind == 'Deployment'
create-dest-rule.py busca: kind == 'Service'
Un Service expone el pod en la red.
La DestinationRule se aplica al nombre del Service,
no al Deployment.</a:t>
            </a:r>
          </a:p>
        </p:txBody>
      </p:sp>
      <p:sp>
        <p:nvSpPr>
          <p:cNvPr id="7" name="Rectangle 6"/>
          <p:cNvSpPr/>
          <p:nvPr/>
        </p:nvSpPr>
        <p:spPr>
          <a:xfrm>
            <a:off x="6583680" y="2944368"/>
            <a:ext cx="5212080" cy="1664208"/>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E75B6"/>
                </a:solidFill>
              </a:rPr>
              <a:t>Diferencia 2
spec.host</a:t>
            </a:r>
          </a:p>
          <a:p>
            <a:r>
              <a:rPr sz="1100">
                <a:solidFill>
                  <a:srgbClr val="555555"/>
                </a:solidFill>
                <a:latin typeface="Courier New"/>
              </a:rPr>
              <a:t>El HPA usa: spec.scaleTargetRef.name
La DestRule usa: spec.host
host = nombre DNS del Service dentro del mesh.
Istio usa este campo para aplicar el
trafficPolicy al trafico hacia ese servicio.</a:t>
            </a:r>
          </a:p>
        </p:txBody>
      </p:sp>
      <p:sp>
        <p:nvSpPr>
          <p:cNvPr id="8" name="Rectangle 7"/>
          <p:cNvSpPr/>
          <p:nvPr/>
        </p:nvSpPr>
        <p:spPr>
          <a:xfrm>
            <a:off x="6583680" y="4745736"/>
            <a:ext cx="5212080" cy="1664208"/>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D3690F"/>
                </a:solidFill>
              </a:rPr>
              <a:t>Prefijo de salida</a:t>
            </a:r>
          </a:p>
          <a:p>
            <a:r>
              <a:rPr sz="1100">
                <a:solidFill>
                  <a:srgbClr val="555555"/>
                </a:solidFill>
                <a:latin typeface="Courier New"/>
              </a:rPr>
              <a:t>create-hpa.py:       hpa-*.yaml
create-dest-rule.py: destrule-*.yaml
El main() es identico en logica:
itera carpeta, filtra .yaml, llama
la funcion con cada archivo.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create-hpa.py vs create-destination-rule.py</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Patron identico, propositos distintos — reuso de arquitectura</a:t>
            </a:r>
          </a:p>
        </p:txBody>
      </p:sp>
      <p:sp>
        <p:nvSpPr>
          <p:cNvPr id="5" name="Rectangle 4"/>
          <p:cNvSpPr/>
          <p:nvPr/>
        </p:nvSpPr>
        <p:spPr>
          <a:xfrm>
            <a:off x="274320" y="1188720"/>
            <a:ext cx="2926080" cy="4572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Aspecto</a:t>
            </a:r>
          </a:p>
        </p:txBody>
      </p:sp>
      <p:sp>
        <p:nvSpPr>
          <p:cNvPr id="6" name="Rectangle 5"/>
          <p:cNvSpPr/>
          <p:nvPr/>
        </p:nvSpPr>
        <p:spPr>
          <a:xfrm>
            <a:off x="3200400" y="1188720"/>
            <a:ext cx="4114800" cy="457200"/>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create-hpa.py</a:t>
            </a:r>
          </a:p>
        </p:txBody>
      </p:sp>
      <p:sp>
        <p:nvSpPr>
          <p:cNvPr id="7" name="Rectangle 6"/>
          <p:cNvSpPr/>
          <p:nvPr/>
        </p:nvSpPr>
        <p:spPr>
          <a:xfrm>
            <a:off x="7315200" y="1188720"/>
            <a:ext cx="4754880"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create-destination-rule.py</a:t>
            </a:r>
          </a:p>
        </p:txBody>
      </p:sp>
      <p:sp>
        <p:nvSpPr>
          <p:cNvPr id="8" name="Rectangle 7"/>
          <p:cNvSpPr/>
          <p:nvPr/>
        </p:nvSpPr>
        <p:spPr>
          <a:xfrm>
            <a:off x="274320" y="1645920"/>
            <a:ext cx="2926080" cy="484632"/>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Recurso K8s generado</a:t>
            </a:r>
          </a:p>
        </p:txBody>
      </p:sp>
      <p:sp>
        <p:nvSpPr>
          <p:cNvPr id="9" name="Rectangle 8"/>
          <p:cNvSpPr/>
          <p:nvPr/>
        </p:nvSpPr>
        <p:spPr>
          <a:xfrm>
            <a:off x="3200400" y="1645920"/>
            <a:ext cx="4114800" cy="484632"/>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HorizontalPodAutoscaler</a:t>
            </a:r>
          </a:p>
        </p:txBody>
      </p:sp>
      <p:sp>
        <p:nvSpPr>
          <p:cNvPr id="10" name="Rectangle 9"/>
          <p:cNvSpPr/>
          <p:nvPr/>
        </p:nvSpPr>
        <p:spPr>
          <a:xfrm>
            <a:off x="7315200" y="1645920"/>
            <a:ext cx="4754880" cy="484632"/>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DestinationRule (Istio)</a:t>
            </a:r>
          </a:p>
        </p:txBody>
      </p:sp>
      <p:sp>
        <p:nvSpPr>
          <p:cNvPr id="11" name="Rectangle 10"/>
          <p:cNvSpPr/>
          <p:nvPr/>
        </p:nvSpPr>
        <p:spPr>
          <a:xfrm>
            <a:off x="274320" y="2176272"/>
            <a:ext cx="2926080" cy="484632"/>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Kind que busca en YAML</a:t>
            </a:r>
          </a:p>
        </p:txBody>
      </p:sp>
      <p:sp>
        <p:nvSpPr>
          <p:cNvPr id="12" name="Rectangle 11"/>
          <p:cNvSpPr/>
          <p:nvPr/>
        </p:nvSpPr>
        <p:spPr>
          <a:xfrm>
            <a:off x="3200400" y="2176272"/>
            <a:ext cx="4114800" cy="484632"/>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Deployment</a:t>
            </a:r>
          </a:p>
        </p:txBody>
      </p:sp>
      <p:sp>
        <p:nvSpPr>
          <p:cNvPr id="13" name="Rectangle 12"/>
          <p:cNvSpPr/>
          <p:nvPr/>
        </p:nvSpPr>
        <p:spPr>
          <a:xfrm>
            <a:off x="7315200" y="2176272"/>
            <a:ext cx="4754880" cy="484632"/>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Service</a:t>
            </a:r>
          </a:p>
        </p:txBody>
      </p:sp>
      <p:sp>
        <p:nvSpPr>
          <p:cNvPr id="14" name="Rectangle 13"/>
          <p:cNvSpPr/>
          <p:nvPr/>
        </p:nvSpPr>
        <p:spPr>
          <a:xfrm>
            <a:off x="274320" y="2706624"/>
            <a:ext cx="2926080" cy="484632"/>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Campo inyectado (1)</a:t>
            </a:r>
          </a:p>
        </p:txBody>
      </p:sp>
      <p:sp>
        <p:nvSpPr>
          <p:cNvPr id="15" name="Rectangle 14"/>
          <p:cNvSpPr/>
          <p:nvPr/>
        </p:nvSpPr>
        <p:spPr>
          <a:xfrm>
            <a:off x="3200400" y="2706624"/>
            <a:ext cx="4114800" cy="484632"/>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metadata.name</a:t>
            </a:r>
          </a:p>
        </p:txBody>
      </p:sp>
      <p:sp>
        <p:nvSpPr>
          <p:cNvPr id="16" name="Rectangle 15"/>
          <p:cNvSpPr/>
          <p:nvPr/>
        </p:nvSpPr>
        <p:spPr>
          <a:xfrm>
            <a:off x="7315200" y="2706624"/>
            <a:ext cx="4754880" cy="484632"/>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metadata.name</a:t>
            </a:r>
          </a:p>
        </p:txBody>
      </p:sp>
      <p:sp>
        <p:nvSpPr>
          <p:cNvPr id="17" name="Rectangle 16"/>
          <p:cNvSpPr/>
          <p:nvPr/>
        </p:nvSpPr>
        <p:spPr>
          <a:xfrm>
            <a:off x="274320" y="3236976"/>
            <a:ext cx="2926080" cy="484632"/>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Campo inyectado (2)</a:t>
            </a:r>
          </a:p>
        </p:txBody>
      </p:sp>
      <p:sp>
        <p:nvSpPr>
          <p:cNvPr id="18" name="Rectangle 17"/>
          <p:cNvSpPr/>
          <p:nvPr/>
        </p:nvSpPr>
        <p:spPr>
          <a:xfrm>
            <a:off x="3200400" y="3236976"/>
            <a:ext cx="4114800" cy="484632"/>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spec.scaleTargetRef.name</a:t>
            </a:r>
          </a:p>
        </p:txBody>
      </p:sp>
      <p:sp>
        <p:nvSpPr>
          <p:cNvPr id="19" name="Rectangle 18"/>
          <p:cNvSpPr/>
          <p:nvPr/>
        </p:nvSpPr>
        <p:spPr>
          <a:xfrm>
            <a:off x="7315200" y="3236976"/>
            <a:ext cx="4754880" cy="484632"/>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spec.host</a:t>
            </a:r>
          </a:p>
        </p:txBody>
      </p:sp>
      <p:sp>
        <p:nvSpPr>
          <p:cNvPr id="20" name="Rectangle 19"/>
          <p:cNvSpPr/>
          <p:nvPr/>
        </p:nvSpPr>
        <p:spPr>
          <a:xfrm>
            <a:off x="274320" y="3767328"/>
            <a:ext cx="2926080" cy="484632"/>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Campo inyectado (3)</a:t>
            </a:r>
          </a:p>
        </p:txBody>
      </p:sp>
      <p:sp>
        <p:nvSpPr>
          <p:cNvPr id="21" name="Rectangle 20"/>
          <p:cNvSpPr/>
          <p:nvPr/>
        </p:nvSpPr>
        <p:spPr>
          <a:xfrm>
            <a:off x="3200400" y="3767328"/>
            <a:ext cx="4114800" cy="484632"/>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metadata.namespace</a:t>
            </a:r>
          </a:p>
        </p:txBody>
      </p:sp>
      <p:sp>
        <p:nvSpPr>
          <p:cNvPr id="22" name="Rectangle 21"/>
          <p:cNvSpPr/>
          <p:nvPr/>
        </p:nvSpPr>
        <p:spPr>
          <a:xfrm>
            <a:off x="7315200" y="3767328"/>
            <a:ext cx="4754880" cy="484632"/>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metadata.namespace</a:t>
            </a:r>
          </a:p>
        </p:txBody>
      </p:sp>
      <p:sp>
        <p:nvSpPr>
          <p:cNvPr id="23" name="Rectangle 22"/>
          <p:cNvSpPr/>
          <p:nvPr/>
        </p:nvSpPr>
        <p:spPr>
          <a:xfrm>
            <a:off x="274320" y="4297680"/>
            <a:ext cx="2926080" cy="484632"/>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Plantilla usada</a:t>
            </a:r>
          </a:p>
        </p:txBody>
      </p:sp>
      <p:sp>
        <p:nvSpPr>
          <p:cNvPr id="24" name="Rectangle 23"/>
          <p:cNvSpPr/>
          <p:nvPr/>
        </p:nvSpPr>
        <p:spPr>
          <a:xfrm>
            <a:off x="3200400" y="4297680"/>
            <a:ext cx="4114800" cy="484632"/>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hpa-template.yaml</a:t>
            </a:r>
          </a:p>
        </p:txBody>
      </p:sp>
      <p:sp>
        <p:nvSpPr>
          <p:cNvPr id="25" name="Rectangle 24"/>
          <p:cNvSpPr/>
          <p:nvPr/>
        </p:nvSpPr>
        <p:spPr>
          <a:xfrm>
            <a:off x="7315200" y="4297680"/>
            <a:ext cx="4754880" cy="484632"/>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destination-rule-template.yaml</a:t>
            </a:r>
          </a:p>
        </p:txBody>
      </p:sp>
      <p:sp>
        <p:nvSpPr>
          <p:cNvPr id="26" name="Rectangle 25"/>
          <p:cNvSpPr/>
          <p:nvPr/>
        </p:nvSpPr>
        <p:spPr>
          <a:xfrm>
            <a:off x="274320" y="4828032"/>
            <a:ext cx="2926080" cy="484632"/>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Prefijo salida</a:t>
            </a:r>
          </a:p>
        </p:txBody>
      </p:sp>
      <p:sp>
        <p:nvSpPr>
          <p:cNvPr id="27" name="Rectangle 26"/>
          <p:cNvSpPr/>
          <p:nvPr/>
        </p:nvSpPr>
        <p:spPr>
          <a:xfrm>
            <a:off x="3200400" y="4828032"/>
            <a:ext cx="4114800" cy="484632"/>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hpa-</a:t>
            </a:r>
          </a:p>
        </p:txBody>
      </p:sp>
      <p:sp>
        <p:nvSpPr>
          <p:cNvPr id="28" name="Rectangle 27"/>
          <p:cNvSpPr/>
          <p:nvPr/>
        </p:nvSpPr>
        <p:spPr>
          <a:xfrm>
            <a:off x="7315200" y="4828032"/>
            <a:ext cx="4754880" cy="484632"/>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destrule-</a:t>
            </a:r>
          </a:p>
        </p:txBody>
      </p:sp>
      <p:sp>
        <p:nvSpPr>
          <p:cNvPr id="29" name="Rectangle 28"/>
          <p:cNvSpPr/>
          <p:nvPr/>
        </p:nvSpPr>
        <p:spPr>
          <a:xfrm>
            <a:off x="274320" y="5358384"/>
            <a:ext cx="2926080" cy="484632"/>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Proposito</a:t>
            </a:r>
          </a:p>
        </p:txBody>
      </p:sp>
      <p:sp>
        <p:nvSpPr>
          <p:cNvPr id="30" name="Rectangle 29"/>
          <p:cNvSpPr/>
          <p:nvPr/>
        </p:nvSpPr>
        <p:spPr>
          <a:xfrm>
            <a:off x="3200400" y="5358384"/>
            <a:ext cx="4114800" cy="484632"/>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Escalar pods automaticamente
segun uso de CPU</a:t>
            </a:r>
          </a:p>
        </p:txBody>
      </p:sp>
      <p:sp>
        <p:nvSpPr>
          <p:cNvPr id="31" name="Rectangle 30"/>
          <p:cNvSpPr/>
          <p:nvPr/>
        </p:nvSpPr>
        <p:spPr>
          <a:xfrm>
            <a:off x="7315200" y="5358384"/>
            <a:ext cx="4754880" cy="484632"/>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Configurar load balancing y
circuit breaker en el mesh Istio</a:t>
            </a:r>
          </a:p>
        </p:txBody>
      </p:sp>
      <p:sp>
        <p:nvSpPr>
          <p:cNvPr id="32" name="Rectangle 31"/>
          <p:cNvSpPr/>
          <p:nvPr/>
        </p:nvSpPr>
        <p:spPr>
          <a:xfrm>
            <a:off x="274320" y="5888736"/>
            <a:ext cx="2926080" cy="484632"/>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Requiere Istio</a:t>
            </a:r>
          </a:p>
        </p:txBody>
      </p:sp>
      <p:sp>
        <p:nvSpPr>
          <p:cNvPr id="33" name="Rectangle 32"/>
          <p:cNvSpPr/>
          <p:nvPr/>
        </p:nvSpPr>
        <p:spPr>
          <a:xfrm>
            <a:off x="3200400" y="5888736"/>
            <a:ext cx="4114800" cy="484632"/>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rPr>
              <a:t>No</a:t>
            </a:r>
          </a:p>
        </p:txBody>
      </p:sp>
      <p:sp>
        <p:nvSpPr>
          <p:cNvPr id="34" name="Rectangle 33"/>
          <p:cNvSpPr/>
          <p:nvPr/>
        </p:nvSpPr>
        <p:spPr>
          <a:xfrm>
            <a:off x="7315200" y="5888736"/>
            <a:ext cx="4754880" cy="484632"/>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rPr>
              <a:t>Si — CRD de Istio</a:t>
            </a:r>
          </a:p>
        </p:txBody>
      </p:sp>
      <p:sp>
        <p:nvSpPr>
          <p:cNvPr id="35" name="Rectangle 34"/>
          <p:cNvSpPr/>
          <p:nvPr/>
        </p:nvSpPr>
        <p:spPr>
          <a:xfrm>
            <a:off x="274320" y="6419088"/>
            <a:ext cx="2926080" cy="484632"/>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Patron main()</a:t>
            </a:r>
          </a:p>
        </p:txBody>
      </p:sp>
      <p:sp>
        <p:nvSpPr>
          <p:cNvPr id="36" name="Rectangle 35"/>
          <p:cNvSpPr/>
          <p:nvPr/>
        </p:nvSpPr>
        <p:spPr>
          <a:xfrm>
            <a:off x="3200400" y="6419088"/>
            <a:ext cx="4114800" cy="484632"/>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rPr>
              <a:t>Identico</a:t>
            </a:r>
          </a:p>
        </p:txBody>
      </p:sp>
      <p:sp>
        <p:nvSpPr>
          <p:cNvPr id="37" name="Rectangle 36"/>
          <p:cNvSpPr/>
          <p:nvPr/>
        </p:nvSpPr>
        <p:spPr>
          <a:xfrm>
            <a:off x="7315200" y="6419088"/>
            <a:ext cx="4754880" cy="484632"/>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rPr>
              <a:t>Identico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destination-rule-template.yaml</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Plantilla base: LEAST_REQUEST load balancing + outlierDetection (circuit breaker)</a:t>
            </a:r>
          </a:p>
        </p:txBody>
      </p:sp>
      <p:sp>
        <p:nvSpPr>
          <p:cNvPr id="5" name="Rectangle 4"/>
          <p:cNvSpPr/>
          <p:nvPr/>
        </p:nvSpPr>
        <p:spPr>
          <a:xfrm>
            <a:off x="365760" y="1143000"/>
            <a:ext cx="5303520" cy="41148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apiVersion: networking.istio.io/v1alpha3</a:t>
            </a:r>
          </a:p>
          <a:p>
            <a:r>
              <a:rPr sz="1100">
                <a:solidFill>
                  <a:srgbClr val="CBD3F0"/>
                </a:solidFill>
                <a:latin typeface="Courier New"/>
              </a:rPr>
              <a:t>kind: DestinationRule</a:t>
            </a:r>
          </a:p>
          <a:p>
            <a:r>
              <a:rPr sz="1100">
                <a:solidFill>
                  <a:srgbClr val="CBD3F0"/>
                </a:solidFill>
                <a:latin typeface="Courier New"/>
              </a:rPr>
              <a:t>metadata: {}          # inyectado por create-destination-rule.py</a:t>
            </a:r>
          </a:p>
          <a:p>
            <a:r>
              <a:rPr sz="1100">
                <a:solidFill>
                  <a:srgbClr val="CBD3F0"/>
                </a:solidFill>
                <a:latin typeface="Courier New"/>
              </a:rPr>
              <a:t>spec:</a:t>
            </a:r>
          </a:p>
          <a:p>
            <a:r>
              <a:rPr sz="1100">
                <a:solidFill>
                  <a:srgbClr val="CBD3F0"/>
                </a:solidFill>
                <a:latin typeface="Courier New"/>
              </a:rPr>
              <a:t>  # host: inyectado por script</a:t>
            </a:r>
          </a:p>
          <a:p>
            <a:r>
              <a:rPr sz="1100">
                <a:solidFill>
                  <a:srgbClr val="CBD3F0"/>
                </a:solidFill>
                <a:latin typeface="Courier New"/>
              </a:rPr>
              <a:t>  trafficPolicy:</a:t>
            </a:r>
          </a:p>
          <a:p>
            <a:r>
              <a:rPr sz="1100">
                <a:solidFill>
                  <a:srgbClr val="CBD3F0"/>
                </a:solidFill>
                <a:latin typeface="Courier New"/>
              </a:rPr>
              <a:t>    loadBalancer:</a:t>
            </a:r>
          </a:p>
          <a:p>
            <a:r>
              <a:rPr sz="1100">
                <a:solidFill>
                  <a:srgbClr val="F9E2AF"/>
                </a:solidFill>
                <a:latin typeface="Courier New"/>
              </a:rPr>
              <a:t>      simple: LEAST_REQUEST</a:t>
            </a:r>
          </a:p>
          <a:p>
            <a:r>
              <a:rPr sz="1100">
                <a:solidFill>
                  <a:srgbClr val="CBD3F0"/>
                </a:solidFill>
                <a:latin typeface="Courier New"/>
              </a:rPr>
              <a:t>    outlierDetection:</a:t>
            </a:r>
          </a:p>
          <a:p>
            <a:r>
              <a:rPr sz="1100">
                <a:solidFill>
                  <a:srgbClr val="F9E2AF"/>
                </a:solidFill>
                <a:latin typeface="Courier New"/>
              </a:rPr>
              <a:t>      consecutive5xxErrors: 7</a:t>
            </a:r>
          </a:p>
          <a:p>
            <a:r>
              <a:rPr sz="1100">
                <a:solidFill>
                  <a:srgbClr val="F9E2AF"/>
                </a:solidFill>
                <a:latin typeface="Courier New"/>
              </a:rPr>
              <a:t>      interval: 30s</a:t>
            </a:r>
          </a:p>
          <a:p>
            <a:r>
              <a:rPr sz="1100">
                <a:solidFill>
                  <a:srgbClr val="F9E2AF"/>
                </a:solidFill>
                <a:latin typeface="Courier New"/>
              </a:rPr>
              <a:t>      baseEjectionTime: 30s</a:t>
            </a:r>
          </a:p>
        </p:txBody>
      </p:sp>
      <p:sp>
        <p:nvSpPr>
          <p:cNvPr id="6" name="Rectangle 5"/>
          <p:cNvSpPr/>
          <p:nvPr/>
        </p:nvSpPr>
        <p:spPr>
          <a:xfrm>
            <a:off x="5852160" y="1143000"/>
            <a:ext cx="2926080" cy="16916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networking.istio.io/v1alpha3</a:t>
            </a:r>
          </a:p>
          <a:p>
            <a:r>
              <a:rPr sz="1100">
                <a:solidFill>
                  <a:srgbClr val="555555"/>
                </a:solidFill>
              </a:rPr>
              <a:t>API group de Istio — no es K8s nativo.
Requiere que los CRDs de Istio esten instalados.
v1alpha3 es la version estable de DestinationRule.</a:t>
            </a:r>
          </a:p>
        </p:txBody>
      </p:sp>
      <p:sp>
        <p:nvSpPr>
          <p:cNvPr id="7" name="Rectangle 6"/>
          <p:cNvSpPr/>
          <p:nvPr/>
        </p:nvSpPr>
        <p:spPr>
          <a:xfrm>
            <a:off x="8961120" y="1143000"/>
            <a:ext cx="2926080" cy="16916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LEAST_REQUEST</a:t>
            </a:r>
          </a:p>
          <a:p>
            <a:r>
              <a:rPr sz="1100">
                <a:solidFill>
                  <a:srgbClr val="555555"/>
                </a:solidFill>
              </a:rPr>
              <a:t>Algoritmo de load balancing:
envia la request al pod con MENOS conexiones activas.
Alternativas: ROUND_ROBIN, RANDOM, PASSTHROUGH.
Ideal para servicios con latencia variable (como auth).</a:t>
            </a:r>
          </a:p>
        </p:txBody>
      </p:sp>
      <p:sp>
        <p:nvSpPr>
          <p:cNvPr id="8" name="Rectangle 7"/>
          <p:cNvSpPr/>
          <p:nvPr/>
        </p:nvSpPr>
        <p:spPr>
          <a:xfrm>
            <a:off x="5852160" y="2971800"/>
            <a:ext cx="2926080" cy="16916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consecutive5xxErrors: 7</a:t>
            </a:r>
          </a:p>
          <a:p>
            <a:r>
              <a:rPr sz="1100">
                <a:solidFill>
                  <a:srgbClr val="555555"/>
                </a:solidFill>
              </a:rPr>
              <a:t>Circuit breaker: si un pod devuelve 7 errores 5xx
consecutivos, Istio lo eyecta del pool.
El pod deja de recibir trafico temporalmente.</a:t>
            </a:r>
          </a:p>
        </p:txBody>
      </p:sp>
      <p:sp>
        <p:nvSpPr>
          <p:cNvPr id="9" name="Rectangle 8"/>
          <p:cNvSpPr/>
          <p:nvPr/>
        </p:nvSpPr>
        <p:spPr>
          <a:xfrm>
            <a:off x="8961120" y="2971800"/>
            <a:ext cx="2926080" cy="16916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interval: 30s</a:t>
            </a:r>
          </a:p>
          <a:p>
            <a:r>
              <a:rPr sz="1100">
                <a:solidFill>
                  <a:srgbClr val="555555"/>
                </a:solidFill>
              </a:rPr>
              <a:t>Cada 30s Istio evalua si hay pods con errores.
Ventana de analisis para decidir eyeccion.</a:t>
            </a:r>
          </a:p>
        </p:txBody>
      </p:sp>
      <p:sp>
        <p:nvSpPr>
          <p:cNvPr id="10" name="Rectangle 9"/>
          <p:cNvSpPr/>
          <p:nvPr/>
        </p:nvSpPr>
        <p:spPr>
          <a:xfrm>
            <a:off x="5852160" y="4800600"/>
            <a:ext cx="2926080" cy="16916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baseEjectionTime: 30s</a:t>
            </a:r>
          </a:p>
          <a:p>
            <a:r>
              <a:rPr sz="1100">
                <a:solidFill>
                  <a:srgbClr val="555555"/>
                </a:solidFill>
              </a:rPr>
              <a:t>Tiempo minimo que un pod permanece eyectado.
Aumenta con cada eyeccion sucesiva.
Patron: exponential backoff automatico.</a:t>
            </a:r>
          </a:p>
        </p:txBody>
      </p:sp>
      <p:sp>
        <p:nvSpPr>
          <p:cNvPr id="11" name="Rectangle 10"/>
          <p:cNvSpPr/>
          <p:nvPr/>
        </p:nvSpPr>
        <p:spPr>
          <a:xfrm>
            <a:off x="8961120" y="4800600"/>
            <a:ext cx="2926080" cy="16916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spec.host (ausente en template)</a:t>
            </a:r>
          </a:p>
          <a:p>
            <a:r>
              <a:rPr sz="1100">
                <a:solidFill>
                  <a:srgbClr val="555555"/>
                </a:solidFill>
              </a:rPr>
              <a:t>El campo host NO esta en la plantilla.
create-destination-rule.py lo inyecta:
destrule['spec']['host'] = nombre_del_service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DestinationRules del proyecto — mubench-realistic</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4 archivos identicos en politica, distintos en nombre y host</a:t>
            </a:r>
          </a:p>
        </p:txBody>
      </p:sp>
      <p:sp>
        <p:nvSpPr>
          <p:cNvPr id="5" name="Rectangle 4"/>
          <p:cNvSpPr/>
          <p:nvPr/>
        </p:nvSpPr>
        <p:spPr>
          <a:xfrm>
            <a:off x="274320" y="1143000"/>
            <a:ext cx="566928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destrule-realistic-00200-Service-api.yaml</a:t>
            </a:r>
          </a:p>
        </p:txBody>
      </p:sp>
      <p:sp>
        <p:nvSpPr>
          <p:cNvPr id="6" name="Rectangle 5"/>
          <p:cNvSpPr/>
          <p:nvPr/>
        </p:nvSpPr>
        <p:spPr>
          <a:xfrm>
            <a:off x="274320" y="1490472"/>
            <a:ext cx="5669280" cy="22860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apiVersion: networking.istio.io/v1alpha3</a:t>
            </a:r>
          </a:p>
          <a:p>
            <a:r>
              <a:rPr sz="1100">
                <a:solidFill>
                  <a:srgbClr val="CBD3F0"/>
                </a:solidFill>
                <a:latin typeface="Courier New"/>
              </a:rPr>
              <a:t>kind: DestinationRule</a:t>
            </a:r>
          </a:p>
          <a:p>
            <a:r>
              <a:rPr sz="1100">
                <a:solidFill>
                  <a:srgbClr val="CBD3F0"/>
                </a:solidFill>
                <a:latin typeface="Courier New"/>
              </a:rPr>
              <a:t>metadata:</a:t>
            </a:r>
          </a:p>
          <a:p>
            <a:r>
              <a:rPr sz="1100">
                <a:solidFill>
                  <a:srgbClr val="F9E2AF"/>
                </a:solidFill>
                <a:latin typeface="Courier New"/>
              </a:rPr>
              <a:t>  name: api</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F9E2AF"/>
                </a:solidFill>
                <a:latin typeface="Courier New"/>
              </a:rPr>
              <a:t>  host: api</a:t>
            </a:r>
          </a:p>
          <a:p>
            <a:r>
              <a:rPr sz="1100">
                <a:solidFill>
                  <a:srgbClr val="CBD3F0"/>
                </a:solidFill>
                <a:latin typeface="Courier New"/>
              </a:rPr>
              <a:t>  trafficPolicy:</a:t>
            </a:r>
          </a:p>
          <a:p>
            <a:r>
              <a:rPr sz="1100">
                <a:solidFill>
                  <a:srgbClr val="CBD3F0"/>
                </a:solidFill>
                <a:latin typeface="Courier New"/>
              </a:rPr>
              <a:t>    loadBalancer:</a:t>
            </a:r>
          </a:p>
          <a:p>
            <a:r>
              <a:rPr sz="1100">
                <a:solidFill>
                  <a:srgbClr val="CBD3F0"/>
                </a:solidFill>
                <a:latin typeface="Courier New"/>
              </a:rPr>
              <a:t>      simple: LEAST_REQUEST</a:t>
            </a:r>
          </a:p>
          <a:p>
            <a:r>
              <a:rPr sz="1100">
                <a:solidFill>
                  <a:srgbClr val="CBD3F0"/>
                </a:solidFill>
                <a:latin typeface="Courier New"/>
              </a:rPr>
              <a:t>    outlierDetection:</a:t>
            </a:r>
          </a:p>
          <a:p>
            <a:r>
              <a:rPr sz="1100">
                <a:solidFill>
                  <a:srgbClr val="CBD3F0"/>
                </a:solidFill>
                <a:latin typeface="Courier New"/>
              </a:rPr>
              <a:t>      baseEjectionTime: 30s</a:t>
            </a:r>
          </a:p>
          <a:p>
            <a:r>
              <a:rPr sz="1100">
                <a:solidFill>
                  <a:srgbClr val="CBD3F0"/>
                </a:solidFill>
                <a:latin typeface="Courier New"/>
              </a:rPr>
              <a:t>      consecutive5xxErrors: 7</a:t>
            </a:r>
          </a:p>
          <a:p>
            <a:r>
              <a:rPr sz="1100">
                <a:solidFill>
                  <a:srgbClr val="CBD3F0"/>
                </a:solidFill>
                <a:latin typeface="Courier New"/>
              </a:rPr>
              <a:t>      interval: 30s</a:t>
            </a:r>
          </a:p>
        </p:txBody>
      </p:sp>
      <p:sp>
        <p:nvSpPr>
          <p:cNvPr id="7" name="Rectangle 6"/>
          <p:cNvSpPr/>
          <p:nvPr/>
        </p:nvSpPr>
        <p:spPr>
          <a:xfrm>
            <a:off x="6217920" y="1143000"/>
            <a:ext cx="5669280" cy="347472"/>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destrule-realistic-00100-Service-auth.yaml</a:t>
            </a:r>
          </a:p>
        </p:txBody>
      </p:sp>
      <p:sp>
        <p:nvSpPr>
          <p:cNvPr id="8" name="Rectangle 7"/>
          <p:cNvSpPr/>
          <p:nvPr/>
        </p:nvSpPr>
        <p:spPr>
          <a:xfrm>
            <a:off x="6217920" y="1490472"/>
            <a:ext cx="5669280" cy="22860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apiVersion: networking.istio.io/v1alpha3</a:t>
            </a:r>
          </a:p>
          <a:p>
            <a:r>
              <a:rPr sz="1100">
                <a:solidFill>
                  <a:srgbClr val="CBD3F0"/>
                </a:solidFill>
                <a:latin typeface="Courier New"/>
              </a:rPr>
              <a:t>kind: DestinationRule</a:t>
            </a:r>
          </a:p>
          <a:p>
            <a:r>
              <a:rPr sz="1100">
                <a:solidFill>
                  <a:srgbClr val="CBD3F0"/>
                </a:solidFill>
                <a:latin typeface="Courier New"/>
              </a:rPr>
              <a:t>metadata:</a:t>
            </a:r>
          </a:p>
          <a:p>
            <a:r>
              <a:rPr sz="1100">
                <a:solidFill>
                  <a:srgbClr val="F9E2AF"/>
                </a:solidFill>
                <a:latin typeface="Courier New"/>
              </a:rPr>
              <a:t>  name: auth</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F9E2AF"/>
                </a:solidFill>
                <a:latin typeface="Courier New"/>
              </a:rPr>
              <a:t>  host: auth</a:t>
            </a:r>
          </a:p>
          <a:p>
            <a:r>
              <a:rPr sz="1100">
                <a:solidFill>
                  <a:srgbClr val="CBD3F0"/>
                </a:solidFill>
                <a:latin typeface="Courier New"/>
              </a:rPr>
              <a:t>  trafficPolicy:</a:t>
            </a:r>
          </a:p>
          <a:p>
            <a:r>
              <a:rPr sz="1100">
                <a:solidFill>
                  <a:srgbClr val="CBD3F0"/>
                </a:solidFill>
                <a:latin typeface="Courier New"/>
              </a:rPr>
              <a:t>    loadBalancer:</a:t>
            </a:r>
          </a:p>
          <a:p>
            <a:r>
              <a:rPr sz="1100">
                <a:solidFill>
                  <a:srgbClr val="CBD3F0"/>
                </a:solidFill>
                <a:latin typeface="Courier New"/>
              </a:rPr>
              <a:t>      simple: LEAST_REQUEST</a:t>
            </a:r>
          </a:p>
          <a:p>
            <a:r>
              <a:rPr sz="1100">
                <a:solidFill>
                  <a:srgbClr val="CBD3F0"/>
                </a:solidFill>
                <a:latin typeface="Courier New"/>
              </a:rPr>
              <a:t>    outlierDetection:</a:t>
            </a:r>
          </a:p>
          <a:p>
            <a:r>
              <a:rPr sz="1100">
                <a:solidFill>
                  <a:srgbClr val="CBD3F0"/>
                </a:solidFill>
                <a:latin typeface="Courier New"/>
              </a:rPr>
              <a:t>      baseEjectionTime: 30s</a:t>
            </a:r>
          </a:p>
          <a:p>
            <a:r>
              <a:rPr sz="1100">
                <a:solidFill>
                  <a:srgbClr val="CBD3F0"/>
                </a:solidFill>
                <a:latin typeface="Courier New"/>
              </a:rPr>
              <a:t>      consecutive5xxErrors: 7</a:t>
            </a:r>
          </a:p>
          <a:p>
            <a:r>
              <a:rPr sz="1100">
                <a:solidFill>
                  <a:srgbClr val="CBD3F0"/>
                </a:solidFill>
                <a:latin typeface="Courier New"/>
              </a:rPr>
              <a:t>      interval: 30s</a:t>
            </a:r>
          </a:p>
        </p:txBody>
      </p:sp>
      <p:sp>
        <p:nvSpPr>
          <p:cNvPr id="9" name="Rectangle 8"/>
          <p:cNvSpPr/>
          <p:nvPr/>
        </p:nvSpPr>
        <p:spPr>
          <a:xfrm>
            <a:off x="274320" y="3931920"/>
            <a:ext cx="5669280" cy="347472"/>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destrule-realistic-00100-Service-sdb-data.yaml</a:t>
            </a:r>
          </a:p>
        </p:txBody>
      </p:sp>
      <p:sp>
        <p:nvSpPr>
          <p:cNvPr id="10" name="Rectangle 9"/>
          <p:cNvSpPr/>
          <p:nvPr/>
        </p:nvSpPr>
        <p:spPr>
          <a:xfrm>
            <a:off x="274320" y="4279392"/>
            <a:ext cx="5669280" cy="22860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apiVersion: networking.istio.io/v1alpha3</a:t>
            </a:r>
          </a:p>
          <a:p>
            <a:r>
              <a:rPr sz="1100">
                <a:solidFill>
                  <a:srgbClr val="CBD3F0"/>
                </a:solidFill>
                <a:latin typeface="Courier New"/>
              </a:rPr>
              <a:t>kind: DestinationRule</a:t>
            </a:r>
          </a:p>
          <a:p>
            <a:r>
              <a:rPr sz="1100">
                <a:solidFill>
                  <a:srgbClr val="CBD3F0"/>
                </a:solidFill>
                <a:latin typeface="Courier New"/>
              </a:rPr>
              <a:t>metadata:</a:t>
            </a:r>
          </a:p>
          <a:p>
            <a:r>
              <a:rPr sz="1100">
                <a:solidFill>
                  <a:srgbClr val="F9E2AF"/>
                </a:solidFill>
                <a:latin typeface="Courier New"/>
              </a:rPr>
              <a:t>  name: sdb-data</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F9E2AF"/>
                </a:solidFill>
                <a:latin typeface="Courier New"/>
              </a:rPr>
              <a:t>  host: sdb-data</a:t>
            </a:r>
          </a:p>
          <a:p>
            <a:r>
              <a:rPr sz="1100">
                <a:solidFill>
                  <a:srgbClr val="CBD3F0"/>
                </a:solidFill>
                <a:latin typeface="Courier New"/>
              </a:rPr>
              <a:t>  trafficPolicy:</a:t>
            </a:r>
          </a:p>
          <a:p>
            <a:r>
              <a:rPr sz="1100">
                <a:solidFill>
                  <a:srgbClr val="CBD3F0"/>
                </a:solidFill>
                <a:latin typeface="Courier New"/>
              </a:rPr>
              <a:t>    loadBalancer:</a:t>
            </a:r>
          </a:p>
          <a:p>
            <a:r>
              <a:rPr sz="1100">
                <a:solidFill>
                  <a:srgbClr val="CBD3F0"/>
                </a:solidFill>
                <a:latin typeface="Courier New"/>
              </a:rPr>
              <a:t>      simple: LEAST_REQUEST</a:t>
            </a:r>
          </a:p>
          <a:p>
            <a:r>
              <a:rPr sz="1100">
                <a:solidFill>
                  <a:srgbClr val="CBD3F0"/>
                </a:solidFill>
                <a:latin typeface="Courier New"/>
              </a:rPr>
              <a:t>    outlierDetection:</a:t>
            </a:r>
          </a:p>
          <a:p>
            <a:r>
              <a:rPr sz="1100">
                <a:solidFill>
                  <a:srgbClr val="CBD3F0"/>
                </a:solidFill>
                <a:latin typeface="Courier New"/>
              </a:rPr>
              <a:t>      baseEjectionTime: 30s</a:t>
            </a:r>
          </a:p>
          <a:p>
            <a:r>
              <a:rPr sz="1100">
                <a:solidFill>
                  <a:srgbClr val="CBD3F0"/>
                </a:solidFill>
                <a:latin typeface="Courier New"/>
              </a:rPr>
              <a:t>      consecutive5xxErrors: 7</a:t>
            </a:r>
          </a:p>
          <a:p>
            <a:r>
              <a:rPr sz="1100">
                <a:solidFill>
                  <a:srgbClr val="CBD3F0"/>
                </a:solidFill>
                <a:latin typeface="Courier New"/>
              </a:rPr>
              <a:t>      interval: 30s</a:t>
            </a:r>
          </a:p>
        </p:txBody>
      </p:sp>
      <p:sp>
        <p:nvSpPr>
          <p:cNvPr id="11" name="Rectangle 10"/>
          <p:cNvSpPr/>
          <p:nvPr/>
        </p:nvSpPr>
        <p:spPr>
          <a:xfrm>
            <a:off x="6217920" y="3931920"/>
            <a:ext cx="5669280" cy="347472"/>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destrule-realistic-DeploymentNginxGw.yaml</a:t>
            </a:r>
          </a:p>
        </p:txBody>
      </p:sp>
      <p:sp>
        <p:nvSpPr>
          <p:cNvPr id="12" name="Rectangle 11"/>
          <p:cNvSpPr/>
          <p:nvPr/>
        </p:nvSpPr>
        <p:spPr>
          <a:xfrm>
            <a:off x="6217920" y="4279392"/>
            <a:ext cx="5669280" cy="22860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apiVersion: networking.istio.io/v1alpha3</a:t>
            </a:r>
          </a:p>
          <a:p>
            <a:r>
              <a:rPr sz="1100">
                <a:solidFill>
                  <a:srgbClr val="CBD3F0"/>
                </a:solidFill>
                <a:latin typeface="Courier New"/>
              </a:rPr>
              <a:t>kind: DestinationRule</a:t>
            </a:r>
          </a:p>
          <a:p>
            <a:r>
              <a:rPr sz="1100">
                <a:solidFill>
                  <a:srgbClr val="CBD3F0"/>
                </a:solidFill>
                <a:latin typeface="Courier New"/>
              </a:rPr>
              <a:t>metadata:</a:t>
            </a:r>
          </a:p>
          <a:p>
            <a:r>
              <a:rPr sz="1100">
                <a:solidFill>
                  <a:srgbClr val="F9E2AF"/>
                </a:solidFill>
                <a:latin typeface="Courier New"/>
              </a:rPr>
              <a:t>  name: gw-nginx</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F9E2AF"/>
                </a:solidFill>
                <a:latin typeface="Courier New"/>
              </a:rPr>
              <a:t>  host: gw-nginx</a:t>
            </a:r>
          </a:p>
          <a:p>
            <a:r>
              <a:rPr sz="1100">
                <a:solidFill>
                  <a:srgbClr val="CBD3F0"/>
                </a:solidFill>
                <a:latin typeface="Courier New"/>
              </a:rPr>
              <a:t>  trafficPolicy:</a:t>
            </a:r>
          </a:p>
          <a:p>
            <a:r>
              <a:rPr sz="1100">
                <a:solidFill>
                  <a:srgbClr val="CBD3F0"/>
                </a:solidFill>
                <a:latin typeface="Courier New"/>
              </a:rPr>
              <a:t>    loadBalancer:</a:t>
            </a:r>
          </a:p>
          <a:p>
            <a:r>
              <a:rPr sz="1100">
                <a:solidFill>
                  <a:srgbClr val="CBD3F0"/>
                </a:solidFill>
                <a:latin typeface="Courier New"/>
              </a:rPr>
              <a:t>      simple: LEAST_REQUEST</a:t>
            </a:r>
          </a:p>
          <a:p>
            <a:r>
              <a:rPr sz="1100">
                <a:solidFill>
                  <a:srgbClr val="CBD3F0"/>
                </a:solidFill>
                <a:latin typeface="Courier New"/>
              </a:rPr>
              <a:t>    outlierDetection:</a:t>
            </a:r>
          </a:p>
          <a:p>
            <a:r>
              <a:rPr sz="1100">
                <a:solidFill>
                  <a:srgbClr val="CBD3F0"/>
                </a:solidFill>
                <a:latin typeface="Courier New"/>
              </a:rPr>
              <a:t>      baseEjectionTime: 30s</a:t>
            </a:r>
          </a:p>
          <a:p>
            <a:r>
              <a:rPr sz="1100">
                <a:solidFill>
                  <a:srgbClr val="CBD3F0"/>
                </a:solidFill>
                <a:latin typeface="Courier New"/>
              </a:rPr>
              <a:t>      consecutive5xxErrors: 7</a:t>
            </a:r>
          </a:p>
          <a:p>
            <a:r>
              <a:rPr sz="1100">
                <a:solidFill>
                  <a:srgbClr val="CBD3F0"/>
                </a:solidFill>
                <a:latin typeface="Courier New"/>
              </a:rPr>
              <a:t>      interval: 30s</a:t>
            </a:r>
          </a:p>
        </p:txBody>
      </p:sp>
      <p:sp>
        <p:nvSpPr>
          <p:cNvPr id="13" name="Rectangle 12"/>
          <p:cNvSpPr/>
          <p:nvPr/>
        </p:nvSpPr>
        <p:spPr>
          <a:xfrm>
            <a:off x="274320" y="6446520"/>
            <a:ext cx="11612880" cy="274320"/>
          </a:xfrm>
          <a:prstGeom prst="rect">
            <a:avLst/>
          </a:prstGeom>
          <a:solidFill>
            <a:srgbClr val="FFF3CD"/>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a:solidFill>
                  <a:srgbClr val="D3690F"/>
                </a:solidFill>
              </a:rPr>
              <a:t>NOTA: prefijos 00100/00200 en nombres de archivo = orden de aplicacion con kubectl apply. api (00200) se aplica despues que auth/sdb-data (00100) para respetar dependencias.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istio-gateway.yaml — Punto de entrada al mesh</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Gateway Istio: define el IngressGateway que acepta trafico externo</a:t>
            </a:r>
          </a:p>
        </p:txBody>
      </p:sp>
      <p:sp>
        <p:nvSpPr>
          <p:cNvPr id="5" name="Rectangle 4"/>
          <p:cNvSpPr/>
          <p:nvPr/>
        </p:nvSpPr>
        <p:spPr>
          <a:xfrm>
            <a:off x="365760" y="1143000"/>
            <a:ext cx="5303520" cy="36576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apiVersion: networking.istio.io/v1alpha3</a:t>
            </a:r>
          </a:p>
          <a:p>
            <a:r>
              <a:rPr sz="1100">
                <a:solidFill>
                  <a:srgbClr val="CBD3F0"/>
                </a:solidFill>
                <a:latin typeface="Courier New"/>
              </a:rPr>
              <a:t>kind: Gateway</a:t>
            </a:r>
          </a:p>
          <a:p>
            <a:r>
              <a:rPr sz="1100">
                <a:solidFill>
                  <a:srgbClr val="CBD3F0"/>
                </a:solidFill>
                <a:latin typeface="Courier New"/>
              </a:rPr>
              <a:t>metadata:</a:t>
            </a:r>
          </a:p>
          <a:p>
            <a:r>
              <a:rPr sz="1100">
                <a:solidFill>
                  <a:srgbClr val="F9E2AF"/>
                </a:solidFill>
                <a:latin typeface="Courier New"/>
              </a:rPr>
              <a:t>  name: gateway</a:t>
            </a:r>
          </a:p>
          <a:p>
            <a:r>
              <a:rPr sz="1100">
                <a:solidFill>
                  <a:srgbClr val="CBD3F0"/>
                </a:solidFill>
                <a:latin typeface="Courier New"/>
              </a:rPr>
              <a:t>  # Sin namespace: se crea en 'default'</a:t>
            </a:r>
          </a:p>
          <a:p>
            <a:r>
              <a:rPr sz="1100">
                <a:solidFill>
                  <a:srgbClr val="CBD3F0"/>
                </a:solidFill>
                <a:latin typeface="Courier New"/>
              </a:rPr>
              <a:t>spec:</a:t>
            </a:r>
          </a:p>
          <a:p>
            <a:r>
              <a:rPr sz="1100">
                <a:solidFill>
                  <a:srgbClr val="CBD3F0"/>
                </a:solidFill>
                <a:latin typeface="Courier New"/>
              </a:rPr>
              <a:t>  selector:</a:t>
            </a:r>
          </a:p>
          <a:p>
            <a:r>
              <a:rPr sz="1100">
                <a:solidFill>
                  <a:srgbClr val="F9E2AF"/>
                </a:solidFill>
                <a:latin typeface="Courier New"/>
              </a:rPr>
              <a:t>    istio: ingressgateway  # label del pod IGW</a:t>
            </a:r>
          </a:p>
          <a:p>
            <a:r>
              <a:rPr sz="1100">
                <a:solidFill>
                  <a:srgbClr val="CBD3F0"/>
                </a:solidFill>
                <a:latin typeface="Courier New"/>
              </a:rPr>
              <a:t>  servers:</a:t>
            </a:r>
          </a:p>
          <a:p>
            <a:r>
              <a:rPr sz="1100">
                <a:solidFill>
                  <a:srgbClr val="CBD3F0"/>
                </a:solidFill>
                <a:latin typeface="Courier New"/>
              </a:rPr>
              <a:t>  - port:</a:t>
            </a:r>
          </a:p>
          <a:p>
            <a:r>
              <a:rPr sz="1100">
                <a:solidFill>
                  <a:srgbClr val="CBD3F0"/>
                </a:solidFill>
                <a:latin typeface="Courier New"/>
              </a:rPr>
              <a:t>      number: 80</a:t>
            </a:r>
          </a:p>
          <a:p>
            <a:r>
              <a:rPr sz="1100">
                <a:solidFill>
                  <a:srgbClr val="CBD3F0"/>
                </a:solidFill>
                <a:latin typeface="Courier New"/>
              </a:rPr>
              <a:t>      name: http</a:t>
            </a:r>
          </a:p>
          <a:p>
            <a:r>
              <a:rPr sz="1100">
                <a:solidFill>
                  <a:srgbClr val="CBD3F0"/>
                </a:solidFill>
                <a:latin typeface="Courier New"/>
              </a:rPr>
              <a:t>      protocol: HTTP</a:t>
            </a:r>
          </a:p>
          <a:p>
            <a:r>
              <a:rPr sz="1100">
                <a:solidFill>
                  <a:srgbClr val="CBD3F0"/>
                </a:solidFill>
                <a:latin typeface="Courier New"/>
              </a:rPr>
              <a:t>    hosts:</a:t>
            </a:r>
          </a:p>
          <a:p>
            <a:r>
              <a:rPr sz="1100">
                <a:solidFill>
                  <a:srgbClr val="F9E2AF"/>
                </a:solidFill>
                <a:latin typeface="Courier New"/>
              </a:rPr>
              <a:t>    - '*'              # acepta cualquier host</a:t>
            </a:r>
          </a:p>
        </p:txBody>
      </p:sp>
      <p:sp>
        <p:nvSpPr>
          <p:cNvPr id="6" name="Rectangle 5"/>
          <p:cNvSpPr/>
          <p:nvPr/>
        </p:nvSpPr>
        <p:spPr>
          <a:xfrm>
            <a:off x="5852160" y="1143000"/>
            <a:ext cx="2926080" cy="16916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kind: Gateway</a:t>
            </a:r>
          </a:p>
          <a:p>
            <a:r>
              <a:rPr sz="1100">
                <a:solidFill>
                  <a:srgbClr val="555555"/>
                </a:solidFill>
              </a:rPr>
              <a:t>Recurso Istio (no K8s nativo).
Configura el Envoy del IngressGateway pod.
NO enruta trafico — solo abre el puerto.
El enrutamiento lo hace el VirtualService.</a:t>
            </a:r>
          </a:p>
        </p:txBody>
      </p:sp>
      <p:sp>
        <p:nvSpPr>
          <p:cNvPr id="7" name="Rectangle 6"/>
          <p:cNvSpPr/>
          <p:nvPr/>
        </p:nvSpPr>
        <p:spPr>
          <a:xfrm>
            <a:off x="8961120" y="1143000"/>
            <a:ext cx="2926080" cy="16916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selector: istio: ingressgateway</a:t>
            </a:r>
          </a:p>
          <a:p>
            <a:r>
              <a:rPr sz="1100">
                <a:solidFill>
                  <a:srgbClr val="555555"/>
                </a:solidFill>
              </a:rPr>
              <a:t>Selecciona el pod del IngressGateway por label.
En microk8s el pod esta en namespace istio-system.
ATENCION: este label debe coincidir exactamente
con el del pod real (kubectl get pod -l istio=ingressgateway).</a:t>
            </a:r>
          </a:p>
        </p:txBody>
      </p:sp>
      <p:sp>
        <p:nvSpPr>
          <p:cNvPr id="8" name="Rectangle 7"/>
          <p:cNvSpPr/>
          <p:nvPr/>
        </p:nvSpPr>
        <p:spPr>
          <a:xfrm>
            <a:off x="5852160" y="2971800"/>
            <a:ext cx="2926080" cy="16916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namespace: default</a:t>
            </a:r>
          </a:p>
          <a:p>
            <a:r>
              <a:rPr sz="1100">
                <a:solidFill>
                  <a:srgbClr val="555555"/>
                </a:solidFill>
              </a:rPr>
              <a:t>El Gateway se crea en 'default' (sin namespace).
Por eso los VirtualServices lo referencian como
'default/gateway' (no solo 'gateway').
Error comun: referenciar sin namespace → no encontrado.</a:t>
            </a:r>
          </a:p>
        </p:txBody>
      </p:sp>
      <p:sp>
        <p:nvSpPr>
          <p:cNvPr id="9" name="Rectangle 8"/>
          <p:cNvSpPr/>
          <p:nvPr/>
        </p:nvSpPr>
        <p:spPr>
          <a:xfrm>
            <a:off x="8961120" y="2971800"/>
            <a:ext cx="2926080" cy="16916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hosts: ['*']</a:t>
            </a:r>
          </a:p>
          <a:p>
            <a:r>
              <a:rPr sz="1100">
                <a:solidFill>
                  <a:srgbClr val="555555"/>
                </a:solidFill>
              </a:rPr>
              <a:t>Acepta trafico de CUALQUIER hostname.
En produccion se restringina a dominios especificos
(ej: ['api.miempresa.com']).
Para lab/benchmark '*' es suficiente.</a:t>
            </a:r>
          </a:p>
        </p:txBody>
      </p:sp>
      <p:sp>
        <p:nvSpPr>
          <p:cNvPr id="10" name="Rectangle 9"/>
          <p:cNvSpPr/>
          <p:nvPr/>
        </p:nvSpPr>
        <p:spPr>
          <a:xfrm>
            <a:off x="5852160" y="4800600"/>
            <a:ext cx="2926080" cy="16916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port 80 / HTTP</a:t>
            </a:r>
          </a:p>
          <a:p>
            <a:r>
              <a:rPr sz="1100">
                <a:solidFill>
                  <a:srgbClr val="555555"/>
                </a:solidFill>
              </a:rPr>
              <a:t>Solo HTTP (no HTTPS).
El cifrado ocurre dentro del mesh via mTLS.
Trafico externo → Gateway (HTTP) → sidecar → mTLS.
Para TLS externo se agrega un servidor port:443.</a:t>
            </a:r>
          </a:p>
        </p:txBody>
      </p:sp>
      <p:sp>
        <p:nvSpPr>
          <p:cNvPr id="11" name="Rectangle 10"/>
          <p:cNvSpPr/>
          <p:nvPr/>
        </p:nvSpPr>
        <p:spPr>
          <a:xfrm>
            <a:off x="8961120" y="4800600"/>
            <a:ext cx="2926080" cy="16916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Relacion con NodePort</a:t>
            </a:r>
          </a:p>
          <a:p>
            <a:r>
              <a:rPr sz="1100">
                <a:solidFill>
                  <a:srgbClr val="555555"/>
                </a:solidFill>
              </a:rPr>
              <a:t>El IngressGateway expone NodePort :31486 en microk8s.
Flujo: cliente → :31486 (NodePort) → IGW pod
→ este Gateway → VirtualService → servicio destino.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VirtualServices — Enrutamiento dentro del mesh</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istio-api-virtual-service.yaml  vs  istio-s0-virtual-service.yaml</a:t>
            </a:r>
          </a:p>
        </p:txBody>
      </p:sp>
      <p:sp>
        <p:nvSpPr>
          <p:cNvPr id="5" name="Rectangle 4"/>
          <p:cNvSpPr/>
          <p:nvPr/>
        </p:nvSpPr>
        <p:spPr>
          <a:xfrm>
            <a:off x="274320" y="1143000"/>
            <a:ext cx="5577840" cy="39319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istio-api-virtual-service.yaml</a:t>
            </a:r>
          </a:p>
          <a:p>
            <a:r>
              <a:rPr sz="1100">
                <a:solidFill>
                  <a:srgbClr val="CBD3F0"/>
                </a:solidFill>
                <a:latin typeface="Courier New"/>
              </a:rPr>
              <a:t>apiVersion: networking.istio.io/v1alpha3</a:t>
            </a:r>
          </a:p>
          <a:p>
            <a:r>
              <a:rPr sz="1100">
                <a:solidFill>
                  <a:srgbClr val="CBD3F0"/>
                </a:solidFill>
                <a:latin typeface="Courier New"/>
              </a:rPr>
              <a:t>kind: VirtualService</a:t>
            </a:r>
          </a:p>
          <a:p>
            <a:r>
              <a:rPr sz="1100">
                <a:solidFill>
                  <a:srgbClr val="CBD3F0"/>
                </a:solidFill>
                <a:latin typeface="Courier New"/>
              </a:rPr>
              <a:t>metadata:</a:t>
            </a:r>
          </a:p>
          <a:p>
            <a:r>
              <a:rPr sz="1100">
                <a:solidFill>
                  <a:srgbClr val="CBD3F0"/>
                </a:solidFill>
                <a:latin typeface="Courier New"/>
              </a:rPr>
              <a:t>  name: api</a:t>
            </a:r>
          </a:p>
          <a:p>
            <a:r>
              <a:rPr sz="1100">
                <a:solidFill>
                  <a:srgbClr val="F9E2AF"/>
                </a:solidFill>
                <a:latin typeface="Courier New"/>
              </a:rPr>
              <a:t>  namespace: mubench-realistic</a:t>
            </a:r>
          </a:p>
          <a:p>
            <a:r>
              <a:rPr sz="1100">
                <a:solidFill>
                  <a:srgbClr val="CBD3F0"/>
                </a:solidFill>
                <a:latin typeface="Courier New"/>
              </a:rPr>
              <a:t>spec:</a:t>
            </a:r>
          </a:p>
          <a:p>
            <a:r>
              <a:rPr sz="1100">
                <a:solidFill>
                  <a:srgbClr val="CBD3F0"/>
                </a:solidFill>
                <a:latin typeface="Courier New"/>
              </a:rPr>
              <a:t>  hosts:</a:t>
            </a:r>
          </a:p>
          <a:p>
            <a:r>
              <a:rPr sz="1100">
                <a:solidFill>
                  <a:srgbClr val="CBD3F0"/>
                </a:solidFill>
                <a:latin typeface="Courier New"/>
              </a:rPr>
              <a:t>  - '*'</a:t>
            </a:r>
          </a:p>
          <a:p>
            <a:r>
              <a:rPr sz="1100">
                <a:solidFill>
                  <a:srgbClr val="CBD3F0"/>
                </a:solidFill>
                <a:latin typeface="Courier New"/>
              </a:rPr>
              <a:t>  gateways:</a:t>
            </a:r>
          </a:p>
          <a:p>
            <a:r>
              <a:rPr sz="1100">
                <a:solidFill>
                  <a:srgbClr val="F9E2AF"/>
                </a:solidFill>
                <a:latin typeface="Courier New"/>
              </a:rPr>
              <a:t>  - gateway      # referencia al Gateway en default/</a:t>
            </a:r>
          </a:p>
          <a:p>
            <a:r>
              <a:rPr sz="1100">
                <a:solidFill>
                  <a:srgbClr val="CBD3F0"/>
                </a:solidFill>
                <a:latin typeface="Courier New"/>
              </a:rPr>
              <a:t>  http:</a:t>
            </a:r>
          </a:p>
          <a:p>
            <a:r>
              <a:rPr sz="1100">
                <a:solidFill>
                  <a:srgbClr val="CBD3F0"/>
                </a:solidFill>
                <a:latin typeface="Courier New"/>
              </a:rPr>
              <a:t>  - match:</a:t>
            </a:r>
          </a:p>
          <a:p>
            <a:r>
              <a:rPr sz="1100">
                <a:solidFill>
                  <a:srgbClr val="CBD3F0"/>
                </a:solidFill>
                <a:latin typeface="Courier New"/>
              </a:rPr>
              <a:t>    - uri:</a:t>
            </a:r>
          </a:p>
          <a:p>
            <a:r>
              <a:rPr sz="1100">
                <a:solidFill>
                  <a:srgbClr val="F9E2AF"/>
                </a:solidFill>
                <a:latin typeface="Courier New"/>
              </a:rPr>
              <a:t>        prefix: /api</a:t>
            </a:r>
          </a:p>
          <a:p>
            <a:r>
              <a:rPr sz="1100">
                <a:solidFill>
                  <a:srgbClr val="CBD3F0"/>
                </a:solidFill>
                <a:latin typeface="Courier New"/>
              </a:rPr>
              <a:t>    rewrite:</a:t>
            </a:r>
          </a:p>
          <a:p>
            <a:r>
              <a:rPr sz="1100">
                <a:solidFill>
                  <a:srgbClr val="F9E2AF"/>
                </a:solidFill>
                <a:latin typeface="Courier New"/>
              </a:rPr>
              <a:t>      uri: '/api/v1'   # reescribe la URI</a:t>
            </a:r>
          </a:p>
          <a:p>
            <a:r>
              <a:rPr sz="1100">
                <a:solidFill>
                  <a:srgbClr val="CBD3F0"/>
                </a:solidFill>
                <a:latin typeface="Courier New"/>
              </a:rPr>
              <a:t>    route:</a:t>
            </a:r>
          </a:p>
          <a:p>
            <a:r>
              <a:rPr sz="1100">
                <a:solidFill>
                  <a:srgbClr val="CBD3F0"/>
                </a:solidFill>
                <a:latin typeface="Courier New"/>
              </a:rPr>
              <a:t>    - destination:</a:t>
            </a:r>
          </a:p>
          <a:p>
            <a:r>
              <a:rPr sz="1100">
                <a:solidFill>
                  <a:srgbClr val="CBD3F0"/>
                </a:solidFill>
                <a:latin typeface="Courier New"/>
              </a:rPr>
              <a:t>        port:</a:t>
            </a:r>
          </a:p>
          <a:p>
            <a:r>
              <a:rPr sz="1100">
                <a:solidFill>
                  <a:srgbClr val="CBD3F0"/>
                </a:solidFill>
                <a:latin typeface="Courier New"/>
              </a:rPr>
              <a:t>          number: 80</a:t>
            </a:r>
          </a:p>
          <a:p>
            <a:r>
              <a:rPr sz="1100">
                <a:solidFill>
                  <a:srgbClr val="F9E2AF"/>
                </a:solidFill>
                <a:latin typeface="Courier New"/>
              </a:rPr>
              <a:t>        host: api      # Service 'api' en mismo namespace</a:t>
            </a:r>
          </a:p>
        </p:txBody>
      </p:sp>
      <p:sp>
        <p:nvSpPr>
          <p:cNvPr id="6" name="Rectangle 5"/>
          <p:cNvSpPr/>
          <p:nvPr/>
        </p:nvSpPr>
        <p:spPr>
          <a:xfrm>
            <a:off x="6126480" y="1143000"/>
            <a:ext cx="5577840" cy="39319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istio-s0-virtual-service.yaml</a:t>
            </a:r>
          </a:p>
          <a:p>
            <a:r>
              <a:rPr sz="1100">
                <a:solidFill>
                  <a:srgbClr val="CBD3F0"/>
                </a:solidFill>
                <a:latin typeface="Courier New"/>
              </a:rPr>
              <a:t>apiVersion: networking.istio.io/v1alpha3</a:t>
            </a:r>
          </a:p>
          <a:p>
            <a:r>
              <a:rPr sz="1100">
                <a:solidFill>
                  <a:srgbClr val="CBD3F0"/>
                </a:solidFill>
                <a:latin typeface="Courier New"/>
              </a:rPr>
              <a:t>kind: VirtualService</a:t>
            </a:r>
          </a:p>
          <a:p>
            <a:r>
              <a:rPr sz="1100">
                <a:solidFill>
                  <a:srgbClr val="CBD3F0"/>
                </a:solidFill>
                <a:latin typeface="Courier New"/>
              </a:rPr>
              <a:t>metadata:</a:t>
            </a:r>
          </a:p>
          <a:p>
            <a:r>
              <a:rPr sz="1100">
                <a:solidFill>
                  <a:srgbClr val="F9E2AF"/>
                </a:solidFill>
                <a:latin typeface="Courier New"/>
              </a:rPr>
              <a:t>  name: s0</a:t>
            </a:r>
          </a:p>
          <a:p>
            <a:r>
              <a:rPr sz="1100">
                <a:solidFill>
                  <a:srgbClr val="CBD3F0"/>
                </a:solidFill>
                <a:latin typeface="Courier New"/>
              </a:rPr>
              <a:t>  # Sin namespace: aplica en 'default'</a:t>
            </a:r>
          </a:p>
          <a:p>
            <a:r>
              <a:rPr sz="1100">
                <a:solidFill>
                  <a:srgbClr val="CBD3F0"/>
                </a:solidFill>
                <a:latin typeface="Courier New"/>
              </a:rPr>
              <a:t>spec:</a:t>
            </a:r>
          </a:p>
          <a:p>
            <a:r>
              <a:rPr sz="1100">
                <a:solidFill>
                  <a:srgbClr val="CBD3F0"/>
                </a:solidFill>
                <a:latin typeface="Courier New"/>
              </a:rPr>
              <a:t>  hosts:</a:t>
            </a:r>
          </a:p>
          <a:p>
            <a:r>
              <a:rPr sz="1100">
                <a:solidFill>
                  <a:srgbClr val="CBD3F0"/>
                </a:solidFill>
                <a:latin typeface="Courier New"/>
              </a:rPr>
              <a:t>  - '*'</a:t>
            </a:r>
          </a:p>
          <a:p>
            <a:r>
              <a:rPr sz="1100">
                <a:solidFill>
                  <a:srgbClr val="CBD3F0"/>
                </a:solidFill>
                <a:latin typeface="Courier New"/>
              </a:rPr>
              <a:t>  gateways:</a:t>
            </a:r>
          </a:p>
          <a:p>
            <a:r>
              <a:rPr sz="1100">
                <a:solidFill>
                  <a:srgbClr val="F9E2AF"/>
                </a:solidFill>
                <a:latin typeface="Courier New"/>
              </a:rPr>
              <a:t>  - gateway      # mismo Gateway</a:t>
            </a:r>
          </a:p>
          <a:p>
            <a:r>
              <a:rPr sz="1100">
                <a:solidFill>
                  <a:srgbClr val="CBD3F0"/>
                </a:solidFill>
                <a:latin typeface="Courier New"/>
              </a:rPr>
              <a:t>  http:</a:t>
            </a:r>
          </a:p>
          <a:p>
            <a:r>
              <a:rPr sz="1100">
                <a:solidFill>
                  <a:srgbClr val="CBD3F0"/>
                </a:solidFill>
                <a:latin typeface="Courier New"/>
              </a:rPr>
              <a:t>  - match:</a:t>
            </a:r>
          </a:p>
          <a:p>
            <a:r>
              <a:rPr sz="1100">
                <a:solidFill>
                  <a:srgbClr val="CBD3F0"/>
                </a:solidFill>
                <a:latin typeface="Courier New"/>
              </a:rPr>
              <a:t>    - uri:</a:t>
            </a:r>
          </a:p>
          <a:p>
            <a:r>
              <a:rPr sz="1100">
                <a:solidFill>
                  <a:srgbClr val="F9E2AF"/>
                </a:solidFill>
                <a:latin typeface="Courier New"/>
              </a:rPr>
              <a:t>        prefix: /s0</a:t>
            </a:r>
          </a:p>
          <a:p>
            <a:r>
              <a:rPr sz="1100">
                <a:solidFill>
                  <a:srgbClr val="CBD3F0"/>
                </a:solidFill>
                <a:latin typeface="Courier New"/>
              </a:rPr>
              <a:t>    rewrite:</a:t>
            </a:r>
          </a:p>
          <a:p>
            <a:r>
              <a:rPr sz="1100">
                <a:solidFill>
                  <a:srgbClr val="F9E2AF"/>
                </a:solidFill>
                <a:latin typeface="Courier New"/>
              </a:rPr>
              <a:t>      uri: '/api/v1'   # mismo rewrite</a:t>
            </a:r>
          </a:p>
          <a:p>
            <a:r>
              <a:rPr sz="1100">
                <a:solidFill>
                  <a:srgbClr val="CBD3F0"/>
                </a:solidFill>
                <a:latin typeface="Courier New"/>
              </a:rPr>
              <a:t>    route:</a:t>
            </a:r>
          </a:p>
          <a:p>
            <a:r>
              <a:rPr sz="1100">
                <a:solidFill>
                  <a:srgbClr val="CBD3F0"/>
                </a:solidFill>
                <a:latin typeface="Courier New"/>
              </a:rPr>
              <a:t>    - destination:</a:t>
            </a:r>
          </a:p>
          <a:p>
            <a:r>
              <a:rPr sz="1100">
                <a:solidFill>
                  <a:srgbClr val="CBD3F0"/>
                </a:solidFill>
                <a:latin typeface="Courier New"/>
              </a:rPr>
              <a:t>        port:</a:t>
            </a:r>
          </a:p>
          <a:p>
            <a:r>
              <a:rPr sz="1100">
                <a:solidFill>
                  <a:srgbClr val="CBD3F0"/>
                </a:solidFill>
                <a:latin typeface="Courier New"/>
              </a:rPr>
              <a:t>          number: 80</a:t>
            </a:r>
          </a:p>
          <a:p>
            <a:r>
              <a:rPr sz="1100">
                <a:solidFill>
                  <a:srgbClr val="F9E2AF"/>
                </a:solidFill>
                <a:latin typeface="Courier New"/>
              </a:rPr>
              <a:t>        host: s0       # Service 's0' en default</a:t>
            </a:r>
          </a:p>
        </p:txBody>
      </p:sp>
      <p:sp>
        <p:nvSpPr>
          <p:cNvPr id="7" name="Rectangle 6"/>
          <p:cNvSpPr/>
          <p:nvPr/>
        </p:nvSpPr>
        <p:spPr>
          <a:xfrm>
            <a:off x="274320" y="5257800"/>
            <a:ext cx="2834640" cy="137160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rewrite uri: '/api/v1'</a:t>
            </a:r>
          </a:p>
          <a:p>
            <a:r>
              <a:rPr sz="1100">
                <a:solidFill>
                  <a:srgbClr val="555555"/>
                </a:solidFill>
              </a:rPr>
              <a:t>El cliente llama a /api pero el ServiceCell
sirve en /api/v1. El VirtualService hace
el rewrite transparentemente.</a:t>
            </a:r>
          </a:p>
        </p:txBody>
      </p:sp>
      <p:sp>
        <p:nvSpPr>
          <p:cNvPr id="8" name="Rectangle 7"/>
          <p:cNvSpPr/>
          <p:nvPr/>
        </p:nvSpPr>
        <p:spPr>
          <a:xfrm>
            <a:off x="3246120" y="5257800"/>
            <a:ext cx="2834640" cy="137160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namespace mubench-realistic (api-VS)</a:t>
            </a:r>
          </a:p>
          <a:p>
            <a:r>
              <a:rPr sz="1100">
                <a:solidFill>
                  <a:srgbClr val="555555"/>
                </a:solidFill>
              </a:rPr>
              <a:t>Al estar en mubench-realistic, Istio resuelve
'api' como api.mubench-realistic.svc.cluster.local.
Sin namespace lo buscaria en default.</a:t>
            </a:r>
          </a:p>
        </p:txBody>
      </p:sp>
      <p:sp>
        <p:nvSpPr>
          <p:cNvPr id="9" name="Rectangle 8"/>
          <p:cNvSpPr/>
          <p:nvPr/>
        </p:nvSpPr>
        <p:spPr>
          <a:xfrm>
            <a:off x="6217920" y="5257800"/>
            <a:ext cx="2834640" cy="13716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555555"/>
                </a:solidFill>
                <a:latin typeface="Courier New"/>
              </a:rPr>
              <a:t>Sin namespace (s0-VS)</a:t>
            </a:r>
          </a:p>
          <a:p>
            <a:r>
              <a:rPr sz="1100">
                <a:solidFill>
                  <a:srgbClr val="555555"/>
                </a:solidFill>
              </a:rPr>
              <a:t>El VS de s0 no declara namespace → se crea en default.
host: s0 resuelve a s0.default.svc.cluster.local.
Para servicios sinteticos del namespace default.</a:t>
            </a:r>
          </a:p>
        </p:txBody>
      </p:sp>
      <p:sp>
        <p:nvSpPr>
          <p:cNvPr id="10" name="Rectangle 9"/>
          <p:cNvSpPr/>
          <p:nvPr/>
        </p:nvSpPr>
        <p:spPr>
          <a:xfrm>
            <a:off x="9189720" y="5257800"/>
            <a:ext cx="2834640" cy="137160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gateways: [gateway]</a:t>
            </a:r>
          </a:p>
          <a:p>
            <a:r>
              <a:rPr sz="1100">
                <a:solidFill>
                  <a:srgbClr val="555555"/>
                </a:solidFill>
              </a:rPr>
              <a:t>Referencia al Gateway istio-gateway.yaml.
En la practica debe ser 'default/gateway'
si el Gateway esta en namespace 'default'.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Istio en mubench-realistic — Arquitectura completa</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Como interactuan Gateway + VirtualService + DestinationRule + mTLS</a:t>
            </a:r>
          </a:p>
        </p:txBody>
      </p:sp>
      <p:sp>
        <p:nvSpPr>
          <p:cNvPr id="5" name="Rectangle 4"/>
          <p:cNvSpPr/>
          <p:nvPr/>
        </p:nvSpPr>
        <p:spPr>
          <a:xfrm>
            <a:off x="457200" y="1143000"/>
            <a:ext cx="7132320" cy="749808"/>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rPr>
              <a:t>Cliente / k6</a:t>
            </a:r>
          </a:p>
          <a:p>
            <a:r>
              <a:rPr sz="1100">
                <a:solidFill>
                  <a:srgbClr val="DDEEFF"/>
                </a:solidFill>
              </a:rPr>
              <a:t>curl :31486/api  o  k6 run test-istio.js</a:t>
            </a:r>
          </a:p>
        </p:txBody>
      </p:sp>
      <p:sp>
        <p:nvSpPr>
          <p:cNvPr id="6" name="TextBox 5"/>
          <p:cNvSpPr txBox="1"/>
          <p:nvPr/>
        </p:nvSpPr>
        <p:spPr>
          <a:xfrm>
            <a:off x="3749039" y="1892808"/>
            <a:ext cx="457200" cy="128016"/>
          </a:xfrm>
          <a:prstGeom prst="rect">
            <a:avLst/>
          </a:prstGeom>
          <a:noFill/>
        </p:spPr>
        <p:txBody>
          <a:bodyPr wrap="none">
            <a:spAutoFit/>
          </a:bodyPr>
          <a:lstStyle/>
          <a:p>
            <a:r>
              <a:rPr sz="1000">
                <a:solidFill>
                  <a:srgbClr val="1F497D"/>
                </a:solidFill>
              </a:rPr>
              <a:t>v</a:t>
            </a:r>
          </a:p>
        </p:txBody>
      </p:sp>
      <p:sp>
        <p:nvSpPr>
          <p:cNvPr id="7" name="Rectangle 6"/>
          <p:cNvSpPr/>
          <p:nvPr/>
        </p:nvSpPr>
        <p:spPr>
          <a:xfrm>
            <a:off x="457200" y="2039112"/>
            <a:ext cx="7132320" cy="74980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rPr>
              <a:t>NodePort :31486</a:t>
            </a:r>
          </a:p>
          <a:p>
            <a:r>
              <a:rPr sz="1100">
                <a:solidFill>
                  <a:srgbClr val="DDEEFF"/>
                </a:solidFill>
              </a:rPr>
              <a:t>microk8s expone el IngressGateway
kubectl get svc -n istio-system</a:t>
            </a:r>
          </a:p>
        </p:txBody>
      </p:sp>
      <p:sp>
        <p:nvSpPr>
          <p:cNvPr id="8" name="TextBox 7"/>
          <p:cNvSpPr txBox="1"/>
          <p:nvPr/>
        </p:nvSpPr>
        <p:spPr>
          <a:xfrm>
            <a:off x="3749039" y="2788920"/>
            <a:ext cx="457200" cy="128016"/>
          </a:xfrm>
          <a:prstGeom prst="rect">
            <a:avLst/>
          </a:prstGeom>
          <a:noFill/>
        </p:spPr>
        <p:txBody>
          <a:bodyPr wrap="none">
            <a:spAutoFit/>
          </a:bodyPr>
          <a:lstStyle/>
          <a:p>
            <a:r>
              <a:rPr sz="1000">
                <a:solidFill>
                  <a:srgbClr val="1F497D"/>
                </a:solidFill>
              </a:rPr>
              <a:t>v</a:t>
            </a:r>
          </a:p>
        </p:txBody>
      </p:sp>
      <p:sp>
        <p:nvSpPr>
          <p:cNvPr id="9" name="Rectangle 8"/>
          <p:cNvSpPr/>
          <p:nvPr/>
        </p:nvSpPr>
        <p:spPr>
          <a:xfrm>
            <a:off x="457200" y="2935224"/>
            <a:ext cx="7132320" cy="74980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rPr>
              <a:t>Istio IngressGateway pod</a:t>
            </a:r>
          </a:p>
          <a:p>
            <a:r>
              <a:rPr sz="1100">
                <a:solidFill>
                  <a:srgbClr val="DDEEFF"/>
                </a:solidFill>
              </a:rPr>
              <a:t>Envoy proxy
istio-gateway.yaml: acepta puerto 80, hosts *</a:t>
            </a:r>
          </a:p>
        </p:txBody>
      </p:sp>
      <p:sp>
        <p:nvSpPr>
          <p:cNvPr id="10" name="TextBox 9"/>
          <p:cNvSpPr txBox="1"/>
          <p:nvPr/>
        </p:nvSpPr>
        <p:spPr>
          <a:xfrm>
            <a:off x="3749039" y="3685032"/>
            <a:ext cx="457200" cy="128016"/>
          </a:xfrm>
          <a:prstGeom prst="rect">
            <a:avLst/>
          </a:prstGeom>
          <a:noFill/>
        </p:spPr>
        <p:txBody>
          <a:bodyPr wrap="none">
            <a:spAutoFit/>
          </a:bodyPr>
          <a:lstStyle/>
          <a:p>
            <a:r>
              <a:rPr sz="1000">
                <a:solidFill>
                  <a:srgbClr val="1F497D"/>
                </a:solidFill>
              </a:rPr>
              <a:t>v</a:t>
            </a:r>
          </a:p>
        </p:txBody>
      </p:sp>
      <p:sp>
        <p:nvSpPr>
          <p:cNvPr id="11" name="Rectangle 10"/>
          <p:cNvSpPr/>
          <p:nvPr/>
        </p:nvSpPr>
        <p:spPr>
          <a:xfrm>
            <a:off x="457200" y="3831336"/>
            <a:ext cx="7132320" cy="749808"/>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rPr>
              <a:t>VirtualService 'api'</a:t>
            </a:r>
          </a:p>
          <a:p>
            <a:r>
              <a:rPr sz="1100">
                <a:solidFill>
                  <a:srgbClr val="DDEEFF"/>
                </a:solidFill>
              </a:rPr>
              <a:t>match: prefix=/api → rewrite=/api/v1
route: host=api, port=80</a:t>
            </a:r>
          </a:p>
        </p:txBody>
      </p:sp>
      <p:sp>
        <p:nvSpPr>
          <p:cNvPr id="12" name="TextBox 11"/>
          <p:cNvSpPr txBox="1"/>
          <p:nvPr/>
        </p:nvSpPr>
        <p:spPr>
          <a:xfrm>
            <a:off x="3749039" y="4581144"/>
            <a:ext cx="457200" cy="128016"/>
          </a:xfrm>
          <a:prstGeom prst="rect">
            <a:avLst/>
          </a:prstGeom>
          <a:noFill/>
        </p:spPr>
        <p:txBody>
          <a:bodyPr wrap="none">
            <a:spAutoFit/>
          </a:bodyPr>
          <a:lstStyle/>
          <a:p>
            <a:r>
              <a:rPr sz="1000">
                <a:solidFill>
                  <a:srgbClr val="1F497D"/>
                </a:solidFill>
              </a:rPr>
              <a:t>v</a:t>
            </a:r>
          </a:p>
        </p:txBody>
      </p:sp>
      <p:sp>
        <p:nvSpPr>
          <p:cNvPr id="13" name="Rectangle 12"/>
          <p:cNvSpPr/>
          <p:nvPr/>
        </p:nvSpPr>
        <p:spPr>
          <a:xfrm>
            <a:off x="457200" y="4727448"/>
            <a:ext cx="7132320" cy="749808"/>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rPr>
              <a:t>Service 'api' (K8s)</a:t>
            </a:r>
          </a:p>
          <a:p>
            <a:r>
              <a:rPr sz="1100">
                <a:solidFill>
                  <a:srgbClr val="DDEEFF"/>
                </a:solidFill>
              </a:rPr>
              <a:t>ClusterIP :80 → pods con label app=api
DestinationRule: LEAST_REQUEST + outlierDetection</a:t>
            </a:r>
          </a:p>
        </p:txBody>
      </p:sp>
      <p:sp>
        <p:nvSpPr>
          <p:cNvPr id="14" name="TextBox 13"/>
          <p:cNvSpPr txBox="1"/>
          <p:nvPr/>
        </p:nvSpPr>
        <p:spPr>
          <a:xfrm>
            <a:off x="3749039" y="5477256"/>
            <a:ext cx="457200" cy="128016"/>
          </a:xfrm>
          <a:prstGeom prst="rect">
            <a:avLst/>
          </a:prstGeom>
          <a:noFill/>
        </p:spPr>
        <p:txBody>
          <a:bodyPr wrap="none">
            <a:spAutoFit/>
          </a:bodyPr>
          <a:lstStyle/>
          <a:p>
            <a:r>
              <a:rPr sz="1000">
                <a:solidFill>
                  <a:srgbClr val="1F497D"/>
                </a:solidFill>
              </a:rPr>
              <a:t>v</a:t>
            </a:r>
          </a:p>
        </p:txBody>
      </p:sp>
      <p:sp>
        <p:nvSpPr>
          <p:cNvPr id="15" name="Rectangle 14"/>
          <p:cNvSpPr/>
          <p:nvPr/>
        </p:nvSpPr>
        <p:spPr>
          <a:xfrm>
            <a:off x="457200" y="5623560"/>
            <a:ext cx="7132320" cy="749808"/>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rPr>
              <a:t>Pod api (Envoy sidecar)</a:t>
            </a:r>
          </a:p>
          <a:p>
            <a:r>
              <a:rPr sz="1100">
                <a:solidFill>
                  <a:srgbClr val="DDEEFF"/>
                </a:solidFill>
              </a:rPr>
              <a:t>mTLS STRICT con sidecars de auth y sdb-data
PeerAuthentication: PERMISSIVE en port 8080</a:t>
            </a:r>
          </a:p>
        </p:txBody>
      </p:sp>
      <p:sp>
        <p:nvSpPr>
          <p:cNvPr id="16" name="TextBox 15"/>
          <p:cNvSpPr txBox="1"/>
          <p:nvPr/>
        </p:nvSpPr>
        <p:spPr>
          <a:xfrm>
            <a:off x="7772400" y="1325880"/>
            <a:ext cx="4114800" cy="411480"/>
          </a:xfrm>
          <a:prstGeom prst="rect">
            <a:avLst/>
          </a:prstGeom>
          <a:noFill/>
        </p:spPr>
        <p:txBody>
          <a:bodyPr wrap="none">
            <a:spAutoFit/>
          </a:bodyPr>
          <a:lstStyle/>
          <a:p>
            <a:r>
              <a:rPr sz="1200" b="0">
                <a:solidFill>
                  <a:srgbClr val="555555"/>
                </a:solidFill>
                <a:latin typeface="Courier New"/>
              </a:rPr>
              <a:t>—</a:t>
            </a:r>
          </a:p>
        </p:txBody>
      </p:sp>
      <p:sp>
        <p:nvSpPr>
          <p:cNvPr id="17" name="TextBox 16"/>
          <p:cNvSpPr txBox="1"/>
          <p:nvPr/>
        </p:nvSpPr>
        <p:spPr>
          <a:xfrm>
            <a:off x="7772400" y="2221992"/>
            <a:ext cx="4114800" cy="411480"/>
          </a:xfrm>
          <a:prstGeom prst="rect">
            <a:avLst/>
          </a:prstGeom>
          <a:noFill/>
        </p:spPr>
        <p:txBody>
          <a:bodyPr wrap="none">
            <a:spAutoFit/>
          </a:bodyPr>
          <a:lstStyle/>
          <a:p>
            <a:r>
              <a:rPr sz="1200" b="0">
                <a:solidFill>
                  <a:srgbClr val="555555"/>
                </a:solidFill>
                <a:latin typeface="Courier New"/>
              </a:rPr>
              <a:t>—</a:t>
            </a:r>
          </a:p>
        </p:txBody>
      </p:sp>
      <p:sp>
        <p:nvSpPr>
          <p:cNvPr id="18" name="TextBox 17"/>
          <p:cNvSpPr txBox="1"/>
          <p:nvPr/>
        </p:nvSpPr>
        <p:spPr>
          <a:xfrm>
            <a:off x="7772400" y="3118104"/>
            <a:ext cx="4114800" cy="411480"/>
          </a:xfrm>
          <a:prstGeom prst="rect">
            <a:avLst/>
          </a:prstGeom>
          <a:noFill/>
        </p:spPr>
        <p:txBody>
          <a:bodyPr wrap="none">
            <a:spAutoFit/>
          </a:bodyPr>
          <a:lstStyle/>
          <a:p>
            <a:r>
              <a:rPr sz="1200" b="1">
                <a:solidFill>
                  <a:srgbClr val="2E75B6"/>
                </a:solidFill>
                <a:latin typeface="Courier New"/>
              </a:rPr>
              <a:t>istio-gateway.yaml</a:t>
            </a:r>
          </a:p>
        </p:txBody>
      </p:sp>
      <p:sp>
        <p:nvSpPr>
          <p:cNvPr id="19" name="TextBox 18"/>
          <p:cNvSpPr txBox="1"/>
          <p:nvPr/>
        </p:nvSpPr>
        <p:spPr>
          <a:xfrm>
            <a:off x="7772400" y="4014216"/>
            <a:ext cx="4114800" cy="411480"/>
          </a:xfrm>
          <a:prstGeom prst="rect">
            <a:avLst/>
          </a:prstGeom>
          <a:noFill/>
        </p:spPr>
        <p:txBody>
          <a:bodyPr wrap="none">
            <a:spAutoFit/>
          </a:bodyPr>
          <a:lstStyle/>
          <a:p>
            <a:r>
              <a:rPr sz="1200" b="1">
                <a:solidFill>
                  <a:srgbClr val="2E75B6"/>
                </a:solidFill>
                <a:latin typeface="Courier New"/>
              </a:rPr>
              <a:t>istio-api-virtual-service.yaml</a:t>
            </a:r>
          </a:p>
        </p:txBody>
      </p:sp>
      <p:sp>
        <p:nvSpPr>
          <p:cNvPr id="20" name="TextBox 19"/>
          <p:cNvSpPr txBox="1"/>
          <p:nvPr/>
        </p:nvSpPr>
        <p:spPr>
          <a:xfrm>
            <a:off x="7772400" y="4910328"/>
            <a:ext cx="4114800" cy="411480"/>
          </a:xfrm>
          <a:prstGeom prst="rect">
            <a:avLst/>
          </a:prstGeom>
          <a:noFill/>
        </p:spPr>
        <p:txBody>
          <a:bodyPr wrap="none">
            <a:spAutoFit/>
          </a:bodyPr>
          <a:lstStyle/>
          <a:p>
            <a:r>
              <a:rPr sz="1200" b="1">
                <a:solidFill>
                  <a:srgbClr val="2E75B6"/>
                </a:solidFill>
                <a:latin typeface="Courier New"/>
              </a:rPr>
              <a:t>destrule-realistic-00200-Service-api.yaml</a:t>
            </a:r>
          </a:p>
        </p:txBody>
      </p:sp>
      <p:sp>
        <p:nvSpPr>
          <p:cNvPr id="21" name="TextBox 20"/>
          <p:cNvSpPr txBox="1"/>
          <p:nvPr/>
        </p:nvSpPr>
        <p:spPr>
          <a:xfrm>
            <a:off x="7772400" y="5806440"/>
            <a:ext cx="4114800" cy="411480"/>
          </a:xfrm>
          <a:prstGeom prst="rect">
            <a:avLst/>
          </a:prstGeom>
          <a:noFill/>
        </p:spPr>
        <p:txBody>
          <a:bodyPr wrap="none">
            <a:spAutoFit/>
          </a:bodyPr>
          <a:lstStyle/>
          <a:p>
            <a:r>
              <a:rPr sz="1200" b="1">
                <a:solidFill>
                  <a:srgbClr val="2E75B6"/>
                </a:solidFill>
                <a:latin typeface="Courier New"/>
              </a:rPr>
              <a:t>PeerAuthentication (mTLS STRICT)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Add-on / Topology-affinity</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Genera Deployments con nodeAffinity para region, zone y subzone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Add-on/Topology-affinity — Proposito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Genera YAMLs de Deployment con reglas de afinidad de nodo por region/zone/subzone</a:t>
            </a:r>
          </a:p>
        </p:txBody>
      </p:sp>
      <p:sp>
        <p:nvSpPr>
          <p:cNvPr id="5" name="Rectangle 4"/>
          <p:cNvSpPr/>
          <p:nvPr/>
        </p:nvSpPr>
        <p:spPr>
          <a:xfrm>
            <a:off x="274320" y="1188720"/>
            <a:ext cx="566928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ourier New"/>
              </a:rPr>
              <a:t>create-affinity-yamls.py</a:t>
            </a:r>
          </a:p>
        </p:txBody>
      </p:sp>
      <p:sp>
        <p:nvSpPr>
          <p:cNvPr id="6" name="Rectangle 5"/>
          <p:cNvSpPr/>
          <p:nvPr/>
        </p:nvSpPr>
        <p:spPr>
          <a:xfrm>
            <a:off x="274320" y="1600200"/>
            <a:ext cx="5669280" cy="137160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a:solidFill>
                  <a:srgbClr val="555555"/>
                </a:solidFill>
              </a:rPr>
              <a:t>Script principal.
Agrega spec.affinity a Deployments K8s
segun topologia deseada (region/zone/subzone).</a:t>
            </a:r>
          </a:p>
        </p:txBody>
      </p:sp>
      <p:sp>
        <p:nvSpPr>
          <p:cNvPr id="7" name="Rectangle 6"/>
          <p:cNvSpPr/>
          <p:nvPr/>
        </p:nvSpPr>
        <p:spPr>
          <a:xfrm>
            <a:off x="6217920" y="1188720"/>
            <a:ext cx="5669280" cy="411480"/>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ourier New"/>
              </a:rPr>
              <a:t>README.md</a:t>
            </a:r>
          </a:p>
        </p:txBody>
      </p:sp>
      <p:sp>
        <p:nvSpPr>
          <p:cNvPr id="8" name="Rectangle 7"/>
          <p:cNvSpPr/>
          <p:nvPr/>
        </p:nvSpPr>
        <p:spPr>
          <a:xfrm>
            <a:off x="6217920" y="1600200"/>
            <a:ext cx="5669280" cy="137160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a:solidFill>
                  <a:srgbClr val="555555"/>
                </a:solidFill>
              </a:rPr>
              <a:t>Documentacion de uso.
Incluye 2 ejemplos CLI:
region+zone+subzone y zone solamente.</a:t>
            </a:r>
          </a:p>
        </p:txBody>
      </p:sp>
      <p:sp>
        <p:nvSpPr>
          <p:cNvPr id="9" name="Rectangle 8"/>
          <p:cNvSpPr/>
          <p:nvPr/>
        </p:nvSpPr>
        <p:spPr>
          <a:xfrm>
            <a:off x="274320" y="2926080"/>
            <a:ext cx="11612880" cy="34747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2E75B6"/>
                </a:solidFill>
              </a:rPr>
              <a:t>Caso de uso: despliegue multi-zona (cloud + edge)</a:t>
            </a:r>
          </a:p>
          <a:p>
            <a:r>
              <a:rPr sz="1300" b="1">
                <a:solidFill>
                  <a:srgbClr val="1F497D"/>
                </a:solidFill>
              </a:rPr>
              <a:t>Multi-cloud/region: </a:t>
            </a:r>
            <a:r>
              <a:rPr sz="1200">
                <a:solidFill>
                  <a:srgbClr val="555555"/>
                </a:solidFill>
              </a:rPr>
              <a:t>Cluster con nodos en us-west1 y us-east1. Cada servicio se despliega en la region mas cercana al usuario.</a:t>
            </a:r>
          </a:p>
          <a:p>
            <a:r>
              <a:rPr sz="1300" b="1">
                <a:solidFill>
                  <a:srgbClr val="1F497D"/>
                </a:solidFill>
              </a:rPr>
              <a:t>Cloud + Edge: </a:t>
            </a:r>
            <a:r>
              <a:rPr sz="1200">
                <a:solidFill>
                  <a:srgbClr val="555555"/>
                </a:solidFill>
              </a:rPr>
              <a:t>Nodos 'cloud' (datacenter central) y 'edge1'/'edge2' (borde de red). Latencia reducida colocando servicios cerca del cliente.</a:t>
            </a:r>
          </a:p>
          <a:p>
            <a:r>
              <a:rPr sz="1300" b="1">
                <a:solidFill>
                  <a:srgbClr val="1F497D"/>
                </a:solidFill>
              </a:rPr>
              <a:t>Laboratorio (mubench): </a:t>
            </a:r>
            <a:r>
              <a:rPr sz="1200">
                <a:solidFill>
                  <a:srgbClr val="555555"/>
                </a:solidFill>
              </a:rPr>
              <a:t>python3 create-affinity-yamls.py --zones cloud,edge1
Genera subcarpetas cloud/ y edge1/ con los Deployments con affinity. Permite simular restricciones topologicas sin cluster real multi-nodo.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add_affinity_spec() — Logica completa</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Construye la estructura nodeAffinity y la inyecta en cada Deployment</a:t>
            </a:r>
          </a:p>
        </p:txBody>
      </p:sp>
      <p:sp>
        <p:nvSpPr>
          <p:cNvPr id="5" name="Rectangle 4"/>
          <p:cNvSpPr/>
          <p:nvPr/>
        </p:nvSpPr>
        <p:spPr>
          <a:xfrm>
            <a:off x="365760" y="1143000"/>
            <a:ext cx="5852160" cy="54864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def add_affinity_spec(yaml_file_in, yaml_file_out,</a:t>
            </a:r>
          </a:p>
          <a:p>
            <a:r>
              <a:rPr sz="1100">
                <a:solidFill>
                  <a:srgbClr val="CBD3F0"/>
                </a:solidFill>
                <a:latin typeface="Courier New"/>
              </a:rPr>
              <a:t>                      region, zone, subzone):</a:t>
            </a:r>
          </a:p>
          <a:p>
            <a:r>
              <a:rPr sz="1100">
                <a:solidFill>
                  <a:srgbClr val="CBD3F0"/>
                </a:solidFill>
                <a:latin typeface="Courier New"/>
              </a:rPr>
              <a:t>  suffix = ''</a:t>
            </a:r>
          </a:p>
          <a:p>
            <a:r>
              <a:rPr sz="1100">
                <a:solidFill>
                  <a:srgbClr val="CBD3F0"/>
                </a:solidFill>
                <a:latin typeface="Courier New"/>
              </a:rPr>
              <a:t>  affinity = {</a:t>
            </a:r>
          </a:p>
          <a:p>
            <a:r>
              <a:rPr sz="1100">
                <a:solidFill>
                  <a:srgbClr val="CBD3F0"/>
                </a:solidFill>
                <a:latin typeface="Courier New"/>
              </a:rPr>
              <a:t>    'nodeAffinity': {</a:t>
            </a:r>
          </a:p>
          <a:p>
            <a:r>
              <a:rPr sz="1100">
                <a:solidFill>
                  <a:srgbClr val="CBD3F0"/>
                </a:solidFill>
                <a:latin typeface="Courier New"/>
              </a:rPr>
              <a:t>      'requiredDuringScheduling</a:t>
            </a:r>
          </a:p>
          <a:p>
            <a:r>
              <a:rPr sz="1100">
                <a:solidFill>
                  <a:srgbClr val="CBD3F0"/>
                </a:solidFill>
                <a:latin typeface="Courier New"/>
              </a:rPr>
              <a:t>       IgnoredDuringExecution': {</a:t>
            </a:r>
          </a:p>
          <a:p>
            <a:r>
              <a:rPr sz="1100">
                <a:solidFill>
                  <a:srgbClr val="CBD3F0"/>
                </a:solidFill>
                <a:latin typeface="Courier New"/>
              </a:rPr>
              <a:t>        'nodeSelectorTerms': [{</a:t>
            </a:r>
          </a:p>
          <a:p>
            <a:r>
              <a:rPr sz="1100">
                <a:solidFill>
                  <a:srgbClr val="CBD3F0"/>
                </a:solidFill>
                <a:latin typeface="Courier New"/>
              </a:rPr>
              <a:t>          'matchExpressions': []</a:t>
            </a:r>
          </a:p>
          <a:p>
            <a:r>
              <a:rPr sz="1100">
                <a:solidFill>
                  <a:srgbClr val="CBD3F0"/>
                </a:solidFill>
                <a:latin typeface="Courier New"/>
              </a:rPr>
              <a:t>        }]</a:t>
            </a:r>
          </a:p>
          <a:p>
            <a:r>
              <a:rPr sz="1100">
                <a:solidFill>
                  <a:srgbClr val="CBD3F0"/>
                </a:solidFill>
                <a:latin typeface="Courier New"/>
              </a:rPr>
              <a:t>      }</a:t>
            </a:r>
          </a:p>
          <a:p>
            <a:r>
              <a:rPr sz="1100">
                <a:solidFill>
                  <a:srgbClr val="CBD3F0"/>
                </a:solidFill>
                <a:latin typeface="Courier New"/>
              </a:rPr>
              <a:t>    }</a:t>
            </a:r>
          </a:p>
          <a:p>
            <a:r>
              <a:rPr sz="1100">
                <a:solidFill>
                  <a:srgbClr val="CBD3F0"/>
                </a:solidFill>
                <a:latin typeface="Courier New"/>
              </a:rPr>
              <a:t>  }</a:t>
            </a:r>
          </a:p>
          <a:p>
            <a:r>
              <a:rPr sz="1100">
                <a:solidFill>
                  <a:srgbClr val="F9E2AF"/>
                </a:solidFill>
                <a:latin typeface="Courier New"/>
              </a:rPr>
              <a:t>  if region != 'no-region-specified':</a:t>
            </a:r>
          </a:p>
          <a:p>
            <a:r>
              <a:rPr sz="1100">
                <a:solidFill>
                  <a:srgbClr val="CBD3F0"/>
                </a:solidFill>
                <a:latin typeface="Courier New"/>
              </a:rPr>
              <a:t>      affinity[...]['matchExpressions'].append({</a:t>
            </a:r>
          </a:p>
          <a:p>
            <a:r>
              <a:rPr sz="1100">
                <a:solidFill>
                  <a:srgbClr val="CBD3F0"/>
                </a:solidFill>
                <a:latin typeface="Courier New"/>
              </a:rPr>
              <a:t>          'key': 'topology.kubernetes.io/region',</a:t>
            </a:r>
          </a:p>
          <a:p>
            <a:r>
              <a:rPr sz="1100">
                <a:solidFill>
                  <a:srgbClr val="CBD3F0"/>
                </a:solidFill>
                <a:latin typeface="Courier New"/>
              </a:rPr>
              <a:t>          'operator': 'In',</a:t>
            </a:r>
          </a:p>
          <a:p>
            <a:r>
              <a:rPr sz="1100">
                <a:solidFill>
                  <a:srgbClr val="CBD3F0"/>
                </a:solidFill>
                <a:latin typeface="Courier New"/>
              </a:rPr>
              <a:t>          'values': [region]</a:t>
            </a:r>
          </a:p>
          <a:p>
            <a:r>
              <a:rPr sz="1100">
                <a:solidFill>
                  <a:srgbClr val="CBD3F0"/>
                </a:solidFill>
                <a:latin typeface="Courier New"/>
              </a:rPr>
              <a:t>      })</a:t>
            </a:r>
          </a:p>
          <a:p>
            <a:r>
              <a:rPr sz="1100">
                <a:solidFill>
                  <a:srgbClr val="F9E2AF"/>
                </a:solidFill>
                <a:latin typeface="Courier New"/>
              </a:rPr>
              <a:t>      suffix += '-' + region</a:t>
            </a:r>
          </a:p>
          <a:p>
            <a:r>
              <a:rPr sz="1100">
                <a:solidFill>
                  <a:srgbClr val="CBD3F0"/>
                </a:solidFill>
                <a:latin typeface="Courier New"/>
              </a:rPr>
              <a:t>  # igual para zone y subzone...</a:t>
            </a:r>
          </a:p>
          <a:p>
            <a:r>
              <a:rPr sz="1100">
                <a:solidFill>
                  <a:srgbClr val="CBD3F0"/>
                </a:solidFill>
                <a:latin typeface="Courier New"/>
              </a:rPr>
              <a:t/>
            </a:r>
          </a:p>
          <a:p>
            <a:r>
              <a:rPr sz="1100">
                <a:solidFill>
                  <a:srgbClr val="CBD3F0"/>
                </a:solidFill>
                <a:latin typeface="Courier New"/>
              </a:rPr>
              <a:t>  # limpiar placeholders {{...}}</a:t>
            </a:r>
          </a:p>
          <a:p>
            <a:r>
              <a:rPr sz="1100">
                <a:solidFill>
                  <a:srgbClr val="CBD3F0"/>
                </a:solidFill>
                <a:latin typeface="Courier New"/>
              </a:rPr>
              <a:t>  raw = re.sub(r'^\s*{{...}}\s*\n','',raw)</a:t>
            </a:r>
          </a:p>
          <a:p>
            <a:r>
              <a:rPr sz="1100">
                <a:solidFill>
                  <a:srgbClr val="CBD3F0"/>
                </a:solidFill>
                <a:latin typeface="Courier New"/>
              </a:rPr>
              <a:t>  raw = re.sub(r'{{[^}]+}}', '', raw)</a:t>
            </a:r>
          </a:p>
          <a:p>
            <a:r>
              <a:rPr sz="1100">
                <a:solidFill>
                  <a:srgbClr val="CBD3F0"/>
                </a:solidFill>
                <a:latin typeface="Courier New"/>
              </a:rPr>
              <a:t>  complete_yaml = list(yaml.safe_load_all(raw))</a:t>
            </a:r>
          </a:p>
          <a:p>
            <a:r>
              <a:rPr sz="1100">
                <a:solidFill>
                  <a:srgbClr val="CBD3F0"/>
                </a:solidFill>
                <a:latin typeface="Courier New"/>
              </a:rPr>
              <a:t/>
            </a:r>
          </a:p>
          <a:p>
            <a:r>
              <a:rPr sz="1100">
                <a:solidFill>
                  <a:srgbClr val="F9E2AF"/>
                </a:solidFill>
                <a:latin typeface="Courier New"/>
              </a:rPr>
              <a:t>  for partial_yaml in complete_yaml:</a:t>
            </a:r>
          </a:p>
          <a:p>
            <a:r>
              <a:rPr sz="1100">
                <a:solidFill>
                  <a:srgbClr val="CBD3F0"/>
                </a:solidFill>
                <a:latin typeface="Courier New"/>
              </a:rPr>
              <a:t>      if partial_yaml['kind'] == 'Deployment':</a:t>
            </a:r>
          </a:p>
          <a:p>
            <a:r>
              <a:rPr sz="1100">
                <a:solidFill>
                  <a:srgbClr val="F9E2AF"/>
                </a:solidFill>
                <a:latin typeface="Courier New"/>
              </a:rPr>
              <a:t>          if suffix != '':</a:t>
            </a:r>
          </a:p>
          <a:p>
            <a:r>
              <a:rPr sz="1100">
                <a:solidFill>
                  <a:srgbClr val="F9E2AF"/>
                </a:solidFill>
                <a:latin typeface="Courier New"/>
              </a:rPr>
              <a:t>              partial_yaml['spec']['template']</a:t>
            </a:r>
          </a:p>
          <a:p>
            <a:r>
              <a:rPr sz="1100">
                <a:solidFill>
                  <a:srgbClr val="F9E2AF"/>
                </a:solidFill>
                <a:latin typeface="Courier New"/>
              </a:rPr>
              <a:t>                ['spec']['affinity'] = affinity</a:t>
            </a:r>
          </a:p>
          <a:p>
            <a:r>
              <a:rPr sz="1100">
                <a:solidFill>
                  <a:srgbClr val="CBD3F0"/>
                </a:solidFill>
                <a:latin typeface="Courier New"/>
              </a:rPr>
              <a:t>              partial_yaml['metadata']['name'] +=suffix</a:t>
            </a:r>
          </a:p>
          <a:p>
            <a:r>
              <a:rPr sz="1100">
                <a:solidFill>
                  <a:srgbClr val="F9E2AF"/>
                </a:solidFill>
                <a:latin typeface="Courier New"/>
              </a:rPr>
              <a:t>              partial_yaml['spec']['selector']</a:t>
            </a:r>
          </a:p>
          <a:p>
            <a:r>
              <a:rPr sz="1100">
                <a:solidFill>
                  <a:srgbClr val="CBD3F0"/>
                </a:solidFill>
                <a:latin typeface="Courier New"/>
              </a:rPr>
              <a:t>                ['matchLabels']['app-t'] = app+suffix</a:t>
            </a:r>
          </a:p>
          <a:p>
            <a:r>
              <a:rPr sz="1100">
                <a:solidFill>
                  <a:srgbClr val="CBD3F0"/>
                </a:solidFill>
                <a:latin typeface="Courier New"/>
              </a:rPr>
              <a:t>  yaml.dump_all(complete_yaml, open(out,'w'))</a:t>
            </a:r>
          </a:p>
        </p:txBody>
      </p:sp>
      <p:sp>
        <p:nvSpPr>
          <p:cNvPr id="6" name="Rectangle 5"/>
          <p:cNvSpPr/>
          <p:nvPr/>
        </p:nvSpPr>
        <p:spPr>
          <a:xfrm>
            <a:off x="6492240" y="1143000"/>
            <a:ext cx="2697480" cy="1664208"/>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E75B6"/>
                </a:solidFill>
                <a:latin typeface="Courier New"/>
              </a:rPr>
              <a:t>4 parametros</a:t>
            </a:r>
          </a:p>
          <a:p>
            <a:r>
              <a:rPr sz="1000">
                <a:solidFill>
                  <a:srgbClr val="555555"/>
                </a:solidFill>
              </a:rPr>
              <a:t>yaml_file_in: YAML original sin afinidad
yaml_file_out: donde escribir el resultado
region, zone, subzone: valores de etiquetas
topology.kubernetes.io/* del nodo destino.</a:t>
            </a:r>
          </a:p>
        </p:txBody>
      </p:sp>
      <p:sp>
        <p:nvSpPr>
          <p:cNvPr id="7" name="Rectangle 6"/>
          <p:cNvSpPr/>
          <p:nvPr/>
        </p:nvSpPr>
        <p:spPr>
          <a:xfrm>
            <a:off x="9326880" y="1143000"/>
            <a:ext cx="2697480" cy="1664208"/>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C0392B"/>
                </a:solidFill>
                <a:latin typeface="Courier New"/>
              </a:rPr>
              <a:t>requiredDuringSchedulingIgnoredDuringExecution</a:t>
            </a:r>
          </a:p>
          <a:p>
            <a:r>
              <a:rPr sz="1000">
                <a:solidFill>
                  <a:srgbClr val="555555"/>
                </a:solidFill>
              </a:rPr>
              <a:t>Tipo HARD de afinidad en K8s.
El pod NO puede programarse si no hay
ningun nodo que cumpla la expresion.
Contrario: preferredDuring... (soft/suave).</a:t>
            </a:r>
          </a:p>
        </p:txBody>
      </p:sp>
      <p:sp>
        <p:nvSpPr>
          <p:cNvPr id="8" name="Rectangle 7"/>
          <p:cNvSpPr/>
          <p:nvPr/>
        </p:nvSpPr>
        <p:spPr>
          <a:xfrm>
            <a:off x="6492240" y="2944368"/>
            <a:ext cx="2697480" cy="1664208"/>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3690F"/>
                </a:solidFill>
                <a:latin typeface="Courier New"/>
              </a:rPr>
              <a:t>suffix acumulativo</a:t>
            </a:r>
          </a:p>
          <a:p>
            <a:r>
              <a:rPr sz="1000">
                <a:solidFill>
                  <a:srgbClr val="555555"/>
                </a:solidFill>
              </a:rPr>
              <a:t>Si region='us-west1' y zone='us-west1-a':
suffix = '-us-west1-us-west1-a'
Nuevo nombre del Deployment:
'api-us-west1-us-west1-a'
Permite convivir multiples variantes en el mismo cluster.</a:t>
            </a:r>
          </a:p>
        </p:txBody>
      </p:sp>
      <p:sp>
        <p:nvSpPr>
          <p:cNvPr id="9" name="Rectangle 8"/>
          <p:cNvSpPr/>
          <p:nvPr/>
        </p:nvSpPr>
        <p:spPr>
          <a:xfrm>
            <a:off x="9326880" y="2944368"/>
            <a:ext cx="2697480" cy="1664208"/>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E6B3A"/>
                </a:solidFill>
                <a:latin typeface="Courier New"/>
              </a:rPr>
              <a:t>app-t label</a:t>
            </a:r>
          </a:p>
          <a:p>
            <a:r>
              <a:rPr sz="1000">
                <a:solidFill>
                  <a:srgbClr val="555555"/>
                </a:solidFill>
              </a:rPr>
              <a:t>Se agrega etiqueta 'app-t' al Deployment,
matchLabels y template.metadata.labels.
Evita conflicto de selector con otros Deployments
del mismo servicio en distinta zona.</a:t>
            </a:r>
          </a:p>
        </p:txBody>
      </p:sp>
      <p:sp>
        <p:nvSpPr>
          <p:cNvPr id="10" name="Rectangle 9"/>
          <p:cNvSpPr/>
          <p:nvPr/>
        </p:nvSpPr>
        <p:spPr>
          <a:xfrm>
            <a:off x="6492240" y="4745736"/>
            <a:ext cx="2697480" cy="1664208"/>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844B4"/>
                </a:solidFill>
                <a:latin typeface="Courier New"/>
              </a:rPr>
              <a:t>yaml.dump_all</a:t>
            </a:r>
          </a:p>
          <a:p>
            <a:r>
              <a:rPr sz="1000">
                <a:solidFill>
                  <a:srgbClr val="555555"/>
                </a:solidFill>
              </a:rPr>
              <a:t>A diferencia de create-hpa.py y create-destination-rule.py
que usan yaml.dump (un solo documento),
aqui se usa yaml.dump_all porque el YAML de entrada
puede tener Service + Deployment en el mismo archivo.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main() — Combinaciones region x zone x subzone</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Genera todas las combinaciones posibles con un triple bucle anidado</a:t>
            </a:r>
          </a:p>
        </p:txBody>
      </p:sp>
      <p:sp>
        <p:nvSpPr>
          <p:cNvPr id="5" name="Rectangle 4"/>
          <p:cNvSpPr/>
          <p:nvPr/>
        </p:nvSpPr>
        <p:spPr>
          <a:xfrm>
            <a:off x="365760" y="1143000"/>
            <a:ext cx="585216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parser.add_argument('--regions', type=list_of_strings,</a:t>
            </a:r>
          </a:p>
          <a:p>
            <a:r>
              <a:rPr sz="1100">
                <a:solidFill>
                  <a:srgbClr val="CBD3F0"/>
                </a:solidFill>
                <a:latin typeface="Courier New"/>
              </a:rPr>
              <a:t>    default=['no-region-specified'])</a:t>
            </a:r>
          </a:p>
          <a:p>
            <a:r>
              <a:rPr sz="1100">
                <a:solidFill>
                  <a:srgbClr val="CBD3F0"/>
                </a:solidFill>
                <a:latin typeface="Courier New"/>
              </a:rPr>
              <a:t>parser.add_argument('--zones',   type=list_of_strings,</a:t>
            </a:r>
          </a:p>
          <a:p>
            <a:r>
              <a:rPr sz="1100">
                <a:solidFill>
                  <a:srgbClr val="CBD3F0"/>
                </a:solidFill>
                <a:latin typeface="Courier New"/>
              </a:rPr>
              <a:t>    default=['no-zone-specified'])</a:t>
            </a:r>
          </a:p>
          <a:p>
            <a:r>
              <a:rPr sz="1100">
                <a:solidFill>
                  <a:srgbClr val="CBD3F0"/>
                </a:solidFill>
                <a:latin typeface="Courier New"/>
              </a:rPr>
              <a:t>parser.add_argument('--subzones',type=list_of_strings,</a:t>
            </a:r>
          </a:p>
          <a:p>
            <a:r>
              <a:rPr sz="1100">
                <a:solidFill>
                  <a:srgbClr val="CBD3F0"/>
                </a:solidFill>
                <a:latin typeface="Courier New"/>
              </a:rPr>
              <a:t>    default=['no-subzone-specified'])</a:t>
            </a:r>
          </a:p>
          <a:p>
            <a:r>
              <a:rPr sz="1100">
                <a:solidFill>
                  <a:srgbClr val="CBD3F0"/>
                </a:solidFill>
                <a:latin typeface="Courier New"/>
              </a:rPr>
              <a:t/>
            </a:r>
          </a:p>
          <a:p>
            <a:r>
              <a:rPr sz="1100">
                <a:solidFill>
                  <a:srgbClr val="CBD3F0"/>
                </a:solidFill>
                <a:latin typeface="Courier New"/>
              </a:rPr>
              <a:t># Crear estructura de directorios</a:t>
            </a:r>
          </a:p>
          <a:p>
            <a:r>
              <a:rPr sz="1100">
                <a:solidFill>
                  <a:srgbClr val="F9E2AF"/>
                </a:solidFill>
                <a:latin typeface="Courier New"/>
              </a:rPr>
              <a:t>for region in region_values:</a:t>
            </a:r>
          </a:p>
          <a:p>
            <a:r>
              <a:rPr sz="1100">
                <a:solidFill>
                  <a:srgbClr val="F9E2AF"/>
                </a:solidFill>
                <a:latin typeface="Courier New"/>
              </a:rPr>
              <a:t>    os.makedirs(out/region)</a:t>
            </a:r>
          </a:p>
          <a:p>
            <a:r>
              <a:rPr sz="1100">
                <a:solidFill>
                  <a:srgbClr val="F9E2AF"/>
                </a:solidFill>
                <a:latin typeface="Courier New"/>
              </a:rPr>
              <a:t>    for zone in zone_values:</a:t>
            </a:r>
          </a:p>
          <a:p>
            <a:r>
              <a:rPr sz="1100">
                <a:solidFill>
                  <a:srgbClr val="F9E2AF"/>
                </a:solidFill>
                <a:latin typeface="Courier New"/>
              </a:rPr>
              <a:t>        os.makedirs(out/region/zone)</a:t>
            </a:r>
          </a:p>
          <a:p>
            <a:r>
              <a:rPr sz="1100">
                <a:solidFill>
                  <a:srgbClr val="CBD3F0"/>
                </a:solidFill>
                <a:latin typeface="Courier New"/>
              </a:rPr>
              <a:t>        for subzone in subzone_values:</a:t>
            </a:r>
          </a:p>
          <a:p>
            <a:r>
              <a:rPr sz="1100">
                <a:solidFill>
                  <a:srgbClr val="CBD3F0"/>
                </a:solidFill>
                <a:latin typeface="Courier New"/>
              </a:rPr>
              <a:t>            os.makedirs(out/region/zone/subzone)</a:t>
            </a:r>
          </a:p>
          <a:p>
            <a:r>
              <a:rPr sz="1100">
                <a:solidFill>
                  <a:srgbClr val="CBD3F0"/>
                </a:solidFill>
                <a:latin typeface="Courier New"/>
              </a:rPr>
              <a:t/>
            </a:r>
          </a:p>
          <a:p>
            <a:r>
              <a:rPr sz="1100">
                <a:solidFill>
                  <a:srgbClr val="CBD3F0"/>
                </a:solidFill>
                <a:latin typeface="Courier New"/>
              </a:rPr>
              <a:t># Iterar archivos YAML</a:t>
            </a:r>
          </a:p>
          <a:p>
            <a:r>
              <a:rPr sz="1100">
                <a:solidFill>
                  <a:srgbClr val="CBD3F0"/>
                </a:solidFill>
                <a:latin typeface="Courier New"/>
              </a:rPr>
              <a:t>for filename in os.listdir(yaml_file_in_path):</a:t>
            </a:r>
          </a:p>
          <a:p>
            <a:r>
              <a:rPr sz="1100">
                <a:solidFill>
                  <a:srgbClr val="F9E2AF"/>
                </a:solidFill>
                <a:latin typeface="Courier New"/>
              </a:rPr>
              <a:t>    if filename.endswith('.yaml'):</a:t>
            </a:r>
          </a:p>
          <a:p>
            <a:r>
              <a:rPr sz="1100">
                <a:solidFill>
                  <a:srgbClr val="F9E2AF"/>
                </a:solidFill>
                <a:latin typeface="Courier New"/>
              </a:rPr>
              <a:t>        for region in region_values:</a:t>
            </a:r>
          </a:p>
          <a:p>
            <a:r>
              <a:rPr sz="1100">
                <a:solidFill>
                  <a:srgbClr val="F9E2AF"/>
                </a:solidFill>
                <a:latin typeface="Courier New"/>
              </a:rPr>
              <a:t>          for zone in zone_values:</a:t>
            </a:r>
          </a:p>
          <a:p>
            <a:r>
              <a:rPr sz="1100">
                <a:solidFill>
                  <a:srgbClr val="F9E2AF"/>
                </a:solidFill>
                <a:latin typeface="Courier New"/>
              </a:rPr>
              <a:t>            for subzone in subzone_values:</a:t>
            </a:r>
          </a:p>
          <a:p>
            <a:r>
              <a:rPr sz="1100">
                <a:solidFill>
                  <a:srgbClr val="CBD3F0"/>
                </a:solidFill>
                <a:latin typeface="Courier New"/>
              </a:rPr>
              <a:t>              yaml_file_out = out/region/zone/</a:t>
            </a:r>
          </a:p>
          <a:p>
            <a:r>
              <a:rPr sz="1100">
                <a:solidFill>
                  <a:srgbClr val="CBD3F0"/>
                </a:solidFill>
                <a:latin typeface="Courier New"/>
              </a:rPr>
              <a:t>                              subzone/filename</a:t>
            </a:r>
          </a:p>
          <a:p>
            <a:r>
              <a:rPr sz="1100">
                <a:solidFill>
                  <a:srgbClr val="CBD3F0"/>
                </a:solidFill>
                <a:latin typeface="Courier New"/>
              </a:rPr>
              <a:t>              add_affinity_spec(yaml_file_in,</a:t>
            </a:r>
          </a:p>
          <a:p>
            <a:r>
              <a:rPr sz="1100">
                <a:solidFill>
                  <a:srgbClr val="CBD3F0"/>
                </a:solidFill>
                <a:latin typeface="Courier New"/>
              </a:rPr>
              <a:t>                yaml_file_out, region,zone,subzone)</a:t>
            </a:r>
          </a:p>
        </p:txBody>
      </p:sp>
      <p:sp>
        <p:nvSpPr>
          <p:cNvPr id="6" name="Rectangle 5"/>
          <p:cNvSpPr/>
          <p:nvPr/>
        </p:nvSpPr>
        <p:spPr>
          <a:xfrm>
            <a:off x="6492240" y="1143000"/>
            <a:ext cx="2697480" cy="25603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list_of_strings helper</a:t>
            </a:r>
          </a:p>
          <a:p>
            <a:r>
              <a:rPr sz="1000">
                <a:solidFill>
                  <a:srgbClr val="555555"/>
                </a:solidFill>
                <a:latin typeface="Courier New"/>
              </a:rPr>
              <a:t>def list_of_strings(arg):
    return arg.split(',')
Permite pasar listas por CLI:
--zones cloud,edge1
→ ['cloud', 'edge1']
argparse no tiene soporte nativo
para listas separadas por coma.</a:t>
            </a:r>
          </a:p>
        </p:txBody>
      </p:sp>
      <p:sp>
        <p:nvSpPr>
          <p:cNvPr id="7" name="Rectangle 6"/>
          <p:cNvSpPr/>
          <p:nvPr/>
        </p:nvSpPr>
        <p:spPr>
          <a:xfrm>
            <a:off x="9326880" y="1143000"/>
            <a:ext cx="2697480" cy="25603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Estructura de directorios</a:t>
            </a:r>
          </a:p>
          <a:p>
            <a:r>
              <a:rPr sz="1000">
                <a:solidFill>
                  <a:srgbClr val="555555"/>
                </a:solidFill>
                <a:latin typeface="Courier New"/>
              </a:rPr>
              <a:t>Ejemplo con --zones cloud,edge1:
affinity-yamls/
  no-region-specified/
    cloud/
      no-subzone-specified/
        api.yaml
    edge1/
      no-subzone-specified/
        api.yaml
Cada subcarpeta = combinacion unica.</a:t>
            </a:r>
          </a:p>
        </p:txBody>
      </p:sp>
      <p:sp>
        <p:nvSpPr>
          <p:cNvPr id="8" name="Rectangle 7"/>
          <p:cNvSpPr/>
          <p:nvPr/>
        </p:nvSpPr>
        <p:spPr>
          <a:xfrm>
            <a:off x="6492240" y="3886200"/>
            <a:ext cx="2697480" cy="25603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Defaults 'no-X-specified'</a:t>
            </a:r>
          </a:p>
          <a:p>
            <a:r>
              <a:rPr sz="1000">
                <a:solidFill>
                  <a:srgbClr val="555555"/>
                </a:solidFill>
                <a:latin typeface="Courier New"/>
              </a:rPr>
              <a:t>Si el usuario no pasa --regions,
el bucle corre UNA iteracion
con region='no-region-specified'.
add_affinity_spec verifica si el
valor es el sentinel y en ese caso
NO agrega esa expresion a
matchExpressions ni al suffix.</a:t>
            </a:r>
          </a:p>
        </p:txBody>
      </p:sp>
      <p:sp>
        <p:nvSpPr>
          <p:cNvPr id="9" name="Rectangle 8"/>
          <p:cNvSpPr/>
          <p:nvPr/>
        </p:nvSpPr>
        <p:spPr>
          <a:xfrm>
            <a:off x="9326880" y="3886200"/>
            <a:ext cx="2697480" cy="25603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Flujo completo CLI</a:t>
            </a:r>
          </a:p>
          <a:p>
            <a:r>
              <a:rPr sz="1000">
                <a:solidFill>
                  <a:srgbClr val="555555"/>
                </a:solidFill>
                <a:latin typeface="Courier New"/>
              </a:rPr>
              <a:t>Ejemplo:
--zones cloud,edge1
1. Crea out/no-region/cloud/no-subzone/
2. Crea out/no-region/edge1/no-subzone/
3. Por cada .yaml en --in:
   - add_affinity(in, out/NR/cloud/NS/f)
     suffix='-cloud' → Deployment-cloud
   - add_affinity(in, out/NR/edge1/NS/f)
     suffix='-edge1' → Deployment-edge1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Estructura affinity generada — K8s nodeAffinity</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Como queda el spec.affinity en el Deployment de salida</a:t>
            </a:r>
          </a:p>
        </p:txBody>
      </p:sp>
      <p:sp>
        <p:nvSpPr>
          <p:cNvPr id="5" name="Rectangle 4"/>
          <p:cNvSpPr/>
          <p:nvPr/>
        </p:nvSpPr>
        <p:spPr>
          <a:xfrm>
            <a:off x="365760" y="1143000"/>
            <a:ext cx="548640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Deployment generado para zone=cloud</a:t>
            </a:r>
          </a:p>
          <a:p>
            <a:r>
              <a:rPr sz="1100">
                <a:solidFill>
                  <a:srgbClr val="CBD3F0"/>
                </a:solidFill>
                <a:latin typeface="Courier New"/>
              </a:rPr>
              <a:t>apiVersion: apps/v1</a:t>
            </a:r>
          </a:p>
          <a:p>
            <a:r>
              <a:rPr sz="1100">
                <a:solidFill>
                  <a:srgbClr val="CBD3F0"/>
                </a:solidFill>
                <a:latin typeface="Courier New"/>
              </a:rPr>
              <a:t>kind: Deployment</a:t>
            </a:r>
          </a:p>
          <a:p>
            <a:r>
              <a:rPr sz="1100">
                <a:solidFill>
                  <a:srgbClr val="CBD3F0"/>
                </a:solidFill>
                <a:latin typeface="Courier New"/>
              </a:rPr>
              <a:t>metadata:</a:t>
            </a:r>
          </a:p>
          <a:p>
            <a:r>
              <a:rPr sz="1100">
                <a:solidFill>
                  <a:srgbClr val="F9E2AF"/>
                </a:solidFill>
                <a:latin typeface="Courier New"/>
              </a:rPr>
              <a:t>  name: api-cloud         # sufijo -cloud agregado</a:t>
            </a:r>
          </a:p>
          <a:p>
            <a:r>
              <a:rPr sz="1100">
                <a:solidFill>
                  <a:srgbClr val="CBD3F0"/>
                </a:solidFill>
                <a:latin typeface="Courier New"/>
              </a:rPr>
              <a:t>spec:</a:t>
            </a:r>
          </a:p>
          <a:p>
            <a:r>
              <a:rPr sz="1100">
                <a:solidFill>
                  <a:srgbClr val="CBD3F0"/>
                </a:solidFill>
                <a:latin typeface="Courier New"/>
              </a:rPr>
              <a:t>  selector:</a:t>
            </a:r>
          </a:p>
          <a:p>
            <a:r>
              <a:rPr sz="1100">
                <a:solidFill>
                  <a:srgbClr val="CBD3F0"/>
                </a:solidFill>
                <a:latin typeface="Courier New"/>
              </a:rPr>
              <a:t>    matchLabels:</a:t>
            </a:r>
          </a:p>
          <a:p>
            <a:r>
              <a:rPr sz="1100">
                <a:solidFill>
                  <a:srgbClr val="CBD3F0"/>
                </a:solidFill>
                <a:latin typeface="Courier New"/>
              </a:rPr>
              <a:t>      app: api</a:t>
            </a:r>
          </a:p>
          <a:p>
            <a:r>
              <a:rPr sz="1100">
                <a:solidFill>
                  <a:srgbClr val="F9E2AF"/>
                </a:solidFill>
                <a:latin typeface="Courier New"/>
              </a:rPr>
              <a:t>      app-t: api-cloud    # nueva etiqueta app-t</a:t>
            </a:r>
          </a:p>
          <a:p>
            <a:r>
              <a:rPr sz="1100">
                <a:solidFill>
                  <a:srgbClr val="CBD3F0"/>
                </a:solidFill>
                <a:latin typeface="Courier New"/>
              </a:rPr>
              <a:t>  template:</a:t>
            </a:r>
          </a:p>
          <a:p>
            <a:r>
              <a:rPr sz="1100">
                <a:solidFill>
                  <a:srgbClr val="CBD3F0"/>
                </a:solidFill>
                <a:latin typeface="Courier New"/>
              </a:rPr>
              <a:t>    metadata:</a:t>
            </a:r>
          </a:p>
          <a:p>
            <a:r>
              <a:rPr sz="1100">
                <a:solidFill>
                  <a:srgbClr val="CBD3F0"/>
                </a:solidFill>
                <a:latin typeface="Courier New"/>
              </a:rPr>
              <a:t>      labels:</a:t>
            </a:r>
          </a:p>
          <a:p>
            <a:r>
              <a:rPr sz="1100">
                <a:solidFill>
                  <a:srgbClr val="CBD3F0"/>
                </a:solidFill>
                <a:latin typeface="Courier New"/>
              </a:rPr>
              <a:t>        app: api</a:t>
            </a:r>
          </a:p>
          <a:p>
            <a:r>
              <a:rPr sz="1100">
                <a:solidFill>
                  <a:srgbClr val="F9E2AF"/>
                </a:solidFill>
                <a:latin typeface="Courier New"/>
              </a:rPr>
              <a:t>        app-t: api-cloud  # misma etiqueta en pod</a:t>
            </a:r>
          </a:p>
          <a:p>
            <a:r>
              <a:rPr sz="1100">
                <a:solidFill>
                  <a:srgbClr val="CBD3F0"/>
                </a:solidFill>
                <a:latin typeface="Courier New"/>
              </a:rPr>
              <a:t>    spec:</a:t>
            </a:r>
          </a:p>
          <a:p>
            <a:r>
              <a:rPr sz="1100">
                <a:solidFill>
                  <a:srgbClr val="F9E2AF"/>
                </a:solidFill>
                <a:latin typeface="Courier New"/>
              </a:rPr>
              <a:t>      affinity:</a:t>
            </a:r>
          </a:p>
          <a:p>
            <a:r>
              <a:rPr sz="1100">
                <a:solidFill>
                  <a:srgbClr val="F9E2AF"/>
                </a:solidFill>
                <a:latin typeface="Courier New"/>
              </a:rPr>
              <a:t>        nodeAffinity:</a:t>
            </a:r>
          </a:p>
          <a:p>
            <a:r>
              <a:rPr sz="1100">
                <a:solidFill>
                  <a:srgbClr val="CBD3F0"/>
                </a:solidFill>
                <a:latin typeface="Courier New"/>
              </a:rPr>
              <a:t>          requiredDuringSchedulingIgnoredDuringExecution:</a:t>
            </a:r>
          </a:p>
          <a:p>
            <a:r>
              <a:rPr sz="1100">
                <a:solidFill>
                  <a:srgbClr val="CBD3F0"/>
                </a:solidFill>
                <a:latin typeface="Courier New"/>
              </a:rPr>
              <a:t>            nodeSelectorTerms:</a:t>
            </a:r>
          </a:p>
          <a:p>
            <a:r>
              <a:rPr sz="1100">
                <a:solidFill>
                  <a:srgbClr val="CBD3F0"/>
                </a:solidFill>
                <a:latin typeface="Courier New"/>
              </a:rPr>
              <a:t>            - matchExpressions:</a:t>
            </a:r>
          </a:p>
          <a:p>
            <a:r>
              <a:rPr sz="1100">
                <a:solidFill>
                  <a:srgbClr val="F9E2AF"/>
                </a:solidFill>
                <a:latin typeface="Courier New"/>
              </a:rPr>
              <a:t>              - key: topology.kubernetes.io/zone</a:t>
            </a:r>
          </a:p>
          <a:p>
            <a:r>
              <a:rPr sz="1100">
                <a:solidFill>
                  <a:srgbClr val="F9E2AF"/>
                </a:solidFill>
                <a:latin typeface="Courier New"/>
              </a:rPr>
              <a:t>                operator: In</a:t>
            </a:r>
          </a:p>
          <a:p>
            <a:r>
              <a:rPr sz="1100">
                <a:solidFill>
                  <a:srgbClr val="CBD3F0"/>
                </a:solidFill>
                <a:latin typeface="Courier New"/>
              </a:rPr>
              <a:t>                values:</a:t>
            </a:r>
          </a:p>
          <a:p>
            <a:r>
              <a:rPr sz="1100">
                <a:solidFill>
                  <a:srgbClr val="F9E2AF"/>
                </a:solidFill>
                <a:latin typeface="Courier New"/>
              </a:rPr>
              <a:t>                - cloud</a:t>
            </a:r>
          </a:p>
        </p:txBody>
      </p:sp>
      <p:sp>
        <p:nvSpPr>
          <p:cNvPr id="6" name="Rectangle 5"/>
          <p:cNvSpPr/>
          <p:nvPr/>
        </p:nvSpPr>
        <p:spPr>
          <a:xfrm>
            <a:off x="6126480" y="1143000"/>
            <a:ext cx="2834640" cy="25603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requiredDuring... (HARD)</a:t>
            </a:r>
          </a:p>
          <a:p>
            <a:r>
              <a:rPr sz="1100">
                <a:solidFill>
                  <a:srgbClr val="555555"/>
                </a:solidFill>
              </a:rPr>
              <a:t>Si ningun nodo tiene label
topology.kubernetes.io/zone=cloud,
el pod queda en estado Pending (no se programa).
Para una restriccion 'suave' (preferida) se usaria:
preferredDuringSchedulingIgnoredDuringExecution
con un campo 'weight' (1-100).</a:t>
            </a:r>
          </a:p>
        </p:txBody>
      </p:sp>
      <p:sp>
        <p:nvSpPr>
          <p:cNvPr id="7" name="Rectangle 6"/>
          <p:cNvSpPr/>
          <p:nvPr/>
        </p:nvSpPr>
        <p:spPr>
          <a:xfrm>
            <a:off x="9098280" y="1143000"/>
            <a:ext cx="2834640" cy="25603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operator: In</a:t>
            </a:r>
          </a:p>
          <a:p>
            <a:r>
              <a:rPr sz="1100">
                <a:solidFill>
                  <a:srgbClr val="555555"/>
                </a:solidFill>
              </a:rPr>
              <a:t>Operadores disponibles en matchExpressions:
In: el label tiene uno de los values
NotIn: el label NO tiene ninguno
Exists: el label existe (sin importar valor)
DoesNotExist: el label no existe
Gt / Lt: mayor / menor que (valores numericos)
El script solo usa 'In' (con un valor).</a:t>
            </a:r>
          </a:p>
        </p:txBody>
      </p:sp>
      <p:sp>
        <p:nvSpPr>
          <p:cNvPr id="8" name="Rectangle 7"/>
          <p:cNvSpPr/>
          <p:nvPr/>
        </p:nvSpPr>
        <p:spPr>
          <a:xfrm>
            <a:off x="6126480" y="3886200"/>
            <a:ext cx="2834640" cy="25603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app-t label</a:t>
            </a:r>
          </a:p>
          <a:p>
            <a:r>
              <a:rPr sz="1100">
                <a:solidFill>
                  <a:srgbClr val="555555"/>
                </a:solidFill>
              </a:rPr>
              <a:t>Sin app-t, dos Deployments
'api-cloud' y 'api-edge1'
tendrian selector app=api y adoptarian
los mismos pods (conflicto de ownership).
app-t=api-cloud / app-t=api-edge1
garantizan que cada Deployment gestiona
solo sus propios pods.</a:t>
            </a:r>
          </a:p>
        </p:txBody>
      </p:sp>
      <p:sp>
        <p:nvSpPr>
          <p:cNvPr id="9" name="Rectangle 8"/>
          <p:cNvSpPr/>
          <p:nvPr/>
        </p:nvSpPr>
        <p:spPr>
          <a:xfrm>
            <a:off x="9098280" y="3886200"/>
            <a:ext cx="2834640" cy="25603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IgnoredDuringExecution</a:t>
            </a:r>
          </a:p>
          <a:p>
            <a:r>
              <a:rPr sz="1100">
                <a:solidFill>
                  <a:srgbClr val="555555"/>
                </a:solidFill>
              </a:rPr>
              <a:t>Si el label del nodo cambia DESPUES
de que el pod ya esta corriendo,
el pod NO es desalojado.
Para desalojar al cambiar de nodo se usaria
requiredDuringScheduling
RequiredDuringExecution
(feature alpha en K8s, no usada aqui).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Comparativa: 3 scripts Add-on — patron comun, propositos distintos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create-hpa.py / create-destination-rule.py / create-affinity-yamls.py</a:t>
            </a:r>
          </a:p>
        </p:txBody>
      </p:sp>
      <p:sp>
        <p:nvSpPr>
          <p:cNvPr id="5" name="Rectangle 4"/>
          <p:cNvSpPr/>
          <p:nvPr/>
        </p:nvSpPr>
        <p:spPr>
          <a:xfrm>
            <a:off x="274320" y="1188720"/>
            <a:ext cx="2286000" cy="43891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Aspecto</a:t>
            </a:r>
          </a:p>
        </p:txBody>
      </p:sp>
      <p:sp>
        <p:nvSpPr>
          <p:cNvPr id="6" name="Rectangle 5"/>
          <p:cNvSpPr/>
          <p:nvPr/>
        </p:nvSpPr>
        <p:spPr>
          <a:xfrm>
            <a:off x="2560320" y="1188720"/>
            <a:ext cx="2926080" cy="438912"/>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create-hpa.py</a:t>
            </a:r>
          </a:p>
        </p:txBody>
      </p:sp>
      <p:sp>
        <p:nvSpPr>
          <p:cNvPr id="7" name="Rectangle 6"/>
          <p:cNvSpPr/>
          <p:nvPr/>
        </p:nvSpPr>
        <p:spPr>
          <a:xfrm>
            <a:off x="5486400" y="1188720"/>
            <a:ext cx="3291840" cy="43891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create-dest-rule.py</a:t>
            </a:r>
          </a:p>
        </p:txBody>
      </p:sp>
      <p:sp>
        <p:nvSpPr>
          <p:cNvPr id="8" name="Rectangle 7"/>
          <p:cNvSpPr/>
          <p:nvPr/>
        </p:nvSpPr>
        <p:spPr>
          <a:xfrm>
            <a:off x="8778240" y="1188720"/>
            <a:ext cx="3291840" cy="438912"/>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create-affinity.py</a:t>
            </a:r>
          </a:p>
        </p:txBody>
      </p:sp>
      <p:sp>
        <p:nvSpPr>
          <p:cNvPr id="9" name="Rectangle 8"/>
          <p:cNvSpPr/>
          <p:nvPr/>
        </p:nvSpPr>
        <p:spPr>
          <a:xfrm>
            <a:off x="274320" y="1627632"/>
            <a:ext cx="2286000" cy="612648"/>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Recurso K8s generado</a:t>
            </a:r>
          </a:p>
        </p:txBody>
      </p:sp>
      <p:sp>
        <p:nvSpPr>
          <p:cNvPr id="10" name="Rectangle 9"/>
          <p:cNvSpPr/>
          <p:nvPr/>
        </p:nvSpPr>
        <p:spPr>
          <a:xfrm>
            <a:off x="2560320" y="1627632"/>
            <a:ext cx="2926080" cy="612648"/>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HPA</a:t>
            </a:r>
          </a:p>
        </p:txBody>
      </p:sp>
      <p:sp>
        <p:nvSpPr>
          <p:cNvPr id="11" name="Rectangle 10"/>
          <p:cNvSpPr/>
          <p:nvPr/>
        </p:nvSpPr>
        <p:spPr>
          <a:xfrm>
            <a:off x="5486400" y="1627632"/>
            <a:ext cx="3291840" cy="612648"/>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DestinationRule (Istio)</a:t>
            </a:r>
          </a:p>
        </p:txBody>
      </p:sp>
      <p:sp>
        <p:nvSpPr>
          <p:cNvPr id="12" name="Rectangle 11"/>
          <p:cNvSpPr/>
          <p:nvPr/>
        </p:nvSpPr>
        <p:spPr>
          <a:xfrm>
            <a:off x="8778240" y="1627632"/>
            <a:ext cx="3291840" cy="612648"/>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Deployment con affinity</a:t>
            </a:r>
          </a:p>
        </p:txBody>
      </p:sp>
      <p:sp>
        <p:nvSpPr>
          <p:cNvPr id="13" name="Rectangle 12"/>
          <p:cNvSpPr/>
          <p:nvPr/>
        </p:nvSpPr>
        <p:spPr>
          <a:xfrm>
            <a:off x="274320" y="2286000"/>
            <a:ext cx="2286000" cy="612648"/>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Kind buscado</a:t>
            </a:r>
          </a:p>
        </p:txBody>
      </p:sp>
      <p:sp>
        <p:nvSpPr>
          <p:cNvPr id="14" name="Rectangle 13"/>
          <p:cNvSpPr/>
          <p:nvPr/>
        </p:nvSpPr>
        <p:spPr>
          <a:xfrm>
            <a:off x="2560320" y="2286000"/>
            <a:ext cx="2926080" cy="612648"/>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Deployment</a:t>
            </a:r>
          </a:p>
        </p:txBody>
      </p:sp>
      <p:sp>
        <p:nvSpPr>
          <p:cNvPr id="15" name="Rectangle 14"/>
          <p:cNvSpPr/>
          <p:nvPr/>
        </p:nvSpPr>
        <p:spPr>
          <a:xfrm>
            <a:off x="5486400" y="2286000"/>
            <a:ext cx="3291840" cy="612648"/>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Service</a:t>
            </a:r>
          </a:p>
        </p:txBody>
      </p:sp>
      <p:sp>
        <p:nvSpPr>
          <p:cNvPr id="16" name="Rectangle 15"/>
          <p:cNvSpPr/>
          <p:nvPr/>
        </p:nvSpPr>
        <p:spPr>
          <a:xfrm>
            <a:off x="8778240" y="2286000"/>
            <a:ext cx="3291840" cy="612648"/>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Deployment</a:t>
            </a:r>
          </a:p>
        </p:txBody>
      </p:sp>
      <p:sp>
        <p:nvSpPr>
          <p:cNvPr id="17" name="Rectangle 16"/>
          <p:cNvSpPr/>
          <p:nvPr/>
        </p:nvSpPr>
        <p:spPr>
          <a:xfrm>
            <a:off x="274320" y="2944368"/>
            <a:ext cx="2286000" cy="612648"/>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Campo inyectado</a:t>
            </a:r>
          </a:p>
        </p:txBody>
      </p:sp>
      <p:sp>
        <p:nvSpPr>
          <p:cNvPr id="18" name="Rectangle 17"/>
          <p:cNvSpPr/>
          <p:nvPr/>
        </p:nvSpPr>
        <p:spPr>
          <a:xfrm>
            <a:off x="2560320" y="2944368"/>
            <a:ext cx="2926080" cy="612648"/>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scaleTargetRef.name
+namespace</a:t>
            </a:r>
          </a:p>
        </p:txBody>
      </p:sp>
      <p:sp>
        <p:nvSpPr>
          <p:cNvPr id="19" name="Rectangle 18"/>
          <p:cNvSpPr/>
          <p:nvPr/>
        </p:nvSpPr>
        <p:spPr>
          <a:xfrm>
            <a:off x="5486400" y="2944368"/>
            <a:ext cx="3291840" cy="612648"/>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spec.host
+namespace</a:t>
            </a:r>
          </a:p>
        </p:txBody>
      </p:sp>
      <p:sp>
        <p:nvSpPr>
          <p:cNvPr id="20" name="Rectangle 19"/>
          <p:cNvSpPr/>
          <p:nvPr/>
        </p:nvSpPr>
        <p:spPr>
          <a:xfrm>
            <a:off x="8778240" y="2944368"/>
            <a:ext cx="3291840" cy="612648"/>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spec.template.spec.affinity
+nombre+app-t label</a:t>
            </a:r>
          </a:p>
        </p:txBody>
      </p:sp>
      <p:sp>
        <p:nvSpPr>
          <p:cNvPr id="21" name="Rectangle 20"/>
          <p:cNvSpPr/>
          <p:nvPr/>
        </p:nvSpPr>
        <p:spPr>
          <a:xfrm>
            <a:off x="274320" y="3602736"/>
            <a:ext cx="2286000" cy="612648"/>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Plantilla base</a:t>
            </a:r>
          </a:p>
        </p:txBody>
      </p:sp>
      <p:sp>
        <p:nvSpPr>
          <p:cNvPr id="22" name="Rectangle 21"/>
          <p:cNvSpPr/>
          <p:nvPr/>
        </p:nvSpPr>
        <p:spPr>
          <a:xfrm>
            <a:off x="2560320" y="3602736"/>
            <a:ext cx="2926080" cy="612648"/>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hpa-template.yaml</a:t>
            </a:r>
          </a:p>
        </p:txBody>
      </p:sp>
      <p:sp>
        <p:nvSpPr>
          <p:cNvPr id="23" name="Rectangle 22"/>
          <p:cNvSpPr/>
          <p:nvPr/>
        </p:nvSpPr>
        <p:spPr>
          <a:xfrm>
            <a:off x="5486400" y="3602736"/>
            <a:ext cx="3291840" cy="612648"/>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destination-rule-
template.yaml</a:t>
            </a:r>
          </a:p>
        </p:txBody>
      </p:sp>
      <p:sp>
        <p:nvSpPr>
          <p:cNvPr id="24" name="Rectangle 23"/>
          <p:cNvSpPr/>
          <p:nvPr/>
        </p:nvSpPr>
        <p:spPr>
          <a:xfrm>
            <a:off x="8778240" y="3602736"/>
            <a:ext cx="3291840" cy="612648"/>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Ninguna
(construye dict Python)</a:t>
            </a:r>
          </a:p>
        </p:txBody>
      </p:sp>
      <p:sp>
        <p:nvSpPr>
          <p:cNvPr id="25" name="Rectangle 24"/>
          <p:cNvSpPr/>
          <p:nvPr/>
        </p:nvSpPr>
        <p:spPr>
          <a:xfrm>
            <a:off x="274320" y="4261104"/>
            <a:ext cx="2286000" cy="612648"/>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Salida: 1 archivo por</a:t>
            </a:r>
          </a:p>
        </p:txBody>
      </p:sp>
      <p:sp>
        <p:nvSpPr>
          <p:cNvPr id="26" name="Rectangle 25"/>
          <p:cNvSpPr/>
          <p:nvPr/>
        </p:nvSpPr>
        <p:spPr>
          <a:xfrm>
            <a:off x="2560320" y="4261104"/>
            <a:ext cx="2926080" cy="612648"/>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Deployment</a:t>
            </a:r>
          </a:p>
        </p:txBody>
      </p:sp>
      <p:sp>
        <p:nvSpPr>
          <p:cNvPr id="27" name="Rectangle 26"/>
          <p:cNvSpPr/>
          <p:nvPr/>
        </p:nvSpPr>
        <p:spPr>
          <a:xfrm>
            <a:off x="5486400" y="4261104"/>
            <a:ext cx="3291840" cy="612648"/>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Service</a:t>
            </a:r>
          </a:p>
        </p:txBody>
      </p:sp>
      <p:sp>
        <p:nvSpPr>
          <p:cNvPr id="28" name="Rectangle 27"/>
          <p:cNvSpPr/>
          <p:nvPr/>
        </p:nvSpPr>
        <p:spPr>
          <a:xfrm>
            <a:off x="8778240" y="4261104"/>
            <a:ext cx="3291840" cy="612648"/>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Deployment x combinacion
region/zone/subzone</a:t>
            </a:r>
          </a:p>
        </p:txBody>
      </p:sp>
      <p:sp>
        <p:nvSpPr>
          <p:cNvPr id="29" name="Rectangle 28"/>
          <p:cNvSpPr/>
          <p:nvPr/>
        </p:nvSpPr>
        <p:spPr>
          <a:xfrm>
            <a:off x="274320" y="4919472"/>
            <a:ext cx="2286000" cy="612648"/>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Herramienta de escritura</a:t>
            </a:r>
          </a:p>
        </p:txBody>
      </p:sp>
      <p:sp>
        <p:nvSpPr>
          <p:cNvPr id="30" name="Rectangle 29"/>
          <p:cNvSpPr/>
          <p:nvPr/>
        </p:nvSpPr>
        <p:spPr>
          <a:xfrm>
            <a:off x="2560320" y="4919472"/>
            <a:ext cx="2926080" cy="612648"/>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yaml.dump
(1 documento)</a:t>
            </a:r>
          </a:p>
        </p:txBody>
      </p:sp>
      <p:sp>
        <p:nvSpPr>
          <p:cNvPr id="31" name="Rectangle 30"/>
          <p:cNvSpPr/>
          <p:nvPr/>
        </p:nvSpPr>
        <p:spPr>
          <a:xfrm>
            <a:off x="5486400" y="4919472"/>
            <a:ext cx="3291840" cy="612648"/>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yaml.dump
(1 documento)</a:t>
            </a:r>
          </a:p>
        </p:txBody>
      </p:sp>
      <p:sp>
        <p:nvSpPr>
          <p:cNvPr id="32" name="Rectangle 31"/>
          <p:cNvSpPr/>
          <p:nvPr/>
        </p:nvSpPr>
        <p:spPr>
          <a:xfrm>
            <a:off x="8778240" y="4919472"/>
            <a:ext cx="3291840" cy="612648"/>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yaml.dump_all
(multi-documento)</a:t>
            </a:r>
          </a:p>
        </p:txBody>
      </p:sp>
      <p:sp>
        <p:nvSpPr>
          <p:cNvPr id="33" name="Rectangle 32"/>
          <p:cNvSpPr/>
          <p:nvPr/>
        </p:nvSpPr>
        <p:spPr>
          <a:xfrm>
            <a:off x="274320" y="5577840"/>
            <a:ext cx="2286000" cy="612648"/>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Requiere addon K8s</a:t>
            </a:r>
          </a:p>
        </p:txBody>
      </p:sp>
      <p:sp>
        <p:nvSpPr>
          <p:cNvPr id="34" name="Rectangle 33"/>
          <p:cNvSpPr/>
          <p:nvPr/>
        </p:nvSpPr>
        <p:spPr>
          <a:xfrm>
            <a:off x="2560320" y="5577840"/>
            <a:ext cx="2926080" cy="612648"/>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metrics-server</a:t>
            </a:r>
          </a:p>
        </p:txBody>
      </p:sp>
      <p:sp>
        <p:nvSpPr>
          <p:cNvPr id="35" name="Rectangle 34"/>
          <p:cNvSpPr/>
          <p:nvPr/>
        </p:nvSpPr>
        <p:spPr>
          <a:xfrm>
            <a:off x="5486400" y="5577840"/>
            <a:ext cx="3291840" cy="612648"/>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Istio CRDs</a:t>
            </a:r>
          </a:p>
        </p:txBody>
      </p:sp>
      <p:sp>
        <p:nvSpPr>
          <p:cNvPr id="36" name="Rectangle 35"/>
          <p:cNvSpPr/>
          <p:nvPr/>
        </p:nvSpPr>
        <p:spPr>
          <a:xfrm>
            <a:off x="8778240" y="5577840"/>
            <a:ext cx="3291840" cy="612648"/>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Solo K8s labels en nodos</a:t>
            </a:r>
          </a:p>
        </p:txBody>
      </p:sp>
      <p:sp>
        <p:nvSpPr>
          <p:cNvPr id="37" name="Rectangle 36"/>
          <p:cNvSpPr/>
          <p:nvPr/>
        </p:nvSpPr>
        <p:spPr>
          <a:xfrm>
            <a:off x="274320" y="6236208"/>
            <a:ext cx="2286000" cy="612648"/>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Proposito en mubench</a:t>
            </a:r>
          </a:p>
        </p:txBody>
      </p:sp>
      <p:sp>
        <p:nvSpPr>
          <p:cNvPr id="38" name="Rectangle 37"/>
          <p:cNvSpPr/>
          <p:nvPr/>
        </p:nvSpPr>
        <p:spPr>
          <a:xfrm>
            <a:off x="2560320" y="6236208"/>
            <a:ext cx="2926080" cy="612648"/>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Escalar pods segun
use de CPU</a:t>
            </a:r>
          </a:p>
        </p:txBody>
      </p:sp>
      <p:sp>
        <p:nvSpPr>
          <p:cNvPr id="39" name="Rectangle 38"/>
          <p:cNvSpPr/>
          <p:nvPr/>
        </p:nvSpPr>
        <p:spPr>
          <a:xfrm>
            <a:off x="5486400" y="6236208"/>
            <a:ext cx="3291840" cy="612648"/>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LB + circuit breaker
dentro del mesh</a:t>
            </a:r>
          </a:p>
        </p:txBody>
      </p:sp>
      <p:sp>
        <p:nvSpPr>
          <p:cNvPr id="40" name="Rectangle 39"/>
          <p:cNvSpPr/>
          <p:nvPr/>
        </p:nvSpPr>
        <p:spPr>
          <a:xfrm>
            <a:off x="8778240" y="6236208"/>
            <a:ext cx="3291840" cy="612648"/>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Simular restricciones
topologicas cloud/edge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ServiceCell/ — El corazón de cada microservicio simulado</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CellController-mp.py · ExternalServiceExecutor.py · InternalServiceExecutor.py · gRPC · Dockerfile · Gunicorn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ServiceCell/ — El corazón de cada microservicio simulado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CellController-mp.py · ExternalServiceExecutor.py · InternalServiceExecutor.py · mub.proto · Dockerfile</a:t>
            </a:r>
          </a:p>
        </p:txBody>
      </p:sp>
      <p:sp>
        <p:nvSpPr>
          <p:cNvPr id="5" name="Rectangle 4"/>
          <p:cNvSpPr/>
          <p:nvPr/>
        </p:nvSpPr>
        <p:spPr>
          <a:xfrm>
            <a:off x="365760" y="1143000"/>
            <a:ext cx="5577840" cy="24688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ServiceCell: qué es y por qué importa ──────────────────────────</a:t>
            </a:r>
          </a:p>
          <a:p>
            <a:r>
              <a:rPr sz="1100">
                <a:solidFill>
                  <a:srgbClr val="F9E2AF"/>
                </a:solidFill>
                <a:latin typeface="Courier New"/>
              </a:rPr>
              <a:t># ServiceCell es la IMAGEN DOCKER base del proyecto.</a:t>
            </a:r>
          </a:p>
          <a:p>
            <a:r>
              <a:rPr sz="1100">
                <a:solidFill>
                  <a:srgbClr val="CBD3F0"/>
                </a:solidFill>
                <a:latin typeface="Courier New"/>
              </a:rPr>
              <a:t># Cada pod simulado (s0, s1, sdb1, auth, api, sdb-data) es</a:t>
            </a:r>
          </a:p>
          <a:p>
            <a:r>
              <a:rPr sz="1100">
                <a:solidFill>
                  <a:srgbClr val="CBD3F0"/>
                </a:solidFill>
                <a:latin typeface="Courier New"/>
              </a:rPr>
              <a:t># UNA INSTANCIA de msvcbench/microservice:latest</a:t>
            </a:r>
          </a:p>
          <a:p>
            <a:r>
              <a:rPr sz="1100">
                <a:solidFill>
                  <a:srgbClr val="F9E2AF"/>
                </a:solidFill>
                <a:latin typeface="Courier New"/>
              </a:rPr>
              <a:t># que corre: CellController-mp.py + Gunicorn (multiprocess)</a:t>
            </a:r>
          </a:p>
          <a:p>
            <a:r>
              <a:rPr sz="1100">
                <a:solidFill>
                  <a:srgbClr val="CBD3F0"/>
                </a:solidFill>
                <a:latin typeface="Courier New"/>
              </a:rPr>
              <a:t>#</a:t>
            </a:r>
          </a:p>
          <a:p>
            <a:r>
              <a:rPr sz="1100">
                <a:solidFill>
                  <a:srgbClr val="CBD3F0"/>
                </a:solidFill>
                <a:latin typeface="Courier New"/>
              </a:rPr>
              <a:t># Responsabilidades:</a:t>
            </a:r>
          </a:p>
          <a:p>
            <a:r>
              <a:rPr sz="1100">
                <a:solidFill>
                  <a:srgbClr val="CBD3F0"/>
                </a:solidFill>
                <a:latin typeface="Courier New"/>
              </a:rPr>
              <a:t>#   1. Leer workmodel.json (configuración del nodo en el ServiceGraph)</a:t>
            </a:r>
          </a:p>
          <a:p>
            <a:r>
              <a:rPr sz="1100">
                <a:solidFill>
                  <a:srgbClr val="CBD3F0"/>
                </a:solidFill>
                <a:latin typeface="Courier New"/>
              </a:rPr>
              <a:t>#   2. Exponer /api/v1 (REST) o gRPC port 51313</a:t>
            </a:r>
          </a:p>
          <a:p>
            <a:r>
              <a:rPr sz="1100">
                <a:solidFill>
                  <a:srgbClr val="F9E2AF"/>
                </a:solidFill>
                <a:latin typeface="Courier New"/>
              </a:rPr>
              <a:t>#   3. Ejecutar internal_service() → CPU/bandwidth simulation</a:t>
            </a:r>
          </a:p>
          <a:p>
            <a:r>
              <a:rPr sz="1100">
                <a:solidFill>
                  <a:srgbClr val="CBD3F0"/>
                </a:solidFill>
                <a:latin typeface="Courier New"/>
              </a:rPr>
              <a:t>#   4. Llamar external_services() → encadenar siguientes nodos</a:t>
            </a:r>
          </a:p>
          <a:p>
            <a:r>
              <a:rPr sz="1100">
                <a:solidFill>
                  <a:srgbClr val="CBD3F0"/>
                </a:solidFill>
                <a:latin typeface="Courier New"/>
              </a:rPr>
              <a:t>#   5. Exportar métricas Prometheus en /metrics</a:t>
            </a:r>
          </a:p>
          <a:p>
            <a:r>
              <a:rPr sz="1100">
                <a:solidFill>
                  <a:srgbClr val="CBD3F0"/>
                </a:solidFill>
                <a:latin typeface="Courier New"/>
              </a:rPr>
              <a:t>#</a:t>
            </a:r>
          </a:p>
          <a:p>
            <a:r>
              <a:rPr sz="1100">
                <a:solidFill>
                  <a:srgbClr val="CBD3F0"/>
                </a:solidFill>
                <a:latin typeface="Courier New"/>
              </a:rPr>
              <a:t># Imagen Docker:</a:t>
            </a:r>
          </a:p>
          <a:p>
            <a:r>
              <a:rPr sz="1100">
                <a:solidFill>
                  <a:srgbClr val="F9E2AF"/>
                </a:solidFill>
                <a:latin typeface="Courier New"/>
              </a:rPr>
              <a:t>FROM python:3.8-slim-buster</a:t>
            </a:r>
          </a:p>
          <a:p>
            <a:r>
              <a:rPr sz="1100">
                <a:solidFill>
                  <a:srgbClr val="CBD3F0"/>
                </a:solidFill>
                <a:latin typeface="Courier New"/>
              </a:rPr>
              <a:t>COPY CellController-mp.py ExternalServiceExecutor.py \</a:t>
            </a:r>
          </a:p>
          <a:p>
            <a:r>
              <a:rPr sz="1100">
                <a:solidFill>
                  <a:srgbClr val="CBD3F0"/>
                </a:solidFill>
                <a:latin typeface="Courier New"/>
              </a:rPr>
              <a:t>     InternalServiceExecutor.py mub.proto /app/</a:t>
            </a:r>
          </a:p>
          <a:p>
            <a:r>
              <a:rPr sz="1100">
                <a:solidFill>
                  <a:srgbClr val="CBD3F0"/>
                </a:solidFill>
                <a:latin typeface="Courier New"/>
              </a:rPr>
              <a:t>EXPOSE 8080        # REST/HTTP</a:t>
            </a:r>
          </a:p>
          <a:p>
            <a:r>
              <a:rPr sz="1100">
                <a:solidFill>
                  <a:srgbClr val="CBD3F0"/>
                </a:solidFill>
                <a:latin typeface="Courier New"/>
              </a:rPr>
              <a:t>EXPOSE 51313       # gRPC</a:t>
            </a:r>
          </a:p>
          <a:p>
            <a:r>
              <a:rPr sz="1100">
                <a:solidFill>
                  <a:srgbClr val="CBD3F0"/>
                </a:solidFill>
                <a:latin typeface="Courier New"/>
              </a:rPr>
              <a:t>CMD ["/bin/bash", "start-mp.sh"]  # → CellController-mp.py</a:t>
            </a:r>
          </a:p>
        </p:txBody>
      </p:sp>
      <p:sp>
        <p:nvSpPr>
          <p:cNvPr id="6" name="Rectangle 5"/>
          <p:cNvSpPr/>
          <p:nvPr/>
        </p:nvSpPr>
        <p:spPr>
          <a:xfrm>
            <a:off x="365760" y="3703320"/>
            <a:ext cx="5577840" cy="30632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ENV VARS requeridas por cada pod (de workmodel.json / Deployment) ──</a:t>
            </a:r>
          </a:p>
          <a:p>
            <a:r>
              <a:rPr sz="1100">
                <a:solidFill>
                  <a:srgbClr val="F9E2AF"/>
                </a:solidFill>
                <a:latin typeface="Courier New"/>
              </a:rPr>
              <a:t>APP=s0              # Nombre del servicio (clave en workmodel.json)</a:t>
            </a:r>
          </a:p>
          <a:p>
            <a:r>
              <a:rPr sz="1100">
                <a:solidFill>
                  <a:srgbClr val="F9E2AF"/>
                </a:solidFill>
                <a:latin typeface="Courier New"/>
              </a:rPr>
              <a:t>ZONE=eu-west1-a     # Zona Kubernetes → label en métricas Prometheus</a:t>
            </a:r>
          </a:p>
          <a:p>
            <a:r>
              <a:rPr sz="1100">
                <a:solidFill>
                  <a:srgbClr val="F9E2AF"/>
                </a:solidFill>
                <a:latin typeface="Courier New"/>
              </a:rPr>
              <a:t>K8S_APP=s0          # Nombre del pod en K8s (para métricas)</a:t>
            </a:r>
          </a:p>
          <a:p>
            <a:r>
              <a:rPr sz="1100">
                <a:solidFill>
                  <a:srgbClr val="CBD3F0"/>
                </a:solidFill>
                <a:latin typeface="Courier New"/>
              </a:rPr>
              <a:t>PN=1                # Número de procesos Gunicorn</a:t>
            </a:r>
          </a:p>
          <a:p>
            <a:r>
              <a:rPr sz="1100">
                <a:solidFill>
                  <a:srgbClr val="CBD3F0"/>
                </a:solidFill>
                <a:latin typeface="Courier New"/>
              </a:rPr>
              <a:t>TN=4                # Número de threads gRPC</a:t>
            </a:r>
          </a:p>
          <a:p>
            <a:r>
              <a:rPr sz="1100">
                <a:solidFill>
                  <a:srgbClr val="F9E2AF"/>
                </a:solidFill>
                <a:latin typeface="Courier New"/>
              </a:rPr>
              <a:t>COMM_PROTOCOL=http  # http o https (TLS con certs generados por deploy_microk8s.sh)</a:t>
            </a:r>
          </a:p>
          <a:p>
            <a:r>
              <a:rPr sz="1100">
                <a:solidFill>
                  <a:srgbClr val="CBD3F0"/>
                </a:solidFill>
                <a:latin typeface="Courier New"/>
              </a:rPr>
              <a:t>NAMESPACE=default   # Namespace para resolución DNS intra-cluster</a:t>
            </a:r>
          </a:p>
          <a:p>
            <a:r>
              <a:rPr sz="1100">
                <a:solidFill>
                  <a:srgbClr val="CBD3F0"/>
                </a:solidFill>
                <a:latin typeface="Courier New"/>
              </a:rPr>
              <a:t>#</a:t>
            </a:r>
          </a:p>
          <a:p>
            <a:r>
              <a:rPr sz="1100">
                <a:solidFill>
                  <a:srgbClr val="CBD3F0"/>
                </a:solidFill>
                <a:latin typeface="Courier New"/>
              </a:rPr>
              <a:t># Rutas disponibles por defecto:</a:t>
            </a:r>
          </a:p>
          <a:p>
            <a:r>
              <a:rPr sz="1100">
                <a:solidFill>
                  <a:srgbClr val="F9E2AF"/>
                </a:solidFill>
                <a:latin typeface="Courier New"/>
              </a:rPr>
              <a:t># /api/v1      → endpoint principal (workmodel driven)</a:t>
            </a:r>
          </a:p>
          <a:p>
            <a:r>
              <a:rPr sz="1100">
                <a:solidFill>
                  <a:srgbClr val="CBD3F0"/>
                </a:solidFill>
                <a:latin typeface="Courier New"/>
              </a:rPr>
              <a:t># /process     → s0 llama a s1 (inter-service chain)</a:t>
            </a:r>
          </a:p>
          <a:p>
            <a:r>
              <a:rPr sz="1100">
                <a:solidFill>
                  <a:srgbClr val="CBD3F0"/>
                </a:solidFill>
                <a:latin typeface="Courier New"/>
              </a:rPr>
              <a:t># /validate    → s1 llama a sdb1 (inter-service chain)</a:t>
            </a:r>
          </a:p>
          <a:p>
            <a:r>
              <a:rPr sz="1100">
                <a:solidFill>
                  <a:srgbClr val="CBD3F0"/>
                </a:solidFill>
                <a:latin typeface="Courier New"/>
              </a:rPr>
              <a:t># /query       → sdb1 endpoint final (simulate DB)</a:t>
            </a:r>
          </a:p>
          <a:p>
            <a:r>
              <a:rPr sz="1100">
                <a:solidFill>
                  <a:srgbClr val="CBD3F0"/>
                </a:solidFill>
                <a:latin typeface="Courier New"/>
              </a:rPr>
              <a:t># /metrics     → Prometheus exposition format</a:t>
            </a:r>
          </a:p>
          <a:p>
            <a:r>
              <a:rPr sz="1100">
                <a:solidFill>
                  <a:srgbClr val="CBD3F0"/>
                </a:solidFill>
                <a:latin typeface="Courier New"/>
              </a:rPr>
              <a:t># /health      → liveness probe</a:t>
            </a:r>
          </a:p>
          <a:p>
            <a:r>
              <a:rPr sz="1100">
                <a:solidFill>
                  <a:srgbClr val="CBD3F0"/>
                </a:solidFill>
                <a:latin typeface="Courier New"/>
              </a:rPr>
              <a:t># /ready       → readiness probe</a:t>
            </a:r>
          </a:p>
        </p:txBody>
      </p:sp>
      <p:sp>
        <p:nvSpPr>
          <p:cNvPr id="7" name="Rectangle 6"/>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Archivos del ServiceCell</a:t>
            </a:r>
          </a:p>
          <a:p>
            <a:r>
              <a:rPr sz="1000">
                <a:solidFill>
                  <a:srgbClr val="555555"/>
                </a:solidFill>
              </a:rPr>
              <a:t>CellController-mp.py
  → Flask app + Gunicorn
  → Entry point del pod
  → Prometheus metrics
  → gRPC server thread
ExternalServiceExecutor.py
  → Llama a otros servicios
  → REST o gRPC
InternalServiceExecutor.py
  → CPU y bandwidth sim
mub.proto → gRPC contract
gunicorn.conf.py → multiproc
Dockerfile → imagen base</a:t>
            </a:r>
          </a:p>
        </p:txBody>
      </p:sp>
      <p:sp>
        <p:nvSpPr>
          <p:cNvPr id="8" name="Rectangle 7"/>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Rol en el ServiceGraph</a:t>
            </a:r>
          </a:p>
          <a:p>
            <a:r>
              <a:rPr sz="1000">
                <a:solidFill>
                  <a:srgbClr val="555555"/>
                </a:solidFill>
              </a:rPr>
              <a:t>ServiceGraph define:
  s0 → s1 → sdb1
Cada nodo = 1 pod
= 1 CellController instancia
s0 recibe tráfico externo
s0 llama s1 internamente
s1 llama sdb1
sdb1 = hoja (sin externos)
workmodel.json controla:
  • Qué servicios llamar
  • Tiempo CPU/bandwidth
  • Probabilidades de call
  • Secuencias paralelas</a:t>
            </a:r>
          </a:p>
        </p:txBody>
      </p:sp>
      <p:sp>
        <p:nvSpPr>
          <p:cNvPr id="9" name="Rectangle 8"/>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Protocolo: REST vs gRPC</a:t>
            </a:r>
          </a:p>
          <a:p>
            <a:r>
              <a:rPr sz="1000">
                <a:solidFill>
                  <a:srgbClr val="555555"/>
                </a:solidFill>
              </a:rPr>
              <a:t>REST (default):
  Flask /api/v1
  HTTP GET/POST
  Gunicorn multiprocess
  Puerto: 8080
gRPC (alternativo):
  mub.proto define la API
  GetMicroServiceResponse()
  Multithreaded (TN workers)
  Puerto: 51313
COMM_PROTOCOL=https:
  TLS con certs generados
  por deploy_microk8s.sh</a:t>
            </a:r>
          </a:p>
        </p:txBody>
      </p:sp>
      <p:sp>
        <p:nvSpPr>
          <p:cNvPr id="10" name="Rectangle 9"/>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Métricas Prometheus</a:t>
            </a:r>
          </a:p>
          <a:p>
            <a:r>
              <a:rPr sz="1000">
                <a:solidFill>
                  <a:srgbClr val="555555"/>
                </a:solidFill>
              </a:rPr>
              <a:t>6 métricas customizadas:
  mub_internal_processing_
  latency_milliseconds
  mub_external_processing_
  latency_milliseconds
  mub_request_processing_
  latency_milliseconds
  mub_response_size
  http_request_duration_s
  http_requests_total
Labels: zone, app_name,
method, endpoint, from</a:t>
            </a:r>
          </a:p>
        </p:txBody>
      </p:sp>
      <p:sp>
        <p:nvSpPr>
          <p:cNvPr id="11" name="Rectangle 10"/>
          <p:cNvSpPr/>
          <p:nvPr/>
        </p:nvSpPr>
        <p:spPr>
          <a:xfrm>
            <a:off x="6080760" y="5623560"/>
            <a:ext cx="2834640" cy="2148840"/>
          </a:xfrm>
          <a:prstGeom prst="rect">
            <a:avLst/>
          </a:prstGeom>
          <a:solidFill>
            <a:srgbClr val="F0F4F8"/>
          </a:solidFill>
          <a:ln>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9E2AF"/>
                </a:solidFill>
                <a:latin typeface="Courier New"/>
              </a:rPr>
              <a:t>Jaeger Distributed Tracing</a:t>
            </a:r>
          </a:p>
          <a:p>
            <a:r>
              <a:rPr sz="1000">
                <a:solidFill>
                  <a:srgbClr val="555555"/>
                </a:solidFill>
              </a:rPr>
              <a:t>CellController propaga
headers de tracing:
  x-b3-traceid
  x-b3-spanid
  x-b3-parentspanid
  traceparent
  x-datadog-trace-id
  x-request-id
Se leen de request.headers
Se reenvían en cada
llamada HTTP downstream.
Permite ver traza completa
en Jaeger UI (port 30002).</a:t>
            </a:r>
          </a:p>
        </p:txBody>
      </p:sp>
      <p:sp>
        <p:nvSpPr>
          <p:cNvPr id="12" name="Rectangle 11"/>
          <p:cNvSpPr/>
          <p:nvPr/>
        </p:nvSpPr>
        <p:spPr>
          <a:xfrm>
            <a:off x="90525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Comportamiento Alternativo</a:t>
            </a:r>
          </a:p>
          <a:p>
            <a:r>
              <a:rPr sz="1000">
                <a:solidFill>
                  <a:srgbClr val="555555"/>
                </a:solidFill>
              </a:rPr>
              <a:t>workmodel soporta:
  alternative_behaviors
Uso:
  GET /api/v1?bid=heavy
Permite cambiar:
  • internal_service params
    (+ CPU, + bandwidth)
  • external_services
    (llamar más nodos)
Ejemplo:
  bid=default → 50ms CPU
  bid=heavy   → 500ms CPU
Sin redeploy del pod.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CellController-mp.py — Lifecycle de una Request</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Flask /api/v1 → read workmodel → internal_service → external_services → response + metrics</a:t>
            </a:r>
          </a:p>
        </p:txBody>
      </p:sp>
      <p:sp>
        <p:nvSpPr>
          <p:cNvPr id="5" name="Rectangle 4"/>
          <p:cNvSpPr/>
          <p:nvPr/>
        </p:nvSpPr>
        <p:spPr>
          <a:xfrm>
            <a:off x="365760" y="1143000"/>
            <a:ext cx="5577840" cy="29260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FLUJO COMPLETO de /api/v1 (start_worker) ──────────────────────</a:t>
            </a:r>
          </a:p>
          <a:p>
            <a:r>
              <a:rPr sz="1100">
                <a:solidFill>
                  <a:srgbClr val="CBD3F0"/>
                </a:solidFill>
                <a:latin typeface="Courier New"/>
              </a:rPr>
              <a:t>@app.route('/api/v1', methods=['GET', 'POST'])</a:t>
            </a:r>
          </a:p>
          <a:p>
            <a:r>
              <a:rPr sz="1100">
                <a:solidFill>
                  <a:srgbClr val="CBD3F0"/>
                </a:solidFill>
                <a:latin typeface="Courier New"/>
              </a:rPr>
              <a:t>def start_worker():</a:t>
            </a:r>
          </a:p>
          <a:p>
            <a:r>
              <a:rPr sz="1100">
                <a:solidFill>
                  <a:srgbClr val="F9E2AF"/>
                </a:solidFill>
                <a:latin typeface="Courier New"/>
              </a:rPr>
              <a:t>    # 1. Leer workmodel del servicio actual (APP env var)</a:t>
            </a:r>
          </a:p>
          <a:p>
            <a:r>
              <a:rPr sz="1100">
                <a:solidFill>
                  <a:srgbClr val="CBD3F0"/>
                </a:solidFill>
                <a:latin typeface="Courier New"/>
              </a:rPr>
              <a:t>    my_work_model = globalDict['work_model'][ID]</a:t>
            </a:r>
          </a:p>
          <a:p>
            <a:r>
              <a:rPr sz="1100">
                <a:solidFill>
                  <a:srgbClr val="CBD3F0"/>
                </a:solidFill>
                <a:latin typeface="Courier New"/>
              </a:rPr>
              <a:t>    my_service_graph = my_work_model['external_services']</a:t>
            </a:r>
          </a:p>
          <a:p>
            <a:r>
              <a:rPr sz="1100">
                <a:solidFill>
                  <a:srgbClr val="CBD3F0"/>
                </a:solidFill>
                <a:latin typeface="Courier New"/>
              </a:rPr>
              <a:t>    my_internal_service = my_work_model['internal_service']</a:t>
            </a:r>
          </a:p>
          <a:p>
            <a:r>
              <a:rPr sz="1100">
                <a:solidFill>
                  <a:srgbClr val="CBD3F0"/>
                </a:solidFill>
                <a:latin typeface="Courier New"/>
              </a:rPr>
              <a:t>    #</a:t>
            </a:r>
          </a:p>
          <a:p>
            <a:r>
              <a:rPr sz="1100">
                <a:solidFill>
                  <a:srgbClr val="F9E2AF"/>
                </a:solidFill>
                <a:latin typeface="Courier New"/>
              </a:rPr>
              <a:t>    # 2. Ejecutar CPU + bandwidth simulation (InternalServiceExecutor)</a:t>
            </a:r>
          </a:p>
          <a:p>
            <a:r>
              <a:rPr sz="1100">
                <a:solidFill>
                  <a:srgbClr val="CBD3F0"/>
                </a:solidFill>
                <a:latin typeface="Courier New"/>
              </a:rPr>
              <a:t>    body = run_internal_service(my_internal_service)</a:t>
            </a:r>
          </a:p>
          <a:p>
            <a:r>
              <a:rPr sz="1100">
                <a:solidFill>
                  <a:srgbClr val="CBD3F0"/>
                </a:solidFill>
                <a:latin typeface="Courier New"/>
              </a:rPr>
              <a:t>    INTERNAL_PROCESSING.labels(ZONE, K8S_APP, method, path).observe(t*1000)</a:t>
            </a:r>
          </a:p>
          <a:p>
            <a:r>
              <a:rPr sz="1100">
                <a:solidFill>
                  <a:srgbClr val="CBD3F0"/>
                </a:solidFill>
                <a:latin typeface="Courier New"/>
              </a:rPr>
              <a:t>    #</a:t>
            </a:r>
          </a:p>
          <a:p>
            <a:r>
              <a:rPr sz="1100">
                <a:solidFill>
                  <a:srgbClr val="F9E2AF"/>
                </a:solidFill>
                <a:latin typeface="Courier New"/>
              </a:rPr>
              <a:t>    # 3. Llamar servicios externos en PARALELO (ExternalServiceExecutor)</a:t>
            </a:r>
          </a:p>
          <a:p>
            <a:r>
              <a:rPr sz="1100">
                <a:solidFill>
                  <a:srgbClr val="CBD3F0"/>
                </a:solidFill>
                <a:latin typeface="Courier New"/>
              </a:rPr>
              <a:t>    service_error_dict = run_external_service(my_service_graph, work_model)</a:t>
            </a:r>
          </a:p>
          <a:p>
            <a:r>
              <a:rPr sz="1100">
                <a:solidFill>
                  <a:srgbClr val="CBD3F0"/>
                </a:solidFill>
                <a:latin typeface="Courier New"/>
              </a:rPr>
              <a:t>    EXTERNAL_PROCESSING.labels(ZONE, K8S_APP, method, path).observe(t*1000)</a:t>
            </a:r>
          </a:p>
          <a:p>
            <a:r>
              <a:rPr sz="1100">
                <a:solidFill>
                  <a:srgbClr val="CBD3F0"/>
                </a:solidFill>
                <a:latin typeface="Courier New"/>
              </a:rPr>
              <a:t>    #</a:t>
            </a:r>
          </a:p>
          <a:p>
            <a:r>
              <a:rPr sz="1100">
                <a:solidFill>
                  <a:srgbClr val="F9E2AF"/>
                </a:solidFill>
                <a:latin typeface="Courier New"/>
              </a:rPr>
              <a:t>    # 4. Responder y registrar REQUEST_PROCESSING total</a:t>
            </a:r>
          </a:p>
          <a:p>
            <a:r>
              <a:rPr sz="1100">
                <a:solidFill>
                  <a:srgbClr val="CBD3F0"/>
                </a:solidFill>
                <a:latin typeface="Courier New"/>
              </a:rPr>
              <a:t>    response = make_response(body)    # body = 'mmm...mmm' (bandwidth sim)</a:t>
            </a:r>
          </a:p>
          <a:p>
            <a:r>
              <a:rPr sz="1100">
                <a:solidFill>
                  <a:srgbClr val="CBD3F0"/>
                </a:solidFill>
                <a:latin typeface="Courier New"/>
              </a:rPr>
              <a:t>    REQUEST_PROCESSING.labels(ZONE, K8S_APP, method, path, ...).observe(total)</a:t>
            </a:r>
          </a:p>
          <a:p>
            <a:r>
              <a:rPr sz="1100">
                <a:solidFill>
                  <a:srgbClr val="CBD3F0"/>
                </a:solidFill>
                <a:latin typeface="Courier New"/>
              </a:rPr>
              <a:t>    return response</a:t>
            </a:r>
          </a:p>
          <a:p>
            <a:r>
              <a:rPr sz="1100">
                <a:solidFill>
                  <a:srgbClr val="CBD3F0"/>
                </a:solidFill>
                <a:latin typeface="Courier New"/>
              </a:rPr>
              <a:t>    # → cliente recibe 200 + métricas acumuladas en Prometheus</a:t>
            </a:r>
          </a:p>
        </p:txBody>
      </p:sp>
      <p:sp>
        <p:nvSpPr>
          <p:cNvPr id="6" name="Rectangle 5"/>
          <p:cNvSpPr/>
          <p:nvPr/>
        </p:nvSpPr>
        <p:spPr>
          <a:xfrm>
            <a:off x="365760" y="4160520"/>
            <a:ext cx="5577840" cy="26060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WORKMODEL.JSON: configura CADA servicio individualmente ───────</a:t>
            </a:r>
          </a:p>
          <a:p>
            <a:r>
              <a:rPr sz="1100">
                <a:solidFill>
                  <a:srgbClr val="CBD3F0"/>
                </a:solidFill>
                <a:latin typeface="Courier New"/>
              </a:rPr>
              <a:t>{</a:t>
            </a:r>
          </a:p>
          <a:p>
            <a:r>
              <a:rPr sz="1100">
                <a:solidFill>
                  <a:srgbClr val="CBD3F0"/>
                </a:solidFill>
                <a:latin typeface="Courier New"/>
              </a:rPr>
              <a:t>  "s0": {</a:t>
            </a:r>
          </a:p>
          <a:p>
            <a:r>
              <a:rPr sz="1100">
                <a:solidFill>
                  <a:srgbClr val="CBD3F0"/>
                </a:solidFill>
                <a:latin typeface="Courier New"/>
              </a:rPr>
              <a:t>    "url": "s0.default.svc.cluster.local",</a:t>
            </a:r>
          </a:p>
          <a:p>
            <a:r>
              <a:rPr sz="1100">
                <a:solidFill>
                  <a:srgbClr val="CBD3F0"/>
                </a:solidFill>
                <a:latin typeface="Courier New"/>
              </a:rPr>
              <a:t>    "path": "/api/v1",</a:t>
            </a:r>
          </a:p>
          <a:p>
            <a:r>
              <a:rPr sz="1100">
                <a:solidFill>
                  <a:srgbClr val="CBD3F0"/>
                </a:solidFill>
                <a:latin typeface="Courier New"/>
              </a:rPr>
              <a:t>    "request_method": "rest",     # rest | grpc</a:t>
            </a:r>
          </a:p>
          <a:p>
            <a:r>
              <a:rPr sz="1100">
                <a:solidFill>
                  <a:srgbClr val="F9E2AF"/>
                </a:solidFill>
                <a:latin typeface="Courier New"/>
              </a:rPr>
              <a:t>    "internal_service": {</a:t>
            </a:r>
          </a:p>
          <a:p>
            <a:r>
              <a:rPr sz="1100">
                <a:solidFill>
                  <a:srgbClr val="F9E2AF"/>
                </a:solidFill>
                <a:latin typeface="Courier New"/>
              </a:rPr>
              <a:t>      "compute_pi": {              # función de CPU</a:t>
            </a:r>
          </a:p>
          <a:p>
            <a:r>
              <a:rPr sz="1100">
                <a:solidFill>
                  <a:srgbClr val="CBD3F0"/>
                </a:solidFill>
                <a:latin typeface="Courier New"/>
              </a:rPr>
              <a:t>        "range_complexity": [50, 100],</a:t>
            </a:r>
          </a:p>
          <a:p>
            <a:r>
              <a:rPr sz="1100">
                <a:solidFill>
                  <a:srgbClr val="CBD3F0"/>
                </a:solidFill>
                <a:latin typeface="Courier New"/>
              </a:rPr>
              <a:t>        "mean_response_size": 10   # KB de respuesta</a:t>
            </a:r>
          </a:p>
          <a:p>
            <a:r>
              <a:rPr sz="1100">
                <a:solidFill>
                  <a:srgbClr val="CBD3F0"/>
                </a:solidFill>
                <a:latin typeface="Courier New"/>
              </a:rPr>
              <a:t>      }</a:t>
            </a:r>
          </a:p>
          <a:p>
            <a:r>
              <a:rPr sz="1100">
                <a:solidFill>
                  <a:srgbClr val="CBD3F0"/>
                </a:solidFill>
                <a:latin typeface="Courier New"/>
              </a:rPr>
              <a:t>    },</a:t>
            </a:r>
          </a:p>
          <a:p>
            <a:r>
              <a:rPr sz="1100">
                <a:solidFill>
                  <a:srgbClr val="CBD3F0"/>
                </a:solidFill>
                <a:latin typeface="Courier New"/>
              </a:rPr>
              <a:t>    "external_services": [</a:t>
            </a:r>
          </a:p>
          <a:p>
            <a:r>
              <a:rPr sz="1100">
                <a:solidFill>
                  <a:srgbClr val="F9E2AF"/>
                </a:solidFill>
                <a:latin typeface="Courier New"/>
              </a:rPr>
              <a:t>      {"seq_len": 1, "services": ["s1"]} # llama s1 secuencialmente</a:t>
            </a:r>
          </a:p>
          <a:p>
            <a:r>
              <a:rPr sz="1100">
                <a:solidFill>
                  <a:srgbClr val="CBD3F0"/>
                </a:solidFill>
                <a:latin typeface="Courier New"/>
              </a:rPr>
              <a:t>    ]</a:t>
            </a:r>
          </a:p>
          <a:p>
            <a:r>
              <a:rPr sz="1100">
                <a:solidFill>
                  <a:srgbClr val="CBD3F0"/>
                </a:solidFill>
                <a:latin typeface="Courier New"/>
              </a:rPr>
              <a:t>  },</a:t>
            </a:r>
          </a:p>
          <a:p>
            <a:r>
              <a:rPr sz="1100">
                <a:solidFill>
                  <a:srgbClr val="CBD3F0"/>
                </a:solidFill>
                <a:latin typeface="Courier New"/>
              </a:rPr>
              <a:t>  "s1": { ...llama sdb1... },</a:t>
            </a:r>
          </a:p>
          <a:p>
            <a:r>
              <a:rPr sz="1100">
                <a:solidFill>
                  <a:srgbClr val="F9E2AF"/>
                </a:solidFill>
                <a:latin typeface="Courier New"/>
              </a:rPr>
              <a:t>  "sdb1": { "external_services": [] }  # hoja: sin dependencias</a:t>
            </a:r>
          </a:p>
          <a:p>
            <a:r>
              <a:rPr sz="1100">
                <a:solidFill>
                  <a:srgbClr val="CBD3F0"/>
                </a:solidFill>
                <a:latin typeface="Courier New"/>
              </a:rPr>
              <a:t>}</a:t>
            </a:r>
          </a:p>
        </p:txBody>
      </p:sp>
      <p:sp>
        <p:nvSpPr>
          <p:cNvPr id="7" name="Rectangle 6"/>
          <p:cNvSpPr/>
          <p:nvPr/>
        </p:nvSpPr>
        <p:spPr>
          <a:xfrm>
            <a:off x="60807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Multiprocess con Gunicorn</a:t>
            </a:r>
          </a:p>
          <a:p>
            <a:r>
              <a:rPr sz="1000">
                <a:solidFill>
                  <a:srgbClr val="555555"/>
                </a:solidFill>
              </a:rPr>
              <a:t>CellController usa Gunicorn:
  PN workers (procesos)
  TN threads (gRPC)
gunicorn.conf.py:
  worker_exit() → marca
  proceso muerto para
  Prometheus multiprocess
start-mp.sh:
  export prometheus_multiproc_dir
  python3 CellController-mp.py
Prometheus multiprocess:
  Agrega métricas de todos
  los workers en /metrics</a:t>
            </a:r>
          </a:p>
        </p:txBody>
      </p:sp>
      <p:sp>
        <p:nvSpPr>
          <p:cNvPr id="8" name="Rectangle 7"/>
          <p:cNvSpPr/>
          <p:nvPr/>
        </p:nvSpPr>
        <p:spPr>
          <a:xfrm>
            <a:off x="90525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Trace-Driven Requests</a:t>
            </a:r>
          </a:p>
          <a:p>
            <a:r>
              <a:rPr sz="1000">
                <a:solidFill>
                  <a:srgbClr val="555555"/>
                </a:solidFill>
              </a:rPr>
              <a:t>Modo especial: POST /api/v1
  con JSON payload = trace
Permite definir el grafo
externamente por petición:
{ "s0": [
  {"s1": {}},
  {"sdb1": {}}
] }
El servicio ignora su
workmodel.json y sigue
el trace recibido.
Útil para pruebas específicas
de topologías ad-hoc.</a:t>
            </a:r>
          </a:p>
        </p:txBody>
      </p:sp>
      <p:sp>
        <p:nvSpPr>
          <p:cNvPr id="9" name="Rectangle 8"/>
          <p:cNvSpPr/>
          <p:nvPr/>
        </p:nvSpPr>
        <p:spPr>
          <a:xfrm>
            <a:off x="60807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Comportamiento ?bid=</a:t>
            </a:r>
          </a:p>
          <a:p>
            <a:r>
              <a:rPr sz="1000">
                <a:solidFill>
                  <a:srgbClr val="555555"/>
                </a:solidFill>
              </a:rPr>
              <a:t>GET /api/v1?bid=heavy
Permite override del
comportamiento SIN redeploy:
workmodel.json:
  alternative_behaviors:
    heavy:
      internal_service:
        compute_pi:
          range_complexity: [500, 1000]
bid=default → latencia baja
bid=heavy   → CPU alta
bid=db_load → más externos</a:t>
            </a:r>
          </a:p>
        </p:txBody>
      </p:sp>
      <p:sp>
        <p:nvSpPr>
          <p:cNvPr id="10" name="Rectangle 9"/>
          <p:cNvSpPr/>
          <p:nvPr/>
        </p:nvSpPr>
        <p:spPr>
          <a:xfrm>
            <a:off x="90525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gRPC Server Thread</a:t>
            </a:r>
          </a:p>
          <a:p>
            <a:r>
              <a:rPr sz="1000">
                <a:solidFill>
                  <a:srgbClr val="555555"/>
                </a:solidFill>
              </a:rPr>
              <a:t>Al igual que REST,
soporta gRPC puro:
class gRPCThread(Thread,
  pb2_grpc.MicroServiceServicer):
  def GetMicroServiceResponse(
    self, req, context):
    body = run_internal_service()
    run_external_service()
    return MessageResponse()
Se inicia en hilo separado
al lado del servidor HTTP
→ puerto 51313 (gRPC)
→ puerto 8080 (REST)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Executors — Motor de Simulación de ServiceCell</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InternalServiceExecutor.py: CPU + bandwidth · ExternalServiceExecutor.py: REST/gRPC inter-service calls · paralelismo</a:t>
            </a:r>
          </a:p>
        </p:txBody>
      </p:sp>
      <p:sp>
        <p:nvSpPr>
          <p:cNvPr id="5" name="Rectangle 4"/>
          <p:cNvSpPr/>
          <p:nvPr/>
        </p:nvSpPr>
        <p:spPr>
          <a:xfrm>
            <a:off x="365760" y="1143000"/>
            <a:ext cx="5577840" cy="28346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InternalServiceExecutor.py: simula CPU y bandwidth ────────────</a:t>
            </a:r>
          </a:p>
          <a:p>
            <a:r>
              <a:rPr sz="1100">
                <a:solidFill>
                  <a:srgbClr val="F9E2AF"/>
                </a:solidFill>
                <a:latin typeface="Courier New"/>
              </a:rPr>
              <a:t>def compute_pi(params):</a:t>
            </a:r>
          </a:p>
          <a:p>
            <a:r>
              <a:rPr sz="1100">
                <a:solidFill>
                  <a:srgbClr val="CBD3F0"/>
                </a:solidFill>
                <a:latin typeface="Courier New"/>
              </a:rPr>
              <a:t>    # CPU load: calcula dígitos de π (Spigot algorithm)</a:t>
            </a:r>
          </a:p>
          <a:p>
            <a:r>
              <a:rPr sz="1100">
                <a:solidFill>
                  <a:srgbClr val="CBD3F0"/>
                </a:solidFill>
                <a:latin typeface="Courier New"/>
              </a:rPr>
              <a:t>    cpu_load = random.randint(range_complexity[0], range_complexity[1])</a:t>
            </a:r>
          </a:p>
          <a:p>
            <a:r>
              <a:rPr sz="1100">
                <a:solidFill>
                  <a:srgbClr val="F9E2AF"/>
                </a:solidFill>
                <a:latin typeface="Courier New"/>
              </a:rPr>
              <a:t>    q, r, t, k, m, x = 1, 0, 1, 1, 3, 3</a:t>
            </a:r>
          </a:p>
          <a:p>
            <a:r>
              <a:rPr sz="1100">
                <a:solidFill>
                  <a:srgbClr val="CBD3F0"/>
                </a:solidFill>
                <a:latin typeface="Courier New"/>
              </a:rPr>
              <a:t>    while True:</a:t>
            </a:r>
          </a:p>
          <a:p>
            <a:r>
              <a:rPr sz="1100">
                <a:solidFill>
                  <a:srgbClr val="CBD3F0"/>
                </a:solidFill>
                <a:latin typeface="Courier New"/>
              </a:rPr>
              <a:t>        if 4*q + r - t &lt; m * t:</a:t>
            </a:r>
          </a:p>
          <a:p>
            <a:r>
              <a:rPr sz="1100">
                <a:solidFill>
                  <a:srgbClr val="CBD3F0"/>
                </a:solidFill>
                <a:latin typeface="Courier New"/>
              </a:rPr>
              <a:t>            pi_greco.append(m)   # acumula dígito de π</a:t>
            </a:r>
          </a:p>
          <a:p>
            <a:r>
              <a:rPr sz="1100">
                <a:solidFill>
                  <a:srgbClr val="CBD3F0"/>
                </a:solidFill>
                <a:latin typeface="Courier New"/>
              </a:rPr>
              <a:t>            if counter &gt; cpu_load: break</a:t>
            </a:r>
          </a:p>
          <a:p>
            <a:r>
              <a:rPr sz="1100">
                <a:solidFill>
                  <a:srgbClr val="F9E2AF"/>
                </a:solidFill>
                <a:latin typeface="Courier New"/>
              </a:rPr>
              <a:t>    # Bandwidth load: genera respuesta aleatoria exponencial</a:t>
            </a:r>
          </a:p>
          <a:p>
            <a:r>
              <a:rPr sz="1100">
                <a:solidFill>
                  <a:srgbClr val="CBD3F0"/>
                </a:solidFill>
                <a:latin typeface="Courier New"/>
              </a:rPr>
              <a:t>    bandwidth_load = random.expovariate(1 / mean_response_size)</a:t>
            </a:r>
          </a:p>
          <a:p>
            <a:r>
              <a:rPr sz="1100">
                <a:solidFill>
                  <a:srgbClr val="CBD3F0"/>
                </a:solidFill>
                <a:latin typeface="Courier New"/>
              </a:rPr>
              <a:t>    num_chars = max(1, 1000 * bandwidth_load)   # bytes de respuesta</a:t>
            </a:r>
          </a:p>
          <a:p>
            <a:r>
              <a:rPr sz="1100">
                <a:solidFill>
                  <a:srgbClr val="CBD3F0"/>
                </a:solidFill>
                <a:latin typeface="Courier New"/>
              </a:rPr>
              <a:t>    response_body = 'm' * int(num_chars)         # → payload artificial</a:t>
            </a:r>
          </a:p>
          <a:p>
            <a:r>
              <a:rPr sz="1100">
                <a:solidFill>
                  <a:srgbClr val="CBD3F0"/>
                </a:solidFill>
                <a:latin typeface="Courier New"/>
              </a:rPr>
              <a:t>    return response_body</a:t>
            </a:r>
          </a:p>
          <a:p>
            <a:r>
              <a:rPr sz="1100">
                <a:solidFill>
                  <a:srgbClr val="CBD3F0"/>
                </a:solidFill>
                <a:latin typeface="Courier New"/>
              </a:rPr>
              <a:t>#</a:t>
            </a:r>
          </a:p>
          <a:p>
            <a:r>
              <a:rPr sz="1100">
                <a:solidFill>
                  <a:srgbClr val="F9E2AF"/>
                </a:solidFill>
                <a:latin typeface="Courier New"/>
              </a:rPr>
              <a:t># Plugin externo: MSConfig/InternalServiceFunctions/*.py</a:t>
            </a:r>
          </a:p>
          <a:p>
            <a:r>
              <a:rPr sz="1100">
                <a:solidFill>
                  <a:srgbClr val="F9E2AF"/>
                </a:solidFill>
                <a:latin typeface="Courier New"/>
              </a:rPr>
              <a:t># → las CustomFunctions (auth, api, data) sobreescriben esta lógica</a:t>
            </a:r>
          </a:p>
          <a:p>
            <a:r>
              <a:rPr sz="1100">
                <a:solidFill>
                  <a:srgbClr val="CBD3F0"/>
                </a:solidFill>
                <a:latin typeface="Courier New"/>
              </a:rPr>
              <a:t>for path in glob.glob('MSConfig/InternalServiceFunctions/[!_]*.py'):</a:t>
            </a:r>
          </a:p>
          <a:p>
            <a:r>
              <a:rPr sz="1100">
                <a:solidFill>
                  <a:srgbClr val="CBD3F0"/>
                </a:solidFill>
                <a:latin typeface="Courier New"/>
              </a:rPr>
              <a:t>    exec(f'from MSConfig.InternalServiceFunctions.{name} import *')</a:t>
            </a:r>
          </a:p>
        </p:txBody>
      </p:sp>
      <p:sp>
        <p:nvSpPr>
          <p:cNvPr id="6" name="Rectangle 5"/>
          <p:cNvSpPr/>
          <p:nvPr/>
        </p:nvSpPr>
        <p:spPr>
          <a:xfrm>
            <a:off x="365760" y="4069080"/>
            <a:ext cx="5577840" cy="26974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ExternalServiceExecutor.py: llama servicios descendientes ──────</a:t>
            </a:r>
          </a:p>
          <a:p>
            <a:r>
              <a:rPr sz="1100">
                <a:solidFill>
                  <a:srgbClr val="CBD3F0"/>
                </a:solidFill>
                <a:latin typeface="Courier New"/>
              </a:rPr>
              <a:t>def external_service(group, id, work_model, trace, app):</a:t>
            </a:r>
          </a:p>
          <a:p>
            <a:r>
              <a:rPr sz="1100">
                <a:solidFill>
                  <a:srgbClr val="F9E2AF"/>
                </a:solidFill>
                <a:latin typeface="Courier New"/>
              </a:rPr>
              <a:t>    if group['seq_len'] &lt; len(group['services']):</a:t>
            </a:r>
          </a:p>
          <a:p>
            <a:r>
              <a:rPr sz="1100">
                <a:solidFill>
                  <a:srgbClr val="CBD3F0"/>
                </a:solidFill>
                <a:latin typeface="Courier New"/>
              </a:rPr>
              <a:t>        # Selección aleatoria de seq_len servicios del grupo</a:t>
            </a:r>
          </a:p>
          <a:p>
            <a:r>
              <a:rPr sz="1100">
                <a:solidFill>
                  <a:srgbClr val="CBD3F0"/>
                </a:solidFill>
                <a:latin typeface="Courier New"/>
              </a:rPr>
              <a:t>        selected_services = random.sample(group['services'], k=seq_len)</a:t>
            </a:r>
          </a:p>
          <a:p>
            <a:r>
              <a:rPr sz="1100">
                <a:solidFill>
                  <a:srgbClr val="CBD3F0"/>
                </a:solidFill>
                <a:latin typeface="Courier New"/>
              </a:rPr>
              <a:t>    #</a:t>
            </a:r>
          </a:p>
          <a:p>
            <a:r>
              <a:rPr sz="1100">
                <a:solidFill>
                  <a:srgbClr val="CBD3F0"/>
                </a:solidFill>
                <a:latin typeface="Courier New"/>
              </a:rPr>
              <a:t>    # Para cada servicio en el grupo:</a:t>
            </a:r>
          </a:p>
          <a:p>
            <a:r>
              <a:rPr sz="1100">
                <a:solidFill>
                  <a:srgbClr val="CBD3F0"/>
                </a:solidFill>
                <a:latin typeface="Courier New"/>
              </a:rPr>
              <a:t>    for service in selected_services:</a:t>
            </a:r>
          </a:p>
          <a:p>
            <a:r>
              <a:rPr sz="1100">
                <a:solidFill>
                  <a:srgbClr val="F9E2AF"/>
                </a:solidFill>
                <a:latin typeface="Courier New"/>
              </a:rPr>
              <a:t>        p = probabilities.get(service, 1)  # probabilidad de llamar</a:t>
            </a:r>
          </a:p>
          <a:p>
            <a:r>
              <a:rPr sz="1100">
                <a:solidFill>
                  <a:srgbClr val="CBD3F0"/>
                </a:solidFill>
                <a:latin typeface="Courier New"/>
              </a:rPr>
              <a:t>        if random.random() &lt; p:</a:t>
            </a:r>
          </a:p>
          <a:p>
            <a:r>
              <a:rPr sz="1100">
                <a:solidFill>
                  <a:srgbClr val="CBD3F0"/>
                </a:solidFill>
                <a:latin typeface="Courier New"/>
              </a:rPr>
              <a:t>            r = request_function(service, work_model, ...)</a:t>
            </a:r>
          </a:p>
          <a:p>
            <a:r>
              <a:rPr sz="1100">
                <a:solidFill>
                  <a:srgbClr val="CBD3F0"/>
                </a:solidFill>
                <a:latin typeface="Courier New"/>
              </a:rPr>
              <a:t>    #</a:t>
            </a:r>
          </a:p>
          <a:p>
            <a:r>
              <a:rPr sz="1100">
                <a:solidFill>
                  <a:srgbClr val="F9E2AF"/>
                </a:solidFill>
                <a:latin typeface="Courier New"/>
              </a:rPr>
              <a:t>    # Grupos en paralelo (ThreadPoolExecutor):</a:t>
            </a:r>
          </a:p>
          <a:p>
            <a:r>
              <a:rPr sz="1100">
                <a:solidFill>
                  <a:srgbClr val="F9E2AF"/>
                </a:solidFill>
                <a:latin typeface="Courier New"/>
              </a:rPr>
              <a:t>    for group in my_service_graph:</a:t>
            </a:r>
          </a:p>
          <a:p>
            <a:r>
              <a:rPr sz="1100">
                <a:solidFill>
                  <a:srgbClr val="CBD3F0"/>
                </a:solidFill>
                <a:latin typeface="Courier New"/>
              </a:rPr>
              <a:t>        future = executor.submit(external_service, group, ...)</a:t>
            </a:r>
          </a:p>
          <a:p>
            <a:r>
              <a:rPr sz="1100">
                <a:solidFill>
                  <a:srgbClr val="CBD3F0"/>
                </a:solidFill>
                <a:latin typeface="Courier New"/>
              </a:rPr>
              <a:t>    wait(futures, return_when=FIRST_COMPLETED)</a:t>
            </a:r>
          </a:p>
          <a:p>
            <a:r>
              <a:rPr sz="1100">
                <a:solidFill>
                  <a:srgbClr val="CBD3F0"/>
                </a:solidFill>
                <a:latin typeface="Courier New"/>
              </a:rPr>
              <a:t>    # → grupos del mismo nivel se ejecutan EN PARALELO</a:t>
            </a:r>
          </a:p>
          <a:p>
            <a:r>
              <a:rPr sz="1100">
                <a:solidFill>
                  <a:srgbClr val="CBD3F0"/>
                </a:solidFill>
                <a:latin typeface="Courier New"/>
              </a:rPr>
              <a:t>    # → cada grupo es secuencial internamente (seq_len items)</a:t>
            </a:r>
          </a:p>
        </p:txBody>
      </p:sp>
      <p:sp>
        <p:nvSpPr>
          <p:cNvPr id="7" name="Rectangle 6"/>
          <p:cNvSpPr/>
          <p:nvPr/>
        </p:nvSpPr>
        <p:spPr>
          <a:xfrm>
            <a:off x="60807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compute_pi: CPU simulation</a:t>
            </a:r>
          </a:p>
          <a:p>
            <a:r>
              <a:rPr sz="1000">
                <a:solidFill>
                  <a:srgbClr val="555555"/>
                </a:solidFill>
              </a:rPr>
              <a:t>range_complexity define
cuántos dígitos de π calcular:
  [1, 10] → muy baja latencia
  [50, 100] → ~10ms
  [500, 1000] → ~100ms
Algoritmo: Spigot (Bailey)
Genera carga CPU real
proporcional al parámetro.
mean_response_size:
  KB de payload de respuesta
  (exponential distribution)</a:t>
            </a:r>
          </a:p>
        </p:txBody>
      </p:sp>
      <p:sp>
        <p:nvSpPr>
          <p:cNvPr id="8" name="Rectangle 7"/>
          <p:cNvSpPr/>
          <p:nvPr/>
        </p:nvSpPr>
        <p:spPr>
          <a:xfrm>
            <a:off x="90525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External services: paralelismo</a:t>
            </a:r>
          </a:p>
          <a:p>
            <a:r>
              <a:rPr sz="1000">
                <a:solidFill>
                  <a:srgbClr val="555555"/>
                </a:solidFill>
              </a:rPr>
              <a:t>ServiceGraph define grupos:
  external_services: [
    {group1: [s1, s2]},   # paralelo con...
    {group2: [s3]}        # este
  ]
Grupos = paralelo
→ ejecutados en threads
seq_len dentro del grupo:
  seq_len=1: toma 1 de 2
  (selection random)
Latencia total = max(grupos)</a:t>
            </a:r>
          </a:p>
        </p:txBody>
      </p:sp>
      <p:sp>
        <p:nvSpPr>
          <p:cNvPr id="9" name="Rectangle 8"/>
          <p:cNvSpPr/>
          <p:nvPr/>
        </p:nvSpPr>
        <p:spPr>
          <a:xfrm>
            <a:off x="60807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Probabilities: fan-out control</a:t>
            </a:r>
          </a:p>
          <a:p>
            <a:r>
              <a:rPr sz="1000">
                <a:solidFill>
                  <a:srgbClr val="555555"/>
                </a:solidFill>
              </a:rPr>
              <a:t>Cada servicio puede tener
probabilidad de ser llamado:
workmodel.json:
  external_services:
    - services: [s1, s2]
      probabilities:
        s1: 0.7
        s2: 1.0
s1: 70% de ser incluido
s2: 100% siempre
Simula: circuit breakers,
dead services, fan-out variable</a:t>
            </a:r>
          </a:p>
        </p:txBody>
      </p:sp>
      <p:sp>
        <p:nvSpPr>
          <p:cNvPr id="10" name="Rectangle 9"/>
          <p:cNvSpPr/>
          <p:nvPr/>
        </p:nvSpPr>
        <p:spPr>
          <a:xfrm>
            <a:off x="90525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Plugin de funciones internas</a:t>
            </a:r>
          </a:p>
          <a:p>
            <a:r>
              <a:rPr sz="1000">
                <a:solidFill>
                  <a:srgbClr val="555555"/>
                </a:solidFill>
              </a:rPr>
              <a:t>InternalServiceExecutor
carga TODOS los .py de:
  MSConfig/InternalService\
  Functions/*.py
Cada .py define una función
ej: AuthFunction, ApiFunction
Reemplaza compute_pi:
  compute_pi → simple math
  AuthFunction → JWT logic
  DataFunction → sleep()
Se inyecta vía ConfigMap
→ sin rebuild de imagen</a:t>
            </a:r>
          </a:p>
        </p:txBody>
      </p:sp>
      <p:sp>
        <p:nvSpPr>
          <p:cNvPr id="11" name="Rectangle 10"/>
          <p:cNvSpPr/>
          <p:nvPr/>
        </p:nvSpPr>
        <p:spPr>
          <a:xfrm>
            <a:off x="6080760" y="5623560"/>
            <a:ext cx="2834640" cy="2148840"/>
          </a:xfrm>
          <a:prstGeom prst="rect">
            <a:avLst/>
          </a:prstGeom>
          <a:solidFill>
            <a:srgbClr val="F0F4F8"/>
          </a:solidFill>
          <a:ln>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9E2AF"/>
                </a:solidFill>
                <a:latin typeface="Courier New"/>
              </a:rPr>
              <a:t>REST init vs gRPC init</a:t>
            </a:r>
          </a:p>
          <a:p>
            <a:r>
              <a:rPr sz="1000">
                <a:solidFill>
                  <a:srgbClr val="555555"/>
                </a:solidFill>
              </a:rPr>
              <a:t>Al inicio, CellController
lee request_method del
workmodel.json:
if request_method == 'rest':
    init_REST(app)
    # → usa requests.Session()
if request_method == 'grpc':
    init_gRPC(workmodel, ...)
    # → crea stub por servicio
    # → stubs globales en dict
Una vez inicializado:
request_function = f
→ mismo código para ambos</a:t>
            </a:r>
          </a:p>
        </p:txBody>
      </p:sp>
      <p:sp>
        <p:nvSpPr>
          <p:cNvPr id="12" name="Rectangle 11"/>
          <p:cNvSpPr/>
          <p:nvPr/>
        </p:nvSpPr>
        <p:spPr>
          <a:xfrm>
            <a:off x="90525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Rol en RealisticWorkspace</a:t>
            </a:r>
          </a:p>
          <a:p>
            <a:r>
              <a:rPr sz="1000">
                <a:solidFill>
                  <a:srgbClr val="555555"/>
                </a:solidFill>
              </a:rPr>
              <a:t>RW usa la misma imagen:
  msvcbench/microservice
Diferencia:
  ConfigMap inyecta
  AuthFunction.py
  DataFunction.py
  ApiFunction.py
CellController los carga
con el glob de InternalService\
Functions/
= mismo CellController,
diferente comportamiento
por ConfigMap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CustomFunctions/ — Funciones internas de servicios</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5 funciones Python que definen el comportamiento de cada pod en el mesh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CustomFunctions/ — Dos grupos de funciones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Funciones realistas (creadas para este proyecto) vs. sinteticas (upstream mubench)</a:t>
            </a:r>
          </a:p>
        </p:txBody>
      </p:sp>
      <p:sp>
        <p:nvSpPr>
          <p:cNvPr id="5" name="Rectangle 4"/>
          <p:cNvSpPr/>
          <p:nvPr/>
        </p:nvSpPr>
        <p:spPr>
          <a:xfrm>
            <a:off x="274320" y="1143000"/>
            <a:ext cx="5669280" cy="347472"/>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Funciones REALISTAS  —  mubench-realistic</a:t>
            </a:r>
          </a:p>
        </p:txBody>
      </p:sp>
      <p:sp>
        <p:nvSpPr>
          <p:cNvPr id="6" name="Rectangle 5"/>
          <p:cNvSpPr/>
          <p:nvPr/>
        </p:nvSpPr>
        <p:spPr>
          <a:xfrm>
            <a:off x="274320" y="1490472"/>
            <a:ext cx="1801368" cy="3200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ApiFunction.py</a:t>
            </a:r>
          </a:p>
        </p:txBody>
      </p:sp>
      <p:sp>
        <p:nvSpPr>
          <p:cNvPr id="7" name="Rectangle 6"/>
          <p:cNvSpPr/>
          <p:nvPr/>
        </p:nvSpPr>
        <p:spPr>
          <a:xfrm>
            <a:off x="274320" y="1810512"/>
            <a:ext cx="1801368" cy="28803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api_function(params)
Simula el servicio API:
- rate limiting con ventana deslizante
- latencia de procesamiento (sleep)
- generacion + validacion de JWT
- respuesta de tamano aleatorio (expovariate)
Usado por: servicio 'api' en mubench-realistic</a:t>
            </a:r>
          </a:p>
        </p:txBody>
      </p:sp>
      <p:sp>
        <p:nvSpPr>
          <p:cNvPr id="8" name="Rectangle 7"/>
          <p:cNvSpPr/>
          <p:nvPr/>
        </p:nvSpPr>
        <p:spPr>
          <a:xfrm>
            <a:off x="2167127" y="1490472"/>
            <a:ext cx="1801368" cy="320040"/>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AuthFunction.py</a:t>
            </a:r>
          </a:p>
        </p:txBody>
      </p:sp>
      <p:sp>
        <p:nvSpPr>
          <p:cNvPr id="9" name="Rectangle 8"/>
          <p:cNvSpPr/>
          <p:nvPr/>
        </p:nvSpPr>
        <p:spPr>
          <a:xfrm>
            <a:off x="2167127" y="1810512"/>
            <a:ext cx="1801368" cy="28803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auth_function(params)
Simula el servicio de autenticacion:
- genera JWT firmado con HS256
- claims: sub, scope, iat, exp
- latencia configurable (auth_latency_ms)
- fallback sin pyjwt instalado
Usado por: servicio 'auth' en mubench-realistic</a:t>
            </a:r>
          </a:p>
        </p:txBody>
      </p:sp>
      <p:sp>
        <p:nvSpPr>
          <p:cNvPr id="10" name="Rectangle 9"/>
          <p:cNvSpPr/>
          <p:nvPr/>
        </p:nvSpPr>
        <p:spPr>
          <a:xfrm>
            <a:off x="4059934" y="1490472"/>
            <a:ext cx="1801368" cy="320040"/>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DataFunction.py</a:t>
            </a:r>
          </a:p>
        </p:txBody>
      </p:sp>
      <p:sp>
        <p:nvSpPr>
          <p:cNvPr id="11" name="Rectangle 10"/>
          <p:cNvSpPr/>
          <p:nvPr/>
        </p:nvSpPr>
        <p:spPr>
          <a:xfrm>
            <a:off x="4059934" y="1810512"/>
            <a:ext cx="1801368" cy="28803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data_function(params)
Simula el servicio de datos/BD:
- latencia de consulta DB (sleep)
- I/O de disco opcional (os.open + fsync)
- lectura aleatoria de bloques (random.shuffle)
- genera N filas simuladas de BD
Usado por: servicio 'sdb-data' en mubench-realistic</a:t>
            </a:r>
          </a:p>
        </p:txBody>
      </p:sp>
      <p:sp>
        <p:nvSpPr>
          <p:cNvPr id="12" name="Rectangle 11"/>
          <p:cNvSpPr/>
          <p:nvPr/>
        </p:nvSpPr>
        <p:spPr>
          <a:xfrm>
            <a:off x="6126480" y="1143000"/>
            <a:ext cx="5943600" cy="3474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Funciones SINTETICAS  —  upstream mubench</a:t>
            </a:r>
          </a:p>
        </p:txBody>
      </p:sp>
      <p:sp>
        <p:nvSpPr>
          <p:cNvPr id="13" name="Rectangle 12"/>
          <p:cNvSpPr/>
          <p:nvPr/>
        </p:nvSpPr>
        <p:spPr>
          <a:xfrm>
            <a:off x="6126480" y="1490472"/>
            <a:ext cx="2852928"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Loader.py</a:t>
            </a:r>
          </a:p>
        </p:txBody>
      </p:sp>
      <p:sp>
        <p:nvSpPr>
          <p:cNvPr id="14" name="Rectangle 13"/>
          <p:cNvSpPr/>
          <p:nvPr/>
        </p:nvSpPr>
        <p:spPr>
          <a:xfrm>
            <a:off x="6126480" y="1810512"/>
            <a:ext cx="2852928" cy="288036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loader(params)
Funcion multi-estres para servicios sinteticos:
- cpu_stress: calcula pi con ThreadPoolExecutor
- memory_stress: alloca + lee/escribe N kB
- disk_stress: escribe/lee bloques con os.open
- sleep_stress: time.sleep configurable
Usado por: f2 (BD sdb1) y f3 (servicios s0/s1)
en WorkModelParameters.json sintetico</a:t>
            </a:r>
          </a:p>
        </p:txBody>
      </p:sp>
      <p:sp>
        <p:nvSpPr>
          <p:cNvPr id="15" name="Rectangle 14"/>
          <p:cNvSpPr/>
          <p:nvPr/>
        </p:nvSpPr>
        <p:spPr>
          <a:xfrm>
            <a:off x="9116568" y="1490472"/>
            <a:ext cx="2852928" cy="32004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Colosseum.py</a:t>
            </a:r>
          </a:p>
        </p:txBody>
      </p:sp>
      <p:sp>
        <p:nvSpPr>
          <p:cNvPr id="16" name="Rectangle 15"/>
          <p:cNvSpPr/>
          <p:nvPr/>
        </p:nvSpPr>
        <p:spPr>
          <a:xfrm>
            <a:off x="9116568" y="1810512"/>
            <a:ext cx="2852928" cy="288036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colosseum(args)
Easter egg del proyecto:
Retorna ASCII art del Coliseo Romano
codificado en base64.
Decodifica con:
base64.b64decode(c.encode('ascii'))
.decode('ascii')
NO se usa en ningun experimento real.
Probabilidad en WorkModel: 0.0</a:t>
            </a:r>
          </a:p>
        </p:txBody>
      </p:sp>
      <p:sp>
        <p:nvSpPr>
          <p:cNvPr id="17" name="Rectangle 16"/>
          <p:cNvSpPr/>
          <p:nvPr/>
        </p:nvSpPr>
        <p:spPr>
          <a:xfrm>
            <a:off x="274320" y="4846320"/>
            <a:ext cx="11612880" cy="1325880"/>
          </a:xfrm>
          <a:prstGeom prst="rect">
            <a:avLst/>
          </a:prstGeom>
          <a:solidFill>
            <a:srgbClr val="E8F0FE"/>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E75B6"/>
                </a:solidFill>
              </a:rPr>
              <a:t>Como llega la funcion al pod</a:t>
            </a:r>
          </a:p>
          <a:p>
            <a:r>
              <a:rPr sz="1200">
                <a:solidFill>
                  <a:srgbClr val="1F497D"/>
                </a:solidFill>
              </a:rPr>
              <a:t>K8sDeployer lee workmodel.json → para cada servicio obtiene el nombre de la funcion (ej: 'api_function') → monta CustomFunctions/ como ConfigMap en el pod → CellController importa la funcion dinamicamente con importlib → la ejecuta en cada request HTTP entrante. Los params del workmodel.json se pasan como dict Python al llamar la funcion.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ApiFunction.py — api_function(params)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Simula validacion JWT + rate limiting + latencia de procesamiento + respuesta variable</a:t>
            </a:r>
          </a:p>
        </p:txBody>
      </p:sp>
      <p:sp>
        <p:nvSpPr>
          <p:cNvPr id="5" name="Rectangle 4"/>
          <p:cNvSpPr/>
          <p:nvPr/>
        </p:nvSpPr>
        <p:spPr>
          <a:xfrm>
            <a:off x="365760" y="1143000"/>
            <a:ext cx="576072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variables de modulo (compartidas entre threads)</a:t>
            </a:r>
          </a:p>
          <a:p>
            <a:r>
              <a:rPr sz="1100">
                <a:solidFill>
                  <a:srgbClr val="CBD3F0"/>
                </a:solidFill>
                <a:latin typeface="Courier New"/>
              </a:rPr>
              <a:t>_rate_lock = Lock()</a:t>
            </a:r>
          </a:p>
          <a:p>
            <a:r>
              <a:rPr sz="1100">
                <a:solidFill>
                  <a:srgbClr val="F9E2AF"/>
                </a:solidFill>
                <a:latin typeface="Courier New"/>
              </a:rPr>
              <a:t>_rate_window = deque()   # timestamps de requests</a:t>
            </a:r>
          </a:p>
          <a:p>
            <a:r>
              <a:rPr sz="1100">
                <a:solidFill>
                  <a:srgbClr val="CBD3F0"/>
                </a:solidFill>
                <a:latin typeface="Courier New"/>
              </a:rPr>
              <a:t/>
            </a:r>
          </a:p>
          <a:p>
            <a:r>
              <a:rPr sz="1100">
                <a:solidFill>
                  <a:srgbClr val="CBD3F0"/>
                </a:solidFill>
                <a:latin typeface="Courier New"/>
              </a:rPr>
              <a:t>def _enforce_rate_limit(rate_limit_rpm):</a:t>
            </a:r>
          </a:p>
          <a:p>
            <a:r>
              <a:rPr sz="1100">
                <a:solidFill>
                  <a:srgbClr val="CBD3F0"/>
                </a:solidFill>
                <a:latin typeface="Courier New"/>
              </a:rPr>
              <a:t>    now = time.time()</a:t>
            </a:r>
          </a:p>
          <a:p>
            <a:r>
              <a:rPr sz="1100">
                <a:solidFill>
                  <a:srgbClr val="CBD3F0"/>
                </a:solidFill>
                <a:latin typeface="Courier New"/>
              </a:rPr>
              <a:t>    min_ts = now - 60.0   # ventana de 1 minuto</a:t>
            </a:r>
          </a:p>
          <a:p>
            <a:r>
              <a:rPr sz="1100">
                <a:solidFill>
                  <a:srgbClr val="CBD3F0"/>
                </a:solidFill>
                <a:latin typeface="Courier New"/>
              </a:rPr>
              <a:t>    with _rate_lock:</a:t>
            </a:r>
          </a:p>
          <a:p>
            <a:r>
              <a:rPr sz="1100">
                <a:solidFill>
                  <a:srgbClr val="CBD3F0"/>
                </a:solidFill>
                <a:latin typeface="Courier New"/>
              </a:rPr>
              <a:t>        # eliminar timestamps viejos</a:t>
            </a:r>
          </a:p>
          <a:p>
            <a:r>
              <a:rPr sz="1100">
                <a:solidFill>
                  <a:srgbClr val="CBD3F0"/>
                </a:solidFill>
                <a:latin typeface="Courier New"/>
              </a:rPr>
              <a:t>        while _rate_window and _rate_window[0] &lt; min_ts:</a:t>
            </a:r>
          </a:p>
          <a:p>
            <a:r>
              <a:rPr sz="1100">
                <a:solidFill>
                  <a:srgbClr val="CBD3F0"/>
                </a:solidFill>
                <a:latin typeface="Courier New"/>
              </a:rPr>
              <a:t>            _rate_window.popleft()</a:t>
            </a:r>
          </a:p>
          <a:p>
            <a:r>
              <a:rPr sz="1100">
                <a:solidFill>
                  <a:srgbClr val="F9E2AF"/>
                </a:solidFill>
                <a:latin typeface="Courier New"/>
              </a:rPr>
              <a:t>        if len(_rate_window) &gt;= rate_limit_rpm:</a:t>
            </a:r>
          </a:p>
          <a:p>
            <a:r>
              <a:rPr sz="1100">
                <a:solidFill>
                  <a:srgbClr val="CBD3F0"/>
                </a:solidFill>
                <a:latin typeface="Courier New"/>
              </a:rPr>
              <a:t>            time.sleep(0.05)  # backpressure</a:t>
            </a:r>
          </a:p>
          <a:p>
            <a:r>
              <a:rPr sz="1100">
                <a:solidFill>
                  <a:srgbClr val="CBD3F0"/>
                </a:solidFill>
                <a:latin typeface="Courier New"/>
              </a:rPr>
              <a:t>            return False</a:t>
            </a:r>
          </a:p>
          <a:p>
            <a:r>
              <a:rPr sz="1100">
                <a:solidFill>
                  <a:srgbClr val="CBD3F0"/>
                </a:solidFill>
                <a:latin typeface="Courier New"/>
              </a:rPr>
              <a:t>        _rate_window.append(now)</a:t>
            </a:r>
          </a:p>
          <a:p>
            <a:r>
              <a:rPr sz="1100">
                <a:solidFill>
                  <a:srgbClr val="CBD3F0"/>
                </a:solidFill>
                <a:latin typeface="Courier New"/>
              </a:rPr>
              <a:t>    return True</a:t>
            </a:r>
          </a:p>
          <a:p>
            <a:r>
              <a:rPr sz="1100">
                <a:solidFill>
                  <a:srgbClr val="CBD3F0"/>
                </a:solidFill>
                <a:latin typeface="Courier New"/>
              </a:rPr>
              <a:t/>
            </a:r>
          </a:p>
          <a:p>
            <a:r>
              <a:rPr sz="1100">
                <a:solidFill>
                  <a:srgbClr val="CBD3F0"/>
                </a:solidFill>
                <a:latin typeface="Courier New"/>
              </a:rPr>
              <a:t>def api_function(params):</a:t>
            </a:r>
          </a:p>
          <a:p>
            <a:r>
              <a:rPr sz="1100">
                <a:solidFill>
                  <a:srgbClr val="F9E2AF"/>
                </a:solidFill>
                <a:latin typeface="Courier New"/>
              </a:rPr>
              <a:t>    if rate_limit_enabled:</a:t>
            </a:r>
          </a:p>
          <a:p>
            <a:r>
              <a:rPr sz="1100">
                <a:solidFill>
                  <a:srgbClr val="F9E2AF"/>
                </a:solidFill>
                <a:latin typeface="Courier New"/>
              </a:rPr>
              <a:t>        _enforce_rate_limit(rate_limit_rpm)</a:t>
            </a:r>
          </a:p>
          <a:p>
            <a:r>
              <a:rPr sz="1100">
                <a:solidFill>
                  <a:srgbClr val="F9E2AF"/>
                </a:solidFill>
                <a:latin typeface="Courier New"/>
              </a:rPr>
              <a:t>    time.sleep(processing_latency_ms / 1000.0)</a:t>
            </a:r>
          </a:p>
          <a:p>
            <a:r>
              <a:rPr sz="1100">
                <a:solidFill>
                  <a:srgbClr val="CBD3F0"/>
                </a:solidFill>
                <a:latin typeface="Courier New"/>
              </a:rPr>
              <a:t>    token = pyjwt.encode({</a:t>
            </a:r>
          </a:p>
          <a:p>
            <a:r>
              <a:rPr sz="1100">
                <a:solidFill>
                  <a:srgbClr val="CBD3F0"/>
                </a:solidFill>
                <a:latin typeface="Courier New"/>
              </a:rPr>
              <a:t>        'sub':'demo','scope':'user',</a:t>
            </a:r>
          </a:p>
          <a:p>
            <a:r>
              <a:rPr sz="1100">
                <a:solidFill>
                  <a:srgbClr val="CBD3F0"/>
                </a:solidFill>
                <a:latin typeface="Courier New"/>
              </a:rPr>
              <a:t>        'iat':now,'exp':now+1800 },</a:t>
            </a:r>
          </a:p>
          <a:p>
            <a:r>
              <a:rPr sz="1100">
                <a:solidFill>
                  <a:srgbClr val="CBD3F0"/>
                </a:solidFill>
                <a:latin typeface="Courier New"/>
              </a:rPr>
              <a:t>        jwt_secret, algorithm='HS256')</a:t>
            </a:r>
          </a:p>
          <a:p>
            <a:r>
              <a:rPr sz="1100">
                <a:solidFill>
                  <a:srgbClr val="CBD3F0"/>
                </a:solidFill>
                <a:latin typeface="Courier New"/>
              </a:rPr>
              <a:t>    pyjwt.decode(token, jwt_secret,</a:t>
            </a:r>
          </a:p>
          <a:p>
            <a:r>
              <a:rPr sz="1100">
                <a:solidFill>
                  <a:srgbClr val="CBD3F0"/>
                </a:solidFill>
                <a:latin typeface="Courier New"/>
              </a:rPr>
              <a:t>        algorithms=['HS256'])</a:t>
            </a:r>
          </a:p>
          <a:p>
            <a:r>
              <a:rPr sz="1100">
                <a:solidFill>
                  <a:srgbClr val="F9E2AF"/>
                </a:solidFill>
                <a:latin typeface="Courier New"/>
              </a:rPr>
              <a:t>    bandwidth_load = random.expovariate(</a:t>
            </a:r>
          </a:p>
          <a:p>
            <a:r>
              <a:rPr sz="1100">
                <a:solidFill>
                  <a:srgbClr val="F9E2AF"/>
                </a:solidFill>
                <a:latin typeface="Courier New"/>
              </a:rPr>
              <a:t>        1 / max(1, mean_response_size))</a:t>
            </a:r>
          </a:p>
          <a:p>
            <a:r>
              <a:rPr sz="1100">
                <a:solidFill>
                  <a:srgbClr val="CBD3F0"/>
                </a:solidFill>
                <a:latin typeface="Courier New"/>
              </a:rPr>
              <a:t>    return ''.join(random.choices(</a:t>
            </a:r>
          </a:p>
          <a:p>
            <a:r>
              <a:rPr sz="1100">
                <a:solidFill>
                  <a:srgbClr val="CBD3F0"/>
                </a:solidFill>
                <a:latin typeface="Courier New"/>
              </a:rPr>
              <a:t>        ascii_letters+digits, k=num_chars))</a:t>
            </a:r>
          </a:p>
        </p:txBody>
      </p:sp>
      <p:sp>
        <p:nvSpPr>
          <p:cNvPr id="6" name="Rectangle 5"/>
          <p:cNvSpPr/>
          <p:nvPr/>
        </p:nvSpPr>
        <p:spPr>
          <a:xfrm>
            <a:off x="6309360" y="1143000"/>
            <a:ext cx="2788920" cy="25603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deque como ventana deslizante</a:t>
            </a:r>
          </a:p>
          <a:p>
            <a:r>
              <a:rPr sz="1100">
                <a:solidFill>
                  <a:srgbClr val="555555"/>
                </a:solidFill>
              </a:rPr>
              <a:t>deque (double-ended queue) permite eliminar
elementos del lado izquierdo en O(1).
El algoritmo: mantiene timestamps de los
ultimos 60s. Si hay &gt;= rpm requests en
esa ventana → aplica backpressure (sleep).
Lock: protege acceso concurrente entre
los threads de gunicorn.</a:t>
            </a:r>
          </a:p>
        </p:txBody>
      </p:sp>
      <p:sp>
        <p:nvSpPr>
          <p:cNvPr id="7" name="Rectangle 6"/>
          <p:cNvSpPr/>
          <p:nvPr/>
        </p:nvSpPr>
        <p:spPr>
          <a:xfrm>
            <a:off x="9235440" y="1143000"/>
            <a:ext cx="2788920" cy="25603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rate_limit_enabled: False</a:t>
            </a:r>
          </a:p>
          <a:p>
            <a:r>
              <a:rPr sz="1100">
                <a:solidFill>
                  <a:srgbClr val="555555"/>
                </a:solidFill>
              </a:rPr>
              <a:t>En RealisticWorkModelParameters.json
el campo rate_limit_enabled=false.
El rate limiting a nivel aplicacion
ESTA DESACTIVADO en los experimentos.
El Exp-04R usa EnvoyFilter (Istio/Envoy)
para rate limiting a nivel de proxy,
que es mas representativo de produccion.</a:t>
            </a:r>
          </a:p>
        </p:txBody>
      </p:sp>
      <p:sp>
        <p:nvSpPr>
          <p:cNvPr id="8" name="Rectangle 7"/>
          <p:cNvSpPr/>
          <p:nvPr/>
        </p:nvSpPr>
        <p:spPr>
          <a:xfrm>
            <a:off x="6309360" y="3886200"/>
            <a:ext cx="2788920" cy="25603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JWT encode + decode</a:t>
            </a:r>
          </a:p>
          <a:p>
            <a:r>
              <a:rPr sz="1100">
                <a:solidFill>
                  <a:srgbClr val="555555"/>
                </a:solidFill>
              </a:rPr>
              <a:t>La funcion genera Y valida un token
en cada request para simular la carga
criptografica de un api-service real.
pyjwt.encode(): firma con HMAC-SHA256
pyjwt.decode(): verifica firma + exp
Si pyjwt no esta instalado (JWT_AVAILABLE=False)
salta la validacion sin error.</a:t>
            </a:r>
          </a:p>
        </p:txBody>
      </p:sp>
      <p:sp>
        <p:nvSpPr>
          <p:cNvPr id="9" name="Rectangle 8"/>
          <p:cNvSpPr/>
          <p:nvPr/>
        </p:nvSpPr>
        <p:spPr>
          <a:xfrm>
            <a:off x="9235440" y="3886200"/>
            <a:ext cx="2788920" cy="25603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random.expovariate para tamano</a:t>
            </a:r>
          </a:p>
          <a:p>
            <a:r>
              <a:rPr sz="1100">
                <a:solidFill>
                  <a:srgbClr val="555555"/>
                </a:solidFill>
              </a:rPr>
              <a:t>La respuesta tiene tamano variable:
bandwidth_load ~ Exp(1/mean_response_size)
Esto simula que en un servicio real los
payloads tienen distribucion de cola larga
(muchas respuestas pequenas, pocas grandes).
mean_response_size=2 → media 2 kB.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AuthFunction.py + DataFunction.py</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Generacion de JWT firmado  vs.  simulacion de consulta a base de datos</a:t>
            </a:r>
          </a:p>
        </p:txBody>
      </p:sp>
      <p:sp>
        <p:nvSpPr>
          <p:cNvPr id="5" name="Rectangle 4"/>
          <p:cNvSpPr/>
          <p:nvPr/>
        </p:nvSpPr>
        <p:spPr>
          <a:xfrm>
            <a:off x="274320" y="1143000"/>
            <a:ext cx="5760720" cy="40233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def auth_function(params):</a:t>
            </a:r>
          </a:p>
          <a:p>
            <a:r>
              <a:rPr sz="1100">
                <a:solidFill>
                  <a:srgbClr val="CBD3F0"/>
                </a:solidFill>
                <a:latin typeface="Courier New"/>
              </a:rPr>
              <a:t>    jwt_secret = params.get('jwt_secret',</a:t>
            </a:r>
          </a:p>
          <a:p>
            <a:r>
              <a:rPr sz="1100">
                <a:solidFill>
                  <a:srgbClr val="CBD3F0"/>
                </a:solidFill>
                <a:latin typeface="Courier New"/>
              </a:rPr>
              <a:t>                  'mubench-dev-secret')</a:t>
            </a:r>
          </a:p>
          <a:p>
            <a:r>
              <a:rPr sz="1100">
                <a:solidFill>
                  <a:srgbClr val="CBD3F0"/>
                </a:solidFill>
                <a:latin typeface="Courier New"/>
              </a:rPr>
              <a:t>    jwt_expire_minutes = int(params.get(</a:t>
            </a:r>
          </a:p>
          <a:p>
            <a:r>
              <a:rPr sz="1100">
                <a:solidFill>
                  <a:srgbClr val="CBD3F0"/>
                </a:solidFill>
                <a:latin typeface="Courier New"/>
              </a:rPr>
              <a:t>                  'jwt_expire_minutes', 30))</a:t>
            </a:r>
          </a:p>
          <a:p>
            <a:r>
              <a:rPr sz="1100">
                <a:solidFill>
                  <a:srgbClr val="CBD3F0"/>
                </a:solidFill>
                <a:latin typeface="Courier New"/>
              </a:rPr>
              <a:t>    username = params.get('username','demo')</a:t>
            </a:r>
          </a:p>
          <a:p>
            <a:r>
              <a:rPr sz="1100">
                <a:solidFill>
                  <a:srgbClr val="CBD3F0"/>
                </a:solidFill>
                <a:latin typeface="Courier New"/>
              </a:rPr>
              <a:t>    auth_latency = params.get(</a:t>
            </a:r>
          </a:p>
          <a:p>
            <a:r>
              <a:rPr sz="1100">
                <a:solidFill>
                  <a:srgbClr val="CBD3F0"/>
                </a:solidFill>
                <a:latin typeface="Courier New"/>
              </a:rPr>
              <a:t>        'auth_latency_ms', 5) / 1000.0</a:t>
            </a:r>
          </a:p>
          <a:p>
            <a:r>
              <a:rPr sz="1100">
                <a:solidFill>
                  <a:srgbClr val="CBD3F0"/>
                </a:solidFill>
                <a:latin typeface="Courier New"/>
              </a:rPr>
              <a:t/>
            </a:r>
          </a:p>
          <a:p>
            <a:r>
              <a:rPr sz="1100">
                <a:solidFill>
                  <a:srgbClr val="F9E2AF"/>
                </a:solidFill>
                <a:latin typeface="Courier New"/>
              </a:rPr>
              <a:t>    time.sleep(auth_latency)   # simula BD lookup</a:t>
            </a:r>
          </a:p>
          <a:p>
            <a:r>
              <a:rPr sz="1100">
                <a:solidFill>
                  <a:srgbClr val="CBD3F0"/>
                </a:solidFill>
                <a:latin typeface="Courier New"/>
              </a:rPr>
              <a:t/>
            </a:r>
          </a:p>
          <a:p>
            <a:r>
              <a:rPr sz="1100">
                <a:solidFill>
                  <a:srgbClr val="CBD3F0"/>
                </a:solidFill>
                <a:latin typeface="Courier New"/>
              </a:rPr>
              <a:t>    now = datetime.now(tz=timezone.utc)</a:t>
            </a:r>
          </a:p>
          <a:p>
            <a:r>
              <a:rPr sz="1100">
                <a:solidFill>
                  <a:srgbClr val="CBD3F0"/>
                </a:solidFill>
                <a:latin typeface="Courier New"/>
              </a:rPr>
              <a:t>    exp = now + timedelta(minutes=expire)</a:t>
            </a:r>
          </a:p>
          <a:p>
            <a:r>
              <a:rPr sz="1100">
                <a:solidFill>
                  <a:srgbClr val="F9E2AF"/>
                </a:solidFill>
                <a:latin typeface="Courier New"/>
              </a:rPr>
              <a:t>    token = pyjwt.encode({</a:t>
            </a:r>
          </a:p>
          <a:p>
            <a:r>
              <a:rPr sz="1100">
                <a:solidFill>
                  <a:srgbClr val="F9E2AF"/>
                </a:solidFill>
                <a:latin typeface="Courier New"/>
              </a:rPr>
              <a:t>        'sub': username,</a:t>
            </a:r>
          </a:p>
          <a:p>
            <a:r>
              <a:rPr sz="1100">
                <a:solidFill>
                  <a:srgbClr val="CBD3F0"/>
                </a:solidFill>
                <a:latin typeface="Courier New"/>
              </a:rPr>
              <a:t>        'scope': 'user',</a:t>
            </a:r>
          </a:p>
          <a:p>
            <a:r>
              <a:rPr sz="1100">
                <a:solidFill>
                  <a:srgbClr val="CBD3F0"/>
                </a:solidFill>
                <a:latin typeface="Courier New"/>
              </a:rPr>
              <a:t>        'iat': int(now.timestamp()),</a:t>
            </a:r>
          </a:p>
          <a:p>
            <a:r>
              <a:rPr sz="1100">
                <a:solidFill>
                  <a:srgbClr val="CBD3F0"/>
                </a:solidFill>
                <a:latin typeface="Courier New"/>
              </a:rPr>
              <a:t>        'exp': int(exp.timestamp()),</a:t>
            </a:r>
          </a:p>
          <a:p>
            <a:r>
              <a:rPr sz="1100">
                <a:solidFill>
                  <a:srgbClr val="F9E2AF"/>
                </a:solidFill>
                <a:latin typeface="Courier New"/>
              </a:rPr>
              <a:t>    }, jwt_secret, algorithm='HS256')</a:t>
            </a:r>
          </a:p>
          <a:p>
            <a:r>
              <a:rPr sz="1100">
                <a:solidFill>
                  <a:srgbClr val="CBD3F0"/>
                </a:solidFill>
                <a:latin typeface="Courier New"/>
              </a:rPr>
              <a:t>    return token</a:t>
            </a:r>
          </a:p>
        </p:txBody>
      </p:sp>
      <p:sp>
        <p:nvSpPr>
          <p:cNvPr id="6" name="Rectangle 5"/>
          <p:cNvSpPr/>
          <p:nvPr/>
        </p:nvSpPr>
        <p:spPr>
          <a:xfrm>
            <a:off x="6126480" y="1143000"/>
            <a:ext cx="2468880" cy="16459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Claims JWT</a:t>
            </a:r>
          </a:p>
          <a:p>
            <a:r>
              <a:rPr sz="1100">
                <a:solidFill>
                  <a:srgbClr val="555555"/>
                </a:solidFill>
              </a:rPr>
              <a:t>sub: sujeto (username)
scope: permisos ('user')
iat: issued-at (epoch)
exp: expiracion (iat + 30min)
El mismo jwt_secret que
usa api_function para validar.</a:t>
            </a:r>
          </a:p>
        </p:txBody>
      </p:sp>
      <p:sp>
        <p:nvSpPr>
          <p:cNvPr id="7" name="Rectangle 6"/>
          <p:cNvSpPr/>
          <p:nvPr/>
        </p:nvSpPr>
        <p:spPr>
          <a:xfrm>
            <a:off x="6126480" y="2926080"/>
            <a:ext cx="2468880" cy="16459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auth_latency_ms</a:t>
            </a:r>
          </a:p>
          <a:p>
            <a:r>
              <a:rPr sz="1100">
                <a:solidFill>
                  <a:srgbClr val="555555"/>
                </a:solidFill>
              </a:rPr>
              <a:t>Simula el tiempo de busqueda
en BD de credenciales.
Default: 5ms
Config en RealisticWorkModel:
auth_latency_ms=5</a:t>
            </a:r>
          </a:p>
        </p:txBody>
      </p:sp>
      <p:sp>
        <p:nvSpPr>
          <p:cNvPr id="8" name="Rectangle 7"/>
          <p:cNvSpPr/>
          <p:nvPr/>
        </p:nvSpPr>
        <p:spPr>
          <a:xfrm>
            <a:off x="8778240" y="1143000"/>
            <a:ext cx="3383280" cy="40233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def data_function(params):</a:t>
            </a:r>
          </a:p>
          <a:p>
            <a:r>
              <a:rPr sz="1100">
                <a:solidFill>
                  <a:srgbClr val="CBD3F0"/>
                </a:solidFill>
                <a:latin typeface="Courier New"/>
              </a:rPr>
              <a:t>    time.sleep(query_latency_ms</a:t>
            </a:r>
          </a:p>
          <a:p>
            <a:r>
              <a:rPr sz="1100">
                <a:solidFill>
                  <a:srgbClr val="CBD3F0"/>
                </a:solidFill>
                <a:latin typeface="Courier New"/>
              </a:rPr>
              <a:t>               / 1000.0)</a:t>
            </a:r>
          </a:p>
          <a:p>
            <a:r>
              <a:rPr sz="1100">
                <a:solidFill>
                  <a:srgbClr val="F9E2AF"/>
                </a:solidFill>
                <a:latin typeface="Courier New"/>
              </a:rPr>
              <a:t>    if simulate_disk:</a:t>
            </a:r>
          </a:p>
          <a:p>
            <a:r>
              <a:rPr sz="1100">
                <a:solidFill>
                  <a:srgbClr val="CBD3F0"/>
                </a:solidFill>
                <a:latin typeface="Courier New"/>
              </a:rPr>
              <a:t>        f = os.open(filename,</a:t>
            </a:r>
          </a:p>
          <a:p>
            <a:r>
              <a:rPr sz="1100">
                <a:solidFill>
                  <a:srgbClr val="CBD3F0"/>
                </a:solidFill>
                <a:latin typeface="Courier New"/>
              </a:rPr>
              <a:t>          os.O_CREAT|os.O_WRONLY,</a:t>
            </a:r>
          </a:p>
          <a:p>
            <a:r>
              <a:rPr sz="1100">
                <a:solidFill>
                  <a:srgbClr val="CBD3F0"/>
                </a:solidFill>
                <a:latin typeface="Courier New"/>
              </a:rPr>
              <a:t>          0o600)</a:t>
            </a:r>
          </a:p>
          <a:p>
            <a:r>
              <a:rPr sz="1100">
                <a:solidFill>
                  <a:srgbClr val="CBD3F0"/>
                </a:solidFill>
                <a:latin typeface="Courier New"/>
              </a:rPr>
              <a:t>        for _ in range(blocks):</a:t>
            </a:r>
          </a:p>
          <a:p>
            <a:r>
              <a:rPr sz="1100">
                <a:solidFill>
                  <a:srgbClr val="CBD3F0"/>
                </a:solidFill>
                <a:latin typeface="Courier New"/>
              </a:rPr>
              <a:t>            os.write(f,</a:t>
            </a:r>
          </a:p>
          <a:p>
            <a:r>
              <a:rPr sz="1100">
                <a:solidFill>
                  <a:srgbClr val="CBD3F0"/>
                </a:solidFill>
                <a:latin typeface="Courier New"/>
              </a:rPr>
              <a:t>              os.urandom(block_size))</a:t>
            </a:r>
          </a:p>
          <a:p>
            <a:r>
              <a:rPr sz="1100">
                <a:solidFill>
                  <a:srgbClr val="F9E2AF"/>
                </a:solidFill>
                <a:latin typeface="Courier New"/>
              </a:rPr>
              <a:t>        os.fsync(f)</a:t>
            </a:r>
          </a:p>
          <a:p>
            <a:r>
              <a:rPr sz="1100">
                <a:solidFill>
                  <a:srgbClr val="CBD3F0"/>
                </a:solidFill>
                <a:latin typeface="Courier New"/>
              </a:rPr>
              <a:t>        os.close(f)</a:t>
            </a:r>
          </a:p>
          <a:p>
            <a:r>
              <a:rPr sz="1100">
                <a:solidFill>
                  <a:srgbClr val="CBD3F0"/>
                </a:solidFill>
                <a:latin typeface="Courier New"/>
              </a:rPr>
              <a:t>        # lectura aleatoria</a:t>
            </a:r>
          </a:p>
          <a:p>
            <a:r>
              <a:rPr sz="1100">
                <a:solidFill>
                  <a:srgbClr val="F9E2AF"/>
                </a:solidFill>
                <a:latin typeface="Courier New"/>
              </a:rPr>
              <a:t>        offsets = list(range(...))</a:t>
            </a:r>
          </a:p>
          <a:p>
            <a:r>
              <a:rPr sz="1100">
                <a:solidFill>
                  <a:srgbClr val="F9E2AF"/>
                </a:solidFill>
                <a:latin typeface="Courier New"/>
              </a:rPr>
              <a:t>        random.shuffle(offsets)</a:t>
            </a:r>
          </a:p>
          <a:p>
            <a:r>
              <a:rPr sz="1100">
                <a:solidFill>
                  <a:srgbClr val="CBD3F0"/>
                </a:solidFill>
                <a:latin typeface="Courier New"/>
              </a:rPr>
              <a:t>        for offset in offsets:</a:t>
            </a:r>
          </a:p>
          <a:p>
            <a:r>
              <a:rPr sz="1100">
                <a:solidFill>
                  <a:srgbClr val="CBD3F0"/>
                </a:solidFill>
                <a:latin typeface="Courier New"/>
              </a:rPr>
              <a:t>            os.lseek(f, offset, ...)</a:t>
            </a:r>
          </a:p>
          <a:p>
            <a:r>
              <a:rPr sz="1100">
                <a:solidFill>
                  <a:srgbClr val="CBD3F0"/>
                </a:solidFill>
                <a:latin typeface="Courier New"/>
              </a:rPr>
              <a:t>            os.read(f, block_size)</a:t>
            </a:r>
          </a:p>
          <a:p>
            <a:r>
              <a:rPr sz="1100">
                <a:solidFill>
                  <a:srgbClr val="CBD3F0"/>
                </a:solidFill>
                <a:latin typeface="Courier New"/>
              </a:rPr>
              <a:t>    # genera filas simuladas</a:t>
            </a:r>
          </a:p>
          <a:p>
            <a:r>
              <a:rPr sz="1100">
                <a:solidFill>
                  <a:srgbClr val="F9E2AF"/>
                </a:solidFill>
                <a:latin typeface="Courier New"/>
              </a:rPr>
              <a:t>    rows = [f'{id,username,email}'</a:t>
            </a:r>
          </a:p>
          <a:p>
            <a:r>
              <a:rPr sz="1100">
                <a:solidFill>
                  <a:srgbClr val="CBD3F0"/>
                </a:solidFill>
                <a:latin typeface="Courier New"/>
              </a:rPr>
              <a:t>            for i in range(db_rows)]</a:t>
            </a:r>
          </a:p>
          <a:p>
            <a:r>
              <a:rPr sz="1100">
                <a:solidFill>
                  <a:srgbClr val="CBD3F0"/>
                </a:solidFill>
                <a:latin typeface="Courier New"/>
              </a:rPr>
              <a:t>    return ','.join(rows)</a:t>
            </a:r>
          </a:p>
        </p:txBody>
      </p:sp>
      <p:sp>
        <p:nvSpPr>
          <p:cNvPr id="9" name="Rectangle 8"/>
          <p:cNvSpPr/>
          <p:nvPr/>
        </p:nvSpPr>
        <p:spPr>
          <a:xfrm>
            <a:off x="274320" y="5321808"/>
            <a:ext cx="3794760" cy="132588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3690F"/>
                </a:solidFill>
                <a:latin typeface="Courier New"/>
              </a:rPr>
              <a:t>simulate_disk: False por defecto</a:t>
            </a:r>
          </a:p>
          <a:p>
            <a:r>
              <a:rPr sz="1000">
                <a:solidFill>
                  <a:srgbClr val="555555"/>
                </a:solidFill>
              </a:rPr>
              <a:t>En RealisticWorkModelParameters el campo
simulate_disk=false → solo sleep.
Si se activa: os.open (syscall directo)
+ os.fsync (flush forzado a disco)
simula una BD con WAL (Write-Ahead Log).</a:t>
            </a:r>
          </a:p>
        </p:txBody>
      </p:sp>
      <p:sp>
        <p:nvSpPr>
          <p:cNvPr id="10" name="Rectangle 9"/>
          <p:cNvSpPr/>
          <p:nvPr/>
        </p:nvSpPr>
        <p:spPr>
          <a:xfrm>
            <a:off x="4251959" y="5321808"/>
            <a:ext cx="3794760" cy="132588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C0392B"/>
                </a:solidFill>
                <a:latin typeface="Courier New"/>
              </a:rPr>
              <a:t>Lectura aleatoria de bloques</a:t>
            </a:r>
          </a:p>
          <a:p>
            <a:r>
              <a:rPr sz="1000">
                <a:solidFill>
                  <a:srgbClr val="555555"/>
                </a:solidFill>
              </a:rPr>
              <a:t>random.shuffle(offsets) + os.lseek
simula acceso no-secuencial a disco,
como haría una BD con indices B-tree.
Mas realista que lectura lineal.</a:t>
            </a:r>
          </a:p>
        </p:txBody>
      </p:sp>
      <p:sp>
        <p:nvSpPr>
          <p:cNvPr id="11" name="Rectangle 10"/>
          <p:cNvSpPr/>
          <p:nvPr/>
        </p:nvSpPr>
        <p:spPr>
          <a:xfrm>
            <a:off x="8229598" y="5321808"/>
            <a:ext cx="3794760" cy="132588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E6B3A"/>
                </a:solidFill>
                <a:latin typeface="Courier New"/>
              </a:rPr>
              <a:t>os.urandom vs random</a:t>
            </a:r>
          </a:p>
          <a:p>
            <a:r>
              <a:rPr sz="1000">
                <a:solidFill>
                  <a:srgbClr val="555555"/>
                </a:solidFill>
              </a:rPr>
              <a:t>Escritura: os.urandom(block_size)
→ entropia real del SO, no predecible.
Seguro para simular datos reales.
Archivo temporal removido en finally.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Loader.py — Funcion de estres sintetica (4 modos)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Usada por servicios sinteticos s0/s1 (cpu_stress) y sdb1 (disk_stress)</a:t>
            </a:r>
          </a:p>
        </p:txBody>
      </p:sp>
      <p:sp>
        <p:nvSpPr>
          <p:cNvPr id="5" name="Rectangle 4"/>
          <p:cNvSpPr/>
          <p:nvPr/>
        </p:nvSpPr>
        <p:spPr>
          <a:xfrm>
            <a:off x="365760" y="1143000"/>
            <a:ext cx="530352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def loader(params):</a:t>
            </a:r>
          </a:p>
          <a:p>
            <a:r>
              <a:rPr sz="1100">
                <a:solidFill>
                  <a:srgbClr val="CBD3F0"/>
                </a:solidFill>
                <a:latin typeface="Courier New"/>
              </a:rPr>
              <a:t>  # 1. CPU stress</a:t>
            </a:r>
          </a:p>
          <a:p>
            <a:r>
              <a:rPr sz="1100">
                <a:solidFill>
                  <a:srgbClr val="CBD3F0"/>
                </a:solidFill>
                <a:latin typeface="Courier New"/>
              </a:rPr>
              <a:t>  if cpu_stress['run']:</a:t>
            </a:r>
          </a:p>
          <a:p>
            <a:r>
              <a:rPr sz="1100">
                <a:solidFill>
                  <a:srgbClr val="F9E2AF"/>
                </a:solidFill>
                <a:latin typeface="Courier New"/>
              </a:rPr>
              <a:t>    pool = ThreadPoolExecutor(pool_size)</a:t>
            </a:r>
          </a:p>
          <a:p>
            <a:r>
              <a:rPr sz="1100">
                <a:solidFill>
                  <a:srgbClr val="CBD3F0"/>
                </a:solidFill>
                <a:latin typeface="Courier New"/>
              </a:rPr>
              <a:t>    for _ in range(pool_size):</a:t>
            </a:r>
          </a:p>
          <a:p>
            <a:r>
              <a:rPr sz="1100">
                <a:solidFill>
                  <a:srgbClr val="CBD3F0"/>
                </a:solidFill>
                <a:latin typeface="Courier New"/>
              </a:rPr>
              <a:t>      pool.submit(cpu_loader_job, params)</a:t>
            </a:r>
          </a:p>
          <a:p>
            <a:r>
              <a:rPr sz="1100">
                <a:solidFill>
                  <a:srgbClr val="CBD3F0"/>
                </a:solidFill>
                <a:latin typeface="Courier New"/>
              </a:rPr>
              <a:t>    wait(futures)   # bloquea hasta terminar</a:t>
            </a:r>
          </a:p>
          <a:p>
            <a:r>
              <a:rPr sz="1100">
                <a:solidFill>
                  <a:srgbClr val="CBD3F0"/>
                </a:solidFill>
                <a:latin typeface="Courier New"/>
              </a:rPr>
              <a:t/>
            </a:r>
          </a:p>
          <a:p>
            <a:r>
              <a:rPr sz="1100">
                <a:solidFill>
                  <a:srgbClr val="CBD3F0"/>
                </a:solidFill>
                <a:latin typeface="Courier New"/>
              </a:rPr>
              <a:t>  # 2. Memory stress</a:t>
            </a:r>
          </a:p>
          <a:p>
            <a:r>
              <a:rPr sz="1100">
                <a:solidFill>
                  <a:srgbClr val="F9E2AF"/>
                </a:solidFill>
                <a:latin typeface="Courier New"/>
              </a:rPr>
              <a:t>  if memory_stress['run']:</a:t>
            </a:r>
          </a:p>
          <a:p>
            <a:r>
              <a:rPr sz="1100">
                <a:solidFill>
                  <a:srgbClr val="CBD3F0"/>
                </a:solidFill>
                <a:latin typeface="Courier New"/>
              </a:rPr>
              <a:t>    buf = ['A'*1000 for _ in range(mem_size)]</a:t>
            </a:r>
          </a:p>
          <a:p>
            <a:r>
              <a:rPr sz="1100">
                <a:solidFill>
                  <a:srgbClr val="CBD3F0"/>
                </a:solidFill>
                <a:latin typeface="Courier New"/>
              </a:rPr>
              <a:t>    for i in range(mem_io):</a:t>
            </a:r>
          </a:p>
          <a:p>
            <a:r>
              <a:rPr sz="1100">
                <a:solidFill>
                  <a:srgbClr val="CBD3F0"/>
                </a:solidFill>
                <a:latin typeface="Courier New"/>
              </a:rPr>
              <a:t>        v = buf[i % mem_size]     # read</a:t>
            </a:r>
          </a:p>
          <a:p>
            <a:r>
              <a:rPr sz="1100">
                <a:solidFill>
                  <a:srgbClr val="CBD3F0"/>
                </a:solidFill>
                <a:latin typeface="Courier New"/>
              </a:rPr>
              <a:t>        buf[i % mem_size] = ['A'*1000]  # write</a:t>
            </a:r>
          </a:p>
          <a:p>
            <a:r>
              <a:rPr sz="1100">
                <a:solidFill>
                  <a:srgbClr val="CBD3F0"/>
                </a:solidFill>
                <a:latin typeface="Courier New"/>
              </a:rPr>
              <a:t/>
            </a:r>
          </a:p>
          <a:p>
            <a:r>
              <a:rPr sz="1100">
                <a:solidFill>
                  <a:srgbClr val="CBD3F0"/>
                </a:solidFill>
                <a:latin typeface="Courier New"/>
              </a:rPr>
              <a:t>  # 3. Disk stress</a:t>
            </a:r>
          </a:p>
          <a:p>
            <a:r>
              <a:rPr sz="1100">
                <a:solidFill>
                  <a:srgbClr val="F9E2AF"/>
                </a:solidFill>
                <a:latin typeface="Courier New"/>
              </a:rPr>
              <a:t>  if disk_stress['run']:</a:t>
            </a:r>
          </a:p>
          <a:p>
            <a:r>
              <a:rPr sz="1100">
                <a:solidFill>
                  <a:srgbClr val="CBD3F0"/>
                </a:solidFill>
                <a:latin typeface="Courier New"/>
              </a:rPr>
              <a:t>    f = os.open(filename, O_CREAT|O_WRONLY)</a:t>
            </a:r>
          </a:p>
          <a:p>
            <a:r>
              <a:rPr sz="1100">
                <a:solidFill>
                  <a:srgbClr val="CBD3F0"/>
                </a:solidFill>
                <a:latin typeface="Courier New"/>
              </a:rPr>
              <a:t>    for i in range(blocks_count):</a:t>
            </a:r>
          </a:p>
          <a:p>
            <a:r>
              <a:rPr sz="1100">
                <a:solidFill>
                  <a:srgbClr val="CBD3F0"/>
                </a:solidFill>
                <a:latin typeface="Courier New"/>
              </a:rPr>
              <a:t>        os.write(f, os.urandom(block_size))</a:t>
            </a:r>
          </a:p>
          <a:p>
            <a:r>
              <a:rPr sz="1100">
                <a:solidFill>
                  <a:srgbClr val="CBD3F0"/>
                </a:solidFill>
                <a:latin typeface="Courier New"/>
              </a:rPr>
              <a:t>    os.fsync(f)   # fuerza flush al disco</a:t>
            </a:r>
          </a:p>
          <a:p>
            <a:r>
              <a:rPr sz="1100">
                <a:solidFill>
                  <a:srgbClr val="CBD3F0"/>
                </a:solidFill>
                <a:latin typeface="Courier New"/>
              </a:rPr>
              <a:t>    # lectura aleatoria de cada bloque</a:t>
            </a:r>
          </a:p>
          <a:p>
            <a:r>
              <a:rPr sz="1100">
                <a:solidFill>
                  <a:srgbClr val="CBD3F0"/>
                </a:solidFill>
                <a:latin typeface="Courier New"/>
              </a:rPr>
              <a:t/>
            </a:r>
          </a:p>
          <a:p>
            <a:r>
              <a:rPr sz="1100">
                <a:solidFill>
                  <a:srgbClr val="CBD3F0"/>
                </a:solidFill>
                <a:latin typeface="Courier New"/>
              </a:rPr>
              <a:t>  # 4. Sleep stress</a:t>
            </a:r>
          </a:p>
          <a:p>
            <a:r>
              <a:rPr sz="1100">
                <a:solidFill>
                  <a:srgbClr val="F9E2AF"/>
                </a:solidFill>
                <a:latin typeface="Courier New"/>
              </a:rPr>
              <a:t>  if sleep_stress['run']:</a:t>
            </a:r>
          </a:p>
          <a:p>
            <a:r>
              <a:rPr sz="1100">
                <a:solidFill>
                  <a:srgbClr val="CBD3F0"/>
                </a:solidFill>
                <a:latin typeface="Courier New"/>
              </a:rPr>
              <a:t>    time.sleep(sleep_time)</a:t>
            </a:r>
          </a:p>
          <a:p>
            <a:r>
              <a:rPr sz="1100">
                <a:solidFill>
                  <a:srgbClr val="CBD3F0"/>
                </a:solidFill>
                <a:latin typeface="Courier New"/>
              </a:rPr>
              <a:t/>
            </a:r>
          </a:p>
          <a:p>
            <a:r>
              <a:rPr sz="1100">
                <a:solidFill>
                  <a:srgbClr val="CBD3F0"/>
                </a:solidFill>
                <a:latin typeface="Courier New"/>
              </a:rPr>
              <a:t>  # Respuesta de tamano aleatorio</a:t>
            </a:r>
          </a:p>
          <a:p>
            <a:r>
              <a:rPr sz="1100">
                <a:solidFill>
                  <a:srgbClr val="F9E2AF"/>
                </a:solidFill>
                <a:latin typeface="Courier New"/>
              </a:rPr>
              <a:t>  return bandwidth_loader(params)</a:t>
            </a:r>
          </a:p>
        </p:txBody>
      </p:sp>
      <p:sp>
        <p:nvSpPr>
          <p:cNvPr id="6" name="Rectangle 5"/>
          <p:cNvSpPr/>
          <p:nvPr/>
        </p:nvSpPr>
        <p:spPr>
          <a:xfrm>
            <a:off x="5852160" y="1143000"/>
            <a:ext cx="2926080" cy="16916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cpu_stress</a:t>
            </a:r>
          </a:p>
          <a:p>
            <a:r>
              <a:rPr sz="1100">
                <a:solidFill>
                  <a:srgbClr val="555555"/>
                </a:solidFill>
              </a:rPr>
              <a:t>Calcula decimales de pi con algoritmo
de Spigot (sin punto flotante).
ThreadPoolExecutor(pool_size): corre
pool_size jobs en paralelo.
f3 en WorkModel: range_complexity=[1000,1000]
→ 1000 decimales de pi × 1 trial × 1 thread.</a:t>
            </a:r>
          </a:p>
        </p:txBody>
      </p:sp>
      <p:sp>
        <p:nvSpPr>
          <p:cNvPr id="7" name="Rectangle 6"/>
          <p:cNvSpPr/>
          <p:nvPr/>
        </p:nvSpPr>
        <p:spPr>
          <a:xfrm>
            <a:off x="8961120" y="1143000"/>
            <a:ext cx="2926080" cy="16916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memory_stress</a:t>
            </a:r>
          </a:p>
          <a:p>
            <a:r>
              <a:rPr sz="1100">
                <a:solidFill>
                  <a:srgbClr val="555555"/>
                </a:solidFill>
              </a:rPr>
              <a:t>Alloca memory_size × 1 kB en lista Python.
memory_io operaciones R/W de 1 elemento.
Efecto: fuerza uso de RAM y cache L1/L2/L3.
Desactivado por defecto en WorkModel.
Util para simular servicios memory-bound.</a:t>
            </a:r>
          </a:p>
        </p:txBody>
      </p:sp>
      <p:sp>
        <p:nvSpPr>
          <p:cNvPr id="8" name="Rectangle 7"/>
          <p:cNvSpPr/>
          <p:nvPr/>
        </p:nvSpPr>
        <p:spPr>
          <a:xfrm>
            <a:off x="5852160" y="2971800"/>
            <a:ext cx="2926080" cy="16916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disk_stress</a:t>
            </a:r>
          </a:p>
          <a:p>
            <a:r>
              <a:rPr sz="1100">
                <a:solidFill>
                  <a:srgbClr val="555555"/>
                </a:solidFill>
              </a:rPr>
              <a:t>Escritura secuencial: blocks_count bloques
de block_size bytes con os.urandom.
os.fsync() = garantia de persistencia.
f2 en WorkModel (BD sdb1):
disk_write_block_count=1000
disk_write_block_size=1024 → 1MB por req.</a:t>
            </a:r>
          </a:p>
        </p:txBody>
      </p:sp>
      <p:sp>
        <p:nvSpPr>
          <p:cNvPr id="9" name="Rectangle 8"/>
          <p:cNvSpPr/>
          <p:nvPr/>
        </p:nvSpPr>
        <p:spPr>
          <a:xfrm>
            <a:off x="8961120" y="2971800"/>
            <a:ext cx="2926080" cy="16916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sleep_stress</a:t>
            </a:r>
          </a:p>
          <a:p>
            <a:r>
              <a:rPr sz="1100">
                <a:solidFill>
                  <a:srgbClr val="555555"/>
                </a:solidFill>
              </a:rPr>
              <a:t>time.sleep(sleep_time) simula latencia
de red o servicios externos lentos.
El thread queda bloqueado pero NO consume
CPU — distinto al busy-wait.
Desactivado en WorkModel sintetico.
Util para simular servicios I/O-bound.</a:t>
            </a:r>
          </a:p>
        </p:txBody>
      </p:sp>
      <p:sp>
        <p:nvSpPr>
          <p:cNvPr id="10" name="Rectangle 9"/>
          <p:cNvSpPr/>
          <p:nvPr/>
        </p:nvSpPr>
        <p:spPr>
          <a:xfrm>
            <a:off x="5852160" y="4800600"/>
            <a:ext cx="2926080" cy="16916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cpu_loader_job detalle</a:t>
            </a:r>
          </a:p>
          <a:p>
            <a:r>
              <a:rPr sz="1100">
                <a:solidFill>
                  <a:srgbClr val="555555"/>
                </a:solidFill>
              </a:rPr>
              <a:t>Algoritmo de Spigot para pi:
q, r, t, k, m, x = 1, 0, 1, 1, 3, 3
Loop infinito genera un digito a la vez.
Ventaja: puramente entero (no float),
estresa la ALU entera del CPU.
Corre trials veces por job.</a:t>
            </a:r>
          </a:p>
        </p:txBody>
      </p:sp>
      <p:sp>
        <p:nvSpPr>
          <p:cNvPr id="11" name="Rectangle 10"/>
          <p:cNvSpPr/>
          <p:nvPr/>
        </p:nvSpPr>
        <p:spPr>
          <a:xfrm>
            <a:off x="8961120" y="4800600"/>
            <a:ext cx="2926080" cy="16916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bandwidth_loader</a:t>
            </a:r>
          </a:p>
          <a:p>
            <a:r>
              <a:rPr sz="1100">
                <a:solidFill>
                  <a:srgbClr val="555555"/>
                </a:solidFill>
              </a:rPr>
              <a:t>Siempre se llama al final.
Genera string aleatorio de tamano:
~ Exp(1/mean_response_size) × 1000 chars.
Simula la carga de red:
mean_response_size=11 kB para sdb1
mean_response_size definido en WorkModel.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Colosseum.py — Easter egg del proyecto mubench</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ASCII art del Coliseo Romano codificado en base64 — no se usa en ningun experimento</a:t>
            </a:r>
          </a:p>
        </p:txBody>
      </p:sp>
      <p:sp>
        <p:nvSpPr>
          <p:cNvPr id="5" name="Rectangle 4"/>
          <p:cNvSpPr/>
          <p:nvPr/>
        </p:nvSpPr>
        <p:spPr>
          <a:xfrm>
            <a:off x="365760" y="1143000"/>
            <a:ext cx="548640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def colosseum(args):</a:t>
            </a:r>
          </a:p>
          <a:p>
            <a:r>
              <a:rPr sz="1100">
                <a:solidFill>
                  <a:srgbClr val="CBD3F0"/>
                </a:solidFill>
                <a:latin typeface="Courier New"/>
              </a:rPr>
              <a:t>    c = 'CiAgICAgICAgICAgICAgIC...'</a:t>
            </a:r>
          </a:p>
          <a:p>
            <a:r>
              <a:rPr sz="1100">
                <a:solidFill>
                  <a:srgbClr val="CBD3F0"/>
                </a:solidFill>
                <a:latin typeface="Courier New"/>
              </a:rPr>
              <a:t>    # string base64 de ~4kB</a:t>
            </a:r>
          </a:p>
          <a:p>
            <a:r>
              <a:rPr sz="1100">
                <a:solidFill>
                  <a:srgbClr val="CBD3F0"/>
                </a:solidFill>
                <a:latin typeface="Courier New"/>
              </a:rPr>
              <a:t/>
            </a:r>
          </a:p>
          <a:p>
            <a:r>
              <a:rPr sz="1100">
                <a:solidFill>
                  <a:srgbClr val="F9E2AF"/>
                </a:solidFill>
                <a:latin typeface="Courier New"/>
              </a:rPr>
              <a:t>    base64_bytes = c.encode('ascii')</a:t>
            </a:r>
          </a:p>
          <a:p>
            <a:r>
              <a:rPr sz="1100">
                <a:solidFill>
                  <a:srgbClr val="F9E2AF"/>
                </a:solidFill>
                <a:latin typeface="Courier New"/>
              </a:rPr>
              <a:t>    message_bytes = base64.b64decode(</a:t>
            </a:r>
          </a:p>
          <a:p>
            <a:r>
              <a:rPr sz="1100">
                <a:solidFill>
                  <a:srgbClr val="CBD3F0"/>
                </a:solidFill>
                <a:latin typeface="Courier New"/>
              </a:rPr>
              <a:t>        base64_bytes)</a:t>
            </a:r>
          </a:p>
          <a:p>
            <a:r>
              <a:rPr sz="1100">
                <a:solidFill>
                  <a:srgbClr val="F9E2AF"/>
                </a:solidFill>
                <a:latin typeface="Courier New"/>
              </a:rPr>
              <a:t>    message = message_bytes.decode('ascii')</a:t>
            </a:r>
          </a:p>
          <a:p>
            <a:r>
              <a:rPr sz="1100">
                <a:solidFill>
                  <a:srgbClr val="CBD3F0"/>
                </a:solidFill>
                <a:latin typeface="Courier New"/>
              </a:rPr>
              <a:t>    return message</a:t>
            </a:r>
          </a:p>
          <a:p>
            <a:r>
              <a:rPr sz="1100">
                <a:solidFill>
                  <a:srgbClr val="CBD3F0"/>
                </a:solidFill>
                <a:latin typeface="Courier New"/>
              </a:rPr>
              <a:t/>
            </a:r>
          </a:p>
          <a:p>
            <a:r>
              <a:rPr sz="1100">
                <a:solidFill>
                  <a:srgbClr val="CBD3F0"/>
                </a:solidFill>
                <a:latin typeface="Courier New"/>
              </a:rPr>
              <a:t># Resultado (imprimible en terminal):</a:t>
            </a:r>
          </a:p>
          <a:p>
            <a:r>
              <a:rPr sz="1100">
                <a:solidFill>
                  <a:srgbClr val="CBD3F0"/>
                </a:solidFill>
                <a:latin typeface="Courier New"/>
              </a:rPr>
              <a:t>#</a:t>
            </a:r>
          </a:p>
          <a:p>
            <a:r>
              <a:rPr sz="1100">
                <a:solidFill>
                  <a:srgbClr val="CBD3F0"/>
                </a:solidFill>
                <a:latin typeface="Courier New"/>
              </a:rPr>
              <a:t>#              `-+shNy-</a:t>
            </a:r>
          </a:p>
          <a:p>
            <a:r>
              <a:rPr sz="1100">
                <a:solidFill>
                  <a:srgbClr val="CBD3F0"/>
                </a:solidFill>
                <a:latin typeface="Courier New"/>
              </a:rPr>
              <a:t>#         -+ymMMMNhs:.`</a:t>
            </a:r>
          </a:p>
          <a:p>
            <a:r>
              <a:rPr sz="1100">
                <a:solidFill>
                  <a:srgbClr val="CBD3F0"/>
                </a:solidFill>
                <a:latin typeface="Courier New"/>
              </a:rPr>
              <a:t>#       -+hNMMMNho//+ydNm.</a:t>
            </a:r>
          </a:p>
          <a:p>
            <a:r>
              <a:rPr sz="1100">
                <a:solidFill>
                  <a:srgbClr val="CBD3F0"/>
                </a:solidFill>
                <a:latin typeface="Courier New"/>
              </a:rPr>
              <a:t>#      :smMMMNho/sdNMMMMMMMd`</a:t>
            </a:r>
          </a:p>
          <a:p>
            <a:r>
              <a:rPr sz="1100">
                <a:solidFill>
                  <a:srgbClr val="CBD3F0"/>
                </a:solidFill>
                <a:latin typeface="Courier New"/>
              </a:rPr>
              <a:t>#   -sNMMMds:/smMMMMMMMMMMMMMy</a:t>
            </a:r>
          </a:p>
          <a:p>
            <a:r>
              <a:rPr sz="1100">
                <a:solidFill>
                  <a:srgbClr val="CBD3F0"/>
                </a:solidFill>
                <a:latin typeface="Courier New"/>
              </a:rPr>
              <a:t>#  `omMMMd:+hNMMMMMMMMMMMMMMMo</a:t>
            </a:r>
          </a:p>
          <a:p>
            <a:r>
              <a:rPr sz="1100">
                <a:solidFill>
                  <a:srgbClr val="CBD3F0"/>
                </a:solidFill>
                <a:latin typeface="Courier New"/>
              </a:rPr>
              <a:t>#  .myyMMMNMMMds/:smMMMNMMMds/</a:t>
            </a:r>
          </a:p>
          <a:p>
            <a:r>
              <a:rPr sz="1100">
                <a:solidFill>
                  <a:srgbClr val="CBD3F0"/>
                </a:solidFill>
                <a:latin typeface="Courier New"/>
              </a:rPr>
              <a:t>#  -hMMMM-/MMMMMMNhNMMMMMMNho/</a:t>
            </a:r>
          </a:p>
        </p:txBody>
      </p:sp>
      <p:sp>
        <p:nvSpPr>
          <p:cNvPr id="6" name="Rectangle 5"/>
          <p:cNvSpPr/>
          <p:nvPr/>
        </p:nvSpPr>
        <p:spPr>
          <a:xfrm>
            <a:off x="5943600" y="1143000"/>
            <a:ext cx="2926080" cy="26517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E75B6"/>
                </a:solidFill>
                <a:latin typeface="Courier New"/>
              </a:rPr>
              <a:t>Por que base64</a:t>
            </a:r>
          </a:p>
          <a:p>
            <a:r>
              <a:rPr sz="1100">
                <a:solidFill>
                  <a:srgbClr val="555555"/>
                </a:solidFill>
              </a:rPr>
              <a:t>El ASCII art contiene caracteres especiales
(`/\:-+.) que podrian causar problemas
si se embebieran directamente en el
codigo Python como string multilinea.
base64 garantiza que el string sea ASCII
puro, sin caracteres de escape o saltos
de linea inesperados.</a:t>
            </a:r>
          </a:p>
        </p:txBody>
      </p:sp>
      <p:sp>
        <p:nvSpPr>
          <p:cNvPr id="7" name="Rectangle 6"/>
          <p:cNvSpPr/>
          <p:nvPr/>
        </p:nvSpPr>
        <p:spPr>
          <a:xfrm>
            <a:off x="9006840" y="1143000"/>
            <a:ext cx="2926080" cy="26517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6844B4"/>
                </a:solidFill>
                <a:latin typeface="Courier New"/>
              </a:rPr>
              <a:t>En el WorkModel sintetico</a:t>
            </a:r>
          </a:p>
          <a:p>
            <a:r>
              <a:rPr sz="1100">
                <a:solidFill>
                  <a:srgbClr val="555555"/>
                </a:solidFill>
              </a:rPr>
              <a:t>f1 en WorkModelParameters.json:
  'name': 'colosseum'
  'probability': 0.0
Probabilidad = 0 → nunca se ejecuta.
Esta registrado en el sistema pero
ninguna request lo invoca.
Es un callback hook de demostracion
del sistema de CustomFunctions.</a:t>
            </a:r>
          </a:p>
        </p:txBody>
      </p:sp>
      <p:sp>
        <p:nvSpPr>
          <p:cNvPr id="8" name="Rectangle 7"/>
          <p:cNvSpPr/>
          <p:nvPr/>
        </p:nvSpPr>
        <p:spPr>
          <a:xfrm>
            <a:off x="5943600" y="3977640"/>
            <a:ext cx="2926080" cy="26517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E6B3A"/>
                </a:solidFill>
                <a:latin typeface="Courier New"/>
              </a:rPr>
              <a:t>Historia y proposito</a:t>
            </a:r>
          </a:p>
          <a:p>
            <a:r>
              <a:rPr sz="1100">
                <a:solidFill>
                  <a:srgbClr val="555555"/>
                </a:solidFill>
              </a:rPr>
              <a:t>mubench fue desarrollado en el grupo
de investigacion de networking.
El Coliseo es la firma del equipo
de desarrollo (universidad italiana).
La funcion sirve como ejemplo minimo
de como implementar una CustomFunction:
- firma: func(params)
- retorna un string
- no lanza excepciones</a:t>
            </a:r>
          </a:p>
        </p:txBody>
      </p:sp>
      <p:sp>
        <p:nvSpPr>
          <p:cNvPr id="9" name="Rectangle 8"/>
          <p:cNvSpPr/>
          <p:nvPr/>
        </p:nvSpPr>
        <p:spPr>
          <a:xfrm>
            <a:off x="9006840" y="3977640"/>
            <a:ext cx="2926080" cy="26517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D3690F"/>
                </a:solidFill>
                <a:latin typeface="Courier New"/>
              </a:rPr>
              <a:t>Patron CustomFunction</a:t>
            </a:r>
          </a:p>
          <a:p>
            <a:r>
              <a:rPr sz="1100">
                <a:solidFill>
                  <a:srgbClr val="555555"/>
                </a:solidFill>
              </a:rPr>
              <a:t>TODAS las custom functions siguen
la misma interfaz:
def nombre_funcion(params: dict) -&gt; str:
- params: dict con la config del workmodel
- retorno: string (el 'payload' de respuesta)
CellController llama la funcion con
importlib.import_module() + getattr()
→ acoplamiento cero con el core.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Configs/ — Archivos de configuracion</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9 JSONs que parametrizan todos los componentes del proyecto</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Configs/ — Inventario de archivos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9 JSONs que configuran el pipeline sintetico y el flujo realista</a:t>
            </a:r>
          </a:p>
        </p:txBody>
      </p:sp>
      <p:sp>
        <p:nvSpPr>
          <p:cNvPr id="5" name="Rectangle 4"/>
          <p:cNvSpPr/>
          <p:nvPr/>
        </p:nvSpPr>
        <p:spPr>
          <a:xfrm>
            <a:off x="274320" y="1143000"/>
            <a:ext cx="38862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K8sParameters.json</a:t>
            </a:r>
          </a:p>
        </p:txBody>
      </p:sp>
      <p:sp>
        <p:nvSpPr>
          <p:cNvPr id="6" name="Rectangle 5"/>
          <p:cNvSpPr/>
          <p:nvPr/>
        </p:nvSpPr>
        <p:spPr>
          <a:xfrm>
            <a:off x="274320" y="1399032"/>
            <a:ext cx="3886200" cy="3657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rPr>
              <a:t>Parametros K8s para servicios sinteticos
(namespace default, imagen, nginx-gw, NodePort)
→ K8sDeployer (pipeline sintetico)</a:t>
            </a:r>
          </a:p>
        </p:txBody>
      </p:sp>
      <p:sp>
        <p:nvSpPr>
          <p:cNvPr id="7" name="Rectangle 6"/>
          <p:cNvSpPr/>
          <p:nvPr/>
        </p:nvSpPr>
        <p:spPr>
          <a:xfrm>
            <a:off x="4251959" y="1143000"/>
            <a:ext cx="3886200" cy="256032"/>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RealisticK8sParameters.json</a:t>
            </a:r>
          </a:p>
        </p:txBody>
      </p:sp>
      <p:sp>
        <p:nvSpPr>
          <p:cNvPr id="8" name="Rectangle 7"/>
          <p:cNvSpPr/>
          <p:nvPr/>
        </p:nvSpPr>
        <p:spPr>
          <a:xfrm>
            <a:off x="4251959" y="1399032"/>
            <a:ext cx="3886200" cy="3657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rPr>
              <a:t>Igual que K8sParameters pero para
mubench-realistic (namespace, dns-resolver, sleep:2)
→ K8sDeployer (pipeline realista)</a:t>
            </a:r>
          </a:p>
        </p:txBody>
      </p:sp>
      <p:sp>
        <p:nvSpPr>
          <p:cNvPr id="9" name="Rectangle 8"/>
          <p:cNvSpPr/>
          <p:nvPr/>
        </p:nvSpPr>
        <p:spPr>
          <a:xfrm>
            <a:off x="8229598" y="1143000"/>
            <a:ext cx="3886200" cy="256032"/>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ServiceGraphParameters.json</a:t>
            </a:r>
          </a:p>
        </p:txBody>
      </p:sp>
      <p:sp>
        <p:nvSpPr>
          <p:cNvPr id="10" name="Rectangle 9"/>
          <p:cNvSpPr/>
          <p:nvPr/>
        </p:nvSpPr>
        <p:spPr>
          <a:xfrm>
            <a:off x="8229598" y="1399032"/>
            <a:ext cx="3886200" cy="3657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rPr>
              <a:t>Define el grafo de servicios sinteticos
(vertices, power, zero_appeal, dbs)
→ ServiceGraphGenerator</a:t>
            </a:r>
          </a:p>
        </p:txBody>
      </p:sp>
      <p:sp>
        <p:nvSpPr>
          <p:cNvPr id="11" name="Rectangle 10"/>
          <p:cNvSpPr/>
          <p:nvPr/>
        </p:nvSpPr>
        <p:spPr>
          <a:xfrm>
            <a:off x="274320" y="1801368"/>
            <a:ext cx="3886200" cy="256032"/>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WorkModelParameters.json</a:t>
            </a:r>
          </a:p>
        </p:txBody>
      </p:sp>
      <p:sp>
        <p:nvSpPr>
          <p:cNvPr id="12" name="Rectangle 11"/>
          <p:cNvSpPr/>
          <p:nvPr/>
        </p:nvSpPr>
        <p:spPr>
          <a:xfrm>
            <a:off x="274320" y="2057400"/>
            <a:ext cx="3886200" cy="3657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rPr>
              <a:t>Define funciones de carga sinteticas
(compute_pi, colosseum, loader con cpu/memory/disk)
→ WorkModelGenerator (sintetico)</a:t>
            </a:r>
          </a:p>
        </p:txBody>
      </p:sp>
      <p:sp>
        <p:nvSpPr>
          <p:cNvPr id="13" name="Rectangle 12"/>
          <p:cNvSpPr/>
          <p:nvPr/>
        </p:nvSpPr>
        <p:spPr>
          <a:xfrm>
            <a:off x="4251959" y="1801368"/>
            <a:ext cx="3886200" cy="256032"/>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RealisticWorkModelParameters.json</a:t>
            </a:r>
          </a:p>
        </p:txBody>
      </p:sp>
      <p:sp>
        <p:nvSpPr>
          <p:cNvPr id="14" name="Rectangle 13"/>
          <p:cNvSpPr/>
          <p:nvPr/>
        </p:nvSpPr>
        <p:spPr>
          <a:xfrm>
            <a:off x="4251959" y="2057400"/>
            <a:ext cx="3886200" cy="365760"/>
          </a:xfrm>
          <a:prstGeom prst="rect">
            <a:avLst/>
          </a:prstGeom>
          <a:solidFill>
            <a:srgbClr val="F0F4F8"/>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rPr>
              <a:t>Define funciones realistas
(api_function, auth_function, data_function + JWT + latencias)
→ WorkModelGenerator (realista)</a:t>
            </a:r>
          </a:p>
        </p:txBody>
      </p:sp>
      <p:sp>
        <p:nvSpPr>
          <p:cNvPr id="15" name="Rectangle 14"/>
          <p:cNvSpPr/>
          <p:nvPr/>
        </p:nvSpPr>
        <p:spPr>
          <a:xfrm>
            <a:off x="8229598" y="1801368"/>
            <a:ext cx="3886200"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TrafficParameters.json</a:t>
            </a:r>
          </a:p>
        </p:txBody>
      </p:sp>
      <p:sp>
        <p:nvSpPr>
          <p:cNvPr id="16" name="Rectangle 15"/>
          <p:cNvSpPr/>
          <p:nvPr/>
        </p:nvSpPr>
        <p:spPr>
          <a:xfrm>
            <a:off x="8229598" y="2057400"/>
            <a:ext cx="3886200" cy="36576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rPr>
              <a:t>Parametros del TrafficGenerator
(servicio ingress, mean_interarrival_time, stop_event)
→ TrafficGenerator (sintetico)</a:t>
            </a:r>
          </a:p>
        </p:txBody>
      </p:sp>
      <p:sp>
        <p:nvSpPr>
          <p:cNvPr id="17" name="Rectangle 16"/>
          <p:cNvSpPr/>
          <p:nvPr/>
        </p:nvSpPr>
        <p:spPr>
          <a:xfrm>
            <a:off x="274320" y="2459736"/>
            <a:ext cx="3886200" cy="25603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K8sAutopilotConf.json</a:t>
            </a:r>
          </a:p>
        </p:txBody>
      </p:sp>
      <p:sp>
        <p:nvSpPr>
          <p:cNvPr id="18" name="Rectangle 17"/>
          <p:cNvSpPr/>
          <p:nvPr/>
        </p:nvSpPr>
        <p:spPr>
          <a:xfrm>
            <a:off x="274320" y="2715768"/>
            <a:ext cx="3886200" cy="36576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rPr>
              <a:t>6 rutas a scripts y configs
para el pipeline sintetico completo
→ K8sAutopilot.py</a:t>
            </a:r>
          </a:p>
        </p:txBody>
      </p:sp>
      <p:sp>
        <p:nvSpPr>
          <p:cNvPr id="19" name="Rectangle 18"/>
          <p:cNvSpPr/>
          <p:nvPr/>
        </p:nvSpPr>
        <p:spPr>
          <a:xfrm>
            <a:off x="4251959" y="2459736"/>
            <a:ext cx="3886200" cy="25603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RealisticAutopilotConf.json</a:t>
            </a:r>
          </a:p>
        </p:txBody>
      </p:sp>
      <p:sp>
        <p:nvSpPr>
          <p:cNvPr id="20" name="Rectangle 19"/>
          <p:cNvSpPr/>
          <p:nvPr/>
        </p:nvSpPr>
        <p:spPr>
          <a:xfrm>
            <a:off x="4251959" y="2715768"/>
            <a:ext cx="3886200" cy="365760"/>
          </a:xfrm>
          <a:prstGeom prst="rect">
            <a:avLst/>
          </a:prstGeom>
          <a:solidFill>
            <a:srgbClr val="F0F4F8"/>
          </a:solidFill>
          <a:ln>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rPr>
              <a:t>Igual que K8sAutopilotConf pero apunta
a RealisticWorkModelParameters y RealisticK8sParameters
→ K8sAutopilot.py (realista)</a:t>
            </a:r>
          </a:p>
        </p:txBody>
      </p:sp>
      <p:sp>
        <p:nvSpPr>
          <p:cNvPr id="21" name="Rectangle 20"/>
          <p:cNvSpPr/>
          <p:nvPr/>
        </p:nvSpPr>
        <p:spPr>
          <a:xfrm>
            <a:off x="8229598" y="2459736"/>
            <a:ext cx="3886200" cy="25603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RunnerParameters.json</a:t>
            </a:r>
          </a:p>
        </p:txBody>
      </p:sp>
      <p:sp>
        <p:nvSpPr>
          <p:cNvPr id="22" name="Rectangle 21"/>
          <p:cNvSpPr/>
          <p:nvPr/>
        </p:nvSpPr>
        <p:spPr>
          <a:xfrm>
            <a:off x="8229598" y="2715768"/>
            <a:ext cx="3886200" cy="36576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rPr>
              <a:t>Config del Runner.py original de upstream
(NO usado en este proyecto — reemplazado por k6)
→ Runner.py (NO usado)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K8sParameters.json — Cada campo explicado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Parametros que usa RunK8sDeployer.py para generar los YAMLs de K8s</a:t>
            </a:r>
          </a:p>
        </p:txBody>
      </p:sp>
      <p:sp>
        <p:nvSpPr>
          <p:cNvPr id="5" name="Rectangle 4"/>
          <p:cNvSpPr/>
          <p:nvPr/>
        </p:nvSpPr>
        <p:spPr>
          <a:xfrm>
            <a:off x="365760" y="1143000"/>
            <a:ext cx="530352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K8sParameters.json (sintetico)</a:t>
            </a:r>
          </a:p>
          <a:p>
            <a:r>
              <a:rPr sz="1100">
                <a:solidFill>
                  <a:srgbClr val="CBD3F0"/>
                </a:solidFill>
                <a:latin typeface="Courier New"/>
              </a:rPr>
              <a:t>{</a:t>
            </a:r>
          </a:p>
          <a:p>
            <a:r>
              <a:rPr sz="1100">
                <a:solidFill>
                  <a:srgbClr val="CBD3F0"/>
                </a:solidFill>
                <a:latin typeface="Courier New"/>
              </a:rPr>
              <a:t>  "K8sParameters": {</a:t>
            </a:r>
          </a:p>
          <a:p>
            <a:r>
              <a:rPr sz="1100">
                <a:solidFill>
                  <a:srgbClr val="F9E2AF"/>
                </a:solidFill>
                <a:latin typeface="Courier New"/>
              </a:rPr>
              <a:t>    "prefix_yaml_file": "mubench",</a:t>
            </a:r>
          </a:p>
          <a:p>
            <a:r>
              <a:rPr sz="1100">
                <a:solidFill>
                  <a:srgbClr val="F9E2AF"/>
                </a:solidFill>
                <a:latin typeface="Courier New"/>
              </a:rPr>
              <a:t>    "namespace":        "default",</a:t>
            </a:r>
          </a:p>
          <a:p>
            <a:r>
              <a:rPr sz="1100">
                <a:solidFill>
                  <a:srgbClr val="CBD3F0"/>
                </a:solidFill>
                <a:latin typeface="Courier New"/>
              </a:rPr>
              <a:t>    "image":  "msvcbench/microservice:latest",</a:t>
            </a:r>
          </a:p>
          <a:p>
            <a:r>
              <a:rPr sz="1100">
                <a:solidFill>
                  <a:srgbClr val="CBD3F0"/>
                </a:solidFill>
                <a:latin typeface="Courier New"/>
              </a:rPr>
              <a:t>    "cluster_domain":   "cluster",</a:t>
            </a:r>
          </a:p>
          <a:p>
            <a:r>
              <a:rPr sz="1100">
                <a:solidFill>
                  <a:srgbClr val="CBD3F0"/>
                </a:solidFill>
                <a:latin typeface="Courier New"/>
              </a:rPr>
              <a:t>    "path":             "/api/v1",</a:t>
            </a:r>
          </a:p>
          <a:p>
            <a:r>
              <a:rPr sz="1100">
                <a:solidFill>
                  <a:srgbClr val="CBD3F0"/>
                </a:solidFill>
                <a:latin typeface="Courier New"/>
              </a:rPr>
              <a:t>    "dns-resolver":</a:t>
            </a:r>
          </a:p>
          <a:p>
            <a:r>
              <a:rPr sz="1100">
                <a:solidFill>
                  <a:srgbClr val="CBD3F0"/>
                </a:solidFill>
                <a:latin typeface="Courier New"/>
              </a:rPr>
              <a:t>      "coredns.kube-system.svc.cluster.local",</a:t>
            </a:r>
          </a:p>
          <a:p>
            <a:r>
              <a:rPr sz="1100">
                <a:solidFill>
                  <a:srgbClr val="CBD3F0"/>
                </a:solidFill>
                <a:latin typeface="Courier New"/>
              </a:rPr>
              <a:t>    "scheduler-name":   "default-scheduler",</a:t>
            </a:r>
          </a:p>
          <a:p>
            <a:r>
              <a:rPr sz="1100">
                <a:solidFill>
                  <a:srgbClr val="CBD3F0"/>
                </a:solidFill>
                <a:latin typeface="Courier New"/>
              </a:rPr>
              <a:t>    "sleep":            0,</a:t>
            </a:r>
          </a:p>
          <a:p>
            <a:r>
              <a:rPr sz="1100">
                <a:solidFill>
                  <a:srgbClr val="F9E2AF"/>
                </a:solidFill>
                <a:latin typeface="Courier New"/>
              </a:rPr>
              <a:t>    "nginx-gw":         true,</a:t>
            </a:r>
          </a:p>
          <a:p>
            <a:r>
              <a:rPr sz="1100">
                <a:solidFill>
                  <a:srgbClr val="F9E2AF"/>
                </a:solidFill>
                <a:latin typeface="Courier New"/>
              </a:rPr>
              <a:t>    "nginx-svc-type":   "NodePort",</a:t>
            </a:r>
          </a:p>
          <a:p>
            <a:r>
              <a:rPr sz="1100">
                <a:solidFill>
                  <a:srgbClr val="F9E2AF"/>
                </a:solidFill>
                <a:latin typeface="Courier New"/>
              </a:rPr>
              <a:t>    "no-apply":         false</a:t>
            </a:r>
          </a:p>
          <a:p>
            <a:r>
              <a:rPr sz="1100">
                <a:solidFill>
                  <a:srgbClr val="CBD3F0"/>
                </a:solidFill>
                <a:latin typeface="Courier New"/>
              </a:rPr>
              <a:t>  },</a:t>
            </a:r>
          </a:p>
          <a:p>
            <a:r>
              <a:rPr sz="1100">
                <a:solidFill>
                  <a:srgbClr val="CBD3F0"/>
                </a:solidFill>
                <a:latin typeface="Courier New"/>
              </a:rPr>
              <a:t>  "InternalServiceFilePath": "../../CustomFunctions",</a:t>
            </a:r>
          </a:p>
          <a:p>
            <a:r>
              <a:rPr sz="1100">
                <a:solidFill>
                  <a:srgbClr val="CBD3F0"/>
                </a:solidFill>
                <a:latin typeface="Courier New"/>
              </a:rPr>
              <a:t>  "OutputPath":   "SimulationWorkspace",</a:t>
            </a:r>
          </a:p>
          <a:p>
            <a:r>
              <a:rPr sz="1100">
                <a:solidFill>
                  <a:srgbClr val="CBD3F0"/>
                </a:solidFill>
                <a:latin typeface="Courier New"/>
              </a:rPr>
              <a:t>  "WorkModelPath":</a:t>
            </a:r>
          </a:p>
          <a:p>
            <a:r>
              <a:rPr sz="1100">
                <a:solidFill>
                  <a:srgbClr val="CBD3F0"/>
                </a:solidFill>
                <a:latin typeface="Courier New"/>
              </a:rPr>
              <a:t>    "../../WorkModelGenerator/Simulation</a:t>
            </a:r>
          </a:p>
          <a:p>
            <a:r>
              <a:rPr sz="1100">
                <a:solidFill>
                  <a:srgbClr val="CBD3F0"/>
                </a:solidFill>
                <a:latin typeface="Courier New"/>
              </a:rPr>
              <a:t>     Workspace/workmodel.json"</a:t>
            </a:r>
          </a:p>
          <a:p>
            <a:r>
              <a:rPr sz="1100">
                <a:solidFill>
                  <a:srgbClr val="CBD3F0"/>
                </a:solidFill>
                <a:latin typeface="Courier New"/>
              </a:rPr>
              <a:t>}</a:t>
            </a:r>
          </a:p>
        </p:txBody>
      </p:sp>
      <p:sp>
        <p:nvSpPr>
          <p:cNvPr id="6" name="Rectangle 5"/>
          <p:cNvSpPr/>
          <p:nvPr/>
        </p:nvSpPr>
        <p:spPr>
          <a:xfrm>
            <a:off x="5943600" y="1143000"/>
            <a:ext cx="2926080" cy="1261872"/>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prefix_yaml_file</a:t>
            </a:r>
          </a:p>
          <a:p>
            <a:r>
              <a:rPr sz="1000">
                <a:solidFill>
                  <a:srgbClr val="555555"/>
                </a:solidFill>
              </a:rPr>
              <a:t>Prefijo de los YAMLs generados.
Sintetico: 'mubench' → mubench-s0.yaml
Realista: 'realistic' → realistic-api.yaml</a:t>
            </a:r>
          </a:p>
        </p:txBody>
      </p:sp>
      <p:sp>
        <p:nvSpPr>
          <p:cNvPr id="7" name="Rectangle 6"/>
          <p:cNvSpPr/>
          <p:nvPr/>
        </p:nvSpPr>
        <p:spPr>
          <a:xfrm>
            <a:off x="9052560" y="1143000"/>
            <a:ext cx="2926080" cy="1261872"/>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namespace</a:t>
            </a:r>
          </a:p>
          <a:p>
            <a:r>
              <a:rPr sz="1000">
                <a:solidFill>
                  <a:srgbClr val="555555"/>
                </a:solidFill>
              </a:rPr>
              <a:t>Namespace K8s donde se crean los pods.
Sintetico: default
Realista: mubench-realistic
Si no existe, K8sDeployer lo crea.</a:t>
            </a:r>
          </a:p>
        </p:txBody>
      </p:sp>
      <p:sp>
        <p:nvSpPr>
          <p:cNvPr id="8" name="Rectangle 7"/>
          <p:cNvSpPr/>
          <p:nvPr/>
        </p:nvSpPr>
        <p:spPr>
          <a:xfrm>
            <a:off x="5943600" y="2514600"/>
            <a:ext cx="2926080" cy="1261872"/>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image</a:t>
            </a:r>
          </a:p>
          <a:p>
            <a:r>
              <a:rPr sz="1000">
                <a:solidFill>
                  <a:srgbClr val="555555"/>
                </a:solidFill>
              </a:rPr>
              <a:t>Imagen Docker de los servicios.
msvcbench/microservice:latest es la
imagen base del proyecto mubench.
Contiene el ServiceCell con CellController.</a:t>
            </a:r>
          </a:p>
        </p:txBody>
      </p:sp>
      <p:sp>
        <p:nvSpPr>
          <p:cNvPr id="9" name="Rectangle 8"/>
          <p:cNvSpPr/>
          <p:nvPr/>
        </p:nvSpPr>
        <p:spPr>
          <a:xfrm>
            <a:off x="9052560" y="2514600"/>
            <a:ext cx="2926080" cy="1261872"/>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sleep: 0 / 2</a:t>
            </a:r>
          </a:p>
          <a:p>
            <a:r>
              <a:rPr sz="1000">
                <a:solidFill>
                  <a:srgbClr val="555555"/>
                </a:solidFill>
              </a:rPr>
              <a:t>Segundos de espera entre kubectl apply.
Sintetico: 0 (todos a la vez)
Realista: 2 (pausa entre deploys
para que Istio inyecte sidecar a tiempo).</a:t>
            </a:r>
          </a:p>
        </p:txBody>
      </p:sp>
      <p:sp>
        <p:nvSpPr>
          <p:cNvPr id="10" name="Rectangle 9"/>
          <p:cNvSpPr/>
          <p:nvPr/>
        </p:nvSpPr>
        <p:spPr>
          <a:xfrm>
            <a:off x="5943600" y="3886200"/>
            <a:ext cx="2926080" cy="1261872"/>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nginx-gw + nginx-svc-type</a:t>
            </a:r>
          </a:p>
          <a:p>
            <a:r>
              <a:rPr sz="1000">
                <a:solidFill>
                  <a:srgbClr val="555555"/>
                </a:solidFill>
              </a:rPr>
              <a:t>nginx-gw: true → genera un Deployment
y Service nginx como ingress gateway.
nginx-svc-type: NodePort → accesible
desde fuera del cluster sin LoadBalancer.</a:t>
            </a:r>
          </a:p>
        </p:txBody>
      </p:sp>
      <p:sp>
        <p:nvSpPr>
          <p:cNvPr id="11" name="Rectangle 10"/>
          <p:cNvSpPr/>
          <p:nvPr/>
        </p:nvSpPr>
        <p:spPr>
          <a:xfrm>
            <a:off x="9052560" y="3886200"/>
            <a:ext cx="2926080" cy="1261872"/>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no-apply: false</a:t>
            </a:r>
          </a:p>
          <a:p>
            <a:r>
              <a:rPr sz="1000">
                <a:solidFill>
                  <a:srgbClr val="555555"/>
                </a:solidFill>
              </a:rPr>
              <a:t>Si true → solo genera los YAMLs
sin ejecutar kubectl apply.
Util para revision previa o CI/CD
donde otro paso hace el apply.</a:t>
            </a:r>
          </a:p>
        </p:txBody>
      </p:sp>
      <p:sp>
        <p:nvSpPr>
          <p:cNvPr id="12" name="Rectangle 11"/>
          <p:cNvSpPr/>
          <p:nvPr/>
        </p:nvSpPr>
        <p:spPr>
          <a:xfrm>
            <a:off x="5943600" y="5257800"/>
            <a:ext cx="2926080" cy="1261872"/>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InternalServiceFilePath</a:t>
            </a:r>
          </a:p>
          <a:p>
            <a:r>
              <a:rPr sz="1000">
                <a:solidFill>
                  <a:srgbClr val="555555"/>
                </a:solidFill>
              </a:rPr>
              <a:t>Ruta a CustomFunctions/:
contiene compute_pi, colosseum, loader.
K8sDeployer copia estas funciones
en el ConfigMap de cada servicio.</a:t>
            </a:r>
          </a:p>
        </p:txBody>
      </p:sp>
      <p:sp>
        <p:nvSpPr>
          <p:cNvPr id="13" name="Rectangle 12"/>
          <p:cNvSpPr/>
          <p:nvPr/>
        </p:nvSpPr>
        <p:spPr>
          <a:xfrm>
            <a:off x="9052560" y="5257800"/>
            <a:ext cx="2926080" cy="1261872"/>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WorkModelPath</a:t>
            </a:r>
          </a:p>
          <a:p>
            <a:r>
              <a:rPr sz="1000">
                <a:solidFill>
                  <a:srgbClr val="555555"/>
                </a:solidFill>
              </a:rPr>
              <a:t>Donde esta workmodel.json generado
por WorkModelGenerator.
K8sDeployer lo lee para saber
que funcion asignar a cada pod.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ServiceGraphParameters.json + WorkModelParameters.json</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Definen la topologia y el comportamiento de los servicios sinteticos</a:t>
            </a:r>
          </a:p>
        </p:txBody>
      </p:sp>
      <p:sp>
        <p:nvSpPr>
          <p:cNvPr id="5" name="Rectangle 4"/>
          <p:cNvSpPr/>
          <p:nvPr/>
        </p:nvSpPr>
        <p:spPr>
          <a:xfrm>
            <a:off x="365760" y="1143000"/>
            <a:ext cx="5669280" cy="28346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ServiceGraphParameters.json</a:t>
            </a:r>
          </a:p>
          <a:p>
            <a:r>
              <a:rPr sz="1100">
                <a:solidFill>
                  <a:srgbClr val="CBD3F0"/>
                </a:solidFill>
                <a:latin typeface="Courier New"/>
              </a:rPr>
              <a:t>{</a:t>
            </a:r>
          </a:p>
          <a:p>
            <a:r>
              <a:rPr sz="1100">
                <a:solidFill>
                  <a:srgbClr val="CBD3F0"/>
                </a:solidFill>
                <a:latin typeface="Courier New"/>
              </a:rPr>
              <a:t>  "ServiceGraphParameters": {</a:t>
            </a:r>
          </a:p>
          <a:p>
            <a:r>
              <a:rPr sz="1100">
                <a:solidFill>
                  <a:srgbClr val="F9E2AF"/>
                </a:solidFill>
                <a:latin typeface="Courier New"/>
              </a:rPr>
              <a:t>    "vertices":    2,</a:t>
            </a:r>
          </a:p>
          <a:p>
            <a:r>
              <a:rPr sz="1100">
                <a:solidFill>
                  <a:srgbClr val="CBD3F0"/>
                </a:solidFill>
                <a:latin typeface="Courier New"/>
              </a:rPr>
              <a:t>    "external_service_groups": 1,</a:t>
            </a:r>
          </a:p>
          <a:p>
            <a:r>
              <a:rPr sz="1100">
                <a:solidFill>
                  <a:srgbClr val="CBD3F0"/>
                </a:solidFill>
                <a:latin typeface="Courier New"/>
              </a:rPr>
              <a:t>    "power":       0.05,</a:t>
            </a:r>
          </a:p>
          <a:p>
            <a:r>
              <a:rPr sz="1100">
                <a:solidFill>
                  <a:srgbClr val="CBD3F0"/>
                </a:solidFill>
                <a:latin typeface="Courier New"/>
              </a:rPr>
              <a:t>    "seq_len":     100,</a:t>
            </a:r>
          </a:p>
          <a:p>
            <a:r>
              <a:rPr sz="1100">
                <a:solidFill>
                  <a:srgbClr val="CBD3F0"/>
                </a:solidFill>
                <a:latin typeface="Courier New"/>
              </a:rPr>
              <a:t>    "zero_appeal": 3.25,</a:t>
            </a:r>
          </a:p>
          <a:p>
            <a:r>
              <a:rPr sz="1100">
                <a:solidFill>
                  <a:srgbClr val="CBD3F0"/>
                </a:solidFill>
                <a:latin typeface="Courier New"/>
              </a:rPr>
              <a:t>    "service_probability": {</a:t>
            </a:r>
          </a:p>
          <a:p>
            <a:r>
              <a:rPr sz="1100">
                <a:solidFill>
                  <a:srgbClr val="CBD3F0"/>
                </a:solidFill>
                <a:latin typeface="Courier New"/>
              </a:rPr>
              <a:t>      "model":"const","params":{"value":1}},</a:t>
            </a:r>
          </a:p>
          <a:p>
            <a:r>
              <a:rPr sz="1100">
                <a:solidFill>
                  <a:srgbClr val="CBD3F0"/>
                </a:solidFill>
                <a:latin typeface="Courier New"/>
              </a:rPr>
              <a:t>    "dbs": {</a:t>
            </a:r>
          </a:p>
          <a:p>
            <a:r>
              <a:rPr sz="1100">
                <a:solidFill>
                  <a:srgbClr val="F9E2AF"/>
                </a:solidFill>
                <a:latin typeface="Courier New"/>
              </a:rPr>
              <a:t>      "nodb":0.2, "sdb1":0.8, "sdb2":0.0</a:t>
            </a:r>
          </a:p>
          <a:p>
            <a:r>
              <a:rPr sz="1100">
                <a:solidFill>
                  <a:srgbClr val="CBD3F0"/>
                </a:solidFill>
                <a:latin typeface="Courier New"/>
              </a:rPr>
              <a:t>    }</a:t>
            </a:r>
          </a:p>
          <a:p>
            <a:r>
              <a:rPr sz="1100">
                <a:solidFill>
                  <a:srgbClr val="CBD3F0"/>
                </a:solidFill>
                <a:latin typeface="Courier New"/>
              </a:rPr>
              <a:t>  },</a:t>
            </a:r>
          </a:p>
          <a:p>
            <a:r>
              <a:rPr sz="1100">
                <a:solidFill>
                  <a:srgbClr val="CBD3F0"/>
                </a:solidFill>
                <a:latin typeface="Courier New"/>
              </a:rPr>
              <a:t>  "OutputPath": "SimulationWorkspace",</a:t>
            </a:r>
          </a:p>
          <a:p>
            <a:r>
              <a:rPr sz="1100">
                <a:solidFill>
                  <a:srgbClr val="CBD3F0"/>
                </a:solidFill>
                <a:latin typeface="Courier New"/>
              </a:rPr>
              <a:t>  "OutputFile": "servicegraph.json"</a:t>
            </a:r>
          </a:p>
          <a:p>
            <a:r>
              <a:rPr sz="1100">
                <a:solidFill>
                  <a:srgbClr val="CBD3F0"/>
                </a:solidFill>
                <a:latin typeface="Courier New"/>
              </a:rPr>
              <a:t>}</a:t>
            </a:r>
          </a:p>
        </p:txBody>
      </p:sp>
      <p:sp>
        <p:nvSpPr>
          <p:cNvPr id="6" name="Rectangle 5"/>
          <p:cNvSpPr/>
          <p:nvPr/>
        </p:nvSpPr>
        <p:spPr>
          <a:xfrm>
            <a:off x="365760" y="4114800"/>
            <a:ext cx="1801368" cy="246888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E75B6"/>
                </a:solidFill>
                <a:latin typeface="Courier New"/>
              </a:rPr>
              <a:t>vertices: 2</a:t>
            </a:r>
          </a:p>
          <a:p>
            <a:r>
              <a:rPr sz="1000">
                <a:solidFill>
                  <a:srgbClr val="555555"/>
                </a:solidFill>
              </a:rPr>
              <a:t>Numero de servicios normales (s0, s1).
external_service_groups:1 agrega sdb1.
Total: 3 servicios en el grafo sintetico.</a:t>
            </a:r>
          </a:p>
        </p:txBody>
      </p:sp>
      <p:sp>
        <p:nvSpPr>
          <p:cNvPr id="7" name="Rectangle 6"/>
          <p:cNvSpPr/>
          <p:nvPr/>
        </p:nvSpPr>
        <p:spPr>
          <a:xfrm>
            <a:off x="2286000" y="4114800"/>
            <a:ext cx="1801368" cy="246888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844B4"/>
                </a:solidFill>
                <a:latin typeface="Courier New"/>
              </a:rPr>
              <a:t>power / zero_appeal</a:t>
            </a:r>
          </a:p>
          <a:p>
            <a:r>
              <a:rPr sz="1000">
                <a:solidFill>
                  <a:srgbClr val="555555"/>
                </a:solidFill>
              </a:rPr>
              <a:t>Parametros del modelo Barabasi-Albert
para generacion de grafos scale-free.
power=0.05 + zero_appeal=3.25 → grafo
casi lineal con probabilidad baja de hubs.</a:t>
            </a:r>
          </a:p>
        </p:txBody>
      </p:sp>
      <p:sp>
        <p:nvSpPr>
          <p:cNvPr id="8" name="Rectangle 7"/>
          <p:cNvSpPr/>
          <p:nvPr/>
        </p:nvSpPr>
        <p:spPr>
          <a:xfrm>
            <a:off x="4206240" y="4114800"/>
            <a:ext cx="1801368" cy="246888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E6B3A"/>
                </a:solidFill>
                <a:latin typeface="Courier New"/>
              </a:rPr>
              <a:t>dbs: sdb1=0.8</a:t>
            </a:r>
          </a:p>
          <a:p>
            <a:r>
              <a:rPr sz="1000">
                <a:solidFill>
                  <a:srgbClr val="555555"/>
                </a:solidFill>
              </a:rPr>
              <a:t>80% de servicios usan la BD sdb1.
20% son servicios sin BD (nodb).
sdb2=0.0 → segundo tipo de BD no usado.</a:t>
            </a:r>
          </a:p>
        </p:txBody>
      </p:sp>
      <p:sp>
        <p:nvSpPr>
          <p:cNvPr id="9" name="Rectangle 8"/>
          <p:cNvSpPr/>
          <p:nvPr/>
        </p:nvSpPr>
        <p:spPr>
          <a:xfrm>
            <a:off x="6035040" y="1143000"/>
            <a:ext cx="6126480" cy="52120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WorkModelParameters.json (resumen)</a:t>
            </a:r>
          </a:p>
          <a:p>
            <a:r>
              <a:rPr sz="1100">
                <a:solidFill>
                  <a:srgbClr val="CBD3F0"/>
                </a:solidFill>
                <a:latin typeface="Courier New"/>
              </a:rPr>
              <a:t>{</a:t>
            </a:r>
          </a:p>
          <a:p>
            <a:r>
              <a:rPr sz="1100">
                <a:solidFill>
                  <a:srgbClr val="CBD3F0"/>
                </a:solidFill>
                <a:latin typeface="Courier New"/>
              </a:rPr>
              <a:t>  "WorkModelParameters": {</a:t>
            </a:r>
          </a:p>
          <a:p>
            <a:r>
              <a:rPr sz="1100">
                <a:solidFill>
                  <a:srgbClr val="F9E2AF"/>
                </a:solidFill>
                <a:latin typeface="Courier New"/>
              </a:rPr>
              <a:t>    "f0": {  // compute_pi (no usado: prob=0)</a:t>
            </a:r>
          </a:p>
          <a:p>
            <a:r>
              <a:rPr sz="1100">
                <a:solidFill>
                  <a:srgbClr val="CBD3F0"/>
                </a:solidFill>
                <a:latin typeface="Courier New"/>
              </a:rPr>
              <a:t>      "name":"compute_pi",</a:t>
            </a:r>
          </a:p>
          <a:p>
            <a:r>
              <a:rPr sz="1100">
                <a:solidFill>
                  <a:srgbClr val="CBD3F0"/>
                </a:solidFill>
                <a:latin typeface="Courier New"/>
              </a:rPr>
              <a:t>      "probability": 0,</a:t>
            </a:r>
          </a:p>
          <a:p>
            <a:r>
              <a:rPr sz="1100">
                <a:solidFill>
                  <a:srgbClr val="CBD3F0"/>
                </a:solidFill>
                <a:latin typeface="Courier New"/>
              </a:rPr>
              <a:t>      "range_complexity": [50,100]</a:t>
            </a:r>
          </a:p>
          <a:p>
            <a:r>
              <a:rPr sz="1100">
                <a:solidFill>
                  <a:srgbClr val="CBD3F0"/>
                </a:solidFill>
                <a:latin typeface="Courier New"/>
              </a:rPr>
              <a:t>    },</a:t>
            </a:r>
          </a:p>
          <a:p>
            <a:r>
              <a:rPr sz="1100">
                <a:solidFill>
                  <a:srgbClr val="CBD3F0"/>
                </a:solidFill>
                <a:latin typeface="Courier New"/>
              </a:rPr>
              <a:t>    "f1": {  // colosseum (no usado: prob=0.0)</a:t>
            </a:r>
          </a:p>
          <a:p>
            <a:r>
              <a:rPr sz="1100">
                <a:solidFill>
                  <a:srgbClr val="CBD3F0"/>
                </a:solidFill>
                <a:latin typeface="Courier New"/>
              </a:rPr>
              <a:t>      "name":"colosseum",</a:t>
            </a:r>
          </a:p>
          <a:p>
            <a:r>
              <a:rPr sz="1100">
                <a:solidFill>
                  <a:srgbClr val="CBD3F0"/>
                </a:solidFill>
                <a:latin typeface="Courier New"/>
              </a:rPr>
              <a:t>      "probability": 0.0</a:t>
            </a:r>
          </a:p>
          <a:p>
            <a:r>
              <a:rPr sz="1100">
                <a:solidFill>
                  <a:srgbClr val="CBD3F0"/>
                </a:solidFill>
                <a:latin typeface="Courier New"/>
              </a:rPr>
              <a:t>    },</a:t>
            </a:r>
          </a:p>
          <a:p>
            <a:r>
              <a:rPr sz="1100">
                <a:solidFill>
                  <a:srgbClr val="F9E2AF"/>
                </a:solidFill>
                <a:latin typeface="Courier New"/>
              </a:rPr>
              <a:t>    "f2": {  // loader disk (BD sdb1)</a:t>
            </a:r>
          </a:p>
          <a:p>
            <a:r>
              <a:rPr sz="1100">
                <a:solidFill>
                  <a:srgbClr val="CBD3F0"/>
                </a:solidFill>
                <a:latin typeface="Courier New"/>
              </a:rPr>
              <a:t>      "name":"loader",</a:t>
            </a:r>
          </a:p>
          <a:p>
            <a:r>
              <a:rPr sz="1100">
                <a:solidFill>
                  <a:srgbClr val="CBD3F0"/>
                </a:solidFill>
                <a:latin typeface="Courier New"/>
              </a:rPr>
              <a:t>      "recipient":"database",</a:t>
            </a:r>
          </a:p>
          <a:p>
            <a:r>
              <a:rPr sz="1100">
                <a:solidFill>
                  <a:srgbClr val="CBD3F0"/>
                </a:solidFill>
                <a:latin typeface="Courier New"/>
              </a:rPr>
              <a:t>      "probability":1,</a:t>
            </a:r>
          </a:p>
          <a:p>
            <a:r>
              <a:rPr sz="1100">
                <a:solidFill>
                  <a:srgbClr val="CBD3F0"/>
                </a:solidFill>
                <a:latin typeface="Courier New"/>
              </a:rPr>
              <a:t>      "disk_stress":{"run":true,</a:t>
            </a:r>
          </a:p>
          <a:p>
            <a:r>
              <a:rPr sz="1100">
                <a:solidFill>
                  <a:srgbClr val="CBD3F0"/>
                </a:solidFill>
                <a:latin typeface="Courier New"/>
              </a:rPr>
              <a:t>        "disk_write_block_count":1000}</a:t>
            </a:r>
          </a:p>
          <a:p>
            <a:r>
              <a:rPr sz="1100">
                <a:solidFill>
                  <a:srgbClr val="CBD3F0"/>
                </a:solidFill>
                <a:latin typeface="Courier New"/>
              </a:rPr>
              <a:t>    },</a:t>
            </a:r>
          </a:p>
          <a:p>
            <a:r>
              <a:rPr sz="1100">
                <a:solidFill>
                  <a:srgbClr val="F9E2AF"/>
                </a:solidFill>
                <a:latin typeface="Courier New"/>
              </a:rPr>
              <a:t>    "f3": {  // loader cpu (servicios s0/s1)</a:t>
            </a:r>
          </a:p>
          <a:p>
            <a:r>
              <a:rPr sz="1100">
                <a:solidFill>
                  <a:srgbClr val="CBD3F0"/>
                </a:solidFill>
                <a:latin typeface="Courier New"/>
              </a:rPr>
              <a:t>      "name":"loader",</a:t>
            </a:r>
          </a:p>
          <a:p>
            <a:r>
              <a:rPr sz="1100">
                <a:solidFill>
                  <a:srgbClr val="CBD3F0"/>
                </a:solidFill>
                <a:latin typeface="Courier New"/>
              </a:rPr>
              <a:t>      "recipient":"service",</a:t>
            </a:r>
          </a:p>
          <a:p>
            <a:r>
              <a:rPr sz="1100">
                <a:solidFill>
                  <a:srgbClr val="CBD3F0"/>
                </a:solidFill>
                <a:latin typeface="Courier New"/>
              </a:rPr>
              <a:t>      "probability":1,</a:t>
            </a:r>
          </a:p>
          <a:p>
            <a:r>
              <a:rPr sz="1100">
                <a:solidFill>
                  <a:srgbClr val="CBD3F0"/>
                </a:solidFill>
                <a:latin typeface="Courier New"/>
              </a:rPr>
              <a:t>      "cpu_stress":{"run":true,</a:t>
            </a:r>
          </a:p>
          <a:p>
            <a:r>
              <a:rPr sz="1100">
                <a:solidFill>
                  <a:srgbClr val="CBD3F0"/>
                </a:solidFill>
                <a:latin typeface="Courier New"/>
              </a:rPr>
              <a:t>        "range_complexity":[1000,1000]}</a:t>
            </a:r>
          </a:p>
          <a:p>
            <a:r>
              <a:rPr sz="1100">
                <a:solidFill>
                  <a:srgbClr val="CBD3F0"/>
                </a:solidFill>
                <a:latin typeface="Courier New"/>
              </a:rPr>
              <a:t>    }</a:t>
            </a:r>
          </a:p>
          <a:p>
            <a:r>
              <a:rPr sz="1100">
                <a:solidFill>
                  <a:srgbClr val="CBD3F0"/>
                </a:solidFill>
                <a:latin typeface="Courier New"/>
              </a:rPr>
              <a:t>  }</a:t>
            </a:r>
          </a:p>
          <a:p>
            <a:r>
              <a:rPr sz="1100">
                <a:solidFill>
                  <a:srgbClr val="CBD3F0"/>
                </a:solidFill>
                <a:latin typeface="Courier New"/>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Realistic*.json — Configuracion del flujo realista</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RealisticK8sParameters + RealisticWorkModelParameters + RealisticAutopilotConf</a:t>
            </a:r>
          </a:p>
        </p:txBody>
      </p:sp>
      <p:sp>
        <p:nvSpPr>
          <p:cNvPr id="5" name="Rectangle 4"/>
          <p:cNvSpPr/>
          <p:nvPr/>
        </p:nvSpPr>
        <p:spPr>
          <a:xfrm>
            <a:off x="274320" y="1143000"/>
            <a:ext cx="2560320" cy="43891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Campo</a:t>
            </a:r>
          </a:p>
        </p:txBody>
      </p:sp>
      <p:sp>
        <p:nvSpPr>
          <p:cNvPr id="6" name="Rectangle 5"/>
          <p:cNvSpPr/>
          <p:nvPr/>
        </p:nvSpPr>
        <p:spPr>
          <a:xfrm>
            <a:off x="2834640" y="1143000"/>
            <a:ext cx="4114800" cy="438912"/>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K8sParameters.json
(sintetico)</a:t>
            </a:r>
          </a:p>
        </p:txBody>
      </p:sp>
      <p:sp>
        <p:nvSpPr>
          <p:cNvPr id="7" name="Rectangle 6"/>
          <p:cNvSpPr/>
          <p:nvPr/>
        </p:nvSpPr>
        <p:spPr>
          <a:xfrm>
            <a:off x="6949440" y="1143000"/>
            <a:ext cx="4114800" cy="438912"/>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RealisticK8sParameters.json
(realista)</a:t>
            </a:r>
          </a:p>
        </p:txBody>
      </p:sp>
      <p:sp>
        <p:nvSpPr>
          <p:cNvPr id="8" name="Rectangle 7"/>
          <p:cNvSpPr/>
          <p:nvPr/>
        </p:nvSpPr>
        <p:spPr>
          <a:xfrm>
            <a:off x="274320" y="1581912"/>
            <a:ext cx="2560320" cy="457200"/>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prefix_yaml_file</a:t>
            </a:r>
          </a:p>
        </p:txBody>
      </p:sp>
      <p:sp>
        <p:nvSpPr>
          <p:cNvPr id="9" name="Rectangle 8"/>
          <p:cNvSpPr/>
          <p:nvPr/>
        </p:nvSpPr>
        <p:spPr>
          <a:xfrm>
            <a:off x="2834640" y="1581912"/>
            <a:ext cx="4114800" cy="45720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mubench</a:t>
            </a:r>
          </a:p>
        </p:txBody>
      </p:sp>
      <p:sp>
        <p:nvSpPr>
          <p:cNvPr id="10" name="Rectangle 9"/>
          <p:cNvSpPr/>
          <p:nvPr/>
        </p:nvSpPr>
        <p:spPr>
          <a:xfrm>
            <a:off x="6949440" y="1581912"/>
            <a:ext cx="4114800" cy="45720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rPr>
              <a:t>realistic</a:t>
            </a:r>
          </a:p>
        </p:txBody>
      </p:sp>
      <p:sp>
        <p:nvSpPr>
          <p:cNvPr id="11" name="Rectangle 10"/>
          <p:cNvSpPr/>
          <p:nvPr/>
        </p:nvSpPr>
        <p:spPr>
          <a:xfrm>
            <a:off x="274320" y="2093976"/>
            <a:ext cx="2560320" cy="457200"/>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namespace</a:t>
            </a:r>
          </a:p>
        </p:txBody>
      </p:sp>
      <p:sp>
        <p:nvSpPr>
          <p:cNvPr id="12" name="Rectangle 11"/>
          <p:cNvSpPr/>
          <p:nvPr/>
        </p:nvSpPr>
        <p:spPr>
          <a:xfrm>
            <a:off x="2834640" y="2093976"/>
            <a:ext cx="4114800" cy="45720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default</a:t>
            </a:r>
          </a:p>
        </p:txBody>
      </p:sp>
      <p:sp>
        <p:nvSpPr>
          <p:cNvPr id="13" name="Rectangle 12"/>
          <p:cNvSpPr/>
          <p:nvPr/>
        </p:nvSpPr>
        <p:spPr>
          <a:xfrm>
            <a:off x="6949440" y="2093976"/>
            <a:ext cx="4114800" cy="45720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rPr>
              <a:t>mubench-realistic</a:t>
            </a:r>
          </a:p>
        </p:txBody>
      </p:sp>
      <p:sp>
        <p:nvSpPr>
          <p:cNvPr id="14" name="Rectangle 13"/>
          <p:cNvSpPr/>
          <p:nvPr/>
        </p:nvSpPr>
        <p:spPr>
          <a:xfrm>
            <a:off x="274320" y="2606040"/>
            <a:ext cx="2560320" cy="457200"/>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dns-resolver</a:t>
            </a:r>
          </a:p>
        </p:txBody>
      </p:sp>
      <p:sp>
        <p:nvSpPr>
          <p:cNvPr id="15" name="Rectangle 14"/>
          <p:cNvSpPr/>
          <p:nvPr/>
        </p:nvSpPr>
        <p:spPr>
          <a:xfrm>
            <a:off x="2834640" y="2606040"/>
            <a:ext cx="4114800" cy="45720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coredns.kube-system
.svc.cluster.local</a:t>
            </a:r>
          </a:p>
        </p:txBody>
      </p:sp>
      <p:sp>
        <p:nvSpPr>
          <p:cNvPr id="16" name="Rectangle 15"/>
          <p:cNvSpPr/>
          <p:nvPr/>
        </p:nvSpPr>
        <p:spPr>
          <a:xfrm>
            <a:off x="6949440" y="2606040"/>
            <a:ext cx="4114800" cy="45720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kube-dns.kube-system
.svc.cluster.local</a:t>
            </a:r>
          </a:p>
        </p:txBody>
      </p:sp>
      <p:sp>
        <p:nvSpPr>
          <p:cNvPr id="17" name="Rectangle 16"/>
          <p:cNvSpPr/>
          <p:nvPr/>
        </p:nvSpPr>
        <p:spPr>
          <a:xfrm>
            <a:off x="274320" y="3118104"/>
            <a:ext cx="2560320" cy="457200"/>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sleep</a:t>
            </a:r>
          </a:p>
        </p:txBody>
      </p:sp>
      <p:sp>
        <p:nvSpPr>
          <p:cNvPr id="18" name="Rectangle 17"/>
          <p:cNvSpPr/>
          <p:nvPr/>
        </p:nvSpPr>
        <p:spPr>
          <a:xfrm>
            <a:off x="2834640" y="3118104"/>
            <a:ext cx="4114800" cy="45720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0</a:t>
            </a:r>
          </a:p>
        </p:txBody>
      </p:sp>
      <p:sp>
        <p:nvSpPr>
          <p:cNvPr id="19" name="Rectangle 18"/>
          <p:cNvSpPr/>
          <p:nvPr/>
        </p:nvSpPr>
        <p:spPr>
          <a:xfrm>
            <a:off x="6949440" y="3118104"/>
            <a:ext cx="4114800" cy="45720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rPr>
              <a:t>2  ← espera Istio sidecar</a:t>
            </a:r>
          </a:p>
        </p:txBody>
      </p:sp>
      <p:sp>
        <p:nvSpPr>
          <p:cNvPr id="20" name="Rectangle 19"/>
          <p:cNvSpPr/>
          <p:nvPr/>
        </p:nvSpPr>
        <p:spPr>
          <a:xfrm>
            <a:off x="274320" y="3630168"/>
            <a:ext cx="2560320" cy="457200"/>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OutputPath</a:t>
            </a:r>
          </a:p>
        </p:txBody>
      </p:sp>
      <p:sp>
        <p:nvSpPr>
          <p:cNvPr id="21" name="Rectangle 20"/>
          <p:cNvSpPr/>
          <p:nvPr/>
        </p:nvSpPr>
        <p:spPr>
          <a:xfrm>
            <a:off x="2834640" y="3630168"/>
            <a:ext cx="4114800" cy="45720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SimulationWorkspace</a:t>
            </a:r>
          </a:p>
        </p:txBody>
      </p:sp>
      <p:sp>
        <p:nvSpPr>
          <p:cNvPr id="22" name="Rectangle 21"/>
          <p:cNvSpPr/>
          <p:nvPr/>
        </p:nvSpPr>
        <p:spPr>
          <a:xfrm>
            <a:off x="6949440" y="3630168"/>
            <a:ext cx="4114800" cy="457200"/>
          </a:xfrm>
          <a:prstGeom prst="rect">
            <a:avLst/>
          </a:prstGeom>
          <a:solidFill>
            <a:srgbClr val="F0F4F8"/>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rPr>
              <a:t>../../RealisticWorkspace</a:t>
            </a:r>
          </a:p>
        </p:txBody>
      </p:sp>
      <p:sp>
        <p:nvSpPr>
          <p:cNvPr id="23" name="Rectangle 22"/>
          <p:cNvSpPr/>
          <p:nvPr/>
        </p:nvSpPr>
        <p:spPr>
          <a:xfrm>
            <a:off x="274320" y="4142232"/>
            <a:ext cx="2560320" cy="457200"/>
          </a:xfrm>
          <a:prstGeom prst="rect">
            <a:avLst/>
          </a:prstGeom>
          <a:solidFill>
            <a:srgbClr val="E2E8F0"/>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rPr>
              <a:t>WorkModelPath</a:t>
            </a:r>
          </a:p>
        </p:txBody>
      </p:sp>
      <p:sp>
        <p:nvSpPr>
          <p:cNvPr id="24" name="Rectangle 23"/>
          <p:cNvSpPr/>
          <p:nvPr/>
        </p:nvSpPr>
        <p:spPr>
          <a:xfrm>
            <a:off x="2834640" y="4142232"/>
            <a:ext cx="4114800" cy="45720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497D"/>
                </a:solidFill>
              </a:rPr>
              <a:t>Simulation
Workspace/workmodel.json</a:t>
            </a:r>
          </a:p>
        </p:txBody>
      </p:sp>
      <p:sp>
        <p:nvSpPr>
          <p:cNvPr id="25" name="Rectangle 24"/>
          <p:cNvSpPr/>
          <p:nvPr/>
        </p:nvSpPr>
        <p:spPr>
          <a:xfrm>
            <a:off x="6949440" y="4142232"/>
            <a:ext cx="4114800" cy="457200"/>
          </a:xfrm>
          <a:prstGeom prst="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rPr>
              <a:t>../../RealisticWorkspace/workmodel.json</a:t>
            </a:r>
          </a:p>
        </p:txBody>
      </p:sp>
      <p:sp>
        <p:nvSpPr>
          <p:cNvPr id="26" name="Rectangle 25"/>
          <p:cNvSpPr/>
          <p:nvPr/>
        </p:nvSpPr>
        <p:spPr>
          <a:xfrm>
            <a:off x="274320" y="4553712"/>
            <a:ext cx="6858000" cy="2103120"/>
          </a:xfrm>
          <a:prstGeom prst="rect">
            <a:avLst/>
          </a:prstGeom>
          <a:solidFill>
            <a:srgbClr val="1E1E2E"/>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0">
                <a:solidFill>
                  <a:srgbClr val="FFFFFF"/>
                </a:solidFill>
                <a:latin typeface="Courier New"/>
              </a:rPr>
              <a:t># RealisticWorkModelParameters.json</a:t>
            </a:r>
          </a:p>
          <a:p>
            <a:r>
              <a:rPr sz="1000" b="0">
                <a:solidFill>
                  <a:srgbClr val="89DCEB"/>
                </a:solidFill>
                <a:latin typeface="Courier New"/>
              </a:rPr>
              <a:t>f-api:  api_function   prob=1.0  jwt_secret  processing_latency_ms=10</a:t>
            </a:r>
          </a:p>
          <a:p>
            <a:r>
              <a:rPr sz="1000" b="0">
                <a:solidFill>
                  <a:srgbClr val="A6E3A1"/>
                </a:solidFill>
                <a:latin typeface="Courier New"/>
              </a:rPr>
              <a:t>        workers=2  threads=8  cpu-req=200m  cpu-lim=500m  mem=128Mi/256Mi  replicas=1</a:t>
            </a:r>
          </a:p>
          <a:p>
            <a:r>
              <a:rPr sz="1000" b="0">
                <a:solidFill>
                  <a:srgbClr val="89DCEB"/>
                </a:solidFill>
                <a:latin typeface="Courier New"/>
              </a:rPr>
              <a:t>f-auth: auth_function  prob=1.0  jwt_expire=30min  auth_latency_ms=5</a:t>
            </a:r>
          </a:p>
          <a:p>
            <a:r>
              <a:rPr sz="1000" b="0">
                <a:solidFill>
                  <a:srgbClr val="A6E3A1"/>
                </a:solidFill>
                <a:latin typeface="Courier New"/>
              </a:rPr>
              <a:t>        workers=2  threads=8  cpu-req=100m  cpu-lim=300m  mem=64Mi/128Mi   replicas=1</a:t>
            </a:r>
          </a:p>
          <a:p>
            <a:r>
              <a:rPr sz="1000" b="0">
                <a:solidFill>
                  <a:srgbClr val="89DCEB"/>
                </a:solidFill>
                <a:latin typeface="Courier New"/>
              </a:rPr>
              <a:t>f-data: data_function  prob=1.0  query_latency_ms=20  db_rows=10</a:t>
            </a:r>
          </a:p>
          <a:p>
            <a:r>
              <a:rPr sz="1000" b="0">
                <a:solidFill>
                  <a:srgbClr val="A6E3A1"/>
                </a:solidFill>
                <a:latin typeface="Courier New"/>
              </a:rPr>
              <a:t>        workers=2  threads=8  cpu-req=150m  cpu-lim=400m  mem=96Mi/192Mi   replicas=1</a:t>
            </a:r>
          </a:p>
        </p:txBody>
      </p:sp>
      <p:sp>
        <p:nvSpPr>
          <p:cNvPr id="27" name="Rectangle 26"/>
          <p:cNvSpPr/>
          <p:nvPr/>
        </p:nvSpPr>
        <p:spPr>
          <a:xfrm>
            <a:off x="7360920" y="4553712"/>
            <a:ext cx="1554480" cy="105156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C0392B"/>
                </a:solidFill>
              </a:rPr>
              <a:t>jwt_secret compartido</a:t>
            </a:r>
          </a:p>
          <a:p>
            <a:r>
              <a:rPr sz="900">
                <a:solidFill>
                  <a:srgbClr val="555555"/>
                </a:solidFill>
              </a:rPr>
              <a:t>api_function y auth_function usan el mismo
jwt_secret='mubench-dev-secret'.
api genera el token, auth lo valida.
En produccion debe estar en un Secret K8s.</a:t>
            </a:r>
          </a:p>
        </p:txBody>
      </p:sp>
      <p:sp>
        <p:nvSpPr>
          <p:cNvPr id="28" name="Rectangle 27"/>
          <p:cNvSpPr/>
          <p:nvPr/>
        </p:nvSpPr>
        <p:spPr>
          <a:xfrm>
            <a:off x="9052560" y="4553712"/>
            <a:ext cx="1554480" cy="10515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3690F"/>
                </a:solidFill>
              </a:rPr>
              <a:t>rate_limit_enabled: false</a:t>
            </a:r>
          </a:p>
          <a:p>
            <a:r>
              <a:rPr sz="900">
                <a:solidFill>
                  <a:srgbClr val="555555"/>
                </a:solidFill>
              </a:rPr>
              <a:t>api_function tiene rate limiting
pero esta DESACTIVADO por defecto.
El Exp-04R usa EnvoyFilter (Istio)
en lugar de esta limitacion a nivel app.</a:t>
            </a:r>
          </a:p>
        </p:txBody>
      </p:sp>
      <p:sp>
        <p:nvSpPr>
          <p:cNvPr id="29" name="Rectangle 28"/>
          <p:cNvSpPr/>
          <p:nvPr/>
        </p:nvSpPr>
        <p:spPr>
          <a:xfrm>
            <a:off x="7360920" y="5742432"/>
            <a:ext cx="4754880" cy="10515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E75B6"/>
                </a:solidFill>
              </a:rPr>
              <a:t>RealisticAutopilotConf.json</a:t>
            </a:r>
          </a:p>
          <a:p>
            <a:r>
              <a:rPr sz="900">
                <a:solidFill>
                  <a:srgbClr val="555555"/>
                </a:solidFill>
              </a:rPr>
              <a:t>Identico a K8sAutopilotConf.json pero
apunta a RealisticWorkModelParameters.json
y RealisticK8sParameters.json.
Permite lanzar el flujo realista con
python3 K8sAutopilot.py -c RealisticAutopilotConf.json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NGINX — gw-nginx y Ingress Controller</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Templates/DeploymentNginxGwTemplate · ConfigMapNginxGwTemplate · HPA · DestinationRule · ServiceMonitor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NGINX en muBench — Dos sabores distintos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gw-nginx (pod interno del proyecto) vs NGINX Ingress Controller (addon microk8s)</a:t>
            </a:r>
          </a:p>
        </p:txBody>
      </p:sp>
      <p:sp>
        <p:nvSpPr>
          <p:cNvPr id="5" name="Rectangle 4"/>
          <p:cNvSpPr/>
          <p:nvPr/>
        </p:nvSpPr>
        <p:spPr>
          <a:xfrm>
            <a:off x="274320" y="1143000"/>
            <a:ext cx="5760720"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gw-nginx (interno)</a:t>
            </a:r>
          </a:p>
        </p:txBody>
      </p:sp>
      <p:sp>
        <p:nvSpPr>
          <p:cNvPr id="6" name="Rectangle 5"/>
          <p:cNvSpPr/>
          <p:nvPr/>
        </p:nvSpPr>
        <p:spPr>
          <a:xfrm>
            <a:off x="274320" y="1527048"/>
            <a:ext cx="5760720" cy="35204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latin typeface="Courier New"/>
              </a:rPr>
              <a:t>Pod nginx DENTRO del cluster.
Generado por K8sYamlBuilder.py desde
  Templates/DeploymentNginxGwTemplate.yaml
  Templates/ConfigMapNginxGwTemplate.yaml
Funcion: enruta trafico a microservicios
usando DNS dinamico en nginx.conf
(proxy_pass con $request_uri + namespace)
Solo se despliega si nginx-gw:true
en K8sParameters.json.
Service: NodePort :31213
HPA: hpa-realistic-gw-nginx.yaml
Istio DR: destrule-realistic-DeploymentNginxGw.yaml</a:t>
            </a:r>
          </a:p>
        </p:txBody>
      </p:sp>
      <p:sp>
        <p:nvSpPr>
          <p:cNvPr id="7" name="Rectangle 6"/>
          <p:cNvSpPr/>
          <p:nvPr/>
        </p:nvSpPr>
        <p:spPr>
          <a:xfrm>
            <a:off x="274320" y="5047488"/>
            <a:ext cx="5760720" cy="411480"/>
          </a:xfrm>
          <a:prstGeom prst="rect">
            <a:avLst/>
          </a:prstGeom>
          <a:solidFill>
            <a:srgbClr val="1F497D"/>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2E75B6"/>
                </a:solidFill>
                <a:latin typeface="Courier New"/>
              </a:rPr>
              <a:t>Deployers/K8sDeployer/Templates/
RealisticWorkspace/yamls/
Add-on/HPA/
Add-on/Istio/</a:t>
            </a:r>
          </a:p>
        </p:txBody>
      </p:sp>
      <p:sp>
        <p:nvSpPr>
          <p:cNvPr id="8" name="Rectangle 7"/>
          <p:cNvSpPr/>
          <p:nvPr/>
        </p:nvSpPr>
        <p:spPr>
          <a:xfrm>
            <a:off x="6263640" y="1143000"/>
            <a:ext cx="5760720" cy="384048"/>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NGINX Ingress Controller</a:t>
            </a:r>
          </a:p>
        </p:txBody>
      </p:sp>
      <p:sp>
        <p:nvSpPr>
          <p:cNvPr id="9" name="Rectangle 8"/>
          <p:cNvSpPr/>
          <p:nvPr/>
        </p:nvSpPr>
        <p:spPr>
          <a:xfrm>
            <a:off x="6263640" y="1527048"/>
            <a:ext cx="5760720" cy="35204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latin typeface="Courier New"/>
              </a:rPr>
              <a:t>Pod nginx instalado como addon microk8s.
microk8s enable ingress
Funcion: punto de entrada HTTP/S externo
al cluster. Usa recursos Ingress de K8s
para rutear hacia Services internos.
Configurable via annotations en el
recurso Ingress (rate-limit, rewrite,
headers, timeouts).
Service: NodePort :30080 / :30443
Monitoring: prometheus-nginx-ingress.yaml
Ingress recurso: 07-c1-ingress-gateway.yaml
  (experiments/01-api-gateway/nginx/)</a:t>
            </a:r>
          </a:p>
        </p:txBody>
      </p:sp>
      <p:sp>
        <p:nvSpPr>
          <p:cNvPr id="10" name="Rectangle 9"/>
          <p:cNvSpPr/>
          <p:nvPr/>
        </p:nvSpPr>
        <p:spPr>
          <a:xfrm>
            <a:off x="6263640" y="5047488"/>
            <a:ext cx="5760720" cy="411480"/>
          </a:xfrm>
          <a:prstGeom prst="rect">
            <a:avLst/>
          </a:prstGeom>
          <a:solidFill>
            <a:srgbClr val="1F497D"/>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D3690F"/>
                </a:solidFill>
                <a:latin typeface="Courier New"/>
              </a:rPr>
              <a:t>Monitoring/kubernetes-full-monitoring/
experiments/01-api-gateway/nginx/
RealisticServices/k8s/</a:t>
            </a:r>
          </a:p>
        </p:txBody>
      </p:sp>
      <p:sp>
        <p:nvSpPr>
          <p:cNvPr id="11" name="Rectangle 10"/>
          <p:cNvSpPr/>
          <p:nvPr/>
        </p:nvSpPr>
        <p:spPr>
          <a:xfrm>
            <a:off x="274320" y="5559552"/>
            <a:ext cx="11612880" cy="10972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9E2AF"/>
                </a:solidFill>
                <a:latin typeface="Courier New"/>
              </a:rPr>
              <a:t>Diferencias clave</a:t>
            </a:r>
          </a:p>
          <a:p>
            <a:r>
              <a:rPr sz="1000">
                <a:solidFill>
                  <a:srgbClr val="F0F4F8"/>
                </a:solidFill>
                <a:latin typeface="Courier New"/>
              </a:rPr>
              <a:t>gw-nginx:  imagen 'nginx' vanilla  |  config en nginx.conf via ConfigMap  |  L4/L7 proxy con DNS dinamico  |  Node Port :31213</a:t>
            </a:r>
          </a:p>
          <a:p>
            <a:r>
              <a:rPr sz="1000">
                <a:solidFill>
                  <a:srgbClr val="F0F4F8"/>
                </a:solidFill>
                <a:latin typeface="Courier New"/>
              </a:rPr>
              <a:t>Ingress:   imagen ingress-nginx (modificada)  |  config via annotations K8s  |  L7 Ingress resource  |  NodePort :30080/:30443</a:t>
            </a:r>
          </a:p>
          <a:p>
            <a:r>
              <a:rPr sz="1000">
                <a:solidFill>
                  <a:srgbClr val="F0F4F8"/>
                </a:solidFill>
                <a:latin typeface="Courier New"/>
              </a:rPr>
              <a:t>Cuando usar gw-nginx: benchmark sintetico donde el gateway es PARTE del microservicio graph (trafico pasa por el).</a:t>
            </a:r>
          </a:p>
          <a:p>
            <a:r>
              <a:rPr sz="1000">
                <a:solidFill>
                  <a:srgbClr val="F0F4F8"/>
                </a:solidFill>
                <a:latin typeface="Courier New"/>
              </a:rPr>
              <a:t>Cuando usar Ingress: punto de entrada a un namespace de servicios independientes (trafico entra desde fuera del cluster).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Templates/gw-nginx — Deployment + ConfigMap</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K8sYamlBuilder genera estos YAMLs si nginx-gw:true en K8sParameters.json</a:t>
            </a:r>
          </a:p>
        </p:txBody>
      </p:sp>
      <p:sp>
        <p:nvSpPr>
          <p:cNvPr id="5" name="Rectangle 4"/>
          <p:cNvSpPr/>
          <p:nvPr/>
        </p:nvSpPr>
        <p:spPr>
          <a:xfrm>
            <a:off x="365760" y="1143000"/>
            <a:ext cx="5303520" cy="3108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DeploymentNginxGwTemplate.yaml</a:t>
            </a:r>
          </a:p>
          <a:p>
            <a:r>
              <a:rPr sz="1100">
                <a:solidFill>
                  <a:srgbClr val="F9E2AF"/>
                </a:solidFill>
                <a:latin typeface="Courier New"/>
              </a:rPr>
              <a:t>kind: Deployment</a:t>
            </a:r>
          </a:p>
          <a:p>
            <a:r>
              <a:rPr sz="1100">
                <a:solidFill>
                  <a:srgbClr val="CBD3F0"/>
                </a:solidFill>
                <a:latin typeface="Courier New"/>
              </a:rPr>
              <a:t>metadata:</a:t>
            </a:r>
          </a:p>
          <a:p>
            <a:r>
              <a:rPr sz="1100">
                <a:solidFill>
                  <a:srgbClr val="CBD3F0"/>
                </a:solidFill>
                <a:latin typeface="Courier New"/>
              </a:rPr>
              <a:t>  name: gw-nginx</a:t>
            </a:r>
          </a:p>
          <a:p>
            <a:r>
              <a:rPr sz="1100">
                <a:solidFill>
                  <a:srgbClr val="CBD3F0"/>
                </a:solidFill>
                <a:latin typeface="Courier New"/>
              </a:rPr>
              <a:t>  namespace: {{NAMESPACE}}</a:t>
            </a:r>
          </a:p>
          <a:p>
            <a:r>
              <a:rPr sz="1100">
                <a:solidFill>
                  <a:srgbClr val="CBD3F0"/>
                </a:solidFill>
                <a:latin typeface="Courier New"/>
              </a:rPr>
              <a:t>spec:</a:t>
            </a:r>
          </a:p>
          <a:p>
            <a:r>
              <a:rPr sz="1100">
                <a:solidFill>
                  <a:srgbClr val="CBD3F0"/>
                </a:solidFill>
                <a:latin typeface="Courier New"/>
              </a:rPr>
              <a:t>  replicas: 1</a:t>
            </a:r>
          </a:p>
          <a:p>
            <a:r>
              <a:rPr sz="1100">
                <a:solidFill>
                  <a:srgbClr val="CBD3F0"/>
                </a:solidFill>
                <a:latin typeface="Courier New"/>
              </a:rPr>
              <a:t>  containers:</a:t>
            </a:r>
          </a:p>
          <a:p>
            <a:r>
              <a:rPr sz="1100">
                <a:solidFill>
                  <a:srgbClr val="CBD3F0"/>
                </a:solidFill>
                <a:latin typeface="Courier New"/>
              </a:rPr>
              <a:t>  - name: gw-nginx</a:t>
            </a:r>
          </a:p>
          <a:p>
            <a:r>
              <a:rPr sz="1100">
                <a:solidFill>
                  <a:srgbClr val="CBD3F0"/>
                </a:solidFill>
                <a:latin typeface="Courier New"/>
              </a:rPr>
              <a:t>    image: nginx       # imagen oficial nginx</a:t>
            </a:r>
          </a:p>
          <a:p>
            <a:r>
              <a:rPr sz="1100">
                <a:solidFill>
                  <a:srgbClr val="F9E2AF"/>
                </a:solidFill>
                <a:latin typeface="Courier New"/>
              </a:rPr>
              <a:t>    ports:</a:t>
            </a:r>
          </a:p>
          <a:p>
            <a:r>
              <a:rPr sz="1100">
                <a:solidFill>
                  <a:srgbClr val="CBD3F0"/>
                </a:solidFill>
                <a:latin typeface="Courier New"/>
              </a:rPr>
              <a:t>    - containerPort: 80</a:t>
            </a:r>
          </a:p>
          <a:p>
            <a:r>
              <a:rPr sz="1100">
                <a:solidFill>
                  <a:srgbClr val="CBD3F0"/>
                </a:solidFill>
                <a:latin typeface="Courier New"/>
              </a:rPr>
              <a:t>    volumeMounts:</a:t>
            </a:r>
          </a:p>
          <a:p>
            <a:r>
              <a:rPr sz="1100">
                <a:solidFill>
                  <a:srgbClr val="F9E2AF"/>
                </a:solidFill>
                <a:latin typeface="Courier New"/>
              </a:rPr>
              <a:t>    - mountPath: /etc/nginx/nginx.conf</a:t>
            </a:r>
          </a:p>
          <a:p>
            <a:r>
              <a:rPr sz="1100">
                <a:solidFill>
                  <a:srgbClr val="CBD3F0"/>
                </a:solidFill>
                <a:latin typeface="Courier New"/>
              </a:rPr>
              <a:t>      name: config-volume</a:t>
            </a:r>
          </a:p>
          <a:p>
            <a:r>
              <a:rPr sz="1100">
                <a:solidFill>
                  <a:srgbClr val="F9E2AF"/>
                </a:solidFill>
                <a:latin typeface="Courier New"/>
              </a:rPr>
              <a:t>      subPath: nginx.conf  # solo ese archivo del CM</a:t>
            </a:r>
          </a:p>
          <a:p>
            <a:r>
              <a:rPr sz="1100">
                <a:solidFill>
                  <a:srgbClr val="CBD3F0"/>
                </a:solidFill>
                <a:latin typeface="Courier New"/>
              </a:rPr>
              <a:t>  schedulerName: {{SCHEDULER_NAME}}</a:t>
            </a:r>
          </a:p>
          <a:p>
            <a:r>
              <a:rPr sz="1100">
                <a:solidFill>
                  <a:srgbClr val="F9E2AF"/>
                </a:solidFill>
                <a:latin typeface="Courier New"/>
              </a:rPr>
              <a:t>  volumes:</a:t>
            </a:r>
          </a:p>
          <a:p>
            <a:r>
              <a:rPr sz="1100">
                <a:solidFill>
                  <a:srgbClr val="CBD3F0"/>
                </a:solidFill>
                <a:latin typeface="Courier New"/>
              </a:rPr>
              <a:t>  - name: config-volume</a:t>
            </a:r>
          </a:p>
          <a:p>
            <a:r>
              <a:rPr sz="1100">
                <a:solidFill>
                  <a:srgbClr val="CBD3F0"/>
                </a:solidFill>
                <a:latin typeface="Courier New"/>
              </a:rPr>
              <a:t>    configMap: {name: gw-nginx}</a:t>
            </a:r>
          </a:p>
          <a:p>
            <a:r>
              <a:rPr sz="1100">
                <a:solidFill>
                  <a:srgbClr val="CBD3F0"/>
                </a:solidFill>
                <a:latin typeface="Courier New"/>
              </a:rPr>
              <a:t>  - name: log</a:t>
            </a:r>
          </a:p>
          <a:p>
            <a:r>
              <a:rPr sz="1100">
                <a:solidFill>
                  <a:srgbClr val="CBD3F0"/>
                </a:solidFill>
                <a:latin typeface="Courier New"/>
              </a:rPr>
              <a:t>    emptyDir: {}</a:t>
            </a:r>
          </a:p>
          <a:p>
            <a:r>
              <a:rPr sz="1100">
                <a:solidFill>
                  <a:srgbClr val="CBD3F0"/>
                </a:solidFill>
                <a:latin typeface="Courier New"/>
              </a:rPr>
              <a:t>---</a:t>
            </a:r>
          </a:p>
          <a:p>
            <a:r>
              <a:rPr sz="1100">
                <a:solidFill>
                  <a:srgbClr val="CBD3F0"/>
                </a:solidFill>
                <a:latin typeface="Courier New"/>
              </a:rPr>
              <a:t>kind: Service</a:t>
            </a:r>
          </a:p>
          <a:p>
            <a:r>
              <a:rPr sz="1100">
                <a:solidFill>
                  <a:srgbClr val="CBD3F0"/>
                </a:solidFill>
                <a:latin typeface="Courier New"/>
              </a:rPr>
              <a:t>  type: {{SVCTYPE}}   # NodePort en produccion</a:t>
            </a:r>
          </a:p>
          <a:p>
            <a:r>
              <a:rPr sz="1100">
                <a:solidFill>
                  <a:srgbClr val="CBD3F0"/>
                </a:solidFill>
                <a:latin typeface="Courier New"/>
              </a:rPr>
              <a:t>  ports: [{nodePort: 31213}]</a:t>
            </a:r>
          </a:p>
        </p:txBody>
      </p:sp>
      <p:sp>
        <p:nvSpPr>
          <p:cNvPr id="6" name="Rectangle 5"/>
          <p:cNvSpPr/>
          <p:nvPr/>
        </p:nvSpPr>
        <p:spPr>
          <a:xfrm>
            <a:off x="365760" y="4343400"/>
            <a:ext cx="5303520" cy="23317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ConfigMapNginxGwTemplate.yaml — nginx.conf</a:t>
            </a:r>
          </a:p>
          <a:p>
            <a:r>
              <a:rPr sz="1100">
                <a:solidFill>
                  <a:srgbClr val="CBD3F0"/>
                </a:solidFill>
                <a:latin typeface="Courier New"/>
              </a:rPr>
              <a:t>location / {</a:t>
            </a:r>
          </a:p>
          <a:p>
            <a:r>
              <a:rPr sz="1100">
                <a:solidFill>
                  <a:srgbClr val="CBD3F0"/>
                </a:solidFill>
                <a:latin typeface="Courier New"/>
              </a:rPr>
              <a:t>    proxy_read_timeout 5m;</a:t>
            </a:r>
          </a:p>
          <a:p>
            <a:r>
              <a:rPr sz="1100">
                <a:solidFill>
                  <a:srgbClr val="CBD3F0"/>
                </a:solidFill>
                <a:latin typeface="Courier New"/>
              </a:rPr>
              <a:t>    resolver {{RESOLVER}};</a:t>
            </a:r>
          </a:p>
          <a:p>
            <a:r>
              <a:rPr sz="1100">
                <a:solidFill>
                  <a:srgbClr val="F9E2AF"/>
                </a:solidFill>
                <a:latin typeface="Courier New"/>
              </a:rPr>
              <a:t>    proxy_pass http:/$request_uri.{{NAMESPACE}}.svc.cluster.local{{PATH}};</a:t>
            </a:r>
          </a:p>
          <a:p>
            <a:r>
              <a:rPr sz="1100">
                <a:solidFill>
                  <a:srgbClr val="F9E2AF"/>
                </a:solidFill>
                <a:latin typeface="Courier New"/>
              </a:rPr>
              <a:t>}</a:t>
            </a:r>
          </a:p>
          <a:p>
            <a:r>
              <a:rPr sz="1100">
                <a:solidFill>
                  <a:srgbClr val="CBD3F0"/>
                </a:solidFill>
                <a:latin typeface="Courier New"/>
              </a:rPr>
              <a:t>location ~* /update$ {</a:t>
            </a:r>
          </a:p>
          <a:p>
            <a:r>
              <a:rPr sz="1100">
                <a:solidFill>
                  <a:srgbClr val="F9E2AF"/>
                </a:solidFill>
                <a:latin typeface="Courier New"/>
              </a:rPr>
              <a:t>    rewrite ^(/.*)/update$ /update break;</a:t>
            </a:r>
          </a:p>
          <a:p>
            <a:r>
              <a:rPr sz="1100">
                <a:solidFill>
                  <a:srgbClr val="F9E2AF"/>
                </a:solidFill>
                <a:latin typeface="Courier New"/>
              </a:rPr>
              <a:t>    proxy_pass http:/$1.{{NAMESPACE}}.svc.cluster.local;</a:t>
            </a:r>
          </a:p>
          <a:p>
            <a:r>
              <a:rPr sz="1100">
                <a:solidFill>
                  <a:srgbClr val="CBD3F0"/>
                </a:solidFill>
                <a:latin typeface="Courier New"/>
              </a:rPr>
              <a:t>}</a:t>
            </a:r>
          </a:p>
          <a:p>
            <a:r>
              <a:rPr sz="1100">
                <a:solidFill>
                  <a:srgbClr val="CBD3F0"/>
                </a:solidFill>
                <a:latin typeface="Courier New"/>
              </a:rPr>
              <a:t>log_format main '[GATEWAY] $request_uri $status</a:t>
            </a:r>
          </a:p>
          <a:p>
            <a:r>
              <a:rPr sz="1100">
                <a:solidFill>
                  <a:srgbClr val="CBD3F0"/>
                </a:solidFill>
                <a:latin typeface="Courier New"/>
              </a:rPr>
              <a:t>  http:/$request_uri.{{NAMESPACE}}.svc.cluster.local';</a:t>
            </a:r>
          </a:p>
        </p:txBody>
      </p:sp>
      <p:sp>
        <p:nvSpPr>
          <p:cNvPr id="7" name="Rectangle 6"/>
          <p:cNvSpPr/>
          <p:nvPr/>
        </p:nvSpPr>
        <p:spPr>
          <a:xfrm>
            <a:off x="5852160" y="1143000"/>
            <a:ext cx="301752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DNS dinamico — el truco clave</a:t>
            </a:r>
          </a:p>
          <a:p>
            <a:r>
              <a:rPr sz="1000">
                <a:solidFill>
                  <a:srgbClr val="555555"/>
                </a:solidFill>
              </a:rPr>
              <a:t>proxy_pass http:/$request_uri.{{NS}}.svc.cluster.local
La URL que recibe el cliente:
  POST http://gw-nginx/s0/process
Nginx extrae $request_uri = /s0/process
y construye el upstream:
  http://s0.mubench-realistic.svc.cluster.local/api/v1
El servicio se resuelve por DNS K8s.
→ UN solo gateway sirve TODOS los microservicios
sin config individual por servicio.</a:t>
            </a:r>
          </a:p>
        </p:txBody>
      </p:sp>
      <p:sp>
        <p:nvSpPr>
          <p:cNvPr id="8" name="Rectangle 7"/>
          <p:cNvSpPr/>
          <p:nvPr/>
        </p:nvSpPr>
        <p:spPr>
          <a:xfrm>
            <a:off x="9006840" y="1143000"/>
            <a:ext cx="301752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resolver {{RESOLVER}}</a:t>
            </a:r>
          </a:p>
          <a:p>
            <a:r>
              <a:rPr sz="1000">
                <a:solidFill>
                  <a:srgbClr val="555555"/>
                </a:solidFill>
              </a:rPr>
              <a:t>nginx necesita resolver directiva
para proxy_pass con variables.
Sin ella nginx no puede hacer DNS
lookup dinamico (falla con error).
Valores usados en el proyecto:
  Template: {{RESOLVER}}
  Sintetico: kube-dns.kube-system.svc.cluster.local
  (lo inyecta K8sYamlBuilder desde
  k8s_parameters['dns-resolver'])
En microk8s CoreDNS es el resolver.</a:t>
            </a:r>
          </a:p>
        </p:txBody>
      </p:sp>
      <p:sp>
        <p:nvSpPr>
          <p:cNvPr id="9" name="Rectangle 8"/>
          <p:cNvSpPr/>
          <p:nvPr/>
        </p:nvSpPr>
        <p:spPr>
          <a:xfrm>
            <a:off x="5852160" y="3383280"/>
            <a:ext cx="301752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subPath: nginx.conf</a:t>
            </a:r>
          </a:p>
          <a:p>
            <a:r>
              <a:rPr sz="1000">
                <a:solidFill>
                  <a:srgbClr val="555555"/>
                </a:solidFill>
              </a:rPr>
              <a:t>ConfigMap puede tener multiples claves.
subPath monta SOLO la clave 'nginx.conf'
en /etc/nginx/nginx.conf.
Sin subPath se montaria todo el CM
como directorio, sobreescribiendo
/etc/nginx/ completo (incluye otros
archivos de config de nginx).
readOnly: true → el pod no puede
modificar su propia config.</a:t>
            </a:r>
          </a:p>
        </p:txBody>
      </p:sp>
      <p:sp>
        <p:nvSpPr>
          <p:cNvPr id="10" name="Rectangle 9"/>
          <p:cNvSpPr/>
          <p:nvPr/>
        </p:nvSpPr>
        <p:spPr>
          <a:xfrm>
            <a:off x="9006840" y="3383280"/>
            <a:ext cx="301752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location /update$ vs location /</a:t>
            </a:r>
          </a:p>
          <a:p>
            <a:r>
              <a:rPr sz="1000">
                <a:solidFill>
                  <a:srgbClr val="555555"/>
                </a:solidFill>
              </a:rPr>
              <a:t>Dos locations en el nginx.conf:
location / → catch-all
  proxy_pass con PATH (/api/v1)
  Para requests normales de proceso
location ~* /update$ → regex
  rewrite para quitar el prefijo
  proxy_pass SIN path adicional
  Para requests de update de workmodel
  (CellController tiene endpoint /update)</a:t>
            </a:r>
          </a:p>
        </p:txBody>
      </p:sp>
      <p:sp>
        <p:nvSpPr>
          <p:cNvPr id="11" name="Rectangle 10"/>
          <p:cNvSpPr/>
          <p:nvPr/>
        </p:nvSpPr>
        <p:spPr>
          <a:xfrm>
            <a:off x="5852160" y="5623560"/>
            <a:ext cx="301752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{{SVCTYPE}} — NodePort vs ClusterIP</a:t>
            </a:r>
          </a:p>
          <a:p>
            <a:r>
              <a:rPr sz="1000">
                <a:solidFill>
                  <a:srgbClr val="555555"/>
                </a:solidFill>
              </a:rPr>
              <a:t>K8sYamlBuilder sustituye {{SVCTYPE}}
con k8s_parameters['nginx-svc-type'].
Valores posibles:
  NodePort → accesible desde fuera
    puerto fijo :31213
  ClusterIP → solo interno al cluster
Realista usa NodePort para que k6
pueda llegar al gateway desde el
nodo host (fuera del cluster).</a:t>
            </a:r>
          </a:p>
        </p:txBody>
      </p:sp>
      <p:sp>
        <p:nvSpPr>
          <p:cNvPr id="12" name="Rectangle 11"/>
          <p:cNvSpPr/>
          <p:nvPr/>
        </p:nvSpPr>
        <p:spPr>
          <a:xfrm>
            <a:off x="9006840" y="5623560"/>
            <a:ext cx="301752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emptyDir para logs</a:t>
            </a:r>
          </a:p>
          <a:p>
            <a:r>
              <a:rPr sz="1000">
                <a:solidFill>
                  <a:srgbClr val="555555"/>
                </a:solidFill>
              </a:rPr>
              <a:t>volumes: [{name: log, emptyDir: {}}]
El directorio /var/log/nginx se monta
en memoria efimera (emptyDir).
Ventajas:
- No llena el disco del nodo
- Logs se limpian al restart del pod
- Evita PersistentVolumeClaim adicional
Desventaja: los logs se pierden si
el pod se reinicia (no hay persistencia).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gw-nginx — HPA y DestinationRule de Istio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hpa-realistic-gw-nginx.yaml y destrule-realistic-DeploymentNginxGw.yaml completan la configuracion de gw-nginx</a:t>
            </a:r>
          </a:p>
        </p:txBody>
      </p:sp>
      <p:sp>
        <p:nvSpPr>
          <p:cNvPr id="5" name="Rectangle 4"/>
          <p:cNvSpPr/>
          <p:nvPr/>
        </p:nvSpPr>
        <p:spPr>
          <a:xfrm>
            <a:off x="365760" y="1143000"/>
            <a:ext cx="5394960" cy="24231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hpa-realistic-gw-nginx.yaml</a:t>
            </a:r>
          </a:p>
          <a:p>
            <a:r>
              <a:rPr sz="1100">
                <a:solidFill>
                  <a:srgbClr val="F9E2AF"/>
                </a:solidFill>
                <a:latin typeface="Courier New"/>
              </a:rPr>
              <a:t>apiVersion: autoscaling/v2</a:t>
            </a:r>
          </a:p>
          <a:p>
            <a:r>
              <a:rPr sz="1100">
                <a:solidFill>
                  <a:srgbClr val="CBD3F0"/>
                </a:solidFill>
                <a:latin typeface="Courier New"/>
              </a:rPr>
              <a:t>kind: HorizontalPodAutoscaler</a:t>
            </a:r>
          </a:p>
          <a:p>
            <a:r>
              <a:rPr sz="1100">
                <a:solidFill>
                  <a:srgbClr val="CBD3F0"/>
                </a:solidFill>
                <a:latin typeface="Courier New"/>
              </a:rPr>
              <a:t>metadata:</a:t>
            </a:r>
          </a:p>
          <a:p>
            <a:r>
              <a:rPr sz="1100">
                <a:solidFill>
                  <a:srgbClr val="CBD3F0"/>
                </a:solidFill>
                <a:latin typeface="Courier New"/>
              </a:rPr>
              <a:t>  name: gw-nginx</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CBD3F0"/>
                </a:solidFill>
                <a:latin typeface="Courier New"/>
              </a:rPr>
              <a:t>  scaleTargetRef:</a:t>
            </a:r>
          </a:p>
          <a:p>
            <a:r>
              <a:rPr sz="1100">
                <a:solidFill>
                  <a:srgbClr val="CBD3F0"/>
                </a:solidFill>
                <a:latin typeface="Courier New"/>
              </a:rPr>
              <a:t>    apiVersion: apps/v1</a:t>
            </a:r>
          </a:p>
          <a:p>
            <a:r>
              <a:rPr sz="1100">
                <a:solidFill>
                  <a:srgbClr val="CBD3F0"/>
                </a:solidFill>
                <a:latin typeface="Courier New"/>
              </a:rPr>
              <a:t>    kind: Deployment</a:t>
            </a:r>
          </a:p>
          <a:p>
            <a:r>
              <a:rPr sz="1100">
                <a:solidFill>
                  <a:srgbClr val="CBD3F0"/>
                </a:solidFill>
                <a:latin typeface="Courier New"/>
              </a:rPr>
              <a:t>    name: gw-nginx</a:t>
            </a:r>
          </a:p>
          <a:p>
            <a:r>
              <a:rPr sz="1100">
                <a:solidFill>
                  <a:srgbClr val="CBD3F0"/>
                </a:solidFill>
                <a:latin typeface="Courier New"/>
              </a:rPr>
              <a:t>  minReplicas: 1</a:t>
            </a:r>
          </a:p>
          <a:p>
            <a:r>
              <a:rPr sz="1100">
                <a:solidFill>
                  <a:srgbClr val="F9E2AF"/>
                </a:solidFill>
                <a:latin typeface="Courier New"/>
              </a:rPr>
              <a:t>  maxReplicas: 10</a:t>
            </a:r>
          </a:p>
          <a:p>
            <a:r>
              <a:rPr sz="1100">
                <a:solidFill>
                  <a:srgbClr val="F9E2AF"/>
                </a:solidFill>
                <a:latin typeface="Courier New"/>
              </a:rPr>
              <a:t>  metrics:</a:t>
            </a:r>
          </a:p>
          <a:p>
            <a:r>
              <a:rPr sz="1100">
                <a:solidFill>
                  <a:srgbClr val="CBD3F0"/>
                </a:solidFill>
                <a:latin typeface="Courier New"/>
              </a:rPr>
              <a:t>  - type: Resource</a:t>
            </a:r>
          </a:p>
          <a:p>
            <a:r>
              <a:rPr sz="1100">
                <a:solidFill>
                  <a:srgbClr val="CBD3F0"/>
                </a:solidFill>
                <a:latin typeface="Courier New"/>
              </a:rPr>
              <a:t>    resource:</a:t>
            </a:r>
          </a:p>
          <a:p>
            <a:r>
              <a:rPr sz="1100">
                <a:solidFill>
                  <a:srgbClr val="CBD3F0"/>
                </a:solidFill>
                <a:latin typeface="Courier New"/>
              </a:rPr>
              <a:t>      name: cpu</a:t>
            </a:r>
          </a:p>
          <a:p>
            <a:r>
              <a:rPr sz="1100">
                <a:solidFill>
                  <a:srgbClr val="CBD3F0"/>
                </a:solidFill>
                <a:latin typeface="Courier New"/>
              </a:rPr>
              <a:t>      target:</a:t>
            </a:r>
          </a:p>
          <a:p>
            <a:r>
              <a:rPr sz="1100">
                <a:solidFill>
                  <a:srgbClr val="CBD3F0"/>
                </a:solidFill>
                <a:latin typeface="Courier New"/>
              </a:rPr>
              <a:t>        type: Utilization</a:t>
            </a:r>
          </a:p>
          <a:p>
            <a:r>
              <a:rPr sz="1100">
                <a:solidFill>
                  <a:srgbClr val="CBD3F0"/>
                </a:solidFill>
                <a:latin typeface="Courier New"/>
              </a:rPr>
              <a:t>        averageUtilization: 60</a:t>
            </a:r>
          </a:p>
        </p:txBody>
      </p:sp>
      <p:sp>
        <p:nvSpPr>
          <p:cNvPr id="6" name="Rectangle 5"/>
          <p:cNvSpPr/>
          <p:nvPr/>
        </p:nvSpPr>
        <p:spPr>
          <a:xfrm>
            <a:off x="365760" y="3703320"/>
            <a:ext cx="5394960" cy="29260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destrule-realistic-DeploymentNginxGw.yaml</a:t>
            </a:r>
          </a:p>
          <a:p>
            <a:r>
              <a:rPr sz="1100">
                <a:solidFill>
                  <a:srgbClr val="F9E2AF"/>
                </a:solidFill>
                <a:latin typeface="Courier New"/>
              </a:rPr>
              <a:t>apiVersion: networking.istio.io/v1alpha3</a:t>
            </a:r>
          </a:p>
          <a:p>
            <a:r>
              <a:rPr sz="1100">
                <a:solidFill>
                  <a:srgbClr val="CBD3F0"/>
                </a:solidFill>
                <a:latin typeface="Courier New"/>
              </a:rPr>
              <a:t>kind: DestinationRule</a:t>
            </a:r>
          </a:p>
          <a:p>
            <a:r>
              <a:rPr sz="1100">
                <a:solidFill>
                  <a:srgbClr val="CBD3F0"/>
                </a:solidFill>
                <a:latin typeface="Courier New"/>
              </a:rPr>
              <a:t>metadata:</a:t>
            </a:r>
          </a:p>
          <a:p>
            <a:r>
              <a:rPr sz="1100">
                <a:solidFill>
                  <a:srgbClr val="CBD3F0"/>
                </a:solidFill>
                <a:latin typeface="Courier New"/>
              </a:rPr>
              <a:t>  name: gw-nginx</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CBD3F0"/>
                </a:solidFill>
                <a:latin typeface="Courier New"/>
              </a:rPr>
              <a:t>  host: gw-nginx</a:t>
            </a:r>
          </a:p>
          <a:p>
            <a:r>
              <a:rPr sz="1100">
                <a:solidFill>
                  <a:srgbClr val="CBD3F0"/>
                </a:solidFill>
                <a:latin typeface="Courier New"/>
              </a:rPr>
              <a:t>  trafficPolicy:</a:t>
            </a:r>
          </a:p>
          <a:p>
            <a:r>
              <a:rPr sz="1100">
                <a:solidFill>
                  <a:srgbClr val="CBD3F0"/>
                </a:solidFill>
                <a:latin typeface="Courier New"/>
              </a:rPr>
              <a:t>    loadBalancer:</a:t>
            </a:r>
          </a:p>
          <a:p>
            <a:r>
              <a:rPr sz="1100">
                <a:solidFill>
                  <a:srgbClr val="F9E2AF"/>
                </a:solidFill>
                <a:latin typeface="Courier New"/>
              </a:rPr>
              <a:t>      simple: LEAST_REQUEST</a:t>
            </a:r>
          </a:p>
          <a:p>
            <a:r>
              <a:rPr sz="1100">
                <a:solidFill>
                  <a:srgbClr val="F9E2AF"/>
                </a:solidFill>
                <a:latin typeface="Courier New"/>
              </a:rPr>
              <a:t>    outlierDetection:</a:t>
            </a:r>
          </a:p>
          <a:p>
            <a:r>
              <a:rPr sz="1100">
                <a:solidFill>
                  <a:srgbClr val="F9E2AF"/>
                </a:solidFill>
                <a:latin typeface="Courier New"/>
              </a:rPr>
              <a:t>      baseEjectionTime: 30s</a:t>
            </a:r>
          </a:p>
          <a:p>
            <a:r>
              <a:rPr sz="1100">
                <a:solidFill>
                  <a:srgbClr val="CBD3F0"/>
                </a:solidFill>
                <a:latin typeface="Courier New"/>
              </a:rPr>
              <a:t>      consecutive5xxErrors: 7</a:t>
            </a:r>
          </a:p>
          <a:p>
            <a:r>
              <a:rPr sz="1100">
                <a:solidFill>
                  <a:srgbClr val="CBD3F0"/>
                </a:solidFill>
                <a:latin typeface="Courier New"/>
              </a:rPr>
              <a:t>      interval: 30s</a:t>
            </a:r>
          </a:p>
        </p:txBody>
      </p:sp>
      <p:sp>
        <p:nvSpPr>
          <p:cNvPr id="7" name="Rectangle 6"/>
          <p:cNvSpPr/>
          <p:nvPr/>
        </p:nvSpPr>
        <p:spPr>
          <a:xfrm>
            <a:off x="5943600" y="1143000"/>
            <a:ext cx="297180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HPA en gw-nginx — el cuello de botella</a:t>
            </a:r>
          </a:p>
          <a:p>
            <a:r>
              <a:rPr sz="1000">
                <a:solidFill>
                  <a:srgbClr val="555555"/>
                </a:solidFill>
              </a:rPr>
              <a:t>gw-nginx es el UNICO punto de entrada al
cluster sintetico (todos los requests pasan
por el). Si se satura, TODO se satura.
HPA con cpu averageUtilization: 60%:
  1 replica inicial
  Escala hasta 10 replicas
  Si CPU &gt; 60% → agrega replicas
Esto permite que el gateway no sea
el bottleneck en experimentos de alta
carga (vs Kong sin HPA por defecto).</a:t>
            </a:r>
          </a:p>
        </p:txBody>
      </p:sp>
      <p:sp>
        <p:nvSpPr>
          <p:cNvPr id="8" name="Rectangle 7"/>
          <p:cNvSpPr/>
          <p:nvPr/>
        </p:nvSpPr>
        <p:spPr>
          <a:xfrm>
            <a:off x="9052560" y="1143000"/>
            <a:ext cx="297180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LEAST_REQUEST vs ROUND_ROBIN</a:t>
            </a:r>
          </a:p>
          <a:p>
            <a:r>
              <a:rPr sz="1000">
                <a:solidFill>
                  <a:srgbClr val="555555"/>
                </a:solidFill>
              </a:rPr>
              <a:t>DestinationRule define el algoritmo de
load balancing de Istio para gw-nginx.
LEAST_REQUEST:
  Envia al pod con MENOS conexiones
  activas en ese momento.
  Mejor para requests de duracion variable.
ROUND_ROBIN (default de Istio):
  Distribuye en orden ciclico.
  Puede sobrecargar pods lentos si
  acumulan conexiones pendientes.</a:t>
            </a:r>
          </a:p>
        </p:txBody>
      </p:sp>
      <p:sp>
        <p:nvSpPr>
          <p:cNvPr id="9" name="Rectangle 8"/>
          <p:cNvSpPr/>
          <p:nvPr/>
        </p:nvSpPr>
        <p:spPr>
          <a:xfrm>
            <a:off x="5943600" y="3383280"/>
            <a:ext cx="297180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outlierDetection — circuit breaker</a:t>
            </a:r>
          </a:p>
          <a:p>
            <a:r>
              <a:rPr sz="1000">
                <a:solidFill>
                  <a:srgbClr val="555555"/>
                </a:solidFill>
              </a:rPr>
              <a:t>Istio detecta pods 'enfermos' del pool:
consecutive5xxErrors: 7
  → 7 errores 5xx seguidos = pod expulsado
interval: 30s
  → ventana de tiempo del contador
baseEjectionTime: 30s
  → tiempo fuera del pool de LB
Previene que un pod con OOM o CPU
throttling reciba mas trafico y
empeore la situacion.</a:t>
            </a:r>
          </a:p>
        </p:txBody>
      </p:sp>
      <p:sp>
        <p:nvSpPr>
          <p:cNvPr id="10" name="Rectangle 9"/>
          <p:cNvSpPr/>
          <p:nvPr/>
        </p:nvSpPr>
        <p:spPr>
          <a:xfrm>
            <a:off x="9052560" y="3383280"/>
            <a:ext cx="297180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HPA + Istio — interaccion</a:t>
            </a:r>
          </a:p>
          <a:p>
            <a:r>
              <a:rPr sz="1000">
                <a:solidFill>
                  <a:srgbClr val="555555"/>
                </a:solidFill>
              </a:rPr>
              <a:t>Cuando HPA escala gw-nginx de 1 a 2:
  - Istio detecta el nuevo pod
  - Lo agrega automaticamente al pool
  - LEAST_REQUEST empieza a balancear
El nuevo pod necesita estar en
Istio mesh (sidecar inyectado).
Si nginx-gw:true en K8s params,
el Deployment tiene el label que
activa la inyeccion automatica
del proxy Envoy.</a:t>
            </a:r>
          </a:p>
        </p:txBody>
      </p:sp>
      <p:sp>
        <p:nvSpPr>
          <p:cNvPr id="11" name="Rectangle 10"/>
          <p:cNvSpPr/>
          <p:nvPr/>
        </p:nvSpPr>
        <p:spPr>
          <a:xfrm>
            <a:off x="5943600" y="5623560"/>
            <a:ext cx="297180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Autoscaling/v2 vs v1</a:t>
            </a:r>
          </a:p>
          <a:p>
            <a:r>
              <a:rPr sz="1000">
                <a:solidFill>
                  <a:srgbClr val="555555"/>
                </a:solidFill>
              </a:rPr>
              <a:t>HPA usa apiVersion autoscaling/v2
(requiere K8s &gt;= 1.23).
v2 permite multiples metricas y
metricas custom (no solo CPU).
En este proyecto solo usa CPU
pero la estructura v2 permite
agregar despues:
  - memoria
  - metricas de Prometheus
  - metricas externas (requests/s)
sin cambiar la version del objeto.</a:t>
            </a:r>
          </a:p>
        </p:txBody>
      </p:sp>
      <p:sp>
        <p:nvSpPr>
          <p:cNvPr id="12" name="Rectangle 11"/>
          <p:cNvSpPr/>
          <p:nvPr/>
        </p:nvSpPr>
        <p:spPr>
          <a:xfrm>
            <a:off x="9052560" y="5623560"/>
            <a:ext cx="297180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mubench-realistic vs default</a:t>
            </a:r>
          </a:p>
          <a:p>
            <a:r>
              <a:rPr sz="1000">
                <a:solidFill>
                  <a:srgbClr val="555555"/>
                </a:solidFill>
              </a:rPr>
              <a:t>Todo el stack sintetico usa namespace
'mubench-realistic' (no 'default').
HPA y DestinationRule estan en ese
mismo namespace → apuntan al
Deployment correcto.
El namespace 'default' se usa SOLO
para los pods del exp01 sintetico
(s0, s1, sdb1).
Separacion logica para evitar
conflictos de nombres.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NGINX Ingress Controller — Service y Monitoring</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nginx-ingress-service.yaml fija el NodePort; prometheus-nginx-ingress.yaml lo integra con Prometheus</a:t>
            </a:r>
          </a:p>
        </p:txBody>
      </p:sp>
      <p:sp>
        <p:nvSpPr>
          <p:cNvPr id="5" name="Rectangle 4"/>
          <p:cNvSpPr/>
          <p:nvPr/>
        </p:nvSpPr>
        <p:spPr>
          <a:xfrm>
            <a:off x="365760" y="1143000"/>
            <a:ext cx="5486400" cy="23774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nginx-ingress-service.yaml</a:t>
            </a:r>
          </a:p>
          <a:p>
            <a:r>
              <a:rPr sz="1100">
                <a:solidFill>
                  <a:srgbClr val="CBD3F0"/>
                </a:solidFill>
                <a:latin typeface="Courier New"/>
              </a:rPr>
              <a:t>apiVersion: v1</a:t>
            </a:r>
          </a:p>
          <a:p>
            <a:r>
              <a:rPr sz="1100">
                <a:solidFill>
                  <a:srgbClr val="CBD3F0"/>
                </a:solidFill>
                <a:latin typeface="Courier New"/>
              </a:rPr>
              <a:t>kind: Service</a:t>
            </a:r>
          </a:p>
          <a:p>
            <a:r>
              <a:rPr sz="1100">
                <a:solidFill>
                  <a:srgbClr val="CBD3F0"/>
                </a:solidFill>
                <a:latin typeface="Courier New"/>
              </a:rPr>
              <a:t>metadata:</a:t>
            </a:r>
          </a:p>
          <a:p>
            <a:r>
              <a:rPr sz="1100">
                <a:solidFill>
                  <a:srgbClr val="CBD3F0"/>
                </a:solidFill>
                <a:latin typeface="Courier New"/>
              </a:rPr>
              <a:t>  name: nginx-ingress-controller</a:t>
            </a:r>
          </a:p>
          <a:p>
            <a:r>
              <a:rPr sz="1100">
                <a:solidFill>
                  <a:srgbClr val="F9E2AF"/>
                </a:solidFill>
                <a:latin typeface="Courier New"/>
              </a:rPr>
              <a:t>  namespace: ingress</a:t>
            </a:r>
          </a:p>
          <a:p>
            <a:r>
              <a:rPr sz="1100">
                <a:solidFill>
                  <a:srgbClr val="CBD3F0"/>
                </a:solidFill>
                <a:latin typeface="Courier New"/>
              </a:rPr>
              <a:t>  labels:</a:t>
            </a:r>
          </a:p>
          <a:p>
            <a:r>
              <a:rPr sz="1100">
                <a:solidFill>
                  <a:srgbClr val="CBD3F0"/>
                </a:solidFill>
                <a:latin typeface="Courier New"/>
              </a:rPr>
              <a:t>    app.kubernetes.io/name: nginx-ingress</a:t>
            </a:r>
          </a:p>
          <a:p>
            <a:r>
              <a:rPr sz="1100">
                <a:solidFill>
                  <a:srgbClr val="CBD3F0"/>
                </a:solidFill>
                <a:latin typeface="Courier New"/>
              </a:rPr>
              <a:t>spec:</a:t>
            </a:r>
          </a:p>
          <a:p>
            <a:r>
              <a:rPr sz="1100">
                <a:solidFill>
                  <a:srgbClr val="F9E2AF"/>
                </a:solidFill>
                <a:latin typeface="Courier New"/>
              </a:rPr>
              <a:t>  type: NodePort</a:t>
            </a:r>
          </a:p>
          <a:p>
            <a:r>
              <a:rPr sz="1100">
                <a:solidFill>
                  <a:srgbClr val="CBD3F0"/>
                </a:solidFill>
                <a:latin typeface="Courier New"/>
              </a:rPr>
              <a:t>  ports:</a:t>
            </a:r>
          </a:p>
          <a:p>
            <a:r>
              <a:rPr sz="1100">
                <a:solidFill>
                  <a:srgbClr val="CBD3F0"/>
                </a:solidFill>
                <a:latin typeface="Courier New"/>
              </a:rPr>
              <a:t>  - name: http</a:t>
            </a:r>
          </a:p>
          <a:p>
            <a:r>
              <a:rPr sz="1100">
                <a:solidFill>
                  <a:srgbClr val="CBD3F0"/>
                </a:solidFill>
                <a:latin typeface="Courier New"/>
              </a:rPr>
              <a:t>    port: 80</a:t>
            </a:r>
          </a:p>
          <a:p>
            <a:r>
              <a:rPr sz="1100">
                <a:solidFill>
                  <a:srgbClr val="CBD3F0"/>
                </a:solidFill>
                <a:latin typeface="Courier New"/>
              </a:rPr>
              <a:t>    targetPort: 80</a:t>
            </a:r>
          </a:p>
          <a:p>
            <a:r>
              <a:rPr sz="1100">
                <a:solidFill>
                  <a:srgbClr val="F9E2AF"/>
                </a:solidFill>
                <a:latin typeface="Courier New"/>
              </a:rPr>
              <a:t>    nodePort: 30080</a:t>
            </a:r>
          </a:p>
          <a:p>
            <a:r>
              <a:rPr sz="1100">
                <a:solidFill>
                  <a:srgbClr val="CBD3F0"/>
                </a:solidFill>
                <a:latin typeface="Courier New"/>
              </a:rPr>
              <a:t>  - name: https</a:t>
            </a:r>
          </a:p>
          <a:p>
            <a:r>
              <a:rPr sz="1100">
                <a:solidFill>
                  <a:srgbClr val="CBD3F0"/>
                </a:solidFill>
                <a:latin typeface="Courier New"/>
              </a:rPr>
              <a:t>    port: 443</a:t>
            </a:r>
          </a:p>
          <a:p>
            <a:r>
              <a:rPr sz="1100">
                <a:solidFill>
                  <a:srgbClr val="CBD3F0"/>
                </a:solidFill>
                <a:latin typeface="Courier New"/>
              </a:rPr>
              <a:t>    targetPort: 443</a:t>
            </a:r>
          </a:p>
          <a:p>
            <a:r>
              <a:rPr sz="1100">
                <a:solidFill>
                  <a:srgbClr val="F9E2AF"/>
                </a:solidFill>
                <a:latin typeface="Courier New"/>
              </a:rPr>
              <a:t>    nodePort: 30443</a:t>
            </a:r>
          </a:p>
          <a:p>
            <a:r>
              <a:rPr sz="1100">
                <a:solidFill>
                  <a:srgbClr val="CBD3F0"/>
                </a:solidFill>
                <a:latin typeface="Courier New"/>
              </a:rPr>
              <a:t>  selector:</a:t>
            </a:r>
          </a:p>
          <a:p>
            <a:r>
              <a:rPr sz="1100">
                <a:solidFill>
                  <a:srgbClr val="CBD3F0"/>
                </a:solidFill>
                <a:latin typeface="Courier New"/>
              </a:rPr>
              <a:t>    name: nginx-ingress-microk8s</a:t>
            </a:r>
          </a:p>
        </p:txBody>
      </p:sp>
      <p:sp>
        <p:nvSpPr>
          <p:cNvPr id="6" name="Rectangle 5"/>
          <p:cNvSpPr/>
          <p:nvPr/>
        </p:nvSpPr>
        <p:spPr>
          <a:xfrm>
            <a:off x="365760" y="3657600"/>
            <a:ext cx="5486400" cy="30632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prometheus-nginx-ingress.yaml</a:t>
            </a:r>
          </a:p>
          <a:p>
            <a:r>
              <a:rPr sz="1100">
                <a:solidFill>
                  <a:srgbClr val="CBD3F0"/>
                </a:solidFill>
                <a:latin typeface="Courier New"/>
              </a:rPr>
              <a:t>apiVersion: monitoring.coreos.com/v1</a:t>
            </a:r>
          </a:p>
          <a:p>
            <a:r>
              <a:rPr sz="1100">
                <a:solidFill>
                  <a:srgbClr val="CBD3F0"/>
                </a:solidFill>
                <a:latin typeface="Courier New"/>
              </a:rPr>
              <a:t>kind: ServiceMonitor</a:t>
            </a:r>
          </a:p>
          <a:p>
            <a:r>
              <a:rPr sz="1100">
                <a:solidFill>
                  <a:srgbClr val="F9E2AF"/>
                </a:solidFill>
                <a:latin typeface="Courier New"/>
              </a:rPr>
              <a:t>metadata:</a:t>
            </a:r>
          </a:p>
          <a:p>
            <a:r>
              <a:rPr sz="1100">
                <a:solidFill>
                  <a:srgbClr val="CBD3F0"/>
                </a:solidFill>
                <a:latin typeface="Courier New"/>
              </a:rPr>
              <a:t>  name: nginx-ingress-controller-metrics</a:t>
            </a:r>
          </a:p>
          <a:p>
            <a:r>
              <a:rPr sz="1100">
                <a:solidFill>
                  <a:srgbClr val="CBD3F0"/>
                </a:solidFill>
                <a:latin typeface="Courier New"/>
              </a:rPr>
              <a:t>  labels:</a:t>
            </a:r>
          </a:p>
          <a:p>
            <a:r>
              <a:rPr sz="1100">
                <a:solidFill>
                  <a:srgbClr val="CBD3F0"/>
                </a:solidFill>
                <a:latin typeface="Courier New"/>
              </a:rPr>
              <a:t>    app: nginx-ingress</a:t>
            </a:r>
          </a:p>
          <a:p>
            <a:r>
              <a:rPr sz="1100">
                <a:solidFill>
                  <a:srgbClr val="F9E2AF"/>
                </a:solidFill>
                <a:latin typeface="Courier New"/>
              </a:rPr>
              <a:t>    release: prometheus  # label para que Prometheus lo descubra</a:t>
            </a:r>
          </a:p>
          <a:p>
            <a:r>
              <a:rPr sz="1100">
                <a:solidFill>
                  <a:srgbClr val="CBD3F0"/>
                </a:solidFill>
                <a:latin typeface="Courier New"/>
              </a:rPr>
              <a:t>spec:</a:t>
            </a:r>
          </a:p>
          <a:p>
            <a:r>
              <a:rPr sz="1100">
                <a:solidFill>
                  <a:srgbClr val="CBD3F0"/>
                </a:solidFill>
                <a:latin typeface="Courier New"/>
              </a:rPr>
              <a:t>  endpoints:</a:t>
            </a:r>
          </a:p>
          <a:p>
            <a:r>
              <a:rPr sz="1100">
                <a:solidFill>
                  <a:srgbClr val="CBD3F0"/>
                </a:solidFill>
                <a:latin typeface="Courier New"/>
              </a:rPr>
              <a:t>  - interval: 30s</a:t>
            </a:r>
          </a:p>
          <a:p>
            <a:r>
              <a:rPr sz="1100">
                <a:solidFill>
                  <a:srgbClr val="F9E2AF"/>
                </a:solidFill>
                <a:latin typeface="Courier New"/>
              </a:rPr>
              <a:t>    port: metrics</a:t>
            </a:r>
          </a:p>
          <a:p>
            <a:r>
              <a:rPr sz="1100">
                <a:solidFill>
                  <a:srgbClr val="CBD3F0"/>
                </a:solidFill>
                <a:latin typeface="Courier New"/>
              </a:rPr>
              <a:t>  selector:</a:t>
            </a:r>
          </a:p>
          <a:p>
            <a:r>
              <a:rPr sz="1100">
                <a:solidFill>
                  <a:srgbClr val="CBD3F0"/>
                </a:solidFill>
                <a:latin typeface="Courier New"/>
              </a:rPr>
              <a:t>    matchLabels:</a:t>
            </a:r>
          </a:p>
          <a:p>
            <a:r>
              <a:rPr sz="1100">
                <a:solidFill>
                  <a:srgbClr val="F9E2AF"/>
                </a:solidFill>
                <a:latin typeface="Courier New"/>
              </a:rPr>
              <a:t>      app.kubernetes.io/name: ingress-nginx</a:t>
            </a:r>
          </a:p>
          <a:p>
            <a:r>
              <a:rPr sz="1100">
                <a:solidFill>
                  <a:srgbClr val="CBD3F0"/>
                </a:solidFill>
                <a:latin typeface="Courier New"/>
              </a:rPr>
              <a:t>  namespaceSelector:</a:t>
            </a:r>
          </a:p>
          <a:p>
            <a:r>
              <a:rPr sz="1100">
                <a:solidFill>
                  <a:srgbClr val="CBD3F0"/>
                </a:solidFill>
                <a:latin typeface="Courier New"/>
              </a:rPr>
              <a:t>    matchNames:</a:t>
            </a:r>
          </a:p>
          <a:p>
            <a:r>
              <a:rPr sz="1100">
                <a:solidFill>
                  <a:srgbClr val="CBD3F0"/>
                </a:solidFill>
                <a:latin typeface="Courier New"/>
              </a:rPr>
              <a:t>    - kube-system</a:t>
            </a:r>
          </a:p>
        </p:txBody>
      </p:sp>
      <p:sp>
        <p:nvSpPr>
          <p:cNvPr id="7" name="Rectangle 6"/>
          <p:cNvSpPr/>
          <p:nvPr/>
        </p:nvSpPr>
        <p:spPr>
          <a:xfrm>
            <a:off x="6035040" y="1143000"/>
            <a:ext cx="292608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nginx-ingress-microk8s selector</a:t>
            </a:r>
          </a:p>
          <a:p>
            <a:r>
              <a:rPr sz="1000">
                <a:solidFill>
                  <a:srgbClr val="555555"/>
                </a:solidFill>
              </a:rPr>
              <a:t>El selector apunta a:
  name: nginx-ingress-microk8s
Este label lo pone el addon nativo
de microk8s (diferente al controller
instalado con Helm cuyo label es
app.kubernetes.io/name: ingress-nginx).
Incompatibilidad conocida: si se usa
Helm install, el selector no matchea
y el Service queda sin endpoints.</a:t>
            </a:r>
          </a:p>
        </p:txBody>
      </p:sp>
      <p:sp>
        <p:nvSpPr>
          <p:cNvPr id="8" name="Rectangle 7"/>
          <p:cNvSpPr/>
          <p:nvPr/>
        </p:nvSpPr>
        <p:spPr>
          <a:xfrm>
            <a:off x="9098280" y="1143000"/>
            <a:ext cx="292608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NodePort fijo :30080</a:t>
            </a:r>
          </a:p>
          <a:p>
            <a:r>
              <a:rPr sz="1000">
                <a:solidFill>
                  <a:srgbClr val="555555"/>
                </a:solidFill>
              </a:rPr>
              <a:t>El archivo fija nodePort: 30080.
Esto sobreescribe el puerto asignado
aleatoriamente por K8s.
Todos los scripts del proyecto usan:
  NGINX_URL=http://127.0.0.1:30080
Si el puerto cambia (ej. ya esta en uso)
hay que actualizar nginx-ingress-service.yaml
Y todas las variables NGINX_URL
en los scripts de experimento.</a:t>
            </a:r>
          </a:p>
        </p:txBody>
      </p:sp>
      <p:sp>
        <p:nvSpPr>
          <p:cNvPr id="9" name="Rectangle 8"/>
          <p:cNvSpPr/>
          <p:nvPr/>
        </p:nvSpPr>
        <p:spPr>
          <a:xfrm>
            <a:off x="6035040" y="3383280"/>
            <a:ext cx="292608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ServiceMonitor — integracion Prometheus</a:t>
            </a:r>
          </a:p>
          <a:p>
            <a:r>
              <a:rPr sz="1000">
                <a:solidFill>
                  <a:srgbClr val="555555"/>
                </a:solidFill>
              </a:rPr>
              <a:t>ServiceMonitor es un CRD del operador
Prometheus (kube-prometheus-stack).
Prometheus descubre ServiceMonitors
por el label:
  release: prometheus
port: metrics → el endpoint /metrics
del ingress-nginx que expone:
  nginx_ingress_controller_requests
  nginx_ingress_controller_nginx_process_*
  nginx_process_connections</a:t>
            </a:r>
          </a:p>
        </p:txBody>
      </p:sp>
      <p:sp>
        <p:nvSpPr>
          <p:cNvPr id="10" name="Rectangle 9"/>
          <p:cNvSpPr/>
          <p:nvPr/>
        </p:nvSpPr>
        <p:spPr>
          <a:xfrm>
            <a:off x="9098280" y="3383280"/>
            <a:ext cx="292608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namespace: kube-system vs ingress</a:t>
            </a:r>
          </a:p>
          <a:p>
            <a:r>
              <a:rPr sz="1000">
                <a:solidFill>
                  <a:srgbClr val="555555"/>
                </a:solidFill>
              </a:rPr>
              <a:t>El ServiceMonitor busca pods en
kube-system pero microk8s instala
ingress-nginx en namespace 'ingress'.
POSIBLE DISCREPANCIA:
Si el controller esta en 'ingress'
este ServiceMonitor no lo encontrara.
La version install-nginx.sh usa
microk8s enable ingress → namespace
'ingress'. El ServiceMonitor puede
necesitar ajustarse.</a:t>
            </a:r>
          </a:p>
        </p:txBody>
      </p:sp>
      <p:sp>
        <p:nvSpPr>
          <p:cNvPr id="11" name="Rectangle 10"/>
          <p:cNvSpPr/>
          <p:nvPr/>
        </p:nvSpPr>
        <p:spPr>
          <a:xfrm>
            <a:off x="6035040" y="5623560"/>
            <a:ext cx="292608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gw-nginx :31213 vs Ingress :30080</a:t>
            </a:r>
          </a:p>
          <a:p>
            <a:r>
              <a:rPr sz="1000">
                <a:solidFill>
                  <a:srgbClr val="555555"/>
                </a:solidFill>
              </a:rPr>
              <a:t>Los dos nginx escuchan en puertos distintos:
gw-nginx (interno):  :31213
Ingress Controller:  :30080 / :30443
run-exp01.sh usa:
  NGINX_URL=http://localhost:30080 (Ingress)
run_c1_only_tech_comparison.sh tambien.
El benchmark sintetico quick_deploy usa:
  gw-nginx en :31213 (por K8sDeployer)
Nunca se usan simultaneamente.</a:t>
            </a:r>
          </a:p>
        </p:txBody>
      </p:sp>
      <p:sp>
        <p:nvSpPr>
          <p:cNvPr id="12" name="Rectangle 11"/>
          <p:cNvSpPr/>
          <p:nvPr/>
        </p:nvSpPr>
        <p:spPr>
          <a:xfrm>
            <a:off x="9098280" y="5623560"/>
            <a:ext cx="292608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Diferencia arquitectural</a:t>
            </a:r>
          </a:p>
          <a:p>
            <a:r>
              <a:rPr sz="1000">
                <a:solidFill>
                  <a:srgbClr val="555555"/>
                </a:solidFill>
              </a:rPr>
              <a:t>gw-nginx (interno):
  trafico:  cliente → gw-nginx → s0 → s1
  el gateway ES parte del grafo
  forma el primer nodo del chain
NGINX Ingress (externo):
  trafico: cliente → Ingress → s0
  el Ingress es TRANSPARENTE al grafo
  solo enruta, no es microservicio
Implicacion: en exp01 el overhead
medido es del Ingress (no de gw-nginx).</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NGINX — Flujos de trafico y tabla resumen de gateways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Comparativa de los 4 sabores de gateway en muBench: gw-nginx, NGINX Ingress, Kong, Istio Gateway</a:t>
            </a:r>
          </a:p>
        </p:txBody>
      </p:sp>
      <p:sp>
        <p:nvSpPr>
          <p:cNvPr id="5" name="Rectangle 4"/>
          <p:cNvSpPr/>
          <p:nvPr/>
        </p:nvSpPr>
        <p:spPr>
          <a:xfrm>
            <a:off x="365760" y="1143000"/>
            <a:ext cx="11612880" cy="15087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gw-nginx (sintetico)        k6 → gw-nginx:31213 → DNS lookup → s0:80 → s1:80 → sdb1:80</a:t>
            </a:r>
          </a:p>
          <a:p>
            <a:r>
              <a:rPr sz="1100">
                <a:solidFill>
                  <a:srgbClr val="F9E2AF"/>
                </a:solidFill>
                <a:latin typeface="Courier New"/>
              </a:rPr>
              <a:t>#                              nginx.conf: proxy_pass http:/$request_uri.ns.svc.cluster.local/api/v1</a:t>
            </a:r>
          </a:p>
          <a:p>
            <a:r>
              <a:rPr sz="1100">
                <a:solidFill>
                  <a:srgbClr val="CBD3F0"/>
                </a:solidFill>
                <a:latin typeface="Courier New"/>
              </a:rPr>
              <a:t/>
            </a:r>
          </a:p>
          <a:p>
            <a:r>
              <a:rPr sz="1100">
                <a:solidFill>
                  <a:srgbClr val="CBD3F0"/>
                </a:solidFill>
                <a:latin typeface="Courier New"/>
              </a:rPr>
              <a:t># NGINX Ingress (exp01)        k6 → Ingress:30080 → s0:80 (via Ingress resource: path /)</a:t>
            </a:r>
          </a:p>
          <a:p>
            <a:r>
              <a:rPr sz="1100">
                <a:solidFill>
                  <a:srgbClr val="F9E2AF"/>
                </a:solidFill>
                <a:latin typeface="Courier New"/>
              </a:rPr>
              <a:t>#                              annotations: limit-rps:100, add_header X-Gateway:NGINX</a:t>
            </a:r>
          </a:p>
          <a:p>
            <a:r>
              <a:rPr sz="1100">
                <a:solidFill>
                  <a:srgbClr val="CBD3F0"/>
                </a:solidFill>
                <a:latin typeface="Courier New"/>
              </a:rPr>
              <a:t/>
            </a:r>
          </a:p>
          <a:p>
            <a:r>
              <a:rPr sz="1100">
                <a:solidFill>
                  <a:srgbClr val="CBD3F0"/>
                </a:solidFill>
                <a:latin typeface="Courier New"/>
              </a:rPr>
              <a:t># Kong (exp01)                 k6 → Kong:30082 → s0:80 (via Kong Service+Route)</a:t>
            </a:r>
          </a:p>
          <a:p>
            <a:r>
              <a:rPr sz="1100">
                <a:solidFill>
                  <a:srgbClr val="F9E2AF"/>
                </a:solidFill>
                <a:latin typeface="Courier New"/>
              </a:rPr>
              <a:t>#                              plugins: rate-limiting(6000/min), prometheus, request-transformer</a:t>
            </a:r>
          </a:p>
          <a:p>
            <a:r>
              <a:rPr sz="1100">
                <a:solidFill>
                  <a:srgbClr val="CBD3F0"/>
                </a:solidFill>
                <a:latin typeface="Courier New"/>
              </a:rPr>
              <a:t/>
            </a:r>
          </a:p>
          <a:p>
            <a:r>
              <a:rPr sz="1100">
                <a:solidFill>
                  <a:srgbClr val="CBD3F0"/>
                </a:solidFill>
                <a:latin typeface="Courier New"/>
              </a:rPr>
              <a:t># Istio Gateway (MTLS)         k6 → IstiGW:31400 → VirtualService → s0:80 (via Envoy sidecar)</a:t>
            </a:r>
          </a:p>
          <a:p>
            <a:r>
              <a:rPr sz="1100">
                <a:solidFill>
                  <a:srgbClr val="F9E2AF"/>
                </a:solidFill>
                <a:latin typeface="Courier New"/>
              </a:rPr>
              <a:t>#                              PeerAuthentication STRICT: todo trafico dentro del mesh es mTLS</a:t>
            </a:r>
          </a:p>
        </p:txBody>
      </p:sp>
      <p:sp>
        <p:nvSpPr>
          <p:cNvPr id="6" name="Rectangle 5"/>
          <p:cNvSpPr/>
          <p:nvPr/>
        </p:nvSpPr>
        <p:spPr>
          <a:xfrm>
            <a:off x="365760" y="2834640"/>
            <a:ext cx="1371600" cy="3474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Gateway</a:t>
            </a:r>
          </a:p>
        </p:txBody>
      </p:sp>
      <p:sp>
        <p:nvSpPr>
          <p:cNvPr id="7" name="Rectangle 6"/>
          <p:cNvSpPr/>
          <p:nvPr/>
        </p:nvSpPr>
        <p:spPr>
          <a:xfrm>
            <a:off x="1737360" y="2834640"/>
            <a:ext cx="3200400" cy="3474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Archivo principal</a:t>
            </a:r>
          </a:p>
        </p:txBody>
      </p:sp>
      <p:sp>
        <p:nvSpPr>
          <p:cNvPr id="8" name="Rectangle 7"/>
          <p:cNvSpPr/>
          <p:nvPr/>
        </p:nvSpPr>
        <p:spPr>
          <a:xfrm>
            <a:off x="4937760" y="2834640"/>
            <a:ext cx="777240" cy="3474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Puerto</a:t>
            </a:r>
          </a:p>
        </p:txBody>
      </p:sp>
      <p:sp>
        <p:nvSpPr>
          <p:cNvPr id="9" name="Rectangle 8"/>
          <p:cNvSpPr/>
          <p:nvPr/>
        </p:nvSpPr>
        <p:spPr>
          <a:xfrm>
            <a:off x="5715000" y="2834640"/>
            <a:ext cx="1737360" cy="3474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Namespace</a:t>
            </a:r>
          </a:p>
        </p:txBody>
      </p:sp>
      <p:sp>
        <p:nvSpPr>
          <p:cNvPr id="10" name="Rectangle 9"/>
          <p:cNvSpPr/>
          <p:nvPr/>
        </p:nvSpPr>
        <p:spPr>
          <a:xfrm>
            <a:off x="7452360" y="2834640"/>
            <a:ext cx="1234440" cy="3474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Rate limit</a:t>
            </a:r>
          </a:p>
        </p:txBody>
      </p:sp>
      <p:sp>
        <p:nvSpPr>
          <p:cNvPr id="11" name="Rectangle 10"/>
          <p:cNvSpPr/>
          <p:nvPr/>
        </p:nvSpPr>
        <p:spPr>
          <a:xfrm>
            <a:off x="8686800" y="2834640"/>
            <a:ext cx="1051560" cy="3474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mTLS</a:t>
            </a:r>
          </a:p>
        </p:txBody>
      </p:sp>
      <p:sp>
        <p:nvSpPr>
          <p:cNvPr id="12" name="Rectangle 11"/>
          <p:cNvSpPr/>
          <p:nvPr/>
        </p:nvSpPr>
        <p:spPr>
          <a:xfrm>
            <a:off x="9738360" y="2834640"/>
            <a:ext cx="777240" cy="3474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HPA</a:t>
            </a:r>
          </a:p>
        </p:txBody>
      </p:sp>
      <p:sp>
        <p:nvSpPr>
          <p:cNvPr id="13" name="Rectangle 12"/>
          <p:cNvSpPr/>
          <p:nvPr/>
        </p:nvSpPr>
        <p:spPr>
          <a:xfrm>
            <a:off x="365760" y="3182112"/>
            <a:ext cx="1371600"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latin typeface="Courier New"/>
              </a:rPr>
              <a:t>gw-nginx</a:t>
            </a:r>
          </a:p>
        </p:txBody>
      </p:sp>
      <p:sp>
        <p:nvSpPr>
          <p:cNvPr id="14" name="Rectangle 13"/>
          <p:cNvSpPr/>
          <p:nvPr/>
        </p:nvSpPr>
        <p:spPr>
          <a:xfrm>
            <a:off x="1737360" y="3182112"/>
            <a:ext cx="3200400" cy="4572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DeploymentNginxGwTemplate.yaml</a:t>
            </a:r>
          </a:p>
        </p:txBody>
      </p:sp>
      <p:sp>
        <p:nvSpPr>
          <p:cNvPr id="15" name="Rectangle 14"/>
          <p:cNvSpPr/>
          <p:nvPr/>
        </p:nvSpPr>
        <p:spPr>
          <a:xfrm>
            <a:off x="4937760" y="3182112"/>
            <a:ext cx="777240" cy="4572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:31213</a:t>
            </a:r>
          </a:p>
        </p:txBody>
      </p:sp>
      <p:sp>
        <p:nvSpPr>
          <p:cNvPr id="16" name="Rectangle 15"/>
          <p:cNvSpPr/>
          <p:nvPr/>
        </p:nvSpPr>
        <p:spPr>
          <a:xfrm>
            <a:off x="5715000" y="3182112"/>
            <a:ext cx="1737360" cy="4572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mubench-realistic</a:t>
            </a:r>
          </a:p>
        </p:txBody>
      </p:sp>
      <p:sp>
        <p:nvSpPr>
          <p:cNvPr id="17" name="Rectangle 16"/>
          <p:cNvSpPr/>
          <p:nvPr/>
        </p:nvSpPr>
        <p:spPr>
          <a:xfrm>
            <a:off x="7452360" y="3182112"/>
            <a:ext cx="1234440" cy="4572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No</a:t>
            </a:r>
          </a:p>
        </p:txBody>
      </p:sp>
      <p:sp>
        <p:nvSpPr>
          <p:cNvPr id="18" name="Rectangle 17"/>
          <p:cNvSpPr/>
          <p:nvPr/>
        </p:nvSpPr>
        <p:spPr>
          <a:xfrm>
            <a:off x="8686800" y="3182112"/>
            <a:ext cx="1051560" cy="4572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Con Istio DR</a:t>
            </a:r>
          </a:p>
        </p:txBody>
      </p:sp>
      <p:sp>
        <p:nvSpPr>
          <p:cNvPr id="19" name="Rectangle 18"/>
          <p:cNvSpPr/>
          <p:nvPr/>
        </p:nvSpPr>
        <p:spPr>
          <a:xfrm>
            <a:off x="9738360" y="3182112"/>
            <a:ext cx="777240" cy="4572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Si (HPA)</a:t>
            </a:r>
          </a:p>
        </p:txBody>
      </p:sp>
      <p:sp>
        <p:nvSpPr>
          <p:cNvPr id="20" name="Rectangle 19"/>
          <p:cNvSpPr/>
          <p:nvPr/>
        </p:nvSpPr>
        <p:spPr>
          <a:xfrm>
            <a:off x="365760" y="3639312"/>
            <a:ext cx="1371600" cy="457200"/>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latin typeface="Courier New"/>
              </a:rPr>
              <a:t>NGINX Ingress</a:t>
            </a:r>
          </a:p>
        </p:txBody>
      </p:sp>
      <p:sp>
        <p:nvSpPr>
          <p:cNvPr id="21" name="Rectangle 20"/>
          <p:cNvSpPr/>
          <p:nvPr/>
        </p:nvSpPr>
        <p:spPr>
          <a:xfrm>
            <a:off x="1737360" y="3639312"/>
            <a:ext cx="3200400" cy="45720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nginx/ingress-s0.yaml</a:t>
            </a:r>
          </a:p>
        </p:txBody>
      </p:sp>
      <p:sp>
        <p:nvSpPr>
          <p:cNvPr id="22" name="Rectangle 21"/>
          <p:cNvSpPr/>
          <p:nvPr/>
        </p:nvSpPr>
        <p:spPr>
          <a:xfrm>
            <a:off x="4937760" y="3639312"/>
            <a:ext cx="777240" cy="45720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:30080</a:t>
            </a:r>
          </a:p>
        </p:txBody>
      </p:sp>
      <p:sp>
        <p:nvSpPr>
          <p:cNvPr id="23" name="Rectangle 22"/>
          <p:cNvSpPr/>
          <p:nvPr/>
        </p:nvSpPr>
        <p:spPr>
          <a:xfrm>
            <a:off x="5715000" y="3639312"/>
            <a:ext cx="1737360" cy="45720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ingress</a:t>
            </a:r>
          </a:p>
        </p:txBody>
      </p:sp>
      <p:sp>
        <p:nvSpPr>
          <p:cNvPr id="24" name="Rectangle 23"/>
          <p:cNvSpPr/>
          <p:nvPr/>
        </p:nvSpPr>
        <p:spPr>
          <a:xfrm>
            <a:off x="7452360" y="3639312"/>
            <a:ext cx="1234440" cy="45720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limit-rps:100</a:t>
            </a:r>
          </a:p>
        </p:txBody>
      </p:sp>
      <p:sp>
        <p:nvSpPr>
          <p:cNvPr id="25" name="Rectangle 24"/>
          <p:cNvSpPr/>
          <p:nvPr/>
        </p:nvSpPr>
        <p:spPr>
          <a:xfrm>
            <a:off x="8686800" y="3639312"/>
            <a:ext cx="1051560" cy="45720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No</a:t>
            </a:r>
          </a:p>
        </p:txBody>
      </p:sp>
      <p:sp>
        <p:nvSpPr>
          <p:cNvPr id="26" name="Rectangle 25"/>
          <p:cNvSpPr/>
          <p:nvPr/>
        </p:nvSpPr>
        <p:spPr>
          <a:xfrm>
            <a:off x="9738360" y="3639312"/>
            <a:ext cx="777240" cy="45720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No</a:t>
            </a:r>
          </a:p>
        </p:txBody>
      </p:sp>
      <p:sp>
        <p:nvSpPr>
          <p:cNvPr id="27" name="Rectangle 26"/>
          <p:cNvSpPr/>
          <p:nvPr/>
        </p:nvSpPr>
        <p:spPr>
          <a:xfrm>
            <a:off x="365760" y="4096512"/>
            <a:ext cx="1371600" cy="457200"/>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latin typeface="Courier New"/>
              </a:rPr>
              <a:t>Kong</a:t>
            </a:r>
          </a:p>
        </p:txBody>
      </p:sp>
      <p:sp>
        <p:nvSpPr>
          <p:cNvPr id="28" name="Rectangle 27"/>
          <p:cNvSpPr/>
          <p:nvPr/>
        </p:nvSpPr>
        <p:spPr>
          <a:xfrm>
            <a:off x="1737360" y="4096512"/>
            <a:ext cx="3200400" cy="4572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kong/kong-dbless.yaml</a:t>
            </a:r>
          </a:p>
        </p:txBody>
      </p:sp>
      <p:sp>
        <p:nvSpPr>
          <p:cNvPr id="29" name="Rectangle 28"/>
          <p:cNvSpPr/>
          <p:nvPr/>
        </p:nvSpPr>
        <p:spPr>
          <a:xfrm>
            <a:off x="4937760" y="4096512"/>
            <a:ext cx="777240" cy="4572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:30082</a:t>
            </a:r>
          </a:p>
        </p:txBody>
      </p:sp>
      <p:sp>
        <p:nvSpPr>
          <p:cNvPr id="30" name="Rectangle 29"/>
          <p:cNvSpPr/>
          <p:nvPr/>
        </p:nvSpPr>
        <p:spPr>
          <a:xfrm>
            <a:off x="5715000" y="4096512"/>
            <a:ext cx="1737360" cy="4572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kong</a:t>
            </a:r>
          </a:p>
        </p:txBody>
      </p:sp>
      <p:sp>
        <p:nvSpPr>
          <p:cNvPr id="31" name="Rectangle 30"/>
          <p:cNvSpPr/>
          <p:nvPr/>
        </p:nvSpPr>
        <p:spPr>
          <a:xfrm>
            <a:off x="7452360" y="4096512"/>
            <a:ext cx="1234440" cy="4572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6000/min</a:t>
            </a:r>
          </a:p>
        </p:txBody>
      </p:sp>
      <p:sp>
        <p:nvSpPr>
          <p:cNvPr id="32" name="Rectangle 31"/>
          <p:cNvSpPr/>
          <p:nvPr/>
        </p:nvSpPr>
        <p:spPr>
          <a:xfrm>
            <a:off x="8686800" y="4096512"/>
            <a:ext cx="1051560" cy="4572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No</a:t>
            </a:r>
          </a:p>
        </p:txBody>
      </p:sp>
      <p:sp>
        <p:nvSpPr>
          <p:cNvPr id="33" name="Rectangle 32"/>
          <p:cNvSpPr/>
          <p:nvPr/>
        </p:nvSpPr>
        <p:spPr>
          <a:xfrm>
            <a:off x="9738360" y="4096512"/>
            <a:ext cx="777240" cy="45720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No (2 replicas)</a:t>
            </a:r>
          </a:p>
        </p:txBody>
      </p:sp>
      <p:sp>
        <p:nvSpPr>
          <p:cNvPr id="34" name="Rectangle 33"/>
          <p:cNvSpPr/>
          <p:nvPr/>
        </p:nvSpPr>
        <p:spPr>
          <a:xfrm>
            <a:off x="365760" y="4553712"/>
            <a:ext cx="1371600" cy="457200"/>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latin typeface="Courier New"/>
              </a:rPr>
              <a:t>Istio Gateway</a:t>
            </a:r>
          </a:p>
        </p:txBody>
      </p:sp>
      <p:sp>
        <p:nvSpPr>
          <p:cNvPr id="35" name="Rectangle 34"/>
          <p:cNvSpPr/>
          <p:nvPr/>
        </p:nvSpPr>
        <p:spPr>
          <a:xfrm>
            <a:off x="1737360" y="4553712"/>
            <a:ext cx="3200400" cy="45720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Add-on/Istio/gateway.yaml</a:t>
            </a:r>
          </a:p>
        </p:txBody>
      </p:sp>
      <p:sp>
        <p:nvSpPr>
          <p:cNvPr id="36" name="Rectangle 35"/>
          <p:cNvSpPr/>
          <p:nvPr/>
        </p:nvSpPr>
        <p:spPr>
          <a:xfrm>
            <a:off x="4937760" y="4553712"/>
            <a:ext cx="777240" cy="45720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:31400</a:t>
            </a:r>
          </a:p>
        </p:txBody>
      </p:sp>
      <p:sp>
        <p:nvSpPr>
          <p:cNvPr id="37" name="Rectangle 36"/>
          <p:cNvSpPr/>
          <p:nvPr/>
        </p:nvSpPr>
        <p:spPr>
          <a:xfrm>
            <a:off x="5715000" y="4553712"/>
            <a:ext cx="1737360" cy="45720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default</a:t>
            </a:r>
          </a:p>
        </p:txBody>
      </p:sp>
      <p:sp>
        <p:nvSpPr>
          <p:cNvPr id="38" name="Rectangle 37"/>
          <p:cNvSpPr/>
          <p:nvPr/>
        </p:nvSpPr>
        <p:spPr>
          <a:xfrm>
            <a:off x="7452360" y="4553712"/>
            <a:ext cx="1234440" cy="45720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No</a:t>
            </a:r>
          </a:p>
        </p:txBody>
      </p:sp>
      <p:sp>
        <p:nvSpPr>
          <p:cNvPr id="39" name="Rectangle 38"/>
          <p:cNvSpPr/>
          <p:nvPr/>
        </p:nvSpPr>
        <p:spPr>
          <a:xfrm>
            <a:off x="8686800" y="4553712"/>
            <a:ext cx="1051560" cy="45720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STRICT</a:t>
            </a:r>
          </a:p>
        </p:txBody>
      </p:sp>
      <p:sp>
        <p:nvSpPr>
          <p:cNvPr id="40" name="Rectangle 39"/>
          <p:cNvSpPr/>
          <p:nvPr/>
        </p:nvSpPr>
        <p:spPr>
          <a:xfrm>
            <a:off x="9738360" y="4553712"/>
            <a:ext cx="777240" cy="45720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No</a:t>
            </a:r>
          </a:p>
        </p:txBody>
      </p:sp>
      <p:sp>
        <p:nvSpPr>
          <p:cNvPr id="41" name="Rectangle 40"/>
          <p:cNvSpPr/>
          <p:nvPr/>
        </p:nvSpPr>
        <p:spPr>
          <a:xfrm>
            <a:off x="274320" y="5074920"/>
            <a:ext cx="2834640" cy="160020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Cuando usar gw-nginx</a:t>
            </a:r>
          </a:p>
          <a:p>
            <a:r>
              <a:rPr sz="1000">
                <a:solidFill>
                  <a:srgbClr val="555555"/>
                </a:solidFill>
              </a:rPr>
              <a:t>Benchmark SINTETICO donde el gateway
forma parte del grafo de microservicios.
El cliente hace:
  POST http://gw-nginx/s0/process
El gateway resuelve s0 por DNS
dinamicamente → sirve para cualquier
workmodel sin reconfigurar nginx.</a:t>
            </a:r>
          </a:p>
        </p:txBody>
      </p:sp>
      <p:sp>
        <p:nvSpPr>
          <p:cNvPr id="42" name="Rectangle 41"/>
          <p:cNvSpPr/>
          <p:nvPr/>
        </p:nvSpPr>
        <p:spPr>
          <a:xfrm>
            <a:off x="3246120" y="5074920"/>
            <a:ext cx="2834640" cy="160020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Cuando usar NGINX Ingress</a:t>
            </a:r>
          </a:p>
          <a:p>
            <a:r>
              <a:rPr sz="1000">
                <a:solidFill>
                  <a:srgbClr val="555555"/>
                </a:solidFill>
              </a:rPr>
              <a:t>Entrada L7 a un namespace con
servicios que tienen paths propios.
Util cuando:
- Multiples servicios en un namespace
- Paths distintos por servicio
- Rate limiting por anotacion
- Rewrite de URL necesario
Overhead tipico: +2-5ms vs directo.</a:t>
            </a:r>
          </a:p>
        </p:txBody>
      </p:sp>
      <p:sp>
        <p:nvSpPr>
          <p:cNvPr id="43" name="Rectangle 42"/>
          <p:cNvSpPr/>
          <p:nvPr/>
        </p:nvSpPr>
        <p:spPr>
          <a:xfrm>
            <a:off x="6217920" y="5074920"/>
            <a:ext cx="2834640" cy="160020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Cuando usar Kong</a:t>
            </a:r>
          </a:p>
          <a:p>
            <a:r>
              <a:rPr sz="1000">
                <a:solidFill>
                  <a:srgbClr val="555555"/>
                </a:solidFill>
              </a:rPr>
              <a:t>Cuando se necesita:
- Autenticacion (key-auth, JWT)
- Rate limiting con politicas complejas
- Transformacion de requests/responses
- Admin API para cambios en caliente
- Metricas de gateway (no solo K8s)
Overhead tipico: +5-15ms vs directo
(mayor que NGINX por la capa Lua).</a:t>
            </a:r>
          </a:p>
        </p:txBody>
      </p:sp>
      <p:sp>
        <p:nvSpPr>
          <p:cNvPr id="44" name="Rectangle 43"/>
          <p:cNvSpPr/>
          <p:nvPr/>
        </p:nvSpPr>
        <p:spPr>
          <a:xfrm>
            <a:off x="9189720" y="5074920"/>
            <a:ext cx="2834640" cy="160020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Cuando usar Istio Gateway</a:t>
            </a:r>
          </a:p>
          <a:p>
            <a:r>
              <a:rPr sz="1000">
                <a:solidFill>
                  <a:srgbClr val="555555"/>
                </a:solidFill>
              </a:rPr>
              <a:t>Cuando se necesita mTLS entre servicios
dentro del mesh.
Istio Gateway maneja:
- TLS termination externo
- Routing avanzado (weights, headers)
- Circuit breaking (DestinationRule)
- Observabilidad (traces, metricas)
Mayor overhead operativo (sidecars
en cada pod del mesh).</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Kong Gateway — Config Realista y C1 Comparison</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configure_kong_realistic_routes.sh · run_c1_only_tech_comparison.sh · k8s/07-c1-ingress-gateway.yaml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Kong Gateway — Presencia en el proyecto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Kong aparece en 3 contextos distintos: experimento sintetico, servicios realistas y comparacion C1</a:t>
            </a:r>
          </a:p>
        </p:txBody>
      </p:sp>
      <p:sp>
        <p:nvSpPr>
          <p:cNvPr id="5" name="Rectangle 4"/>
          <p:cNvSpPr/>
          <p:nvPr/>
        </p:nvSpPr>
        <p:spPr>
          <a:xfrm>
            <a:off x="274320" y="1143000"/>
            <a:ext cx="3749039" cy="3657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Experimento 01 (sintetico)</a:t>
            </a:r>
          </a:p>
        </p:txBody>
      </p:sp>
      <p:sp>
        <p:nvSpPr>
          <p:cNvPr id="6" name="Rectangle 5"/>
          <p:cNvSpPr/>
          <p:nvPr/>
        </p:nvSpPr>
        <p:spPr>
          <a:xfrm>
            <a:off x="274320" y="1508760"/>
            <a:ext cx="3749039" cy="26517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555555"/>
                </a:solidFill>
                <a:latin typeface="Courier New"/>
              </a:rPr>
              <a:t>experiments/01-api-gateway/kong/
install-kong.sh: helm install 2 replicas
configure-kong.sh: Admin API REST
kong-dbless.yaml: modo declarativo
Ruta: / → s0 (servicio sintetico)
Plugins: rate-limiting (6000/min) +
  prometheus + request-transformer
run-exp01.sh: k6 test-kong.js :30082</a:t>
            </a:r>
          </a:p>
          <a:p>
            <a:r>
              <a:rPr sz="1000" b="1">
                <a:solidFill>
                  <a:srgbClr val="2E75B6"/>
                </a:solidFill>
                <a:latin typeface="Courier New"/>
              </a:rPr>
              <a:t>experiments/01-api-gateway/kong/</a:t>
            </a:r>
          </a:p>
        </p:txBody>
      </p:sp>
      <p:sp>
        <p:nvSpPr>
          <p:cNvPr id="7" name="Rectangle 6"/>
          <p:cNvSpPr/>
          <p:nvPr/>
        </p:nvSpPr>
        <p:spPr>
          <a:xfrm>
            <a:off x="4251959" y="1143000"/>
            <a:ext cx="3749039" cy="365760"/>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Servicios Realistas</a:t>
            </a:r>
          </a:p>
        </p:txBody>
      </p:sp>
      <p:sp>
        <p:nvSpPr>
          <p:cNvPr id="8" name="Rectangle 7"/>
          <p:cNvSpPr/>
          <p:nvPr/>
        </p:nvSpPr>
        <p:spPr>
          <a:xfrm>
            <a:off x="4251959" y="1508760"/>
            <a:ext cx="3749039" cy="26517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555555"/>
                </a:solidFill>
                <a:latin typeface="Courier New"/>
              </a:rPr>
              <a:t>scripts/configure_kong_realistic_routes.sh
ConfigMap kong-declarative-config
3 rutas: / → s0, /auth → auth-service,
         /api  → api-service
rate-limiting: 12000/min (2× sintetico)
rollout restart para recargar config
Verificacion de /health via curl
RealisticServices/k8s/07-c1-ingress-gateway.yaml</a:t>
            </a:r>
          </a:p>
          <a:p>
            <a:r>
              <a:rPr sz="1000" b="1">
                <a:solidFill>
                  <a:srgbClr val="D3690F"/>
                </a:solidFill>
                <a:latin typeface="Courier New"/>
              </a:rPr>
              <a:t>scripts/configure_kong_realistic_routes.sh</a:t>
            </a:r>
          </a:p>
        </p:txBody>
      </p:sp>
      <p:sp>
        <p:nvSpPr>
          <p:cNvPr id="9" name="Rectangle 8"/>
          <p:cNvSpPr/>
          <p:nvPr/>
        </p:nvSpPr>
        <p:spPr>
          <a:xfrm>
            <a:off x="8229598" y="1143000"/>
            <a:ext cx="3749039" cy="365760"/>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C1 Tech Comparison</a:t>
            </a:r>
          </a:p>
        </p:txBody>
      </p:sp>
      <p:sp>
        <p:nvSpPr>
          <p:cNvPr id="10" name="Rectangle 9"/>
          <p:cNvSpPr/>
          <p:nvPr/>
        </p:nvSpPr>
        <p:spPr>
          <a:xfrm>
            <a:off x="8229598" y="1508760"/>
            <a:ext cx="3749039" cy="26517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555555"/>
                </a:solidFill>
                <a:latin typeface="Courier New"/>
              </a:rPr>
              <a:t>scripts/run_c1_only_tech_comparison.sh
Barrido QoS: baseline/kong/nginx
  VUS_LIST='10 25 50'  REPS implícito
  --summary-export + --out json
Fault injection: kubectl rollout restart s0
  + MTTR medido con bash timer
Export CPU/mem via Prometheus API
Python inline → CSV + Markdown summary</a:t>
            </a:r>
          </a:p>
          <a:p>
            <a:r>
              <a:rPr sz="1000" b="1">
                <a:solidFill>
                  <a:srgbClr val="6844B4"/>
                </a:solidFill>
                <a:latin typeface="Courier New"/>
              </a:rPr>
              <a:t>scripts/run_c1_only_tech_comparison.sh</a:t>
            </a:r>
          </a:p>
        </p:txBody>
      </p:sp>
      <p:sp>
        <p:nvSpPr>
          <p:cNvPr id="11" name="Rectangle 10"/>
          <p:cNvSpPr/>
          <p:nvPr/>
        </p:nvSpPr>
        <p:spPr>
          <a:xfrm>
            <a:off x="274320" y="4297680"/>
            <a:ext cx="11612880" cy="23774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9E2AF"/>
                </a:solidFill>
                <a:latin typeface="Courier New"/>
              </a:rPr>
              <a:t>Kong DB-less (KONG_DATABASE=off) — unico modo usado en este proyecto</a:t>
            </a:r>
          </a:p>
          <a:p>
            <a:r>
              <a:rPr sz="1200">
                <a:solidFill>
                  <a:srgbClr val="2E75B6"/>
                </a:solidFill>
                <a:latin typeface="Courier New"/>
              </a:rPr>
              <a:t>Toda la config vive en un ConfigMap (kong-declarative-config). Al cambiar el ConfigMap, se necesita rollout restart para que Kong recargue. No hay Admin API activa (KONG_ADMIN_LISTEN=off). Ventajas: reproducible en git, sin PostgreSQL, startup mas rapido. Limitacion: no hay cambios en caliente via REST (requiere redeploy).</a:t>
            </a:r>
          </a:p>
          <a:p>
            <a:r>
              <a:rPr sz="1100">
                <a:solidFill>
                  <a:srgbClr val="F0F4F8"/>
                </a:solidFill>
                <a:latin typeface="Courier New"/>
              </a:rPr>
              <a:t>Flujo de cambio: editar kong.yml dentro del ConfigMap  →  kubectl apply -f configmap.yaml  →  kubectl rollout restart deployment/kong  →  kubectl rollout status deployment/kong --timeout=240s  →  verificar /health de cada ruta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configure_kong_realistic_routes.sh — Config para Realistic Services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Sobreescribe el ConfigMap de Kong con 3 rutas y reinicia el deployment para recargarla</a:t>
            </a:r>
          </a:p>
        </p:txBody>
      </p:sp>
      <p:sp>
        <p:nvSpPr>
          <p:cNvPr id="5" name="Rectangle 4"/>
          <p:cNvSpPr/>
          <p:nvPr/>
        </p:nvSpPr>
        <p:spPr>
          <a:xfrm>
            <a:off x="365760" y="1143000"/>
            <a:ext cx="557784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NS_KONG='kong'</a:t>
            </a:r>
          </a:p>
          <a:p>
            <a:r>
              <a:rPr sz="1100">
                <a:solidFill>
                  <a:srgbClr val="CBD3F0"/>
                </a:solidFill>
                <a:latin typeface="Courier New"/>
              </a:rPr>
              <a:t>KONG_CM='kong-declarative-config'</a:t>
            </a:r>
          </a:p>
          <a:p>
            <a:r>
              <a:rPr sz="1100">
                <a:solidFill>
                  <a:srgbClr val="CBD3F0"/>
                </a:solidFill>
                <a:latin typeface="Courier New"/>
              </a:rPr>
              <a:t>TIMEOUT='240s'</a:t>
            </a:r>
          </a:p>
          <a:p>
            <a:r>
              <a:rPr sz="1100">
                <a:solidFill>
                  <a:srgbClr val="CBD3F0"/>
                </a:solidFill>
                <a:latin typeface="Courier New"/>
              </a:rPr>
              <a:t/>
            </a:r>
          </a:p>
          <a:p>
            <a:r>
              <a:rPr sz="1100">
                <a:solidFill>
                  <a:srgbClr val="CBD3F0"/>
                </a:solidFill>
                <a:latin typeface="Courier New"/>
              </a:rPr>
              <a:t># Aplica el ConfigMap en una sola operacion</a:t>
            </a:r>
          </a:p>
          <a:p>
            <a:r>
              <a:rPr sz="1100">
                <a:solidFill>
                  <a:srgbClr val="F9E2AF"/>
                </a:solidFill>
                <a:latin typeface="Courier New"/>
              </a:rPr>
              <a:t>microk8s kubectl -n kong apply -f - &lt;&lt;'EOF'</a:t>
            </a:r>
          </a:p>
          <a:p>
            <a:r>
              <a:rPr sz="1100">
                <a:solidFill>
                  <a:srgbClr val="CBD3F0"/>
                </a:solidFill>
                <a:latin typeface="Courier New"/>
              </a:rPr>
              <a:t>apiVersion: v1</a:t>
            </a:r>
          </a:p>
          <a:p>
            <a:r>
              <a:rPr sz="1100">
                <a:solidFill>
                  <a:srgbClr val="CBD3F0"/>
                </a:solidFill>
                <a:latin typeface="Courier New"/>
              </a:rPr>
              <a:t>kind: ConfigMap</a:t>
            </a:r>
          </a:p>
          <a:p>
            <a:r>
              <a:rPr sz="1100">
                <a:solidFill>
                  <a:srgbClr val="CBD3F0"/>
                </a:solidFill>
                <a:latin typeface="Courier New"/>
              </a:rPr>
              <a:t>metadata:</a:t>
            </a:r>
          </a:p>
          <a:p>
            <a:r>
              <a:rPr sz="1100">
                <a:solidFill>
                  <a:srgbClr val="CBD3F0"/>
                </a:solidFill>
                <a:latin typeface="Courier New"/>
              </a:rPr>
              <a:t>  name: kong-declarative-config</a:t>
            </a:r>
          </a:p>
          <a:p>
            <a:r>
              <a:rPr sz="1100">
                <a:solidFill>
                  <a:srgbClr val="CBD3F0"/>
                </a:solidFill>
                <a:latin typeface="Courier New"/>
              </a:rPr>
              <a:t>  namespace: kong</a:t>
            </a:r>
          </a:p>
          <a:p>
            <a:r>
              <a:rPr sz="1100">
                <a:solidFill>
                  <a:srgbClr val="CBD3F0"/>
                </a:solidFill>
                <a:latin typeface="Courier New"/>
              </a:rPr>
              <a:t>data:</a:t>
            </a:r>
          </a:p>
          <a:p>
            <a:r>
              <a:rPr sz="1100">
                <a:solidFill>
                  <a:srgbClr val="CBD3F0"/>
                </a:solidFill>
                <a:latin typeface="Courier New"/>
              </a:rPr>
              <a:t>  kong.yml: |</a:t>
            </a:r>
          </a:p>
          <a:p>
            <a:r>
              <a:rPr sz="1100">
                <a:solidFill>
                  <a:srgbClr val="CBD3F0"/>
                </a:solidFill>
                <a:latin typeface="Courier New"/>
              </a:rPr>
              <a:t>    _format_version: '3.0'</a:t>
            </a:r>
          </a:p>
          <a:p>
            <a:r>
              <a:rPr sz="1100">
                <a:solidFill>
                  <a:srgbClr val="F9E2AF"/>
                </a:solidFill>
                <a:latin typeface="Courier New"/>
              </a:rPr>
              <a:t>    services:</a:t>
            </a:r>
          </a:p>
          <a:p>
            <a:r>
              <a:rPr sz="1100">
                <a:solidFill>
                  <a:srgbClr val="CBD3F0"/>
                </a:solidFill>
                <a:latin typeface="Courier New"/>
              </a:rPr>
              <a:t>    - name: s0-service</a:t>
            </a:r>
          </a:p>
          <a:p>
            <a:r>
              <a:rPr sz="1100">
                <a:solidFill>
                  <a:srgbClr val="F9E2AF"/>
                </a:solidFill>
                <a:latin typeface="Courier New"/>
              </a:rPr>
              <a:t>      url: http://s0.default.svc.cluster.local:80</a:t>
            </a:r>
          </a:p>
          <a:p>
            <a:r>
              <a:rPr sz="1100">
                <a:solidFill>
                  <a:srgbClr val="CBD3F0"/>
                </a:solidFill>
                <a:latin typeface="Courier New"/>
              </a:rPr>
              <a:t>      routes: [{paths: ['/']}]</a:t>
            </a:r>
          </a:p>
          <a:p>
            <a:r>
              <a:rPr sz="1100">
                <a:solidFill>
                  <a:srgbClr val="CBD3F0"/>
                </a:solidFill>
                <a:latin typeface="Courier New"/>
              </a:rPr>
              <a:t>      plugins: [rate-limiting(minute:6000), request-transformer]</a:t>
            </a:r>
          </a:p>
          <a:p>
            <a:r>
              <a:rPr sz="1100">
                <a:solidFill>
                  <a:srgbClr val="CBD3F0"/>
                </a:solidFill>
                <a:latin typeface="Courier New"/>
              </a:rPr>
              <a:t>    - name: realistic-auth-service</a:t>
            </a:r>
          </a:p>
          <a:p>
            <a:r>
              <a:rPr sz="1100">
                <a:solidFill>
                  <a:srgbClr val="F9E2AF"/>
                </a:solidFill>
                <a:latin typeface="Courier New"/>
              </a:rPr>
              <a:t>      url: http://auth-service.realistic.svc.cluster.local:8080</a:t>
            </a:r>
          </a:p>
          <a:p>
            <a:r>
              <a:rPr sz="1100">
                <a:solidFill>
                  <a:srgbClr val="CBD3F0"/>
                </a:solidFill>
                <a:latin typeface="Courier New"/>
              </a:rPr>
              <a:t>      routes: [{paths: ['/auth']}]</a:t>
            </a:r>
          </a:p>
          <a:p>
            <a:r>
              <a:rPr sz="1100">
                <a:solidFill>
                  <a:srgbClr val="CBD3F0"/>
                </a:solidFill>
                <a:latin typeface="Courier New"/>
              </a:rPr>
              <a:t>      plugins: [request-transformer(X-Route:auth)]</a:t>
            </a:r>
          </a:p>
          <a:p>
            <a:r>
              <a:rPr sz="1100">
                <a:solidFill>
                  <a:srgbClr val="CBD3F0"/>
                </a:solidFill>
                <a:latin typeface="Courier New"/>
              </a:rPr>
              <a:t>    - name: realistic-api-service</a:t>
            </a:r>
          </a:p>
          <a:p>
            <a:r>
              <a:rPr sz="1100">
                <a:solidFill>
                  <a:srgbClr val="F9E2AF"/>
                </a:solidFill>
                <a:latin typeface="Courier New"/>
              </a:rPr>
              <a:t>      url: http://api-service.realistic.svc.cluster.local:8080</a:t>
            </a:r>
          </a:p>
          <a:p>
            <a:r>
              <a:rPr sz="1100">
                <a:solidFill>
                  <a:srgbClr val="CBD3F0"/>
                </a:solidFill>
                <a:latin typeface="Courier New"/>
              </a:rPr>
              <a:t>      routes: [{paths: ['/api']}]</a:t>
            </a:r>
          </a:p>
          <a:p>
            <a:r>
              <a:rPr sz="1100">
                <a:solidFill>
                  <a:srgbClr val="F9E2AF"/>
                </a:solidFill>
                <a:latin typeface="Courier New"/>
              </a:rPr>
              <a:t>    plugins: [prometheus, rate-limiting(minute:12000)]</a:t>
            </a:r>
          </a:p>
          <a:p>
            <a:r>
              <a:rPr sz="1100">
                <a:solidFill>
                  <a:srgbClr val="CBD3F0"/>
                </a:solidFill>
                <a:latin typeface="Courier New"/>
              </a:rPr>
              <a:t>EOF</a:t>
            </a:r>
          </a:p>
          <a:p>
            <a:r>
              <a:rPr sz="1100">
                <a:solidFill>
                  <a:srgbClr val="CBD3F0"/>
                </a:solidFill>
                <a:latin typeface="Courier New"/>
              </a:rPr>
              <a:t/>
            </a:r>
          </a:p>
          <a:p>
            <a:r>
              <a:rPr sz="1100">
                <a:solidFill>
                  <a:srgbClr val="F9E2AF"/>
                </a:solidFill>
                <a:latin typeface="Courier New"/>
              </a:rPr>
              <a:t># Reiniciar para recargar el ConfigMap</a:t>
            </a:r>
          </a:p>
          <a:p>
            <a:r>
              <a:rPr sz="1100">
                <a:solidFill>
                  <a:srgbClr val="F9E2AF"/>
                </a:solidFill>
                <a:latin typeface="Courier New"/>
              </a:rPr>
              <a:t>kubectl rollout restart deployment/kong -n kong</a:t>
            </a:r>
          </a:p>
          <a:p>
            <a:r>
              <a:rPr sz="1100">
                <a:solidFill>
                  <a:srgbClr val="CBD3F0"/>
                </a:solidFill>
                <a:latin typeface="Courier New"/>
              </a:rPr>
              <a:t>kubectl rollout status deployment/kong --timeout=240s</a:t>
            </a:r>
          </a:p>
        </p:txBody>
      </p:sp>
      <p:sp>
        <p:nvSpPr>
          <p:cNvPr id="6" name="Rectangle 5"/>
          <p:cNvSpPr/>
          <p:nvPr/>
        </p:nvSpPr>
        <p:spPr>
          <a:xfrm>
            <a:off x="6126480" y="1143000"/>
            <a:ext cx="2788920" cy="17373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Rollout restart obligatorio</a:t>
            </a:r>
          </a:p>
          <a:p>
            <a:r>
              <a:rPr sz="1000">
                <a:solidFill>
                  <a:srgbClr val="555555"/>
                </a:solidFill>
              </a:rPr>
              <a:t>Kong DB-less NO recarga el ConfigMap
automaticamente cuando se actualiza.
kubectl rollout restart fuerza una
terminacion controlada de los pods
actuales y crea nuevos que leen el
ConfigMap actualizado al arrancar.
--timeout=240s: espera hasta 4 min
para que el nuevo pod quede Ready.</a:t>
            </a:r>
          </a:p>
        </p:txBody>
      </p:sp>
      <p:sp>
        <p:nvSpPr>
          <p:cNvPr id="7" name="Rectangle 6"/>
          <p:cNvSpPr/>
          <p:nvPr/>
        </p:nvSpPr>
        <p:spPr>
          <a:xfrm>
            <a:off x="9052560" y="1143000"/>
            <a:ext cx="2788920" cy="17373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Namespaces cruzados</a:t>
            </a:r>
          </a:p>
          <a:p>
            <a:r>
              <a:rPr sz="1000">
                <a:solidFill>
                  <a:srgbClr val="555555"/>
                </a:solidFill>
              </a:rPr>
              <a:t>Kong esta en namespace 'kong'.
Los servicios destino estan en:
  s0 → namespace 'default'
  auth-service → namespace 'realistic'
  api-service  → namespace 'realistic'
Kong necesita permisos para resolver
DNS entre namespaces.
En microk8s esto funciona por defecto
(CoreDNS resuelve .svc.cluster.local).</a:t>
            </a:r>
          </a:p>
        </p:txBody>
      </p:sp>
      <p:sp>
        <p:nvSpPr>
          <p:cNvPr id="8" name="Rectangle 7"/>
          <p:cNvSpPr/>
          <p:nvPr/>
        </p:nvSpPr>
        <p:spPr>
          <a:xfrm>
            <a:off x="6126480" y="3017519"/>
            <a:ext cx="2788920" cy="17373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rate-limiting 12000/min</a:t>
            </a:r>
          </a:p>
          <a:p>
            <a:r>
              <a:rPr sz="1000">
                <a:solidFill>
                  <a:srgbClr val="555555"/>
                </a:solidFill>
              </a:rPr>
              <a:t>La configuracion realista usa el
DOBLE de rate limit que la sintetica:
  sintetico: 6000/min = 100 req/s
  realista: 12000/min = 200 req/s
Razon: los servicios realistas tienen
mayor latencia interna → mas tiempo
entre requests del cliente → necesitan
un limite mas alto para no bloquear
trafico valido.</a:t>
            </a:r>
          </a:p>
        </p:txBody>
      </p:sp>
      <p:sp>
        <p:nvSpPr>
          <p:cNvPr id="9" name="Rectangle 8"/>
          <p:cNvSpPr/>
          <p:nvPr/>
        </p:nvSpPr>
        <p:spPr>
          <a:xfrm>
            <a:off x="9052560" y="3017519"/>
            <a:ext cx="2788920" cy="17373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Verificacion de salud curl</a:t>
            </a:r>
          </a:p>
          <a:p>
            <a:r>
              <a:rPr sz="1000">
                <a:solidFill>
                  <a:srgbClr val="555555"/>
                </a:solidFill>
              </a:rPr>
              <a:t>Despues del rollout status, el script
verifica cada ruta con curl:
AUTH_CODE=$(curl -s -w '%{http_code}'
  http://localhost:30082/auth/health)
API_CODE=$(curl -s -w '%{http_code}'
  http://localhost:30082/api/health)
Si el codigo no es 200 → WARN (no exit 1)
Los resultados van a /tmp/*.out para
inspeccion manual si algo falla.</a:t>
            </a:r>
          </a:p>
        </p:txBody>
      </p:sp>
      <p:sp>
        <p:nvSpPr>
          <p:cNvPr id="10" name="Rectangle 9"/>
          <p:cNvSpPr/>
          <p:nvPr/>
        </p:nvSpPr>
        <p:spPr>
          <a:xfrm>
            <a:off x="6126480" y="4892038"/>
            <a:ext cx="2788920" cy="173736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here-doc con &lt;&lt;'EOF'</a:t>
            </a:r>
          </a:p>
          <a:p>
            <a:r>
              <a:rPr sz="1000">
                <a:solidFill>
                  <a:srgbClr val="555555"/>
                </a:solidFill>
              </a:rPr>
              <a:t>Comillas en '&lt;&lt;EOF' evitan que bash
expanda variables DENTRO del heredoc.
Diferencia crucial:
&lt;&lt;EOF  → expande $VAR, ${VAR}
&lt;&lt;'EOF' → texto literal, sin expansion
Aqui es importante porque el YAML
de Kong usa llaves que bash podria
interpretar como expansion de parametros.</a:t>
            </a:r>
          </a:p>
        </p:txBody>
      </p:sp>
      <p:sp>
        <p:nvSpPr>
          <p:cNvPr id="11" name="Rectangle 10"/>
          <p:cNvSpPr/>
          <p:nvPr/>
        </p:nvSpPr>
        <p:spPr>
          <a:xfrm>
            <a:off x="9052560" y="4892038"/>
            <a:ext cx="2788920" cy="173736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kubectl apply vs create</a:t>
            </a:r>
          </a:p>
          <a:p>
            <a:r>
              <a:rPr sz="1000">
                <a:solidFill>
                  <a:srgbClr val="555555"/>
                </a:solidFill>
              </a:rPr>
              <a:t>apply -f - es idempotente:
- Si el ConfigMap no existe: lo crea
- Si ya existe: lo actualiza (patch)
Equivalente a:
kubectl create cm kong-declarative-config\
  --from-file=kong.yml=... --dry-run=client\
  -o yaml | kubectl apply -f -
Pero el here-doc es mas legible
para YAMLs complejos.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run_c1_only_tech_comparison.sh — Estructura</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Script orquestador C1: QoS + Fault Injection + export CPU/mem + CSV + Markdown</a:t>
            </a:r>
          </a:p>
        </p:txBody>
      </p:sp>
      <p:sp>
        <p:nvSpPr>
          <p:cNvPr id="5" name="Rectangle 4"/>
          <p:cNvSpPr/>
          <p:nvPr/>
        </p:nvSpPr>
        <p:spPr>
          <a:xfrm>
            <a:off x="365760" y="1143000"/>
            <a:ext cx="530352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Variables de control (sobreescribibles por env)</a:t>
            </a:r>
          </a:p>
          <a:p>
            <a:r>
              <a:rPr sz="1100">
                <a:solidFill>
                  <a:srgbClr val="F9E2AF"/>
                </a:solidFill>
                <a:latin typeface="Courier New"/>
              </a:rPr>
              <a:t>VUS_LIST='10 25 50'</a:t>
            </a:r>
          </a:p>
          <a:p>
            <a:r>
              <a:rPr sz="1100">
                <a:solidFill>
                  <a:srgbClr val="CBD3F0"/>
                </a:solidFill>
                <a:latin typeface="Courier New"/>
              </a:rPr>
              <a:t>DURATION='60s'</a:t>
            </a:r>
          </a:p>
          <a:p>
            <a:r>
              <a:rPr sz="1100">
                <a:solidFill>
                  <a:srgbClr val="CBD3F0"/>
                </a:solidFill>
                <a:latin typeface="Courier New"/>
              </a:rPr>
              <a:t>FAULT_VUS='20'          # VUs durante fault injection</a:t>
            </a:r>
          </a:p>
          <a:p>
            <a:r>
              <a:rPr sz="1100">
                <a:solidFill>
                  <a:srgbClr val="CBD3F0"/>
                </a:solidFill>
                <a:latin typeface="Courier New"/>
              </a:rPr>
              <a:t>FAULT_DURATION='120s'   # duracion del fault test</a:t>
            </a:r>
          </a:p>
          <a:p>
            <a:r>
              <a:rPr sz="1100">
                <a:solidFill>
                  <a:srgbClr val="CBD3F0"/>
                </a:solidFill>
                <a:latin typeface="Courier New"/>
              </a:rPr>
              <a:t>FAULT_INJECT_DELAY='15' # segundos antes de reiniciar s0</a:t>
            </a:r>
          </a:p>
          <a:p>
            <a:r>
              <a:rPr sz="1100">
                <a:solidFill>
                  <a:srgbClr val="CBD3F0"/>
                </a:solidFill>
                <a:latin typeface="Courier New"/>
              </a:rPr>
              <a:t>BASELINE_PORT='30084'   # port-forward de s0</a:t>
            </a:r>
          </a:p>
          <a:p>
            <a:r>
              <a:rPr sz="1100">
                <a:solidFill>
                  <a:srgbClr val="CBD3F0"/>
                </a:solidFill>
                <a:latin typeface="Courier New"/>
              </a:rPr>
              <a:t>KONG_URL='http://127.0.0.1:30082/process'</a:t>
            </a:r>
          </a:p>
          <a:p>
            <a:r>
              <a:rPr sz="1100">
                <a:solidFill>
                  <a:srgbClr val="CBD3F0"/>
                </a:solidFill>
                <a:latin typeface="Courier New"/>
              </a:rPr>
              <a:t>NGINX_URL='http://127.0.0.1:30080'</a:t>
            </a:r>
          </a:p>
          <a:p>
            <a:r>
              <a:rPr sz="1100">
                <a:solidFill>
                  <a:srgbClr val="CBD3F0"/>
                </a:solidFill>
                <a:latin typeface="Courier New"/>
              </a:rPr>
              <a:t/>
            </a:r>
          </a:p>
          <a:p>
            <a:r>
              <a:rPr sz="1100">
                <a:solidFill>
                  <a:srgbClr val="CBD3F0"/>
                </a:solidFill>
                <a:latin typeface="Courier New"/>
              </a:rPr>
              <a:t># Funciones auxiliares</a:t>
            </a:r>
          </a:p>
          <a:p>
            <a:r>
              <a:rPr sz="1100">
                <a:solidFill>
                  <a:srgbClr val="F9E2AF"/>
                </a:solidFill>
                <a:latin typeface="Courier New"/>
              </a:rPr>
              <a:t>wait_http() {</a:t>
            </a:r>
          </a:p>
          <a:p>
            <a:r>
              <a:rPr sz="1100">
                <a:solidFill>
                  <a:srgbClr val="CBD3F0"/>
                </a:solidFill>
                <a:latin typeface="Courier New"/>
              </a:rPr>
              <a:t>  # poll con curl hasta que URL responde</a:t>
            </a:r>
          </a:p>
          <a:p>
            <a:r>
              <a:rPr sz="1100">
                <a:solidFill>
                  <a:srgbClr val="CBD3F0"/>
                </a:solidFill>
                <a:latin typeface="Courier New"/>
              </a:rPr>
              <a:t>  for i in 1..timeout; do</a:t>
            </a:r>
          </a:p>
          <a:p>
            <a:r>
              <a:rPr sz="1100">
                <a:solidFill>
                  <a:srgbClr val="CBD3F0"/>
                </a:solidFill>
                <a:latin typeface="Courier New"/>
              </a:rPr>
              <a:t>    curl -fsS --max-time 3 '$url' &amp;&amp; return 0</a:t>
            </a:r>
          </a:p>
          <a:p>
            <a:r>
              <a:rPr sz="1100">
                <a:solidFill>
                  <a:srgbClr val="CBD3F0"/>
                </a:solidFill>
                <a:latin typeface="Courier New"/>
              </a:rPr>
              <a:t>    sleep 1</a:t>
            </a:r>
          </a:p>
          <a:p>
            <a:r>
              <a:rPr sz="1100">
                <a:solidFill>
                  <a:srgbClr val="CBD3F0"/>
                </a:solidFill>
                <a:latin typeface="Courier New"/>
              </a:rPr>
              <a:t>  done; return 1</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 Orquestacion principal</a:t>
            </a:r>
          </a:p>
          <a:p>
            <a:r>
              <a:rPr sz="1100">
                <a:solidFill>
                  <a:srgbClr val="F9E2AF"/>
                </a:solidFill>
                <a:latin typeface="Courier New"/>
              </a:rPr>
              <a:t>main() {</a:t>
            </a:r>
          </a:p>
          <a:p>
            <a:r>
              <a:rPr sz="1100">
                <a:solidFill>
                  <a:srgbClr val="CBD3F0"/>
                </a:solidFill>
                <a:latin typeface="Courier New"/>
              </a:rPr>
              <a:t>  ensure_tools     # k6 + python3</a:t>
            </a:r>
          </a:p>
          <a:p>
            <a:r>
              <a:rPr sz="1100">
                <a:solidFill>
                  <a:srgbClr val="CBD3F0"/>
                </a:solidFill>
                <a:latin typeface="Courier New"/>
              </a:rPr>
              <a:t>  ensure_backends  # pods s0/s1/sdb1 Running</a:t>
            </a:r>
          </a:p>
          <a:p>
            <a:r>
              <a:rPr sz="1100">
                <a:solidFill>
                  <a:srgbClr val="CBD3F0"/>
                </a:solidFill>
                <a:latin typeface="Courier New"/>
              </a:rPr>
              <a:t>  ensure_gateway_endpoints # NGINX + Kong accesibles</a:t>
            </a:r>
          </a:p>
          <a:p>
            <a:r>
              <a:rPr sz="1100">
                <a:solidFill>
                  <a:srgbClr val="CBD3F0"/>
                </a:solidFill>
                <a:latin typeface="Courier New"/>
              </a:rPr>
              <a:t>  start_baseline_portforward</a:t>
            </a:r>
          </a:p>
          <a:p>
            <a:r>
              <a:rPr sz="1100">
                <a:solidFill>
                  <a:srgbClr val="CBD3F0"/>
                </a:solidFill>
                <a:latin typeface="Courier New"/>
              </a:rPr>
              <a:t/>
            </a:r>
          </a:p>
          <a:p>
            <a:r>
              <a:rPr sz="1100">
                <a:solidFill>
                  <a:srgbClr val="F9E2AF"/>
                </a:solidFill>
                <a:latin typeface="Courier New"/>
              </a:rPr>
              <a:t>  for tech in baseline kong nginx; do</a:t>
            </a:r>
          </a:p>
          <a:p>
            <a:r>
              <a:rPr sz="1100">
                <a:solidFill>
                  <a:srgbClr val="CBD3F0"/>
                </a:solidFill>
                <a:latin typeface="Courier New"/>
              </a:rPr>
              <a:t>    for vus in $VUS_LIST; do</a:t>
            </a:r>
          </a:p>
          <a:p>
            <a:r>
              <a:rPr sz="1100">
                <a:solidFill>
                  <a:srgbClr val="CBD3F0"/>
                </a:solidFill>
                <a:latin typeface="Courier New"/>
              </a:rPr>
              <a:t>      run_k6_case $tech $vus</a:t>
            </a:r>
          </a:p>
          <a:p>
            <a:r>
              <a:rPr sz="1100">
                <a:solidFill>
                  <a:srgbClr val="CBD3F0"/>
                </a:solidFill>
                <a:latin typeface="Courier New"/>
              </a:rPr>
              <a:t>    done</a:t>
            </a:r>
          </a:p>
          <a:p>
            <a:r>
              <a:rPr sz="1100">
                <a:solidFill>
                  <a:srgbClr val="CBD3F0"/>
                </a:solidFill>
                <a:latin typeface="Courier New"/>
              </a:rPr>
              <a:t>  done</a:t>
            </a:r>
          </a:p>
          <a:p>
            <a:r>
              <a:rPr sz="1100">
                <a:solidFill>
                  <a:srgbClr val="CBD3F0"/>
                </a:solidFill>
                <a:latin typeface="Courier New"/>
              </a:rPr>
              <a:t>  build_qos_csv &amp;&amp; run_fault_cases &amp;&amp; build_summary_md</a:t>
            </a:r>
          </a:p>
          <a:p>
            <a:r>
              <a:rPr sz="1100">
                <a:solidFill>
                  <a:srgbClr val="CBD3F0"/>
                </a:solidFill>
                <a:latin typeface="Courier New"/>
              </a:rPr>
              <a:t>}</a:t>
            </a:r>
          </a:p>
        </p:txBody>
      </p:sp>
      <p:sp>
        <p:nvSpPr>
          <p:cNvPr id="6" name="Rectangle 5"/>
          <p:cNvSpPr/>
          <p:nvPr/>
        </p:nvSpPr>
        <p:spPr>
          <a:xfrm>
            <a:off x="5852160" y="1143000"/>
            <a:ext cx="3017520" cy="26517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OUT_DIR</a:t>
            </a:r>
          </a:p>
          <a:p>
            <a:r>
              <a:rPr sz="1100">
                <a:solidFill>
                  <a:srgbClr val="555555"/>
                </a:solidFill>
              </a:rPr>
              <a:t>Testing/results/c1-only-{timestamp}/
Cada ejecucion crea un directorio
unico con timestamp YYYYMMDD_HHMMSS.
Dentro:
  summary-{tech}-vus{n}.json  (k6 summary)
  raw-{tech}-vus{n}.json  (k6 JSONL)
  fault-raw-{tech}.json  (fault test)
  resources/  (CPU/mem Prometheus)
  c1-qos-comparison.csv
  c1-fault-tolerance.csv
  c1-summary.md</a:t>
            </a:r>
          </a:p>
        </p:txBody>
      </p:sp>
      <p:sp>
        <p:nvSpPr>
          <p:cNvPr id="7" name="Rectangle 6"/>
          <p:cNvSpPr/>
          <p:nvPr/>
        </p:nvSpPr>
        <p:spPr>
          <a:xfrm>
            <a:off x="9006840" y="1143000"/>
            <a:ext cx="3017520" cy="26517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ensure_gateway_endpoints</a:t>
            </a:r>
          </a:p>
          <a:p>
            <a:r>
              <a:rPr sz="1100">
                <a:solidFill>
                  <a:srgbClr val="555555"/>
                </a:solidFill>
              </a:rPr>
              <a:t>Valida que NGINX y Kong responden
ANTES de iniciar el experimento.
1. wait_http /health 60s (con retry)
2. curl -fsS POST /process (test real)
Si falla: el script aborta con -euo
pipefail (no continua con gateways
inaccesibles que darian resultados
invalidos).</a:t>
            </a:r>
          </a:p>
        </p:txBody>
      </p:sp>
      <p:sp>
        <p:nvSpPr>
          <p:cNvPr id="8" name="Rectangle 7"/>
          <p:cNvSpPr/>
          <p:nvPr/>
        </p:nvSpPr>
        <p:spPr>
          <a:xfrm>
            <a:off x="5852160" y="3977640"/>
            <a:ext cx="3017520" cy="26517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trap cleanup EXIT</a:t>
            </a:r>
          </a:p>
          <a:p>
            <a:r>
              <a:rPr sz="1100">
                <a:solidFill>
                  <a:srgbClr val="555555"/>
                </a:solidFill>
              </a:rPr>
              <a:t>cleanup() mata los port-forward
PIDs al salir (incluso por error):
PF_S0_PID: port-forward de s0
PF_PROM_PID: port-forward Prometheus
Sin trap, los port-forward quedan
huerfanos y bloquean el puerto en
ejecuciones futuras.</a:t>
            </a:r>
          </a:p>
        </p:txBody>
      </p:sp>
      <p:sp>
        <p:nvSpPr>
          <p:cNvPr id="9" name="Rectangle 8"/>
          <p:cNvSpPr/>
          <p:nvPr/>
        </p:nvSpPr>
        <p:spPr>
          <a:xfrm>
            <a:off x="9006840" y="3977640"/>
            <a:ext cx="3017520" cy="26517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--summary-export vs --out json</a:t>
            </a:r>
          </a:p>
          <a:p>
            <a:r>
              <a:rPr sz="1100">
                <a:solidFill>
                  <a:srgbClr val="555555"/>
                </a:solidFill>
              </a:rPr>
              <a:t>run_k6_case guarda DOS archivos:
--summary-export JSON:
  resumen agregado por metrica
  (avg, p95, p99, rate)
  → lo usa build_qos_csv
--out json (JSONL):
  datapoint por request
  → lo usa run_fault_case para
    calcular stats durante el fault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run_c1_only_tech_comparison.sh — Fault Injection</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run_fault_case(): lanza k6 en background, reinicia s0 a los 15s, mide MTTR con timer bash</a:t>
            </a:r>
          </a:p>
        </p:txBody>
      </p:sp>
      <p:sp>
        <p:nvSpPr>
          <p:cNvPr id="5" name="Rectangle 4"/>
          <p:cNvSpPr/>
          <p:nvPr/>
        </p:nvSpPr>
        <p:spPr>
          <a:xfrm>
            <a:off x="365760" y="1143000"/>
            <a:ext cx="557784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run_fault_case() {</a:t>
            </a:r>
          </a:p>
          <a:p>
            <a:r>
              <a:rPr sz="1100">
                <a:solidFill>
                  <a:srgbClr val="CBD3F0"/>
                </a:solidFill>
                <a:latin typeface="Courier New"/>
              </a:rPr>
              <a:t>  local tech=$1</a:t>
            </a:r>
          </a:p>
          <a:p>
            <a:r>
              <a:rPr sz="1100">
                <a:solidFill>
                  <a:srgbClr val="CBD3F0"/>
                </a:solidFill>
                <a:latin typeface="Courier New"/>
              </a:rPr>
              <a:t/>
            </a:r>
          </a:p>
          <a:p>
            <a:r>
              <a:rPr sz="1100">
                <a:solidFill>
                  <a:srgbClr val="CBD3F0"/>
                </a:solidFill>
                <a:latin typeface="Courier New"/>
              </a:rPr>
              <a:t>  # 1. Lanza k6 en background (no bloquea)</a:t>
            </a:r>
          </a:p>
          <a:p>
            <a:r>
              <a:rPr sz="1100">
                <a:solidFill>
                  <a:srgbClr val="F9E2AF"/>
                </a:solidFill>
                <a:latin typeface="Courier New"/>
              </a:rPr>
              <a:t>  k6 run --no-thresholds \</a:t>
            </a:r>
          </a:p>
          <a:p>
            <a:r>
              <a:rPr sz="1100">
                <a:solidFill>
                  <a:srgbClr val="CBD3F0"/>
                </a:solidFill>
                <a:latin typeface="Courier New"/>
              </a:rPr>
              <a:t>    -e VUS=$FAULT_VUS -e DURATION=$FAULT_DURATION \</a:t>
            </a:r>
          </a:p>
          <a:p>
            <a:r>
              <a:rPr sz="1100">
                <a:solidFill>
                  <a:srgbClr val="CBD3F0"/>
                </a:solidFill>
                <a:latin typeface="Courier New"/>
              </a:rPr>
              <a:t>    --out json=$raw_json \</a:t>
            </a:r>
          </a:p>
          <a:p>
            <a:r>
              <a:rPr sz="1100">
                <a:solidFill>
                  <a:srgbClr val="CBD3F0"/>
                </a:solidFill>
                <a:latin typeface="Courier New"/>
              </a:rPr>
              <a:t>    $script &amp;</a:t>
            </a:r>
          </a:p>
          <a:p>
            <a:r>
              <a:rPr sz="1100">
                <a:solidFill>
                  <a:srgbClr val="CBD3F0"/>
                </a:solidFill>
                <a:latin typeface="Courier New"/>
              </a:rPr>
              <a:t>  local k6_pid=$!</a:t>
            </a:r>
          </a:p>
          <a:p>
            <a:r>
              <a:rPr sz="1100">
                <a:solidFill>
                  <a:srgbClr val="CBD3F0"/>
                </a:solidFill>
                <a:latin typeface="Courier New"/>
              </a:rPr>
              <a:t/>
            </a:r>
          </a:p>
          <a:p>
            <a:r>
              <a:rPr sz="1100">
                <a:solidFill>
                  <a:srgbClr val="CBD3F0"/>
                </a:solidFill>
                <a:latin typeface="Courier New"/>
              </a:rPr>
              <a:t>  # 2. Espera antes de inyectar el fallo</a:t>
            </a:r>
          </a:p>
          <a:p>
            <a:r>
              <a:rPr sz="1100">
                <a:solidFill>
                  <a:srgbClr val="F9E2AF"/>
                </a:solidFill>
                <a:latin typeface="Courier New"/>
              </a:rPr>
              <a:t>  sleep $FAULT_INJECT_DELAY  # 15s por defecto</a:t>
            </a:r>
          </a:p>
          <a:p>
            <a:r>
              <a:rPr sz="1100">
                <a:solidFill>
                  <a:srgbClr val="CBD3F0"/>
                </a:solidFill>
                <a:latin typeface="Courier New"/>
              </a:rPr>
              <a:t/>
            </a:r>
          </a:p>
          <a:p>
            <a:r>
              <a:rPr sz="1100">
                <a:solidFill>
                  <a:srgbClr val="CBD3F0"/>
                </a:solidFill>
                <a:latin typeface="Courier New"/>
              </a:rPr>
              <a:t>  # 3. Mide tiempo de inicio del fallo</a:t>
            </a:r>
          </a:p>
          <a:p>
            <a:r>
              <a:rPr sz="1100">
                <a:solidFill>
                  <a:srgbClr val="F9E2AF"/>
                </a:solidFill>
                <a:latin typeface="Courier New"/>
              </a:rPr>
              <a:t>  t0=$(date +%s)  # timestamp Unix</a:t>
            </a:r>
          </a:p>
          <a:p>
            <a:r>
              <a:rPr sz="1100">
                <a:solidFill>
                  <a:srgbClr val="CBD3F0"/>
                </a:solidFill>
                <a:latin typeface="Courier New"/>
              </a:rPr>
              <a:t>  kubectl rollout restart deployment/s0 -n default</a:t>
            </a:r>
          </a:p>
          <a:p>
            <a:r>
              <a:rPr sz="1100">
                <a:solidFill>
                  <a:srgbClr val="CBD3F0"/>
                </a:solidFill>
                <a:latin typeface="Courier New"/>
              </a:rPr>
              <a:t>  kubectl rollout status deployment/s0 --timeout=240s</a:t>
            </a:r>
          </a:p>
          <a:p>
            <a:r>
              <a:rPr sz="1100">
                <a:solidFill>
                  <a:srgbClr val="CBD3F0"/>
                </a:solidFill>
                <a:latin typeface="Courier New"/>
              </a:rPr>
              <a:t/>
            </a:r>
          </a:p>
          <a:p>
            <a:r>
              <a:rPr sz="1100">
                <a:solidFill>
                  <a:srgbClr val="CBD3F0"/>
                </a:solidFill>
                <a:latin typeface="Courier New"/>
              </a:rPr>
              <a:t>  # 4. Espera hasta que health endpoint responde</a:t>
            </a:r>
          </a:p>
          <a:p>
            <a:r>
              <a:rPr sz="1100">
                <a:solidFill>
                  <a:srgbClr val="F9E2AF"/>
                </a:solidFill>
                <a:latin typeface="Courier New"/>
              </a:rPr>
              <a:t>  for ((i=0; i&lt;240; i++)); do</a:t>
            </a:r>
          </a:p>
          <a:p>
            <a:r>
              <a:rPr sz="1100">
                <a:solidFill>
                  <a:srgbClr val="CBD3F0"/>
                </a:solidFill>
                <a:latin typeface="Courier New"/>
              </a:rPr>
              <a:t>    if curl -fsS --max-time 3 $health_url; then</a:t>
            </a:r>
          </a:p>
          <a:p>
            <a:r>
              <a:rPr sz="1100">
                <a:solidFill>
                  <a:srgbClr val="CBD3F0"/>
                </a:solidFill>
                <a:latin typeface="Courier New"/>
              </a:rPr>
              <a:t>      t1=$(date +%s)</a:t>
            </a:r>
          </a:p>
          <a:p>
            <a:r>
              <a:rPr sz="1100">
                <a:solidFill>
                  <a:srgbClr val="CBD3F0"/>
                </a:solidFill>
                <a:latin typeface="Courier New"/>
              </a:rPr>
              <a:t>      recovered=1</a:t>
            </a:r>
          </a:p>
          <a:p>
            <a:r>
              <a:rPr sz="1100">
                <a:solidFill>
                  <a:srgbClr val="F9E2AF"/>
                </a:solidFill>
                <a:latin typeface="Courier New"/>
              </a:rPr>
              <a:t>      mttr=$((t1 - t0))  # MTTR en segundos</a:t>
            </a:r>
          </a:p>
          <a:p>
            <a:r>
              <a:rPr sz="1100">
                <a:solidFill>
                  <a:srgbClr val="CBD3F0"/>
                </a:solidFill>
                <a:latin typeface="Courier New"/>
              </a:rPr>
              <a:t>      break</a:t>
            </a:r>
          </a:p>
          <a:p>
            <a:r>
              <a:rPr sz="1100">
                <a:solidFill>
                  <a:srgbClr val="CBD3F0"/>
                </a:solidFill>
                <a:latin typeface="Courier New"/>
              </a:rPr>
              <a:t>    fi</a:t>
            </a:r>
          </a:p>
          <a:p>
            <a:r>
              <a:rPr sz="1100">
                <a:solidFill>
                  <a:srgbClr val="CBD3F0"/>
                </a:solidFill>
                <a:latin typeface="Courier New"/>
              </a:rPr>
              <a:t>    sleep 1</a:t>
            </a:r>
          </a:p>
          <a:p>
            <a:r>
              <a:rPr sz="1100">
                <a:solidFill>
                  <a:srgbClr val="CBD3F0"/>
                </a:solidFill>
                <a:latin typeface="Courier New"/>
              </a:rPr>
              <a:t>  done</a:t>
            </a:r>
          </a:p>
          <a:p>
            <a:r>
              <a:rPr sz="1100">
                <a:solidFill>
                  <a:srgbClr val="CBD3F0"/>
                </a:solidFill>
                <a:latin typeface="Courier New"/>
              </a:rPr>
              <a:t/>
            </a:r>
          </a:p>
          <a:p>
            <a:r>
              <a:rPr sz="1100">
                <a:solidFill>
                  <a:srgbClr val="F9E2AF"/>
                </a:solidFill>
                <a:latin typeface="Courier New"/>
              </a:rPr>
              <a:t>  wait $k6_pid || true  # espera fin de k6</a:t>
            </a:r>
          </a:p>
          <a:p>
            <a:r>
              <a:rPr sz="1100">
                <a:solidFill>
                  <a:srgbClr val="CBD3F0"/>
                </a:solidFill>
                <a:latin typeface="Courier New"/>
              </a:rPr>
              <a:t/>
            </a:r>
          </a:p>
          <a:p>
            <a:r>
              <a:rPr sz="1100">
                <a:solidFill>
                  <a:srgbClr val="CBD3F0"/>
                </a:solidFill>
                <a:latin typeface="Courier New"/>
              </a:rPr>
              <a:t>  # 5. Python inline: stats → CSV</a:t>
            </a:r>
          </a:p>
          <a:p>
            <a:r>
              <a:rPr sz="1100">
                <a:solidFill>
                  <a:srgbClr val="F9E2AF"/>
                </a:solidFill>
                <a:latin typeface="Courier New"/>
              </a:rPr>
              <a:t>  python3 - $FAULT_CSV $tech $raw_json $recovered $mttr &lt;&lt;'PY'</a:t>
            </a:r>
          </a:p>
          <a:p>
            <a:r>
              <a:rPr sz="1100">
                <a:solidFill>
                  <a:srgbClr val="CBD3F0"/>
                </a:solidFill>
                <a:latin typeface="Courier New"/>
              </a:rPr>
              <a:t>    ... (calcula p95, failed_rate, success_rate)</a:t>
            </a:r>
          </a:p>
          <a:p>
            <a:r>
              <a:rPr sz="1100">
                <a:solidFill>
                  <a:srgbClr val="CBD3F0"/>
                </a:solidFill>
                <a:latin typeface="Courier New"/>
              </a:rPr>
              <a:t>PY</a:t>
            </a:r>
          </a:p>
          <a:p>
            <a:r>
              <a:rPr sz="1100">
                <a:solidFill>
                  <a:srgbClr val="CBD3F0"/>
                </a:solidFill>
                <a:latin typeface="Courier New"/>
              </a:rPr>
              <a:t>}</a:t>
            </a:r>
          </a:p>
        </p:txBody>
      </p:sp>
      <p:sp>
        <p:nvSpPr>
          <p:cNvPr id="6" name="Rectangle 5"/>
          <p:cNvSpPr/>
          <p:nvPr/>
        </p:nvSpPr>
        <p:spPr>
          <a:xfrm>
            <a:off x="6126480" y="1143000"/>
            <a:ext cx="2788920" cy="173736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MTTR (Mean Time To Recovery)</a:t>
            </a:r>
          </a:p>
          <a:p>
            <a:r>
              <a:rPr sz="1000">
                <a:solidFill>
                  <a:srgbClr val="555555"/>
                </a:solidFill>
              </a:rPr>
              <a:t>MTTR = t1 - t0 donde:
  t0 = momento del rollout restart
  t1 = primer health check exitoso
Unidad: segundos enteros (date +%s)
Mide cuanto tarda el sistema en
volver a ser operativo despues
de que un pod falla/reinicia.
Es una metrica clave de resiliencia.</a:t>
            </a:r>
          </a:p>
        </p:txBody>
      </p:sp>
      <p:sp>
        <p:nvSpPr>
          <p:cNvPr id="7" name="Rectangle 6"/>
          <p:cNvSpPr/>
          <p:nvPr/>
        </p:nvSpPr>
        <p:spPr>
          <a:xfrm>
            <a:off x="9052560" y="1143000"/>
            <a:ext cx="2788920" cy="17373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k6 en background (&amp;)</a:t>
            </a:r>
          </a:p>
          <a:p>
            <a:r>
              <a:rPr sz="1000">
                <a:solidFill>
                  <a:srgbClr val="555555"/>
                </a:solidFill>
              </a:rPr>
              <a:t>k6 se lanza con &amp; para que el
script bash pueda continuar y
ejecutar el rollout restart.
k6_pid guarda el PID para:
  wait $k6_pid → esperar que k6
  termine despues del fault test
Sin &amp; no seria posible inyectar
el fallo DURANTE la carga.</a:t>
            </a:r>
          </a:p>
        </p:txBody>
      </p:sp>
      <p:sp>
        <p:nvSpPr>
          <p:cNvPr id="8" name="Rectangle 7"/>
          <p:cNvSpPr/>
          <p:nvPr/>
        </p:nvSpPr>
        <p:spPr>
          <a:xfrm>
            <a:off x="6126480" y="3017519"/>
            <a:ext cx="2788920" cy="17373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Ventana de fault injection</a:t>
            </a:r>
          </a:p>
          <a:p>
            <a:r>
              <a:rPr sz="1000">
                <a:solidFill>
                  <a:srgbClr val="555555"/>
                </a:solidFill>
              </a:rPr>
              <a:t>FAULT_INJECT_DELAY=15s significa:
  0-15s: trafico normal (baseline)
  15s: rollout restart de s0
  15-60s: trafico durante recovery
  60-120s: trafico post-recovery
Esto permite ver en los datos k6:
- Spike de errores al hacer restart
- Recuperacion gradual de latencia
- Estado estable post-recovery</a:t>
            </a:r>
          </a:p>
        </p:txBody>
      </p:sp>
      <p:sp>
        <p:nvSpPr>
          <p:cNvPr id="9" name="Rectangle 8"/>
          <p:cNvSpPr/>
          <p:nvPr/>
        </p:nvSpPr>
        <p:spPr>
          <a:xfrm>
            <a:off x="9052560" y="3017519"/>
            <a:ext cx="2788920" cy="17373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python3 inline (heredoc &lt;&lt;'PY')</a:t>
            </a:r>
          </a:p>
          <a:p>
            <a:r>
              <a:rPr sz="1000">
                <a:solidFill>
                  <a:srgbClr val="555555"/>
                </a:solidFill>
              </a:rPr>
              <a:t>El script embebe Python directamente:
python3 - args &lt;&lt;'PY'
  ...codigo...
PY
Ventaja: no requiere archivo .py separado
Recibe argumentos via sys.argv:
  1: csv_path
  2: tech (baseline/kong/nginx)
  3: raw_json (JSONL de k6)
  4: recovered (0/1)
  5: mttr (segundos)</a:t>
            </a:r>
          </a:p>
        </p:txBody>
      </p:sp>
      <p:sp>
        <p:nvSpPr>
          <p:cNvPr id="10" name="Rectangle 9"/>
          <p:cNvSpPr/>
          <p:nvPr/>
        </p:nvSpPr>
        <p:spPr>
          <a:xfrm>
            <a:off x="6126480" y="4892038"/>
            <a:ext cx="2788920" cy="17373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Metricas del fault CSV</a:t>
            </a:r>
          </a:p>
          <a:p>
            <a:r>
              <a:rPr sz="1000">
                <a:solidFill>
                  <a:srgbClr val="555555"/>
                </a:solidFill>
              </a:rPr>
              <a:t>c1-fault-tolerance.csv columnas:
  technology: baseline/kong/nginx
  fault_scenario: restart-s0
  recovered: 1/0
  mttr_seconds: int
  http_req_duration_p95_ms
  http_req_failed_rate
  request_success_rate
  checks_rate
  http_reqs_count
Una fila por tecnologia por ejecucion.</a:t>
            </a:r>
          </a:p>
        </p:txBody>
      </p:sp>
      <p:sp>
        <p:nvSpPr>
          <p:cNvPr id="11" name="Rectangle 10"/>
          <p:cNvSpPr/>
          <p:nvPr/>
        </p:nvSpPr>
        <p:spPr>
          <a:xfrm>
            <a:off x="9052560" y="4892038"/>
            <a:ext cx="2788920" cy="173736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rollout restart vs kill pod</a:t>
            </a:r>
          </a:p>
          <a:p>
            <a:r>
              <a:rPr sz="1000">
                <a:solidFill>
                  <a:srgbClr val="555555"/>
                </a:solidFill>
              </a:rPr>
              <a:t>rollout restart es graceful:
- Crea pod nuevo antes de matar el viejo
- Respeta terminationGracePeriodSeconds
- K8s mantiene 1 replica disponible
Mas realista que kubectl delete pod:
Simula un rolling update real, no
una falla abrupta.
rollout status espera hasta Ready
antes de continuar el script.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run_c1_only_tech_comparison.sh — Reportes CSV y Markdown</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build_qos_csv() y build_summary_md() son scripts Python embebidos en bash via heredoc</a:t>
            </a:r>
          </a:p>
        </p:txBody>
      </p:sp>
      <p:sp>
        <p:nvSpPr>
          <p:cNvPr id="5" name="Rectangle 4"/>
          <p:cNvSpPr/>
          <p:nvPr/>
        </p:nvSpPr>
        <p:spPr>
          <a:xfrm>
            <a:off x="365760" y="1143000"/>
            <a:ext cx="5577840" cy="26060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build_qos_csv: parsea summary-*.json → CSV</a:t>
            </a:r>
          </a:p>
          <a:p>
            <a:r>
              <a:rPr sz="1100">
                <a:solidFill>
                  <a:srgbClr val="F9E2AF"/>
                </a:solidFill>
                <a:latin typeface="Courier New"/>
              </a:rPr>
              <a:t>python3 - $OUT_DIR $QOS_CSV &lt;&lt;'PY'</a:t>
            </a:r>
          </a:p>
          <a:p>
            <a:r>
              <a:rPr sz="1100">
                <a:solidFill>
                  <a:srgbClr val="F9E2AF"/>
                </a:solidFill>
                <a:latin typeface="Courier New"/>
              </a:rPr>
              <a:t>for path in glob('summary-*-vus*.json'):</a:t>
            </a:r>
          </a:p>
          <a:p>
            <a:r>
              <a:rPr sz="1100">
                <a:solidFill>
                  <a:srgbClr val="CBD3F0"/>
                </a:solidFill>
                <a:latin typeface="Courier New"/>
              </a:rPr>
              <a:t>  # extrae tech y VUS del nombre de archivo</a:t>
            </a:r>
          </a:p>
          <a:p>
            <a:r>
              <a:rPr sz="1100">
                <a:solidFill>
                  <a:srgbClr val="F9E2AF"/>
                </a:solidFill>
                <a:latin typeface="Courier New"/>
              </a:rPr>
              <a:t>  m = re.search(r'summary-(.+)-vus(\d+)\.json', name)</a:t>
            </a:r>
          </a:p>
          <a:p>
            <a:r>
              <a:rPr sz="1100">
                <a:solidFill>
                  <a:srgbClr val="CBD3F0"/>
                </a:solidFill>
                <a:latin typeface="Courier New"/>
              </a:rPr>
              <a:t>  tech, vus = m.group(1), m.group(2)</a:t>
            </a:r>
          </a:p>
          <a:p>
            <a:r>
              <a:rPr sz="1100">
                <a:solidFill>
                  <a:srgbClr val="CBD3F0"/>
                </a:solidFill>
                <a:latin typeface="Courier New"/>
              </a:rPr>
              <a:t>  data = json.load(open(path))</a:t>
            </a:r>
          </a:p>
          <a:p>
            <a:r>
              <a:rPr sz="1100">
                <a:solidFill>
                  <a:srgbClr val="CBD3F0"/>
                </a:solidFill>
                <a:latin typeface="Courier New"/>
              </a:rPr>
              <a:t>  met = data['metrics']</a:t>
            </a:r>
          </a:p>
          <a:p>
            <a:r>
              <a:rPr sz="1100">
                <a:solidFill>
                  <a:srgbClr val="CBD3F0"/>
                </a:solidFill>
                <a:latin typeface="Courier New"/>
              </a:rPr>
              <a:t/>
            </a:r>
          </a:p>
          <a:p>
            <a:r>
              <a:rPr sz="1100">
                <a:solidFill>
                  <a:srgbClr val="F9E2AF"/>
                </a:solidFill>
                <a:latin typeface="Courier New"/>
              </a:rPr>
              <a:t>  def get_metric(metric, key, alt=''):</a:t>
            </a:r>
          </a:p>
          <a:p>
            <a:r>
              <a:rPr sz="1100">
                <a:solidFill>
                  <a:srgbClr val="CBD3F0"/>
                </a:solidFill>
                <a:latin typeface="Courier New"/>
              </a:rPr>
              <a:t>    # navega la jerarquia del summary de k6</a:t>
            </a:r>
          </a:p>
          <a:p>
            <a:r>
              <a:rPr sz="1100">
                <a:solidFill>
                  <a:srgbClr val="CBD3F0"/>
                </a:solidFill>
                <a:latin typeface="Courier New"/>
              </a:rPr>
              <a:t>    obj = met.get(metric, {})</a:t>
            </a:r>
          </a:p>
          <a:p>
            <a:r>
              <a:rPr sz="1100">
                <a:solidFill>
                  <a:srgbClr val="CBD3F0"/>
                </a:solidFill>
                <a:latin typeface="Courier New"/>
              </a:rPr>
              <a:t>    values = obj.get('values', obj)</a:t>
            </a:r>
          </a:p>
          <a:p>
            <a:r>
              <a:rPr sz="1100">
                <a:solidFill>
                  <a:srgbClr val="CBD3F0"/>
                </a:solidFill>
                <a:latin typeface="Courier New"/>
              </a:rPr>
              <a:t>    return values.get(key) or values.get(alt) or ''</a:t>
            </a:r>
          </a:p>
          <a:p>
            <a:r>
              <a:rPr sz="1100">
                <a:solidFill>
                  <a:srgbClr val="CBD3F0"/>
                </a:solidFill>
                <a:latin typeface="Courier New"/>
              </a:rPr>
              <a:t/>
            </a:r>
          </a:p>
          <a:p>
            <a:r>
              <a:rPr sz="1100">
                <a:solidFill>
                  <a:srgbClr val="CBD3F0"/>
                </a:solidFill>
                <a:latin typeface="Courier New"/>
              </a:rPr>
              <a:t>  rows.append({</a:t>
            </a:r>
          </a:p>
          <a:p>
            <a:r>
              <a:rPr sz="1100">
                <a:solidFill>
                  <a:srgbClr val="F9E2AF"/>
                </a:solidFill>
                <a:latin typeface="Courier New"/>
              </a:rPr>
              <a:t>    'technology': tech, 'vus': vus,</a:t>
            </a:r>
          </a:p>
          <a:p>
            <a:r>
              <a:rPr sz="1100">
                <a:solidFill>
                  <a:srgbClr val="CBD3F0"/>
                </a:solidFill>
                <a:latin typeface="Courier New"/>
              </a:rPr>
              <a:t>    'avg_ms':  get_metric('http_req_duration', 'avg'),</a:t>
            </a:r>
          </a:p>
          <a:p>
            <a:r>
              <a:rPr sz="1100">
                <a:solidFill>
                  <a:srgbClr val="CBD3F0"/>
                </a:solidFill>
                <a:latin typeface="Courier New"/>
              </a:rPr>
              <a:t>    'p95_ms':  get_metric('http_req_duration', 'p(95)'),</a:t>
            </a:r>
          </a:p>
          <a:p>
            <a:r>
              <a:rPr sz="1100">
                <a:solidFill>
                  <a:srgbClr val="CBD3F0"/>
                </a:solidFill>
                <a:latin typeface="Courier New"/>
              </a:rPr>
              <a:t>    'p99_ms':  get_metric('http_req_duration', 'p(99)'),</a:t>
            </a:r>
          </a:p>
          <a:p>
            <a:r>
              <a:rPr sz="1100">
                <a:solidFill>
                  <a:srgbClr val="CBD3F0"/>
                </a:solidFill>
                <a:latin typeface="Courier New"/>
              </a:rPr>
              <a:t>    'http_reqs_rate_rps': get_metric('http_reqs', 'rate'),</a:t>
            </a:r>
          </a:p>
          <a:p>
            <a:r>
              <a:rPr sz="1100">
                <a:solidFill>
                  <a:srgbClr val="CBD3F0"/>
                </a:solidFill>
                <a:latin typeface="Courier New"/>
              </a:rPr>
              <a:t>    'http_req_failed_rate': get_metric('http_req_failed', 'rate', 'value'),</a:t>
            </a:r>
          </a:p>
          <a:p>
            <a:r>
              <a:rPr sz="1100">
                <a:solidFill>
                  <a:srgbClr val="CBD3F0"/>
                </a:solidFill>
                <a:latin typeface="Courier New"/>
              </a:rPr>
              <a:t>    'checks_rate': get_metric('checks', 'rate', 'value'),</a:t>
            </a:r>
          </a:p>
          <a:p>
            <a:r>
              <a:rPr sz="1100">
                <a:solidFill>
                  <a:srgbClr val="CBD3F0"/>
                </a:solidFill>
                <a:latin typeface="Courier New"/>
              </a:rPr>
              <a:t>  })</a:t>
            </a:r>
          </a:p>
          <a:p>
            <a:r>
              <a:rPr sz="1100">
                <a:solidFill>
                  <a:srgbClr val="CBD3F0"/>
                </a:solidFill>
                <a:latin typeface="Courier New"/>
              </a:rPr>
              <a:t>PY</a:t>
            </a:r>
          </a:p>
        </p:txBody>
      </p:sp>
      <p:sp>
        <p:nvSpPr>
          <p:cNvPr id="6" name="Rectangle 5"/>
          <p:cNvSpPr/>
          <p:nvPr/>
        </p:nvSpPr>
        <p:spPr>
          <a:xfrm>
            <a:off x="365760" y="3886200"/>
            <a:ext cx="5577840" cy="26974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build_summary_md: QoS CSV + Fault CSV → Markdown</a:t>
            </a:r>
          </a:p>
          <a:p>
            <a:r>
              <a:rPr sz="1100">
                <a:solidFill>
                  <a:srgbClr val="F9E2AF"/>
                </a:solidFill>
                <a:latin typeface="Courier New"/>
              </a:rPr>
              <a:t>python3 - $QOS_CSV $FAULT_CSV $SUMMARY_MD &lt;&lt;'PY'</a:t>
            </a:r>
          </a:p>
          <a:p>
            <a:r>
              <a:rPr sz="1100">
                <a:solidFill>
                  <a:srgbClr val="F9E2AF"/>
                </a:solidFill>
                <a:latin typeface="Courier New"/>
              </a:rPr>
              <a:t>f.write('# C1 Technology Comparison Summary\n')</a:t>
            </a:r>
          </a:p>
          <a:p>
            <a:r>
              <a:rPr sz="1100">
                <a:solidFill>
                  <a:srgbClr val="CBD3F0"/>
                </a:solidFill>
                <a:latin typeface="Courier New"/>
              </a:rPr>
              <a:t>f.write('## QoS (k6)\n')</a:t>
            </a:r>
          </a:p>
          <a:p>
            <a:r>
              <a:rPr sz="1100">
                <a:solidFill>
                  <a:srgbClr val="F9E2AF"/>
                </a:solidFill>
                <a:latin typeface="Courier New"/>
              </a:rPr>
              <a:t>f.write('| Tech | VUS | Avg (ms) | P95 | P99 | rps |')</a:t>
            </a:r>
          </a:p>
          <a:p>
            <a:r>
              <a:rPr sz="1100">
                <a:solidFill>
                  <a:srgbClr val="CBD3F0"/>
                </a:solidFill>
                <a:latin typeface="Courier New"/>
              </a:rPr>
              <a:t>for r in qos:</a:t>
            </a:r>
          </a:p>
          <a:p>
            <a:r>
              <a:rPr sz="1100">
                <a:solidFill>
                  <a:srgbClr val="CBD3F0"/>
                </a:solidFill>
                <a:latin typeface="Courier New"/>
              </a:rPr>
              <a:t>  f.write(f'| {r["technology"]} | {r["vus"]} | '</a:t>
            </a:r>
          </a:p>
          <a:p>
            <a:r>
              <a:rPr sz="1100">
                <a:solidFill>
                  <a:srgbClr val="CBD3F0"/>
                </a:solidFill>
                <a:latin typeface="Courier New"/>
              </a:rPr>
              <a:t>          f'{float(r["avg_ms"]):.3f} | {float(r["p95_ms"]):.3f} |')</a:t>
            </a:r>
          </a:p>
          <a:p>
            <a:r>
              <a:rPr sz="1100">
                <a:solidFill>
                  <a:srgbClr val="F9E2AF"/>
                </a:solidFill>
                <a:latin typeface="Courier New"/>
              </a:rPr>
              <a:t>f.write('## Fault Tolerance (restart s0)\n')</a:t>
            </a:r>
          </a:p>
          <a:p>
            <a:r>
              <a:rPr sz="1100">
                <a:solidFill>
                  <a:srgbClr val="CBD3F0"/>
                </a:solidFill>
                <a:latin typeface="Courier New"/>
              </a:rPr>
              <a:t>f.write('| Tech | Recovered | MTTR (s) | P95 | Failed | Success |')</a:t>
            </a:r>
          </a:p>
          <a:p>
            <a:r>
              <a:rPr sz="1100">
                <a:solidFill>
                  <a:srgbClr val="CBD3F0"/>
                </a:solidFill>
                <a:latin typeface="Courier New"/>
              </a:rPr>
              <a:t>for r in fault:</a:t>
            </a:r>
          </a:p>
          <a:p>
            <a:r>
              <a:rPr sz="1100">
                <a:solidFill>
                  <a:srgbClr val="CBD3F0"/>
                </a:solidFill>
                <a:latin typeface="Courier New"/>
              </a:rPr>
              <a:t>  f.write(f'| {r["technology"]} | {r["recovered"]} | '</a:t>
            </a:r>
          </a:p>
          <a:p>
            <a:r>
              <a:rPr sz="1100">
                <a:solidFill>
                  <a:srgbClr val="F9E2AF"/>
                </a:solidFill>
                <a:latin typeface="Courier New"/>
              </a:rPr>
              <a:t>          f'{r["mttr_seconds"]} | {float(r["p95_ms"]):.3f} |')</a:t>
            </a:r>
          </a:p>
          <a:p>
            <a:r>
              <a:rPr sz="1100">
                <a:solidFill>
                  <a:srgbClr val="CBD3F0"/>
                </a:solidFill>
                <a:latin typeface="Courier New"/>
              </a:rPr>
              <a:t>PY</a:t>
            </a:r>
          </a:p>
        </p:txBody>
      </p:sp>
      <p:sp>
        <p:nvSpPr>
          <p:cNvPr id="7" name="Rectangle 6"/>
          <p:cNvSpPr/>
          <p:nvPr/>
        </p:nvSpPr>
        <p:spPr>
          <a:xfrm>
            <a:off x="6126480" y="1143000"/>
            <a:ext cx="2788920" cy="201168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c1-qos-comparison.csv</a:t>
            </a:r>
          </a:p>
          <a:p>
            <a:r>
              <a:rPr sz="1000">
                <a:solidFill>
                  <a:srgbClr val="555555"/>
                </a:solidFill>
              </a:rPr>
              <a:t>Columnas:
technology, vus, http_reqs_count,
http_reqs_rate_rps, avg_ms,
p95_ms, p99_ms,
http_req_failed_rate, checks_rate
Ordenado por (technology, vus).
Una fila por (tech × VUS):
3 techs × 3 VUS = 9 filas.</a:t>
            </a:r>
          </a:p>
        </p:txBody>
      </p:sp>
      <p:sp>
        <p:nvSpPr>
          <p:cNvPr id="8" name="Rectangle 7"/>
          <p:cNvSpPr/>
          <p:nvPr/>
        </p:nvSpPr>
        <p:spPr>
          <a:xfrm>
            <a:off x="9052560" y="1143000"/>
            <a:ext cx="2788920" cy="201168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c1-fault-tolerance.csv</a:t>
            </a:r>
          </a:p>
          <a:p>
            <a:r>
              <a:rPr sz="1000">
                <a:solidFill>
                  <a:srgbClr val="555555"/>
                </a:solidFill>
              </a:rPr>
              <a:t>Columnas:
technology, fault_scenario,
recovered, mttr_seconds,
http_req_duration_p95_ms,
http_req_failed_rate,
request_success_rate,
checks_rate, http_reqs_count
Una fila por tecnologia = 3 filas.</a:t>
            </a:r>
          </a:p>
        </p:txBody>
      </p:sp>
      <p:sp>
        <p:nvSpPr>
          <p:cNvPr id="9" name="Rectangle 8"/>
          <p:cNvSpPr/>
          <p:nvPr/>
        </p:nvSpPr>
        <p:spPr>
          <a:xfrm>
            <a:off x="6126480" y="3291840"/>
            <a:ext cx="2788920" cy="201168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c1-summary.md</a:t>
            </a:r>
          </a:p>
          <a:p>
            <a:r>
              <a:rPr sz="1000">
                <a:solidFill>
                  <a:srgbClr val="555555"/>
                </a:solidFill>
              </a:rPr>
              <a:t>Markdown con 2 tablas:
1. QoS comparison (9 filas)
2. Fault tolerance (3 filas)
Listo para copiar en un informe
o visualizar en GitHub/VSCode.
Generado al final del script
una vez que ambos CSVs existen.</a:t>
            </a:r>
          </a:p>
        </p:txBody>
      </p:sp>
      <p:sp>
        <p:nvSpPr>
          <p:cNvPr id="10" name="Rectangle 9"/>
          <p:cNvSpPr/>
          <p:nvPr/>
        </p:nvSpPr>
        <p:spPr>
          <a:xfrm>
            <a:off x="9052560" y="3291840"/>
            <a:ext cx="2788920" cy="201168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get_metric() helper</a:t>
            </a:r>
          </a:p>
          <a:p>
            <a:r>
              <a:rPr sz="1000">
                <a:solidFill>
                  <a:srgbClr val="555555"/>
                </a:solidFill>
              </a:rPr>
              <a:t>El summary-export de k6 puede tener
la jerarquia:
  metrics.http_req_duration.values.avg
o simplemente:
  metrics.http_req_duration.avg
get_metric() intenta ambos paths
y acepta un campo alternativo 'alt'
para metricas como http_req_failed
que pueden ser 'rate' o 'value'.</a:t>
            </a:r>
          </a:p>
        </p:txBody>
      </p:sp>
      <p:sp>
        <p:nvSpPr>
          <p:cNvPr id="11" name="Rectangle 10"/>
          <p:cNvSpPr/>
          <p:nvPr/>
        </p:nvSpPr>
        <p:spPr>
          <a:xfrm>
            <a:off x="6126480" y="5440680"/>
            <a:ext cx="2788920" cy="201168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export_resource_snapshots()</a:t>
            </a:r>
          </a:p>
          <a:p>
            <a:r>
              <a:rPr sz="1000">
                <a:solidFill>
                  <a:srgbClr val="555555"/>
                </a:solidFill>
              </a:rPr>
              <a:t>Exporta CPU/mem de 3 namespaces:
  default (microservicios s0,s1,sdb1)
  kong (proxy pods)
  ingress (nginx controller)
Usa Prometheus API con ventana 10m.
Si Prometheus no esta accesible
localmente, inicia port-forward al
namespace 'observability'.
Falla silenciosa: || true</a:t>
            </a:r>
          </a:p>
        </p:txBody>
      </p:sp>
      <p:sp>
        <p:nvSpPr>
          <p:cNvPr id="12" name="Rectangle 11"/>
          <p:cNvSpPr/>
          <p:nvPr/>
        </p:nvSpPr>
        <p:spPr>
          <a:xfrm>
            <a:off x="9052560" y="5440680"/>
            <a:ext cx="2788920" cy="201168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Timestamp en OUT_DIR</a:t>
            </a:r>
          </a:p>
          <a:p>
            <a:r>
              <a:rPr sz="1000">
                <a:solidFill>
                  <a:srgbClr val="555555"/>
                </a:solidFill>
              </a:rPr>
              <a:t>OUT_DIR=Testing/results/c1-only-{STAMP}
STAMP=$(date +%Y%m%d_%H%M%S)
Ejemplo:
  Testing/results/c1-only-20260503_143022/
Permite ejecutar el script multiples
veces sin sobreescribir resultados.
Facilita comparar ejecuciones
a lo largo del tiempo.</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k8s/07-c1-ingress-gateway.yaml — NGINX Ingress Realista</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Ingress para RealisticServices con regex rewrite, comparado con la config del experimento 01</a:t>
            </a:r>
          </a:p>
        </p:txBody>
      </p:sp>
      <p:sp>
        <p:nvSpPr>
          <p:cNvPr id="5" name="Rectangle 4"/>
          <p:cNvSpPr/>
          <p:nvPr/>
        </p:nvSpPr>
        <p:spPr>
          <a:xfrm>
            <a:off x="365760" y="1143000"/>
            <a:ext cx="5303520" cy="32004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07-c1-ingress-gateway.yaml</a:t>
            </a:r>
          </a:p>
          <a:p>
            <a:r>
              <a:rPr sz="1100">
                <a:solidFill>
                  <a:srgbClr val="CBD3F0"/>
                </a:solidFill>
                <a:latin typeface="Courier New"/>
              </a:rPr>
              <a:t>apiVersion: networking.k8s.io/v1</a:t>
            </a:r>
          </a:p>
          <a:p>
            <a:r>
              <a:rPr sz="1100">
                <a:solidFill>
                  <a:srgbClr val="CBD3F0"/>
                </a:solidFill>
                <a:latin typeface="Courier New"/>
              </a:rPr>
              <a:t>kind: Ingress</a:t>
            </a:r>
          </a:p>
          <a:p>
            <a:r>
              <a:rPr sz="1100">
                <a:solidFill>
                  <a:srgbClr val="CBD3F0"/>
                </a:solidFill>
                <a:latin typeface="Courier New"/>
              </a:rPr>
              <a:t>metadata:</a:t>
            </a:r>
          </a:p>
          <a:p>
            <a:r>
              <a:rPr sz="1100">
                <a:solidFill>
                  <a:srgbClr val="CBD3F0"/>
                </a:solidFill>
                <a:latin typeface="Courier New"/>
              </a:rPr>
              <a:t>  name: realistic-gateway</a:t>
            </a:r>
          </a:p>
          <a:p>
            <a:r>
              <a:rPr sz="1100">
                <a:solidFill>
                  <a:srgbClr val="CBD3F0"/>
                </a:solidFill>
                <a:latin typeface="Courier New"/>
              </a:rPr>
              <a:t>  namespace: realistic</a:t>
            </a:r>
          </a:p>
          <a:p>
            <a:r>
              <a:rPr sz="1100">
                <a:solidFill>
                  <a:srgbClr val="CBD3F0"/>
                </a:solidFill>
                <a:latin typeface="Courier New"/>
              </a:rPr>
              <a:t>  annotations:</a:t>
            </a:r>
          </a:p>
          <a:p>
            <a:r>
              <a:rPr sz="1100">
                <a:solidFill>
                  <a:srgbClr val="F9E2AF"/>
                </a:solidFill>
                <a:latin typeface="Courier New"/>
              </a:rPr>
              <a:t>    nginx.ingress.kubernetes.io/use-regex: 'true'</a:t>
            </a:r>
          </a:p>
          <a:p>
            <a:r>
              <a:rPr sz="1100">
                <a:solidFill>
                  <a:srgbClr val="F9E2AF"/>
                </a:solidFill>
                <a:latin typeface="Courier New"/>
              </a:rPr>
              <a:t>    nginx.ingress.kubernetes.io/rewrite-target: /$2</a:t>
            </a:r>
          </a:p>
          <a:p>
            <a:r>
              <a:rPr sz="1100">
                <a:solidFill>
                  <a:srgbClr val="CBD3F0"/>
                </a:solidFill>
                <a:latin typeface="Courier New"/>
              </a:rPr>
              <a:t>spec:</a:t>
            </a:r>
          </a:p>
          <a:p>
            <a:r>
              <a:rPr sz="1100">
                <a:solidFill>
                  <a:srgbClr val="CBD3F0"/>
                </a:solidFill>
                <a:latin typeface="Courier New"/>
              </a:rPr>
              <a:t>  ingressClassName: nginx</a:t>
            </a:r>
          </a:p>
          <a:p>
            <a:r>
              <a:rPr sz="1100">
                <a:solidFill>
                  <a:srgbClr val="CBD3F0"/>
                </a:solidFill>
                <a:latin typeface="Courier New"/>
              </a:rPr>
              <a:t>  rules:</a:t>
            </a:r>
          </a:p>
          <a:p>
            <a:r>
              <a:rPr sz="1100">
                <a:solidFill>
                  <a:srgbClr val="CBD3F0"/>
                </a:solidFill>
                <a:latin typeface="Courier New"/>
              </a:rPr>
              <a:t>  - http:</a:t>
            </a:r>
          </a:p>
          <a:p>
            <a:r>
              <a:rPr sz="1100">
                <a:solidFill>
                  <a:srgbClr val="CBD3F0"/>
                </a:solidFill>
                <a:latin typeface="Courier New"/>
              </a:rPr>
              <a:t>      paths:</a:t>
            </a:r>
          </a:p>
          <a:p>
            <a:r>
              <a:rPr sz="1100">
                <a:solidFill>
                  <a:srgbClr val="F9E2AF"/>
                </a:solidFill>
                <a:latin typeface="Courier New"/>
              </a:rPr>
              <a:t>      - path: /auth(/|$)(.*)</a:t>
            </a:r>
          </a:p>
          <a:p>
            <a:r>
              <a:rPr sz="1100">
                <a:solidFill>
                  <a:srgbClr val="CBD3F0"/>
                </a:solidFill>
                <a:latin typeface="Courier New"/>
              </a:rPr>
              <a:t>        pathType: ImplementationSpecific</a:t>
            </a:r>
          </a:p>
          <a:p>
            <a:r>
              <a:rPr sz="1100">
                <a:solidFill>
                  <a:srgbClr val="CBD3F0"/>
                </a:solidFill>
                <a:latin typeface="Courier New"/>
              </a:rPr>
              <a:t>        backend:</a:t>
            </a:r>
          </a:p>
          <a:p>
            <a:r>
              <a:rPr sz="1100">
                <a:solidFill>
                  <a:srgbClr val="CBD3F0"/>
                </a:solidFill>
                <a:latin typeface="Courier New"/>
              </a:rPr>
              <a:t>          service: {name: auth-service, port: 8080}</a:t>
            </a:r>
          </a:p>
          <a:p>
            <a:r>
              <a:rPr sz="1100">
                <a:solidFill>
                  <a:srgbClr val="F9E2AF"/>
                </a:solidFill>
                <a:latin typeface="Courier New"/>
              </a:rPr>
              <a:t>      - path: /api(/|$)(.*)</a:t>
            </a:r>
          </a:p>
          <a:p>
            <a:r>
              <a:rPr sz="1100">
                <a:solidFill>
                  <a:srgbClr val="CBD3F0"/>
                </a:solidFill>
                <a:latin typeface="Courier New"/>
              </a:rPr>
              <a:t>        pathType: ImplementationSpecific</a:t>
            </a:r>
          </a:p>
          <a:p>
            <a:r>
              <a:rPr sz="1100">
                <a:solidFill>
                  <a:srgbClr val="CBD3F0"/>
                </a:solidFill>
                <a:latin typeface="Courier New"/>
              </a:rPr>
              <a:t>        backend:</a:t>
            </a:r>
          </a:p>
          <a:p>
            <a:r>
              <a:rPr sz="1100">
                <a:solidFill>
                  <a:srgbClr val="CBD3F0"/>
                </a:solidFill>
                <a:latin typeface="Courier New"/>
              </a:rPr>
              <a:t>          service: {name: api-service, port: 8080}</a:t>
            </a:r>
          </a:p>
        </p:txBody>
      </p:sp>
      <p:sp>
        <p:nvSpPr>
          <p:cNvPr id="6" name="Rectangle 5"/>
          <p:cNvSpPr/>
          <p:nvPr/>
        </p:nvSpPr>
        <p:spPr>
          <a:xfrm>
            <a:off x="365760" y="4526280"/>
            <a:ext cx="2194560" cy="347472"/>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Aspecto</a:t>
            </a:r>
          </a:p>
        </p:txBody>
      </p:sp>
      <p:sp>
        <p:nvSpPr>
          <p:cNvPr id="7" name="Rectangle 6"/>
          <p:cNvSpPr/>
          <p:nvPr/>
        </p:nvSpPr>
        <p:spPr>
          <a:xfrm>
            <a:off x="2606040" y="4526280"/>
            <a:ext cx="201168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Exp01 (sintetico)</a:t>
            </a:r>
          </a:p>
        </p:txBody>
      </p:sp>
      <p:sp>
        <p:nvSpPr>
          <p:cNvPr id="8" name="Rectangle 7"/>
          <p:cNvSpPr/>
          <p:nvPr/>
        </p:nvSpPr>
        <p:spPr>
          <a:xfrm>
            <a:off x="4663440" y="4526280"/>
            <a:ext cx="2011680" cy="347472"/>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07-c1 (realista)</a:t>
            </a:r>
          </a:p>
        </p:txBody>
      </p:sp>
      <p:sp>
        <p:nvSpPr>
          <p:cNvPr id="9" name="Rectangle 8"/>
          <p:cNvSpPr/>
          <p:nvPr/>
        </p:nvSpPr>
        <p:spPr>
          <a:xfrm>
            <a:off x="365760" y="4873752"/>
            <a:ext cx="2194560" cy="41148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1F497D"/>
                </a:solidFill>
                <a:latin typeface="Courier New"/>
              </a:rPr>
              <a:t>namespace</a:t>
            </a:r>
          </a:p>
        </p:txBody>
      </p:sp>
      <p:sp>
        <p:nvSpPr>
          <p:cNvPr id="10" name="Rectangle 9"/>
          <p:cNvSpPr/>
          <p:nvPr/>
        </p:nvSpPr>
        <p:spPr>
          <a:xfrm>
            <a:off x="2606040" y="4873752"/>
            <a:ext cx="2011680" cy="41148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default</a:t>
            </a:r>
          </a:p>
        </p:txBody>
      </p:sp>
      <p:sp>
        <p:nvSpPr>
          <p:cNvPr id="11" name="Rectangle 10"/>
          <p:cNvSpPr/>
          <p:nvPr/>
        </p:nvSpPr>
        <p:spPr>
          <a:xfrm>
            <a:off x="4663440" y="4873752"/>
            <a:ext cx="2011680" cy="41148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realistic</a:t>
            </a:r>
          </a:p>
        </p:txBody>
      </p:sp>
      <p:sp>
        <p:nvSpPr>
          <p:cNvPr id="12" name="Rectangle 11"/>
          <p:cNvSpPr/>
          <p:nvPr/>
        </p:nvSpPr>
        <p:spPr>
          <a:xfrm>
            <a:off x="365760" y="5285232"/>
            <a:ext cx="2194560" cy="41148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1F497D"/>
                </a:solidFill>
                <a:latin typeface="Courier New"/>
              </a:rPr>
              <a:t>rutas</a:t>
            </a:r>
          </a:p>
        </p:txBody>
      </p:sp>
      <p:sp>
        <p:nvSpPr>
          <p:cNvPr id="13" name="Rectangle 12"/>
          <p:cNvSpPr/>
          <p:nvPr/>
        </p:nvSpPr>
        <p:spPr>
          <a:xfrm>
            <a:off x="2606040" y="5285232"/>
            <a:ext cx="2011680" cy="41148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 → s0</a:t>
            </a:r>
          </a:p>
        </p:txBody>
      </p:sp>
      <p:sp>
        <p:nvSpPr>
          <p:cNvPr id="14" name="Rectangle 13"/>
          <p:cNvSpPr/>
          <p:nvPr/>
        </p:nvSpPr>
        <p:spPr>
          <a:xfrm>
            <a:off x="4663440" y="5285232"/>
            <a:ext cx="2011680" cy="41148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/auth → auth-svc
/api  → api-svc</a:t>
            </a:r>
          </a:p>
        </p:txBody>
      </p:sp>
      <p:sp>
        <p:nvSpPr>
          <p:cNvPr id="15" name="Rectangle 14"/>
          <p:cNvSpPr/>
          <p:nvPr/>
        </p:nvSpPr>
        <p:spPr>
          <a:xfrm>
            <a:off x="365760" y="5696712"/>
            <a:ext cx="2194560" cy="41148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1F497D"/>
                </a:solidFill>
                <a:latin typeface="Courier New"/>
              </a:rPr>
              <a:t>pathType</a:t>
            </a:r>
          </a:p>
        </p:txBody>
      </p:sp>
      <p:sp>
        <p:nvSpPr>
          <p:cNvPr id="16" name="Rectangle 15"/>
          <p:cNvSpPr/>
          <p:nvPr/>
        </p:nvSpPr>
        <p:spPr>
          <a:xfrm>
            <a:off x="2606040" y="5696712"/>
            <a:ext cx="2011680" cy="41148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Prefix</a:t>
            </a:r>
          </a:p>
        </p:txBody>
      </p:sp>
      <p:sp>
        <p:nvSpPr>
          <p:cNvPr id="17" name="Rectangle 16"/>
          <p:cNvSpPr/>
          <p:nvPr/>
        </p:nvSpPr>
        <p:spPr>
          <a:xfrm>
            <a:off x="4663440" y="5696712"/>
            <a:ext cx="2011680" cy="41148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ImplementationSpecific</a:t>
            </a:r>
          </a:p>
        </p:txBody>
      </p:sp>
      <p:sp>
        <p:nvSpPr>
          <p:cNvPr id="18" name="Rectangle 17"/>
          <p:cNvSpPr/>
          <p:nvPr/>
        </p:nvSpPr>
        <p:spPr>
          <a:xfrm>
            <a:off x="365760" y="6108192"/>
            <a:ext cx="2194560" cy="41148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1F497D"/>
                </a:solidFill>
                <a:latin typeface="Courier New"/>
              </a:rPr>
              <a:t>regex</a:t>
            </a:r>
          </a:p>
        </p:txBody>
      </p:sp>
      <p:sp>
        <p:nvSpPr>
          <p:cNvPr id="19" name="Rectangle 18"/>
          <p:cNvSpPr/>
          <p:nvPr/>
        </p:nvSpPr>
        <p:spPr>
          <a:xfrm>
            <a:off x="2606040" y="6108192"/>
            <a:ext cx="2011680" cy="41148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No</a:t>
            </a:r>
          </a:p>
        </p:txBody>
      </p:sp>
      <p:sp>
        <p:nvSpPr>
          <p:cNvPr id="20" name="Rectangle 19"/>
          <p:cNvSpPr/>
          <p:nvPr/>
        </p:nvSpPr>
        <p:spPr>
          <a:xfrm>
            <a:off x="4663440" y="6108192"/>
            <a:ext cx="2011680" cy="41148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use-regex: true</a:t>
            </a:r>
          </a:p>
        </p:txBody>
      </p:sp>
      <p:sp>
        <p:nvSpPr>
          <p:cNvPr id="21" name="Rectangle 20"/>
          <p:cNvSpPr/>
          <p:nvPr/>
        </p:nvSpPr>
        <p:spPr>
          <a:xfrm>
            <a:off x="365760" y="6519672"/>
            <a:ext cx="2194560" cy="41148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1F497D"/>
                </a:solidFill>
                <a:latin typeface="Courier New"/>
              </a:rPr>
              <a:t>rewrite-target</a:t>
            </a:r>
          </a:p>
        </p:txBody>
      </p:sp>
      <p:sp>
        <p:nvSpPr>
          <p:cNvPr id="22" name="Rectangle 21"/>
          <p:cNvSpPr/>
          <p:nvPr/>
        </p:nvSpPr>
        <p:spPr>
          <a:xfrm>
            <a:off x="2606040" y="6519672"/>
            <a:ext cx="2011680" cy="41148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No</a:t>
            </a:r>
          </a:p>
        </p:txBody>
      </p:sp>
      <p:sp>
        <p:nvSpPr>
          <p:cNvPr id="23" name="Rectangle 22"/>
          <p:cNvSpPr/>
          <p:nvPr/>
        </p:nvSpPr>
        <p:spPr>
          <a:xfrm>
            <a:off x="4663440" y="6519672"/>
            <a:ext cx="2011680" cy="41148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/$2 (strip prefix)</a:t>
            </a:r>
          </a:p>
        </p:txBody>
      </p:sp>
      <p:sp>
        <p:nvSpPr>
          <p:cNvPr id="24" name="Rectangle 23"/>
          <p:cNvSpPr/>
          <p:nvPr/>
        </p:nvSpPr>
        <p:spPr>
          <a:xfrm>
            <a:off x="365760" y="6931152"/>
            <a:ext cx="2194560" cy="41148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1F497D"/>
                </a:solidFill>
                <a:latin typeface="Courier New"/>
              </a:rPr>
              <a:t>rate-limit</a:t>
            </a:r>
          </a:p>
        </p:txBody>
      </p:sp>
      <p:sp>
        <p:nvSpPr>
          <p:cNvPr id="25" name="Rectangle 24"/>
          <p:cNvSpPr/>
          <p:nvPr/>
        </p:nvSpPr>
        <p:spPr>
          <a:xfrm>
            <a:off x="2606040" y="6931152"/>
            <a:ext cx="2011680" cy="41148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limit-rps: 100</a:t>
            </a:r>
          </a:p>
        </p:txBody>
      </p:sp>
      <p:sp>
        <p:nvSpPr>
          <p:cNvPr id="26" name="Rectangle 25"/>
          <p:cNvSpPr/>
          <p:nvPr/>
        </p:nvSpPr>
        <p:spPr>
          <a:xfrm>
            <a:off x="4663440" y="6931152"/>
            <a:ext cx="2011680" cy="41148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No (en Kong)</a:t>
            </a:r>
          </a:p>
        </p:txBody>
      </p:sp>
      <p:sp>
        <p:nvSpPr>
          <p:cNvPr id="27" name="Rectangle 26"/>
          <p:cNvSpPr/>
          <p:nvPr/>
        </p:nvSpPr>
        <p:spPr>
          <a:xfrm>
            <a:off x="365760" y="7342632"/>
            <a:ext cx="2194560" cy="41148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1F497D"/>
                </a:solidFill>
                <a:latin typeface="Courier New"/>
              </a:rPr>
              <a:t>X-Gateway hdr</a:t>
            </a:r>
          </a:p>
        </p:txBody>
      </p:sp>
      <p:sp>
        <p:nvSpPr>
          <p:cNvPr id="28" name="Rectangle 27"/>
          <p:cNvSpPr/>
          <p:nvPr/>
        </p:nvSpPr>
        <p:spPr>
          <a:xfrm>
            <a:off x="2606040" y="7342632"/>
            <a:ext cx="2011680" cy="41148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configuration-snippet</a:t>
            </a:r>
          </a:p>
        </p:txBody>
      </p:sp>
      <p:sp>
        <p:nvSpPr>
          <p:cNvPr id="29" name="Rectangle 28"/>
          <p:cNvSpPr/>
          <p:nvPr/>
        </p:nvSpPr>
        <p:spPr>
          <a:xfrm>
            <a:off x="4663440" y="7342632"/>
            <a:ext cx="2011680" cy="411480"/>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No anotacion</a:t>
            </a:r>
          </a:p>
        </p:txBody>
      </p:sp>
      <p:sp>
        <p:nvSpPr>
          <p:cNvPr id="30" name="Rectangle 29"/>
          <p:cNvSpPr/>
          <p:nvPr/>
        </p:nvSpPr>
        <p:spPr>
          <a:xfrm>
            <a:off x="365760" y="7754112"/>
            <a:ext cx="2194560" cy="41148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1F497D"/>
                </a:solidFill>
                <a:latin typeface="Courier New"/>
              </a:rPr>
              <a:t>Ingress name</a:t>
            </a:r>
          </a:p>
        </p:txBody>
      </p:sp>
      <p:sp>
        <p:nvSpPr>
          <p:cNvPr id="31" name="Rectangle 30"/>
          <p:cNvSpPr/>
          <p:nvPr/>
        </p:nvSpPr>
        <p:spPr>
          <a:xfrm>
            <a:off x="2606040" y="7754112"/>
            <a:ext cx="2011680" cy="41148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s0-ingress</a:t>
            </a:r>
          </a:p>
        </p:txBody>
      </p:sp>
      <p:sp>
        <p:nvSpPr>
          <p:cNvPr id="32" name="Rectangle 31"/>
          <p:cNvSpPr/>
          <p:nvPr/>
        </p:nvSpPr>
        <p:spPr>
          <a:xfrm>
            <a:off x="4663440" y="7754112"/>
            <a:ext cx="2011680" cy="411480"/>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555555"/>
                </a:solidFill>
                <a:latin typeface="Courier New"/>
              </a:rPr>
              <a:t>realistic-gateway</a:t>
            </a:r>
          </a:p>
        </p:txBody>
      </p:sp>
      <p:sp>
        <p:nvSpPr>
          <p:cNvPr id="33" name="Rectangle 32"/>
          <p:cNvSpPr/>
          <p:nvPr/>
        </p:nvSpPr>
        <p:spPr>
          <a:xfrm>
            <a:off x="6949440" y="1143000"/>
            <a:ext cx="2514600" cy="274320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844B4"/>
                </a:solidFill>
                <a:latin typeface="Courier New"/>
              </a:rPr>
              <a:t>use-regex + rewrite-target</a:t>
            </a:r>
          </a:p>
          <a:p>
            <a:r>
              <a:rPr sz="1000">
                <a:solidFill>
                  <a:srgbClr val="555555"/>
                </a:solidFill>
              </a:rPr>
              <a:t>La anotacion rewrite-target: /$2
funciona con el grupo de captura
en el path: /auth(/|$)(.*)
Grupo 1: (/|$) — separador
Grupo 2: (.*) — el resto del path
Ejemplo:
  /auth/login/user → /login/user
  /api/v1/data    → /v1/data
Sin rewrite, el backend recibiria
/auth/login (con el prefijo).</a:t>
            </a:r>
          </a:p>
        </p:txBody>
      </p:sp>
      <p:sp>
        <p:nvSpPr>
          <p:cNvPr id="34" name="Rectangle 33"/>
          <p:cNvSpPr/>
          <p:nvPr/>
        </p:nvSpPr>
        <p:spPr>
          <a:xfrm>
            <a:off x="9601200" y="1143000"/>
            <a:ext cx="2514600" cy="274320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E6B3A"/>
                </a:solidFill>
                <a:latin typeface="Courier New"/>
              </a:rPr>
              <a:t>pathType: ImplementationSpecific</a:t>
            </a:r>
          </a:p>
          <a:p>
            <a:r>
              <a:rPr sz="1000">
                <a:solidFill>
                  <a:srgbClr val="555555"/>
                </a:solidFill>
              </a:rPr>
              <a:t>Necesario cuando se usan regex
en el path (NGINX extension).
Prefix y Exact no soportan regex.
ImplementationSpecific delega la
semantica al Ingress controller.
Con nginx, permite expresiones
regulares completas de PCRE en
el campo path.</a:t>
            </a:r>
          </a:p>
        </p:txBody>
      </p:sp>
      <p:sp>
        <p:nvSpPr>
          <p:cNvPr id="35" name="Rectangle 34"/>
          <p:cNvSpPr/>
          <p:nvPr/>
        </p:nvSpPr>
        <p:spPr>
          <a:xfrm>
            <a:off x="6949440" y="4069080"/>
            <a:ext cx="2514600" cy="274320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C0392B"/>
                </a:solidFill>
                <a:latin typeface="Courier New"/>
              </a:rPr>
              <a:t>Distribucion de responsabilidades</a:t>
            </a:r>
          </a:p>
          <a:p>
            <a:r>
              <a:rPr sz="1000">
                <a:solidFill>
                  <a:srgbClr val="555555"/>
                </a:solidFill>
              </a:rPr>
              <a:t>En el escenario C1 realista:
NGINX (07-c1-ingress):
  → routing por path
  → strip de prefijo URL
  → punto de entrada externo
Kong (configure_kong_realistic_routes):
  → rate limiting global
  → headers X-Gateway
  → metricas Prometheus
Son alternativas, no compuestos.</a:t>
            </a:r>
          </a:p>
        </p:txBody>
      </p:sp>
      <p:sp>
        <p:nvSpPr>
          <p:cNvPr id="36" name="Rectangle 35"/>
          <p:cNvSpPr/>
          <p:nvPr/>
        </p:nvSpPr>
        <p:spPr>
          <a:xfrm>
            <a:off x="9601200" y="4069080"/>
            <a:ext cx="2514600" cy="274320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E75B6"/>
                </a:solidFill>
                <a:latin typeface="Courier New"/>
              </a:rPr>
              <a:t>namespace: realistic</a:t>
            </a:r>
          </a:p>
          <a:p>
            <a:r>
              <a:rPr sz="1000">
                <a:solidFill>
                  <a:srgbClr val="555555"/>
                </a:solidFill>
              </a:rPr>
              <a:t>Los servicios realistas corren en
namespace 'realistic' (no 'default').
El Ingress esta en ese mismo namespace
para poder referenciar los Services
por nombre (auth-service, api-service).
Kong en cambio usa URLs completas
con namespace:
  auth-service.realistic.svc.cluster.local
y puede estar en otro namespace.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Experiments / 01 — API Gateway</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Mide el overhead de latencia de Kong y NGINX frente a acceso directo (Baseline)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Experimento 01 — API Gateway Comparison</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Mide el overhead de latencia introducido por Kong y NGINX frente a acceso directo (Baseline)</a:t>
            </a:r>
          </a:p>
        </p:txBody>
      </p:sp>
      <p:sp>
        <p:nvSpPr>
          <p:cNvPr id="5" name="Rectangle 4"/>
          <p:cNvSpPr/>
          <p:nvPr/>
        </p:nvSpPr>
        <p:spPr>
          <a:xfrm>
            <a:off x="274320" y="1143000"/>
            <a:ext cx="3749039" cy="365760"/>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Baseline</a:t>
            </a:r>
          </a:p>
        </p:txBody>
      </p:sp>
      <p:sp>
        <p:nvSpPr>
          <p:cNvPr id="6" name="Rectangle 5"/>
          <p:cNvSpPr/>
          <p:nvPr/>
        </p:nvSpPr>
        <p:spPr>
          <a:xfrm>
            <a:off x="274320" y="1508760"/>
            <a:ext cx="3749039" cy="228600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555555"/>
                </a:solidFill>
                <a:latin typeface="Courier New"/>
              </a:rPr>
              <a:t>Servicio s0 expuesto directamente
via NodePort :30080 (deploy-baseline.sh)
Sin autenticacion ni plugins.
Referencia de latencia minima.
run-exp01.sh: port-forward svc/s0 :30100</a:t>
            </a:r>
          </a:p>
        </p:txBody>
      </p:sp>
      <p:sp>
        <p:nvSpPr>
          <p:cNvPr id="7" name="Rectangle 6"/>
          <p:cNvSpPr/>
          <p:nvPr/>
        </p:nvSpPr>
        <p:spPr>
          <a:xfrm>
            <a:off x="4251959" y="1143000"/>
            <a:ext cx="3749039" cy="3657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NGINX Ingress</a:t>
            </a:r>
          </a:p>
        </p:txBody>
      </p:sp>
      <p:sp>
        <p:nvSpPr>
          <p:cNvPr id="8" name="Rectangle 7"/>
          <p:cNvSpPr/>
          <p:nvPr/>
        </p:nvSpPr>
        <p:spPr>
          <a:xfrm>
            <a:off x="4251959" y="1508760"/>
            <a:ext cx="3749039" cy="228600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555555"/>
                </a:solidFill>
                <a:latin typeface="Courier New"/>
              </a:rPr>
              <a:t>microk8s enable ingress
nginx/install-nginx.sh → patch NodePort :30080
nginx/ingress-s0.yaml → annotations:
  limit-rps: 100   (rate limiting)
  add_header X-Gateway: NGINX
  proxy timeouts 60s</a:t>
            </a:r>
          </a:p>
        </p:txBody>
      </p:sp>
      <p:sp>
        <p:nvSpPr>
          <p:cNvPr id="9" name="Rectangle 8"/>
          <p:cNvSpPr/>
          <p:nvPr/>
        </p:nvSpPr>
        <p:spPr>
          <a:xfrm>
            <a:off x="8229598" y="1143000"/>
            <a:ext cx="3749039" cy="365760"/>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Kong Gateway</a:t>
            </a:r>
          </a:p>
        </p:txBody>
      </p:sp>
      <p:sp>
        <p:nvSpPr>
          <p:cNvPr id="10" name="Rectangle 9"/>
          <p:cNvSpPr/>
          <p:nvPr/>
        </p:nvSpPr>
        <p:spPr>
          <a:xfrm>
            <a:off x="8229598" y="1508760"/>
            <a:ext cx="3749039" cy="228600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555555"/>
                </a:solidFill>
                <a:latin typeface="Courier New"/>
              </a:rPr>
              <a:t>helm install kong/kong (2 replicas + PostgreSQL)
kong/install-kong.sh → NodePort :30082
Modo declarativo: kong-dbless.yaml
Plugins: rate-limiting (6000/min) +
  prometheus + request-transformer
Admin API en :30081</a:t>
            </a:r>
          </a:p>
        </p:txBody>
      </p:sp>
      <p:sp>
        <p:nvSpPr>
          <p:cNvPr id="11" name="Rectangle 10"/>
          <p:cNvSpPr/>
          <p:nvPr/>
        </p:nvSpPr>
        <p:spPr>
          <a:xfrm>
            <a:off x="274320" y="3931920"/>
            <a:ext cx="11612880" cy="7772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9E2AF"/>
                </a:solidFill>
                <a:latin typeface="Courier New"/>
              </a:rPr>
              <a:t>experiments/01-api-gateway/</a:t>
            </a:r>
          </a:p>
          <a:p>
            <a:r>
              <a:rPr sz="1000">
                <a:solidFill>
                  <a:srgbClr val="2E75B6"/>
                </a:solidFill>
                <a:latin typeface="Courier New"/>
              </a:rPr>
              <a:t>baseline/deploy-baseline.sh   nginx/install-nginx.sh  nginx/ingress-s0.yaml   kong/install-kong.sh  kong/configure-kong.sh  kong/kong-dbless.yaml  tests/baseline.js  tests/test-nginx.js  tests/test-kong.js   run-exp01.sh   analyze-comparison.py  analyze-gateway-overhead.py  analyze-baseline-only.py</a:t>
            </a:r>
          </a:p>
        </p:txBody>
      </p:sp>
      <p:sp>
        <p:nvSpPr>
          <p:cNvPr id="12" name="Rectangle 11"/>
          <p:cNvSpPr/>
          <p:nvPr/>
        </p:nvSpPr>
        <p:spPr>
          <a:xfrm>
            <a:off x="274320" y="4892040"/>
            <a:ext cx="11612880" cy="1783080"/>
          </a:xfrm>
          <a:prstGeom prst="rect">
            <a:avLst/>
          </a:prstGeom>
          <a:solidFill>
            <a:srgbClr val="E8F0FE"/>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E75B6"/>
                </a:solidFill>
              </a:rPr>
              <a:t>run-exp01.sh — orquestacion completa del experimento</a:t>
            </a:r>
          </a:p>
          <a:p>
            <a:r>
              <a:rPr sz="1100">
                <a:solidFill>
                  <a:srgbClr val="1F497D"/>
                </a:solidFill>
                <a:latin typeface="Courier New"/>
              </a:rPr>
              <a:t>VUS_LIST="5 10 20"  REPS=3  DURATION=60s  →  [Baseline] kubectl port-forward svc/s0 :30100 → k6 run baseline.js (3 reps × 3 VUS = 9 ejecuciones)  →  [NGINX] k6 run test-nginx.js @:30080  →  [Kong] k6 run test-kong.js @:30082  →  cada corrida: --out json=results/...json + sleep 10s entre ejecuciones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baseline/deploy-baseline.sh — Acceso directo sin gateway</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Expone s0 como NodePort y verifica conectividad con curl</a:t>
            </a:r>
          </a:p>
        </p:txBody>
      </p:sp>
      <p:sp>
        <p:nvSpPr>
          <p:cNvPr id="5" name="Rectangle 4"/>
          <p:cNvSpPr/>
          <p:nvPr/>
        </p:nvSpPr>
        <p:spPr>
          <a:xfrm>
            <a:off x="365760" y="1143000"/>
            <a:ext cx="576072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#!/bin/bash</a:t>
            </a:r>
          </a:p>
          <a:p>
            <a:r>
              <a:rPr sz="1100">
                <a:solidFill>
                  <a:srgbClr val="CBD3F0"/>
                </a:solidFill>
                <a:latin typeface="Courier New"/>
              </a:rPr>
              <a:t>set -e</a:t>
            </a:r>
          </a:p>
          <a:p>
            <a:r>
              <a:rPr sz="1100">
                <a:solidFill>
                  <a:srgbClr val="CBD3F0"/>
                </a:solidFill>
                <a:latin typeface="Courier New"/>
              </a:rPr>
              <a:t/>
            </a:r>
          </a:p>
          <a:p>
            <a:r>
              <a:rPr sz="1100">
                <a:solidFill>
                  <a:srgbClr val="CBD3F0"/>
                </a:solidFill>
                <a:latin typeface="Courier New"/>
              </a:rPr>
              <a:t># 1. Verificar que s0 ya existe (lo despliega quick_deploy)</a:t>
            </a:r>
          </a:p>
          <a:p>
            <a:r>
              <a:rPr sz="1100">
                <a:solidFill>
                  <a:srgbClr val="F9E2AF"/>
                </a:solidFill>
                <a:latin typeface="Courier New"/>
              </a:rPr>
              <a:t>if ! microk8s kubectl get pods -l app=s0 | grep -q Running</a:t>
            </a:r>
          </a:p>
          <a:p>
            <a:r>
              <a:rPr sz="1100">
                <a:solidFill>
                  <a:srgbClr val="CBD3F0"/>
                </a:solidFill>
                <a:latin typeface="Courier New"/>
              </a:rPr>
              <a:t>  echo 'Desplegar primero: ./scripts/quick_deploy_services.sh http'</a:t>
            </a:r>
          </a:p>
          <a:p>
            <a:r>
              <a:rPr sz="1100">
                <a:solidFill>
                  <a:srgbClr val="CBD3F0"/>
                </a:solidFill>
                <a:latin typeface="Courier New"/>
              </a:rPr>
              <a:t>  exit 1</a:t>
            </a:r>
          </a:p>
          <a:p>
            <a:r>
              <a:rPr sz="1100">
                <a:solidFill>
                  <a:srgbClr val="CBD3F0"/>
                </a:solidFill>
                <a:latin typeface="Courier New"/>
              </a:rPr>
              <a:t>fi</a:t>
            </a:r>
          </a:p>
          <a:p>
            <a:r>
              <a:rPr sz="1100">
                <a:solidFill>
                  <a:srgbClr val="CBD3F0"/>
                </a:solidFill>
                <a:latin typeface="Courier New"/>
              </a:rPr>
              <a:t/>
            </a:r>
          </a:p>
          <a:p>
            <a:r>
              <a:rPr sz="1100">
                <a:solidFill>
                  <a:srgbClr val="CBD3F0"/>
                </a:solidFill>
                <a:latin typeface="Courier New"/>
              </a:rPr>
              <a:t># 2. Cambiar Service s0 a NodePort via here-doc inline</a:t>
            </a:r>
          </a:p>
          <a:p>
            <a:r>
              <a:rPr sz="1100">
                <a:solidFill>
                  <a:srgbClr val="F9E2AF"/>
                </a:solidFill>
                <a:latin typeface="Courier New"/>
              </a:rPr>
              <a:t>cat &lt;&lt;EOF | microk8s kubectl apply -f -</a:t>
            </a:r>
          </a:p>
          <a:p>
            <a:r>
              <a:rPr sz="1100">
                <a:solidFill>
                  <a:srgbClr val="CBD3F0"/>
                </a:solidFill>
                <a:latin typeface="Courier New"/>
              </a:rPr>
              <a:t>apiVersion: v1</a:t>
            </a:r>
          </a:p>
          <a:p>
            <a:r>
              <a:rPr sz="1100">
                <a:solidFill>
                  <a:srgbClr val="CBD3F0"/>
                </a:solidFill>
                <a:latin typeface="Courier New"/>
              </a:rPr>
              <a:t>kind: Service</a:t>
            </a:r>
          </a:p>
          <a:p>
            <a:r>
              <a:rPr sz="1100">
                <a:solidFill>
                  <a:srgbClr val="CBD3F0"/>
                </a:solidFill>
                <a:latin typeface="Courier New"/>
              </a:rPr>
              <a:t>metadata:</a:t>
            </a:r>
          </a:p>
          <a:p>
            <a:r>
              <a:rPr sz="1100">
                <a:solidFill>
                  <a:srgbClr val="CBD3F0"/>
                </a:solidFill>
                <a:latin typeface="Courier New"/>
              </a:rPr>
              <a:t>  name: s0</a:t>
            </a:r>
          </a:p>
          <a:p>
            <a:r>
              <a:rPr sz="1100">
                <a:solidFill>
                  <a:srgbClr val="CBD3F0"/>
                </a:solidFill>
                <a:latin typeface="Courier New"/>
              </a:rPr>
              <a:t>  namespace: default</a:t>
            </a:r>
          </a:p>
          <a:p>
            <a:r>
              <a:rPr sz="1100">
                <a:solidFill>
                  <a:srgbClr val="CBD3F0"/>
                </a:solidFill>
                <a:latin typeface="Courier New"/>
              </a:rPr>
              <a:t>spec:</a:t>
            </a:r>
          </a:p>
          <a:p>
            <a:r>
              <a:rPr sz="1100">
                <a:solidFill>
                  <a:srgbClr val="CBD3F0"/>
                </a:solidFill>
                <a:latin typeface="Courier New"/>
              </a:rPr>
              <a:t>  type: NodePort</a:t>
            </a:r>
          </a:p>
          <a:p>
            <a:r>
              <a:rPr sz="1100">
                <a:solidFill>
                  <a:srgbClr val="CBD3F0"/>
                </a:solidFill>
                <a:latin typeface="Courier New"/>
              </a:rPr>
              <a:t>  ports:</a:t>
            </a:r>
          </a:p>
          <a:p>
            <a:r>
              <a:rPr sz="1100">
                <a:solidFill>
                  <a:srgbClr val="CBD3F0"/>
                </a:solidFill>
                <a:latin typeface="Courier New"/>
              </a:rPr>
              <a:t>  - port: 80</a:t>
            </a:r>
          </a:p>
          <a:p>
            <a:r>
              <a:rPr sz="1100">
                <a:solidFill>
                  <a:srgbClr val="CBD3F0"/>
                </a:solidFill>
                <a:latin typeface="Courier New"/>
              </a:rPr>
              <a:t>    targetPort: 8080</a:t>
            </a:r>
          </a:p>
          <a:p>
            <a:r>
              <a:rPr sz="1100">
                <a:solidFill>
                  <a:srgbClr val="CBD3F0"/>
                </a:solidFill>
                <a:latin typeface="Courier New"/>
              </a:rPr>
              <a:t>    nodePort: 30080</a:t>
            </a:r>
          </a:p>
          <a:p>
            <a:r>
              <a:rPr sz="1100">
                <a:solidFill>
                  <a:srgbClr val="CBD3F0"/>
                </a:solidFill>
                <a:latin typeface="Courier New"/>
              </a:rPr>
              <a:t>EOF</a:t>
            </a:r>
          </a:p>
          <a:p>
            <a:r>
              <a:rPr sz="1100">
                <a:solidFill>
                  <a:srgbClr val="CBD3F0"/>
                </a:solidFill>
                <a:latin typeface="Courier New"/>
              </a:rPr>
              <a:t/>
            </a:r>
          </a:p>
          <a:p>
            <a:r>
              <a:rPr sz="1100">
                <a:solidFill>
                  <a:srgbClr val="F9E2AF"/>
                </a:solidFill>
                <a:latin typeface="Courier New"/>
              </a:rPr>
              <a:t># 3. Esperar readiness del pod</a:t>
            </a:r>
          </a:p>
          <a:p>
            <a:r>
              <a:rPr sz="1100">
                <a:solidFill>
                  <a:srgbClr val="CBD3F0"/>
                </a:solidFill>
                <a:latin typeface="Courier New"/>
              </a:rPr>
              <a:t>microk8s kubectl wait --for=condition=ready \</a:t>
            </a:r>
          </a:p>
          <a:p>
            <a:r>
              <a:rPr sz="1100">
                <a:solidFill>
                  <a:srgbClr val="CBD3F0"/>
                </a:solidFill>
                <a:latin typeface="Courier New"/>
              </a:rPr>
              <a:t>  pod -l app=s0 --timeout=60s</a:t>
            </a:r>
          </a:p>
          <a:p>
            <a:r>
              <a:rPr sz="1100">
                <a:solidFill>
                  <a:srgbClr val="CBD3F0"/>
                </a:solidFill>
                <a:latin typeface="Courier New"/>
              </a:rPr>
              <a:t/>
            </a:r>
          </a:p>
          <a:p>
            <a:r>
              <a:rPr sz="1100">
                <a:solidFill>
                  <a:srgbClr val="F9E2AF"/>
                </a:solidFill>
                <a:latin typeface="Courier New"/>
              </a:rPr>
              <a:t># 4. Test de conectividad con curl</a:t>
            </a:r>
          </a:p>
          <a:p>
            <a:r>
              <a:rPr sz="1100">
                <a:solidFill>
                  <a:srgbClr val="CBD3F0"/>
                </a:solidFill>
                <a:latin typeface="Courier New"/>
              </a:rPr>
              <a:t>if curl -s -X POST http://localhost:30080/process \</a:t>
            </a:r>
          </a:p>
          <a:p>
            <a:r>
              <a:rPr sz="1100">
                <a:solidFill>
                  <a:srgbClr val="CBD3F0"/>
                </a:solidFill>
                <a:latin typeface="Courier New"/>
              </a:rPr>
              <a:t>  -d '{}' | grep -q 'status':'ok'</a:t>
            </a:r>
          </a:p>
          <a:p>
            <a:r>
              <a:rPr sz="1100">
                <a:solidFill>
                  <a:srgbClr val="CBD3F0"/>
                </a:solidFill>
                <a:latin typeface="Courier New"/>
              </a:rPr>
              <a:t>  echo 'Baseline desplegado correctamente'</a:t>
            </a:r>
          </a:p>
          <a:p>
            <a:r>
              <a:rPr sz="1100">
                <a:solidFill>
                  <a:srgbClr val="CBD3F0"/>
                </a:solidFill>
                <a:latin typeface="Courier New"/>
              </a:rPr>
              <a:t>fi</a:t>
            </a:r>
          </a:p>
        </p:txBody>
      </p:sp>
      <p:sp>
        <p:nvSpPr>
          <p:cNvPr id="6" name="Rectangle 5"/>
          <p:cNvSpPr/>
          <p:nvPr/>
        </p:nvSpPr>
        <p:spPr>
          <a:xfrm>
            <a:off x="6309360" y="1143000"/>
            <a:ext cx="2788920" cy="25603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NodePort vs ClusterIP</a:t>
            </a:r>
          </a:p>
          <a:p>
            <a:r>
              <a:rPr sz="1100">
                <a:solidFill>
                  <a:srgbClr val="555555"/>
                </a:solidFill>
              </a:rPr>
              <a:t>Por defecto K8sYamlBuilder genera
Services tipo ClusterIP (solo interno).
deploy-baseline.sh sobreescribe s0
a NodePort 30080 via kubectl apply
(apply es idempotente: parchea si existe).
En run-exp01.sh se usa port-forward
en :30100 (sin modificar el Service).</a:t>
            </a:r>
          </a:p>
        </p:txBody>
      </p:sp>
      <p:sp>
        <p:nvSpPr>
          <p:cNvPr id="7" name="Rectangle 6"/>
          <p:cNvSpPr/>
          <p:nvPr/>
        </p:nvSpPr>
        <p:spPr>
          <a:xfrm>
            <a:off x="9235440" y="1143000"/>
            <a:ext cx="2788920" cy="25603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Prerequisito: quick_deploy</a:t>
            </a:r>
          </a:p>
          <a:p>
            <a:r>
              <a:rPr sz="1100">
                <a:solidFill>
                  <a:srgbClr val="555555"/>
                </a:solidFill>
              </a:rPr>
              <a:t>El baseline NO despliega los servicios.
Asume que quick_deploy_services.sh http
ya corrio y los pods estan Running.
Esto separa responsabilidades:
- quick_deploy → infra de microservicios
- deploy-baseline → exposicion del endpoint
- run-exp01 → carga de trabajo k6</a:t>
            </a:r>
          </a:p>
        </p:txBody>
      </p:sp>
      <p:sp>
        <p:nvSpPr>
          <p:cNvPr id="8" name="Rectangle 7"/>
          <p:cNvSpPr/>
          <p:nvPr/>
        </p:nvSpPr>
        <p:spPr>
          <a:xfrm>
            <a:off x="6309360" y="3886200"/>
            <a:ext cx="2788920" cy="25603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Curl test integrado</a:t>
            </a:r>
          </a:p>
          <a:p>
            <a:r>
              <a:rPr sz="1100">
                <a:solidFill>
                  <a:srgbClr val="555555"/>
                </a:solidFill>
              </a:rPr>
              <a:t>El script valida con curl que el endpoint
responde con status:ok ANTES de reportar
exito (o Warning si falla).
Pattern comun en todos los deploy:
  if curl | grep -q 'campo'
  then echo OK
  else echo Warning (no aborta)
Util para CI: exit code es 0 aunque
curl falle (set -e no actua en subshells).</a:t>
            </a:r>
          </a:p>
        </p:txBody>
      </p:sp>
      <p:sp>
        <p:nvSpPr>
          <p:cNvPr id="9" name="Rectangle 8"/>
          <p:cNvSpPr/>
          <p:nvPr/>
        </p:nvSpPr>
        <p:spPr>
          <a:xfrm>
            <a:off x="9235440" y="3886200"/>
            <a:ext cx="2788920" cy="25603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here-doc inline (&lt;&lt;EOF)</a:t>
            </a:r>
          </a:p>
          <a:p>
            <a:r>
              <a:rPr sz="1100">
                <a:solidFill>
                  <a:srgbClr val="555555"/>
                </a:solidFill>
              </a:rPr>
              <a:t>El YAML se embebe directamente en el script
con here-doc + pipe a kubectl apply.
Ventaja: no requiere archivo .yaml separado
para una configuracion puntual.
Desventaja: el YAML no puede estar en git
con diff granular. Para YAMLs que se
reusan se prefiere archivo separado
(como nginx/ingress-s0.yaml).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nginx/ — NGINX Ingress Controller</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install-nginx.sh habilita el addon microk8s + ingress-s0.yaml configura routing y rate limiting</a:t>
            </a:r>
          </a:p>
        </p:txBody>
      </p:sp>
      <p:sp>
        <p:nvSpPr>
          <p:cNvPr id="5" name="Rectangle 4"/>
          <p:cNvSpPr/>
          <p:nvPr/>
        </p:nvSpPr>
        <p:spPr>
          <a:xfrm>
            <a:off x="365760" y="1143000"/>
            <a:ext cx="5486400" cy="25146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install-nginx.sh</a:t>
            </a:r>
          </a:p>
          <a:p>
            <a:r>
              <a:rPr sz="1100">
                <a:solidFill>
                  <a:srgbClr val="F9E2AF"/>
                </a:solidFill>
                <a:latin typeface="Courier New"/>
              </a:rPr>
              <a:t>microk8s enable ingress        # addon nativo microk8s</a:t>
            </a:r>
          </a:p>
          <a:p>
            <a:r>
              <a:rPr sz="1100">
                <a:solidFill>
                  <a:srgbClr val="CBD3F0"/>
                </a:solidFill>
                <a:latin typeface="Courier New"/>
              </a:rPr>
              <a:t/>
            </a:r>
          </a:p>
          <a:p>
            <a:r>
              <a:rPr sz="1100">
                <a:solidFill>
                  <a:srgbClr val="CBD3F0"/>
                </a:solidFill>
                <a:latin typeface="Courier New"/>
              </a:rPr>
              <a:t>kubectl wait --namespace ingress \</a:t>
            </a:r>
          </a:p>
          <a:p>
            <a:r>
              <a:rPr sz="1100">
                <a:solidFill>
                  <a:srgbClr val="CBD3F0"/>
                </a:solidFill>
                <a:latin typeface="Courier New"/>
              </a:rPr>
              <a:t>  --for=condition=ready pod \</a:t>
            </a:r>
          </a:p>
          <a:p>
            <a:r>
              <a:rPr sz="1100">
                <a:solidFill>
                  <a:srgbClr val="CBD3F0"/>
                </a:solidFill>
                <a:latin typeface="Courier New"/>
              </a:rPr>
              <a:t>  --selector=app.kubernetes.io/name=ingress-nginx</a:t>
            </a:r>
          </a:p>
          <a:p>
            <a:r>
              <a:rPr sz="1100">
                <a:solidFill>
                  <a:srgbClr val="CBD3F0"/>
                </a:solidFill>
                <a:latin typeface="Courier New"/>
              </a:rPr>
              <a:t/>
            </a:r>
          </a:p>
          <a:p>
            <a:r>
              <a:rPr sz="1100">
                <a:solidFill>
                  <a:srgbClr val="CBD3F0"/>
                </a:solidFill>
                <a:latin typeface="Courier New"/>
              </a:rPr>
              <a:t># Patch a NodePort 30080</a:t>
            </a:r>
          </a:p>
          <a:p>
            <a:r>
              <a:rPr sz="1100">
                <a:solidFill>
                  <a:srgbClr val="F9E2AF"/>
                </a:solidFill>
                <a:latin typeface="Courier New"/>
              </a:rPr>
              <a:t>kubectl patch svc ingress-nginx-controller -n ingress \</a:t>
            </a:r>
          </a:p>
          <a:p>
            <a:r>
              <a:rPr sz="1100">
                <a:solidFill>
                  <a:srgbClr val="CBD3F0"/>
                </a:solidFill>
                <a:latin typeface="Courier New"/>
              </a:rPr>
              <a:t>  -p '{"spec":{"type":"NodePort",</a:t>
            </a:r>
          </a:p>
          <a:p>
            <a:r>
              <a:rPr sz="1100">
                <a:solidFill>
                  <a:srgbClr val="CBD3F0"/>
                </a:solidFill>
                <a:latin typeface="Courier New"/>
              </a:rPr>
              <a:t>       "ports":[{"port":80,"nodePort":30080}]}}'</a:t>
            </a:r>
          </a:p>
          <a:p>
            <a:r>
              <a:rPr sz="1100">
                <a:solidFill>
                  <a:srgbClr val="CBD3F0"/>
                </a:solidFill>
                <a:latin typeface="Courier New"/>
              </a:rPr>
              <a:t/>
            </a:r>
          </a:p>
          <a:p>
            <a:r>
              <a:rPr sz="1100">
                <a:solidFill>
                  <a:srgbClr val="CBD3F0"/>
                </a:solidFill>
                <a:latin typeface="Courier New"/>
              </a:rPr>
              <a:t># ConfigMap de configuracion global</a:t>
            </a:r>
          </a:p>
          <a:p>
            <a:r>
              <a:rPr sz="1100">
                <a:solidFill>
                  <a:srgbClr val="F9E2AF"/>
                </a:solidFill>
                <a:latin typeface="Courier New"/>
              </a:rPr>
              <a:t>kubectl apply -f - &lt;&lt;EOF</a:t>
            </a:r>
          </a:p>
          <a:p>
            <a:r>
              <a:rPr sz="1100">
                <a:solidFill>
                  <a:srgbClr val="CBD3F0"/>
                </a:solidFill>
                <a:latin typeface="Courier New"/>
              </a:rPr>
              <a:t>  limit-rate: "100"</a:t>
            </a:r>
          </a:p>
          <a:p>
            <a:r>
              <a:rPr sz="1100">
                <a:solidFill>
                  <a:srgbClr val="CBD3F0"/>
                </a:solidFill>
                <a:latin typeface="Courier New"/>
              </a:rPr>
              <a:t>  worker-processes: "2"</a:t>
            </a:r>
          </a:p>
          <a:p>
            <a:r>
              <a:rPr sz="1100">
                <a:solidFill>
                  <a:srgbClr val="CBD3F0"/>
                </a:solidFill>
                <a:latin typeface="Courier New"/>
              </a:rPr>
              <a:t>  max-worker-connections: "8192"</a:t>
            </a:r>
          </a:p>
        </p:txBody>
      </p:sp>
      <p:sp>
        <p:nvSpPr>
          <p:cNvPr id="6" name="Rectangle 5"/>
          <p:cNvSpPr/>
          <p:nvPr/>
        </p:nvSpPr>
        <p:spPr>
          <a:xfrm>
            <a:off x="365760" y="3840480"/>
            <a:ext cx="5486400" cy="27432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ingress-s0.yaml — annotations clave</a:t>
            </a:r>
          </a:p>
          <a:p>
            <a:r>
              <a:rPr sz="1100">
                <a:solidFill>
                  <a:srgbClr val="CBD3F0"/>
                </a:solidFill>
                <a:latin typeface="Courier New"/>
              </a:rPr>
              <a:t>metadata:</a:t>
            </a:r>
          </a:p>
          <a:p>
            <a:r>
              <a:rPr sz="1100">
                <a:solidFill>
                  <a:srgbClr val="CBD3F0"/>
                </a:solidFill>
                <a:latin typeface="Courier New"/>
              </a:rPr>
              <a:t>  annotations:</a:t>
            </a:r>
          </a:p>
          <a:p>
            <a:r>
              <a:rPr sz="1100">
                <a:solidFill>
                  <a:srgbClr val="F9E2AF"/>
                </a:solidFill>
                <a:latin typeface="Courier New"/>
              </a:rPr>
              <a:t>    nginx.ingress.kubernetes.io/limit-rps: "100"</a:t>
            </a:r>
          </a:p>
          <a:p>
            <a:r>
              <a:rPr sz="1100">
                <a:solidFill>
                  <a:srgbClr val="F9E2AF"/>
                </a:solidFill>
                <a:latin typeface="Courier New"/>
              </a:rPr>
              <a:t>    nginx.ingress.kubernetes.io/limit-burst-multiplier: "5"</a:t>
            </a:r>
          </a:p>
          <a:p>
            <a:r>
              <a:rPr sz="1100">
                <a:solidFill>
                  <a:srgbClr val="F9E2AF"/>
                </a:solidFill>
                <a:latin typeface="Courier New"/>
              </a:rPr>
              <a:t>    nginx.ingress.kubernetes.io/configuration-snippet: |</a:t>
            </a:r>
          </a:p>
          <a:p>
            <a:r>
              <a:rPr sz="1100">
                <a:solidFill>
                  <a:srgbClr val="CBD3F0"/>
                </a:solidFill>
                <a:latin typeface="Courier New"/>
              </a:rPr>
              <a:t>      add_header X-Gateway "NGINX" always;</a:t>
            </a:r>
          </a:p>
          <a:p>
            <a:r>
              <a:rPr sz="1100">
                <a:solidFill>
                  <a:srgbClr val="CBD3F0"/>
                </a:solidFill>
                <a:latin typeface="Courier New"/>
              </a:rPr>
              <a:t>      add_header X-Request-ID $request_id always;</a:t>
            </a:r>
          </a:p>
          <a:p>
            <a:r>
              <a:rPr sz="1100">
                <a:solidFill>
                  <a:srgbClr val="CBD3F0"/>
                </a:solidFill>
                <a:latin typeface="Courier New"/>
              </a:rPr>
              <a:t>    nginx.ingress.kubernetes.io/proxy-connect-timeout: "60"</a:t>
            </a:r>
          </a:p>
          <a:p>
            <a:r>
              <a:rPr sz="1100">
                <a:solidFill>
                  <a:srgbClr val="F9E2AF"/>
                </a:solidFill>
                <a:latin typeface="Courier New"/>
              </a:rPr>
              <a:t>    nginx.ingress.kubernetes.io/proxy-buffer-size: "8k"</a:t>
            </a:r>
          </a:p>
          <a:p>
            <a:r>
              <a:rPr sz="1100">
                <a:solidFill>
                  <a:srgbClr val="CBD3F0"/>
                </a:solidFill>
                <a:latin typeface="Courier New"/>
              </a:rPr>
              <a:t>spec:</a:t>
            </a:r>
          </a:p>
          <a:p>
            <a:r>
              <a:rPr sz="1100">
                <a:solidFill>
                  <a:srgbClr val="CBD3F0"/>
                </a:solidFill>
                <a:latin typeface="Courier New"/>
              </a:rPr>
              <a:t>  ingressClassName: nginx</a:t>
            </a:r>
          </a:p>
          <a:p>
            <a:r>
              <a:rPr sz="1100">
                <a:solidFill>
                  <a:srgbClr val="CBD3F0"/>
                </a:solidFill>
                <a:latin typeface="Courier New"/>
              </a:rPr>
              <a:t>  rules:</a:t>
            </a:r>
          </a:p>
          <a:p>
            <a:r>
              <a:rPr sz="1100">
                <a:solidFill>
                  <a:srgbClr val="CBD3F0"/>
                </a:solidFill>
                <a:latin typeface="Courier New"/>
              </a:rPr>
              <a:t>  - http:</a:t>
            </a:r>
          </a:p>
          <a:p>
            <a:r>
              <a:rPr sz="1100">
                <a:solidFill>
                  <a:srgbClr val="CBD3F0"/>
                </a:solidFill>
                <a:latin typeface="Courier New"/>
              </a:rPr>
              <a:t>      paths:</a:t>
            </a:r>
          </a:p>
          <a:p>
            <a:r>
              <a:rPr sz="1100">
                <a:solidFill>
                  <a:srgbClr val="CBD3F0"/>
                </a:solidFill>
                <a:latin typeface="Courier New"/>
              </a:rPr>
              <a:t>      - path: /</a:t>
            </a:r>
          </a:p>
          <a:p>
            <a:r>
              <a:rPr sz="1100">
                <a:solidFill>
                  <a:srgbClr val="CBD3F0"/>
                </a:solidFill>
                <a:latin typeface="Courier New"/>
              </a:rPr>
              <a:t>        pathType: Prefix</a:t>
            </a:r>
          </a:p>
          <a:p>
            <a:r>
              <a:rPr sz="1100">
                <a:solidFill>
                  <a:srgbClr val="CBD3F0"/>
                </a:solidFill>
                <a:latin typeface="Courier New"/>
              </a:rPr>
              <a:t>        backend:</a:t>
            </a:r>
          </a:p>
          <a:p>
            <a:r>
              <a:rPr sz="1100">
                <a:solidFill>
                  <a:srgbClr val="CBD3F0"/>
                </a:solidFill>
                <a:latin typeface="Courier New"/>
              </a:rPr>
              <a:t>          service: {name: s0, port: 80}</a:t>
            </a:r>
          </a:p>
        </p:txBody>
      </p:sp>
      <p:sp>
        <p:nvSpPr>
          <p:cNvPr id="7" name="Rectangle 6"/>
          <p:cNvSpPr/>
          <p:nvPr/>
        </p:nvSpPr>
        <p:spPr>
          <a:xfrm>
            <a:off x="6035040" y="1143000"/>
            <a:ext cx="2926080" cy="25603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microk8s enable ingress</a:t>
            </a:r>
          </a:p>
          <a:p>
            <a:r>
              <a:rPr sz="1100">
                <a:solidFill>
                  <a:srgbClr val="555555"/>
                </a:solidFill>
              </a:rPr>
              <a:t>El addon ingress de microk8s instala
ingress-nginx como DaemonSet en el
namespace 'ingress'.
No requiere Helm. Es la forma
recomendada para single-node microk8s.
Expone por defecto en :80/:443 del nodo.</a:t>
            </a:r>
          </a:p>
        </p:txBody>
      </p:sp>
      <p:sp>
        <p:nvSpPr>
          <p:cNvPr id="8" name="Rectangle 7"/>
          <p:cNvSpPr/>
          <p:nvPr/>
        </p:nvSpPr>
        <p:spPr>
          <a:xfrm>
            <a:off x="9098280" y="1143000"/>
            <a:ext cx="2926080" cy="25603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Rate limiting en NGINX</a:t>
            </a:r>
          </a:p>
          <a:p>
            <a:r>
              <a:rPr sz="1100">
                <a:solidFill>
                  <a:srgbClr val="555555"/>
                </a:solidFill>
              </a:rPr>
              <a:t>Dos niveles de rate limiting:
1. ConfigMap global:
   limit-rate: 100 (bytes/s, no req/s)
2. Annotation por Ingress:
   limit-rps: 100 (requests/s)
   limit-burst-multiplier: 5
   → burst = 100×5 = 500 req/s
Si se excede: HTTP 503 Service Unavailable
(diferente a Kong que retorna 429).</a:t>
            </a:r>
          </a:p>
        </p:txBody>
      </p:sp>
      <p:sp>
        <p:nvSpPr>
          <p:cNvPr id="9" name="Rectangle 8"/>
          <p:cNvSpPr/>
          <p:nvPr/>
        </p:nvSpPr>
        <p:spPr>
          <a:xfrm>
            <a:off x="6035040" y="3886200"/>
            <a:ext cx="2926080" cy="25603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X-Gateway header</a:t>
            </a:r>
          </a:p>
          <a:p>
            <a:r>
              <a:rPr sz="1100">
                <a:solidFill>
                  <a:srgbClr val="555555"/>
                </a:solidFill>
              </a:rPr>
              <a:t>NGINX agrega header X-Gateway: NGINX
a todas las respuestas via:
configuration-snippet (nginx.conf inline)
test-nginx.js NO verifica este header
(a diferencia de test-kong.js que si
valida X-Kong-Upstream-Latency).
Util para trazabilidad: saber que
gateway proceso la request.</a:t>
            </a:r>
          </a:p>
        </p:txBody>
      </p:sp>
      <p:sp>
        <p:nvSpPr>
          <p:cNvPr id="10" name="Rectangle 9"/>
          <p:cNvSpPr/>
          <p:nvPr/>
        </p:nvSpPr>
        <p:spPr>
          <a:xfrm>
            <a:off x="9098280" y="3886200"/>
            <a:ext cx="2926080" cy="25603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ingressClassName: nginx</a:t>
            </a:r>
          </a:p>
          <a:p>
            <a:r>
              <a:rPr sz="1100">
                <a:solidFill>
                  <a:srgbClr val="555555"/>
                </a:solidFill>
              </a:rPr>
              <a:t>Campo obligatorio en K8s &gt;= 1.18.
Sin el, el Ingress es ignorado por
el controller.
microk8s enable ingress crea
automaticamente el IngressClass 'nginx'.
pathType: Prefix → /process, /health,
etc. todos van al backend s0:80.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kong/ — Instalacion de Kong Gateway</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install-kong.sh via Helm con PostgreSQL + modo declarativo kong-dbless.yaml</a:t>
            </a:r>
          </a:p>
        </p:txBody>
      </p:sp>
      <p:sp>
        <p:nvSpPr>
          <p:cNvPr id="5" name="Rectangle 4"/>
          <p:cNvSpPr/>
          <p:nvPr/>
        </p:nvSpPr>
        <p:spPr>
          <a:xfrm>
            <a:off x="365760" y="1143000"/>
            <a:ext cx="5486400" cy="27432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install-kong.sh</a:t>
            </a:r>
          </a:p>
          <a:p>
            <a:r>
              <a:rPr sz="1100">
                <a:solidFill>
                  <a:srgbClr val="F9E2AF"/>
                </a:solidFill>
                <a:latin typeface="Courier New"/>
              </a:rPr>
              <a:t>helm repo add kong https://charts.konghq.com</a:t>
            </a:r>
          </a:p>
          <a:p>
            <a:r>
              <a:rPr sz="1100">
                <a:solidFill>
                  <a:srgbClr val="CBD3F0"/>
                </a:solidFill>
                <a:latin typeface="Courier New"/>
              </a:rPr>
              <a:t>helm repo update</a:t>
            </a:r>
          </a:p>
          <a:p>
            <a:r>
              <a:rPr sz="1100">
                <a:solidFill>
                  <a:srgbClr val="CBD3F0"/>
                </a:solidFill>
                <a:latin typeface="Courier New"/>
              </a:rPr>
              <a:t/>
            </a:r>
          </a:p>
          <a:p>
            <a:r>
              <a:rPr sz="1100">
                <a:solidFill>
                  <a:srgbClr val="CBD3F0"/>
                </a:solidFill>
                <a:latin typeface="Courier New"/>
              </a:rPr>
              <a:t>kubectl create namespace kong --dry-run=client \</a:t>
            </a:r>
          </a:p>
          <a:p>
            <a:r>
              <a:rPr sz="1100">
                <a:solidFill>
                  <a:srgbClr val="CBD3F0"/>
                </a:solidFill>
                <a:latin typeface="Courier New"/>
              </a:rPr>
              <a:t>  -o yaml | kubectl apply -f -</a:t>
            </a:r>
          </a:p>
          <a:p>
            <a:r>
              <a:rPr sz="1100">
                <a:solidFill>
                  <a:srgbClr val="CBD3F0"/>
                </a:solidFill>
                <a:latin typeface="Courier New"/>
              </a:rPr>
              <a:t/>
            </a:r>
          </a:p>
          <a:p>
            <a:r>
              <a:rPr sz="1100">
                <a:solidFill>
                  <a:srgbClr val="F9E2AF"/>
                </a:solidFill>
                <a:latin typeface="Courier New"/>
              </a:rPr>
              <a:t>helm install kong kong/kong \</a:t>
            </a:r>
          </a:p>
          <a:p>
            <a:r>
              <a:rPr sz="1100">
                <a:solidFill>
                  <a:srgbClr val="CBD3F0"/>
                </a:solidFill>
                <a:latin typeface="Courier New"/>
              </a:rPr>
              <a:t>  --namespace kong \</a:t>
            </a:r>
          </a:p>
          <a:p>
            <a:r>
              <a:rPr sz="1100">
                <a:solidFill>
                  <a:srgbClr val="CBD3F0"/>
                </a:solidFill>
                <a:latin typeface="Courier New"/>
              </a:rPr>
              <a:t>  --values kong-values.yaml \</a:t>
            </a:r>
          </a:p>
          <a:p>
            <a:r>
              <a:rPr sz="1100">
                <a:solidFill>
                  <a:srgbClr val="CBD3F0"/>
                </a:solidFill>
                <a:latin typeface="Courier New"/>
              </a:rPr>
              <a:t>  --wait --timeout 10m</a:t>
            </a:r>
          </a:p>
          <a:p>
            <a:r>
              <a:rPr sz="1100">
                <a:solidFill>
                  <a:srgbClr val="CBD3F0"/>
                </a:solidFill>
                <a:latin typeface="Courier New"/>
              </a:rPr>
              <a:t/>
            </a:r>
          </a:p>
          <a:p>
            <a:r>
              <a:rPr sz="1100">
                <a:solidFill>
                  <a:srgbClr val="CBD3F0"/>
                </a:solidFill>
                <a:latin typeface="Courier New"/>
              </a:rPr>
              <a:t># Obtener NodePort del proxy</a:t>
            </a:r>
          </a:p>
          <a:p>
            <a:r>
              <a:rPr sz="1100">
                <a:solidFill>
                  <a:srgbClr val="F9E2AF"/>
                </a:solidFill>
                <a:latin typeface="Courier New"/>
              </a:rPr>
              <a:t>KONG_PORT=$(kubectl get svc kong-kong-proxy -n kong \</a:t>
            </a:r>
          </a:p>
          <a:p>
            <a:r>
              <a:rPr sz="1100">
                <a:solidFill>
                  <a:srgbClr val="CBD3F0"/>
                </a:solidFill>
                <a:latin typeface="Courier New"/>
              </a:rPr>
              <a:t>  -o jsonpath='{.spec.ports[?(@.name=="kong-proxy")].nodePort}')</a:t>
            </a:r>
          </a:p>
          <a:p>
            <a:r>
              <a:rPr sz="1100">
                <a:solidFill>
                  <a:srgbClr val="CBD3F0"/>
                </a:solidFill>
                <a:latin typeface="Courier New"/>
              </a:rPr>
              <a:t/>
            </a:r>
          </a:p>
          <a:p>
            <a:r>
              <a:rPr sz="1100">
                <a:solidFill>
                  <a:srgbClr val="CBD3F0"/>
                </a:solidFill>
                <a:latin typeface="Courier New"/>
              </a:rPr>
              <a:t># Siguiente paso: ./configure-kong.sh</a:t>
            </a:r>
          </a:p>
        </p:txBody>
      </p:sp>
      <p:sp>
        <p:nvSpPr>
          <p:cNvPr id="6" name="Rectangle 5"/>
          <p:cNvSpPr/>
          <p:nvPr/>
        </p:nvSpPr>
        <p:spPr>
          <a:xfrm>
            <a:off x="365760" y="3977639"/>
            <a:ext cx="5486400" cy="26060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kong-values.yaml (Helm values)</a:t>
            </a:r>
          </a:p>
          <a:p>
            <a:r>
              <a:rPr sz="1100">
                <a:solidFill>
                  <a:srgbClr val="F9E2AF"/>
                </a:solidFill>
                <a:latin typeface="Courier New"/>
              </a:rPr>
              <a:t>replicaCount: 2</a:t>
            </a:r>
          </a:p>
          <a:p>
            <a:r>
              <a:rPr sz="1100">
                <a:solidFill>
                  <a:srgbClr val="CBD3F0"/>
                </a:solidFill>
                <a:latin typeface="Courier New"/>
              </a:rPr>
              <a:t>image:</a:t>
            </a:r>
          </a:p>
          <a:p>
            <a:r>
              <a:rPr sz="1100">
                <a:solidFill>
                  <a:srgbClr val="CBD3F0"/>
                </a:solidFill>
                <a:latin typeface="Courier New"/>
              </a:rPr>
              <a:t>  repository: kong</a:t>
            </a:r>
          </a:p>
          <a:p>
            <a:r>
              <a:rPr sz="1100">
                <a:solidFill>
                  <a:srgbClr val="CBD3F0"/>
                </a:solidFill>
                <a:latin typeface="Courier New"/>
              </a:rPr>
              <a:t>  tag: "3.4"</a:t>
            </a:r>
          </a:p>
          <a:p>
            <a:r>
              <a:rPr sz="1100">
                <a:solidFill>
                  <a:srgbClr val="F9E2AF"/>
                </a:solidFill>
                <a:latin typeface="Courier New"/>
              </a:rPr>
              <a:t>postgresql:</a:t>
            </a:r>
          </a:p>
          <a:p>
            <a:r>
              <a:rPr sz="1100">
                <a:solidFill>
                  <a:srgbClr val="CBD3F0"/>
                </a:solidFill>
                <a:latin typeface="Courier New"/>
              </a:rPr>
              <a:t>  enabled: true</a:t>
            </a:r>
          </a:p>
          <a:p>
            <a:r>
              <a:rPr sz="1100">
                <a:solidFill>
                  <a:srgbClr val="CBD3F0"/>
                </a:solidFill>
                <a:latin typeface="Courier New"/>
              </a:rPr>
              <a:t>  auth: {username: kong, password: kong}</a:t>
            </a:r>
          </a:p>
          <a:p>
            <a:r>
              <a:rPr sz="1100">
                <a:solidFill>
                  <a:srgbClr val="CBD3F0"/>
                </a:solidFill>
                <a:latin typeface="Courier New"/>
              </a:rPr>
              <a:t>resources:</a:t>
            </a:r>
          </a:p>
          <a:p>
            <a:r>
              <a:rPr sz="1100">
                <a:solidFill>
                  <a:srgbClr val="CBD3F0"/>
                </a:solidFill>
                <a:latin typeface="Courier New"/>
              </a:rPr>
              <a:t>  requests: {cpu: 500m, memory: 512Mi}</a:t>
            </a:r>
          </a:p>
          <a:p>
            <a:r>
              <a:rPr sz="1100">
                <a:solidFill>
                  <a:srgbClr val="CBD3F0"/>
                </a:solidFill>
                <a:latin typeface="Courier New"/>
              </a:rPr>
              <a:t>  limits:  {cpu: 1000m, memory: 1Gi}</a:t>
            </a:r>
          </a:p>
          <a:p>
            <a:r>
              <a:rPr sz="1100">
                <a:solidFill>
                  <a:srgbClr val="F9E2AF"/>
                </a:solidFill>
                <a:latin typeface="Courier New"/>
              </a:rPr>
              <a:t>proxy:</a:t>
            </a:r>
          </a:p>
          <a:p>
            <a:r>
              <a:rPr sz="1100">
                <a:solidFill>
                  <a:srgbClr val="CBD3F0"/>
                </a:solidFill>
                <a:latin typeface="Courier New"/>
              </a:rPr>
              <a:t>  type: NodePort</a:t>
            </a:r>
          </a:p>
          <a:p>
            <a:r>
              <a:rPr sz="1100">
                <a:solidFill>
                  <a:srgbClr val="CBD3F0"/>
                </a:solidFill>
                <a:latin typeface="Courier New"/>
              </a:rPr>
              <a:t>  http: {servicePort: 80, nodePort: 30082}</a:t>
            </a:r>
          </a:p>
        </p:txBody>
      </p:sp>
      <p:sp>
        <p:nvSpPr>
          <p:cNvPr id="7" name="Rectangle 6"/>
          <p:cNvSpPr/>
          <p:nvPr/>
        </p:nvSpPr>
        <p:spPr>
          <a:xfrm>
            <a:off x="6035040" y="1143000"/>
            <a:ext cx="6126480" cy="32004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kong-dbless.yaml — modo declarativo</a:t>
            </a:r>
          </a:p>
          <a:p>
            <a:r>
              <a:rPr sz="1100">
                <a:solidFill>
                  <a:srgbClr val="CBD3F0"/>
                </a:solidFill>
                <a:latin typeface="Courier New"/>
              </a:rPr>
              <a:t>kind: ConfigMap</a:t>
            </a:r>
          </a:p>
          <a:p>
            <a:r>
              <a:rPr sz="1100">
                <a:solidFill>
                  <a:srgbClr val="CBD3F0"/>
                </a:solidFill>
                <a:latin typeface="Courier New"/>
              </a:rPr>
              <a:t>metadata: {name: kong-declarative-config}</a:t>
            </a:r>
          </a:p>
          <a:p>
            <a:r>
              <a:rPr sz="1100">
                <a:solidFill>
                  <a:srgbClr val="CBD3F0"/>
                </a:solidFill>
                <a:latin typeface="Courier New"/>
              </a:rPr>
              <a:t>data:</a:t>
            </a:r>
          </a:p>
          <a:p>
            <a:r>
              <a:rPr sz="1100">
                <a:solidFill>
                  <a:srgbClr val="CBD3F0"/>
                </a:solidFill>
                <a:latin typeface="Courier New"/>
              </a:rPr>
              <a:t>  kong.yml: |</a:t>
            </a:r>
          </a:p>
          <a:p>
            <a:r>
              <a:rPr sz="1100">
                <a:solidFill>
                  <a:srgbClr val="F9E2AF"/>
                </a:solidFill>
                <a:latin typeface="Courier New"/>
              </a:rPr>
              <a:t>    _format_version: "3.0"</a:t>
            </a:r>
          </a:p>
          <a:p>
            <a:r>
              <a:rPr sz="1100">
                <a:solidFill>
                  <a:srgbClr val="CBD3F0"/>
                </a:solidFill>
                <a:latin typeface="Courier New"/>
              </a:rPr>
              <a:t>    services:</a:t>
            </a:r>
          </a:p>
          <a:p>
            <a:r>
              <a:rPr sz="1100">
                <a:solidFill>
                  <a:srgbClr val="CBD3F0"/>
                </a:solidFill>
                <a:latin typeface="Courier New"/>
              </a:rPr>
              <a:t>    - name: s0-service</a:t>
            </a:r>
          </a:p>
          <a:p>
            <a:r>
              <a:rPr sz="1100">
                <a:solidFill>
                  <a:srgbClr val="F9E2AF"/>
                </a:solidFill>
                <a:latin typeface="Courier New"/>
              </a:rPr>
              <a:t>      url: http://s0.default.svc.cluster.local:80</a:t>
            </a:r>
          </a:p>
          <a:p>
            <a:r>
              <a:rPr sz="1100">
                <a:solidFill>
                  <a:srgbClr val="CBD3F0"/>
                </a:solidFill>
                <a:latin typeface="Courier New"/>
              </a:rPr>
              <a:t>      routes:</a:t>
            </a:r>
          </a:p>
          <a:p>
            <a:r>
              <a:rPr sz="1100">
                <a:solidFill>
                  <a:srgbClr val="CBD3F0"/>
                </a:solidFill>
                <a:latin typeface="Courier New"/>
              </a:rPr>
              <a:t>      - name: s0-route</a:t>
            </a:r>
          </a:p>
          <a:p>
            <a:r>
              <a:rPr sz="1100">
                <a:solidFill>
                  <a:srgbClr val="CBD3F0"/>
                </a:solidFill>
                <a:latin typeface="Courier New"/>
              </a:rPr>
              <a:t>        paths: [/]</a:t>
            </a:r>
          </a:p>
          <a:p>
            <a:r>
              <a:rPr sz="1100">
                <a:solidFill>
                  <a:srgbClr val="CBD3F0"/>
                </a:solidFill>
                <a:latin typeface="Courier New"/>
              </a:rPr>
              <a:t>      plugins:</a:t>
            </a:r>
          </a:p>
          <a:p>
            <a:r>
              <a:rPr sz="1100">
                <a:solidFill>
                  <a:srgbClr val="F9E2AF"/>
                </a:solidFill>
                <a:latin typeface="Courier New"/>
              </a:rPr>
              <a:t>      - name: rate-limiting</a:t>
            </a:r>
          </a:p>
          <a:p>
            <a:r>
              <a:rPr sz="1100">
                <a:solidFill>
                  <a:srgbClr val="CBD3F0"/>
                </a:solidFill>
                <a:latin typeface="Courier New"/>
              </a:rPr>
              <a:t>        config:</a:t>
            </a:r>
          </a:p>
          <a:p>
            <a:r>
              <a:rPr sz="1100">
                <a:solidFill>
                  <a:srgbClr val="CBD3F0"/>
                </a:solidFill>
                <a:latin typeface="Courier New"/>
              </a:rPr>
              <a:t>          minute: 6000  # 100 req/s</a:t>
            </a:r>
          </a:p>
          <a:p>
            <a:r>
              <a:rPr sz="1100">
                <a:solidFill>
                  <a:srgbClr val="CBD3F0"/>
                </a:solidFill>
                <a:latin typeface="Courier New"/>
              </a:rPr>
              <a:t>          policy: local</a:t>
            </a:r>
          </a:p>
          <a:p>
            <a:r>
              <a:rPr sz="1100">
                <a:solidFill>
                  <a:srgbClr val="F9E2AF"/>
                </a:solidFill>
                <a:latin typeface="Courier New"/>
              </a:rPr>
              <a:t>      - name: prometheus</a:t>
            </a:r>
          </a:p>
          <a:p>
            <a:r>
              <a:rPr sz="1100">
                <a:solidFill>
                  <a:srgbClr val="CBD3F0"/>
                </a:solidFill>
                <a:latin typeface="Courier New"/>
              </a:rPr>
              <a:t>      - name: request-transformer</a:t>
            </a:r>
          </a:p>
          <a:p>
            <a:r>
              <a:rPr sz="1100">
                <a:solidFill>
                  <a:srgbClr val="CBD3F0"/>
                </a:solidFill>
                <a:latin typeface="Courier New"/>
              </a:rPr>
              <a:t>        config:</a:t>
            </a:r>
          </a:p>
          <a:p>
            <a:r>
              <a:rPr sz="1100">
                <a:solidFill>
                  <a:srgbClr val="CBD3F0"/>
                </a:solidFill>
                <a:latin typeface="Courier New"/>
              </a:rPr>
              <a:t>          add:</a:t>
            </a:r>
          </a:p>
          <a:p>
            <a:r>
              <a:rPr sz="1100">
                <a:solidFill>
                  <a:srgbClr val="CBD3F0"/>
                </a:solidFill>
                <a:latin typeface="Courier New"/>
              </a:rPr>
              <a:t>            headers:</a:t>
            </a:r>
          </a:p>
          <a:p>
            <a:r>
              <a:rPr sz="1100">
                <a:solidFill>
                  <a:srgbClr val="CBD3F0"/>
                </a:solidFill>
                <a:latin typeface="Courier New"/>
              </a:rPr>
              <a:t>            - X-Gateway:Kong</a:t>
            </a:r>
          </a:p>
        </p:txBody>
      </p:sp>
      <p:sp>
        <p:nvSpPr>
          <p:cNvPr id="8" name="Rectangle 7"/>
          <p:cNvSpPr/>
          <p:nvPr/>
        </p:nvSpPr>
        <p:spPr>
          <a:xfrm>
            <a:off x="6035040" y="4480560"/>
            <a:ext cx="6126480" cy="12344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kong-dbless vs configure-kong.sh</a:t>
            </a:r>
          </a:p>
          <a:p>
            <a:r>
              <a:rPr sz="1000">
                <a:solidFill>
                  <a:srgbClr val="555555"/>
                </a:solidFill>
              </a:rPr>
              <a:t>Dos modos de configurar Kong:
configure-kong.sh → Admin API REST:
  curl POST /services /routes /plugins
  Requiere DB mode (PostgreSQL)
  Util para cambios dinamicos
kong-dbless.yaml → declarativo:
  ConfigMap + KONG_DATABASE=off
  Sin PostgreSQL, mas ligero
  Reproducible via git</a:t>
            </a:r>
          </a:p>
        </p:txBody>
      </p:sp>
      <p:sp>
        <p:nvSpPr>
          <p:cNvPr id="9" name="Rectangle 8"/>
          <p:cNvSpPr/>
          <p:nvPr/>
        </p:nvSpPr>
        <p:spPr>
          <a:xfrm>
            <a:off x="6035040" y="5806440"/>
            <a:ext cx="6126480" cy="12344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2 replicas de Kong</a:t>
            </a:r>
          </a:p>
          <a:p>
            <a:r>
              <a:rPr sz="1000">
                <a:solidFill>
                  <a:srgbClr val="555555"/>
                </a:solidFill>
              </a:rPr>
              <a:t>kong-values.yaml: replicaCount: 2
Ventajas para el experimento:
- Simula produccion real
- Distribuye carga entre instancias
- Si una cae, la otra sigue
Impacto en overhead medido:
El LB interno de K8s distribuye
requests a los 2 pods Kong.
Puede reducir latencia vs 1 replica.</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kong/configure-kong.sh — Admin API REST</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Configura Service, Route y 4 Plugins de Kong via curl contra el Admin API :30081</a:t>
            </a:r>
          </a:p>
        </p:txBody>
      </p:sp>
      <p:sp>
        <p:nvSpPr>
          <p:cNvPr id="5" name="Rectangle 4"/>
          <p:cNvSpPr/>
          <p:nvPr/>
        </p:nvSpPr>
        <p:spPr>
          <a:xfrm>
            <a:off x="365760" y="1143000"/>
            <a:ext cx="576072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KONG_ADMIN='http://localhost:30081'</a:t>
            </a:r>
          </a:p>
          <a:p>
            <a:r>
              <a:rPr sz="1100">
                <a:solidFill>
                  <a:srgbClr val="CBD3F0"/>
                </a:solidFill>
                <a:latin typeface="Courier New"/>
              </a:rPr>
              <a:t/>
            </a:r>
          </a:p>
          <a:p>
            <a:r>
              <a:rPr sz="1100">
                <a:solidFill>
                  <a:srgbClr val="CBD3F0"/>
                </a:solidFill>
                <a:latin typeface="Courier New"/>
              </a:rPr>
              <a:t># 1. Crear Kong Service (upstream)</a:t>
            </a:r>
          </a:p>
          <a:p>
            <a:r>
              <a:rPr sz="1100">
                <a:solidFill>
                  <a:srgbClr val="F9E2AF"/>
                </a:solidFill>
                <a:latin typeface="Courier New"/>
              </a:rPr>
              <a:t>curl -X POST $KONG_ADMIN/services \</a:t>
            </a:r>
          </a:p>
          <a:p>
            <a:r>
              <a:rPr sz="1100">
                <a:solidFill>
                  <a:srgbClr val="CBD3F0"/>
                </a:solidFill>
                <a:latin typeface="Courier New"/>
              </a:rPr>
              <a:t>  --data 'name=s0-service' \</a:t>
            </a:r>
          </a:p>
          <a:p>
            <a:r>
              <a:rPr sz="1100">
                <a:solidFill>
                  <a:srgbClr val="CBD3F0"/>
                </a:solidFill>
                <a:latin typeface="Courier New"/>
              </a:rPr>
              <a:t>  --data 'url=http://s0.default.svc.cluster.local:80'</a:t>
            </a:r>
          </a:p>
          <a:p>
            <a:r>
              <a:rPr sz="1100">
                <a:solidFill>
                  <a:srgbClr val="CBD3F0"/>
                </a:solidFill>
                <a:latin typeface="Courier New"/>
              </a:rPr>
              <a:t/>
            </a:r>
          </a:p>
          <a:p>
            <a:r>
              <a:rPr sz="1100">
                <a:solidFill>
                  <a:srgbClr val="CBD3F0"/>
                </a:solidFill>
                <a:latin typeface="Courier New"/>
              </a:rPr>
              <a:t># 2. Crear Route (path mapping)</a:t>
            </a:r>
          </a:p>
          <a:p>
            <a:r>
              <a:rPr sz="1100">
                <a:solidFill>
                  <a:srgbClr val="F9E2AF"/>
                </a:solidFill>
                <a:latin typeface="Courier New"/>
              </a:rPr>
              <a:t>curl -X POST $KONG_ADMIN/services/s0-service/routes \</a:t>
            </a:r>
          </a:p>
          <a:p>
            <a:r>
              <a:rPr sz="1100">
                <a:solidFill>
                  <a:srgbClr val="CBD3F0"/>
                </a:solidFill>
                <a:latin typeface="Courier New"/>
              </a:rPr>
              <a:t>  --data 'paths[]=/s0'  --data 'name=s0-route'</a:t>
            </a:r>
          </a:p>
          <a:p>
            <a:r>
              <a:rPr sz="1100">
                <a:solidFill>
                  <a:srgbClr val="CBD3F0"/>
                </a:solidFill>
                <a:latin typeface="Courier New"/>
              </a:rPr>
              <a:t/>
            </a:r>
          </a:p>
          <a:p>
            <a:r>
              <a:rPr sz="1100">
                <a:solidFill>
                  <a:srgbClr val="CBD3F0"/>
                </a:solidFill>
                <a:latin typeface="Courier New"/>
              </a:rPr>
              <a:t># Plugin 1: Rate Limiting (100 req/s)</a:t>
            </a:r>
          </a:p>
          <a:p>
            <a:r>
              <a:rPr sz="1100">
                <a:solidFill>
                  <a:srgbClr val="F9E2AF"/>
                </a:solidFill>
                <a:latin typeface="Courier New"/>
              </a:rPr>
              <a:t>curl -X POST $KONG_ADMIN/routes/$ROUTE_ID/plugins \</a:t>
            </a:r>
          </a:p>
          <a:p>
            <a:r>
              <a:rPr sz="1100">
                <a:solidFill>
                  <a:srgbClr val="CBD3F0"/>
                </a:solidFill>
                <a:latin typeface="Courier New"/>
              </a:rPr>
              <a:t>  --data 'name=rate-limiting' \</a:t>
            </a:r>
          </a:p>
          <a:p>
            <a:r>
              <a:rPr sz="1100">
                <a:solidFill>
                  <a:srgbClr val="CBD3F0"/>
                </a:solidFill>
                <a:latin typeface="Courier New"/>
              </a:rPr>
              <a:t>  --data 'config.second=100' \</a:t>
            </a:r>
          </a:p>
          <a:p>
            <a:r>
              <a:rPr sz="1100">
                <a:solidFill>
                  <a:srgbClr val="CBD3F0"/>
                </a:solidFill>
                <a:latin typeface="Courier New"/>
              </a:rPr>
              <a:t>  --data 'config.policy=local' \</a:t>
            </a:r>
          </a:p>
          <a:p>
            <a:r>
              <a:rPr sz="1100">
                <a:solidFill>
                  <a:srgbClr val="CBD3F0"/>
                </a:solidFill>
                <a:latin typeface="Courier New"/>
              </a:rPr>
              <a:t>  --data 'config.fault_tolerant=true'</a:t>
            </a:r>
          </a:p>
          <a:p>
            <a:r>
              <a:rPr sz="1100">
                <a:solidFill>
                  <a:srgbClr val="CBD3F0"/>
                </a:solidFill>
                <a:latin typeface="Courier New"/>
              </a:rPr>
              <a:t/>
            </a:r>
          </a:p>
          <a:p>
            <a:r>
              <a:rPr sz="1100">
                <a:solidFill>
                  <a:srgbClr val="CBD3F0"/>
                </a:solidFill>
                <a:latin typeface="Courier New"/>
              </a:rPr>
              <a:t># Plugin 2: Key Authentication</a:t>
            </a:r>
          </a:p>
          <a:p>
            <a:r>
              <a:rPr sz="1100">
                <a:solidFill>
                  <a:srgbClr val="F9E2AF"/>
                </a:solidFill>
                <a:latin typeface="Courier New"/>
              </a:rPr>
              <a:t>curl -X POST $KONG_ADMIN/routes/$ROUTE_ID/plugins \</a:t>
            </a:r>
          </a:p>
          <a:p>
            <a:r>
              <a:rPr sz="1100">
                <a:solidFill>
                  <a:srgbClr val="CBD3F0"/>
                </a:solidFill>
                <a:latin typeface="Courier New"/>
              </a:rPr>
              <a:t>  --data 'name=key-auth' \</a:t>
            </a:r>
          </a:p>
          <a:p>
            <a:r>
              <a:rPr sz="1100">
                <a:solidFill>
                  <a:srgbClr val="CBD3F0"/>
                </a:solidFill>
                <a:latin typeface="Courier New"/>
              </a:rPr>
              <a:t>  --data 'config.key_names[]=apikey'</a:t>
            </a:r>
          </a:p>
          <a:p>
            <a:r>
              <a:rPr sz="1100">
                <a:solidFill>
                  <a:srgbClr val="CBD3F0"/>
                </a:solidFill>
                <a:latin typeface="Courier New"/>
              </a:rPr>
              <a:t/>
            </a:r>
          </a:p>
          <a:p>
            <a:r>
              <a:rPr sz="1100">
                <a:solidFill>
                  <a:srgbClr val="CBD3F0"/>
                </a:solidFill>
                <a:latin typeface="Courier New"/>
              </a:rPr>
              <a:t># Plugin 3: Request Transformer</a:t>
            </a:r>
          </a:p>
          <a:p>
            <a:r>
              <a:rPr sz="1100">
                <a:solidFill>
                  <a:srgbClr val="F9E2AF"/>
                </a:solidFill>
                <a:latin typeface="Courier New"/>
              </a:rPr>
              <a:t>curl -X POST $KONG_ADMIN/routes/$ROUTE_ID/plugins \</a:t>
            </a:r>
          </a:p>
          <a:p>
            <a:r>
              <a:rPr sz="1100">
                <a:solidFill>
                  <a:srgbClr val="CBD3F0"/>
                </a:solidFill>
                <a:latin typeface="Courier New"/>
              </a:rPr>
              <a:t>  --data 'name=request-transformer' \</a:t>
            </a:r>
          </a:p>
          <a:p>
            <a:r>
              <a:rPr sz="1100">
                <a:solidFill>
                  <a:srgbClr val="CBD3F0"/>
                </a:solidFill>
                <a:latin typeface="Courier New"/>
              </a:rPr>
              <a:t>  --data 'config.add.headers[]=X-Gateway:Kong'</a:t>
            </a:r>
          </a:p>
          <a:p>
            <a:r>
              <a:rPr sz="1100">
                <a:solidFill>
                  <a:srgbClr val="CBD3F0"/>
                </a:solidFill>
                <a:latin typeface="Courier New"/>
              </a:rPr>
              <a:t/>
            </a:r>
          </a:p>
          <a:p>
            <a:r>
              <a:rPr sz="1100">
                <a:solidFill>
                  <a:srgbClr val="CBD3F0"/>
                </a:solidFill>
                <a:latin typeface="Courier New"/>
              </a:rPr>
              <a:t># Plugin 4: Prometheus (global)</a:t>
            </a:r>
          </a:p>
          <a:p>
            <a:r>
              <a:rPr sz="1100">
                <a:solidFill>
                  <a:srgbClr val="F9E2AF"/>
                </a:solidFill>
                <a:latin typeface="Courier New"/>
              </a:rPr>
              <a:t>curl -X POST $KONG_ADMIN/plugins --data 'name=prometheus'</a:t>
            </a:r>
          </a:p>
        </p:txBody>
      </p:sp>
      <p:sp>
        <p:nvSpPr>
          <p:cNvPr id="6" name="Rectangle 5"/>
          <p:cNvSpPr/>
          <p:nvPr/>
        </p:nvSpPr>
        <p:spPr>
          <a:xfrm>
            <a:off x="6309360" y="1143000"/>
            <a:ext cx="278892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ourier New"/>
              </a:rPr>
              <a:t>rate-limiting</a:t>
            </a:r>
          </a:p>
        </p:txBody>
      </p:sp>
      <p:sp>
        <p:nvSpPr>
          <p:cNvPr id="7" name="Rectangle 6"/>
          <p:cNvSpPr/>
          <p:nvPr/>
        </p:nvSpPr>
        <p:spPr>
          <a:xfrm>
            <a:off x="6309360" y="1417320"/>
            <a:ext cx="2788920" cy="150876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config.second=100 → 429 al exceder
config.policy=local → cada instancia
  de Kong mantiene su propio contador
  (no redis compartido → mas rapido)
config.fault_tolerant=true → si el
  contador falla, permite la request</a:t>
            </a:r>
          </a:p>
        </p:txBody>
      </p:sp>
      <p:sp>
        <p:nvSpPr>
          <p:cNvPr id="8" name="Rectangle 7"/>
          <p:cNvSpPr/>
          <p:nvPr/>
        </p:nvSpPr>
        <p:spPr>
          <a:xfrm>
            <a:off x="9235440" y="1143000"/>
            <a:ext cx="2788920" cy="274320"/>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ourier New"/>
              </a:rPr>
              <a:t>key-auth</a:t>
            </a:r>
          </a:p>
        </p:txBody>
      </p:sp>
      <p:sp>
        <p:nvSpPr>
          <p:cNvPr id="9" name="Rectangle 8"/>
          <p:cNvSpPr/>
          <p:nvPr/>
        </p:nvSpPr>
        <p:spPr>
          <a:xfrm>
            <a:off x="9235440" y="1417320"/>
            <a:ext cx="2788920" cy="15087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Requiere header 'apikey' en la request.
Sin el → HTTP 401 Unauthorized.
test-kong.js NO envia apikey → las
requests sin autenticacion fallarian.
En el experimento se usa kong-dbless
que NO tiene key-auth configurado.</a:t>
            </a:r>
          </a:p>
        </p:txBody>
      </p:sp>
      <p:sp>
        <p:nvSpPr>
          <p:cNvPr id="10" name="Rectangle 9"/>
          <p:cNvSpPr/>
          <p:nvPr/>
        </p:nvSpPr>
        <p:spPr>
          <a:xfrm>
            <a:off x="6309360" y="3017519"/>
            <a:ext cx="2788920" cy="274320"/>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ourier New"/>
              </a:rPr>
              <a:t>request-transformer</a:t>
            </a:r>
          </a:p>
        </p:txBody>
      </p:sp>
      <p:sp>
        <p:nvSpPr>
          <p:cNvPr id="11" name="Rectangle 10"/>
          <p:cNvSpPr/>
          <p:nvPr/>
        </p:nvSpPr>
        <p:spPr>
          <a:xfrm>
            <a:off x="6309360" y="3291839"/>
            <a:ext cx="2788920" cy="15087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Agrega header X-Gateway:Kong a
todas las requests antes de forwarding.
test-kong.js valida:
  r.headers['X-Gateway'] === 'Kong'
  r.headers['X-Kong-Upstream-Latency']
(este ultimo lo agrega Kong nativo)</a:t>
            </a:r>
          </a:p>
        </p:txBody>
      </p:sp>
      <p:sp>
        <p:nvSpPr>
          <p:cNvPr id="12" name="Rectangle 11"/>
          <p:cNvSpPr/>
          <p:nvPr/>
        </p:nvSpPr>
        <p:spPr>
          <a:xfrm>
            <a:off x="9235440" y="3017519"/>
            <a:ext cx="2788920" cy="274320"/>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ourier New"/>
              </a:rPr>
              <a:t>prometheus</a:t>
            </a:r>
          </a:p>
        </p:txBody>
      </p:sp>
      <p:sp>
        <p:nvSpPr>
          <p:cNvPr id="13" name="Rectangle 12"/>
          <p:cNvSpPr/>
          <p:nvPr/>
        </p:nvSpPr>
        <p:spPr>
          <a:xfrm>
            <a:off x="9235440" y="3291839"/>
            <a:ext cx="2788920" cy="15087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Plugin global (no por ruta).
Expone metricas en /metrics del
puerto admin (8001) y proxy (8000).
Metricas clave:
  kong_http_requests_total
  kong_latency_bucket
Integra con Grafana/Prometheus.</a:t>
            </a:r>
          </a:p>
        </p:txBody>
      </p:sp>
      <p:sp>
        <p:nvSpPr>
          <p:cNvPr id="14" name="Rectangle 13"/>
          <p:cNvSpPr/>
          <p:nvPr/>
        </p:nvSpPr>
        <p:spPr>
          <a:xfrm>
            <a:off x="6309360" y="4892038"/>
            <a:ext cx="2788920" cy="2743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ourier New"/>
              </a:rPr>
              <a:t>Consumer test-user</a:t>
            </a:r>
          </a:p>
        </p:txBody>
      </p:sp>
      <p:sp>
        <p:nvSpPr>
          <p:cNvPr id="15" name="Rectangle 14"/>
          <p:cNvSpPr/>
          <p:nvPr/>
        </p:nvSpPr>
        <p:spPr>
          <a:xfrm>
            <a:off x="6309360" y="5166358"/>
            <a:ext cx="2788920" cy="15087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Se crea un Consumer con API Key:
  username: test-user
  key: test-key-12345
Permite que el experimento tenga
un usuario real con autenticacion.
En run-exp01.sh NO se usa key-auth
(se usa kong-dbless sin ese plugin).</a:t>
            </a:r>
          </a:p>
        </p:txBody>
      </p:sp>
      <p:sp>
        <p:nvSpPr>
          <p:cNvPr id="16" name="Rectangle 15"/>
          <p:cNvSpPr/>
          <p:nvPr/>
        </p:nvSpPr>
        <p:spPr>
          <a:xfrm>
            <a:off x="9235440" y="4892038"/>
            <a:ext cx="2788920" cy="274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ourier New"/>
              </a:rPr>
              <a:t>Admin API :30081</a:t>
            </a:r>
          </a:p>
        </p:txBody>
      </p:sp>
      <p:sp>
        <p:nvSpPr>
          <p:cNvPr id="17" name="Rectangle 16"/>
          <p:cNvSpPr/>
          <p:nvPr/>
        </p:nvSpPr>
        <p:spPr>
          <a:xfrm>
            <a:off x="9235440" y="5166358"/>
            <a:ext cx="2788920" cy="150876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Kong Admin API es REST puro.
Toda la configuracion es CRUD:
POST /services → crea upstream
POST /services/{id}/routes → ruta
POST /routes/{id}/plugins → plugin
Alternativa declarativa: kong-dbless
(ConfigMap YAML, sin API calls)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tests/ — 3 scripts k6 comparados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baseline.js · test-nginx.js · test-kong.js: misma estructura, thresholds y validaciones distintas</a:t>
            </a:r>
          </a:p>
        </p:txBody>
      </p:sp>
      <p:sp>
        <p:nvSpPr>
          <p:cNvPr id="5" name="Rectangle 4"/>
          <p:cNvSpPr/>
          <p:nvPr/>
        </p:nvSpPr>
        <p:spPr>
          <a:xfrm>
            <a:off x="365760" y="1143000"/>
            <a:ext cx="2377440" cy="3657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Aspecto</a:t>
            </a:r>
          </a:p>
        </p:txBody>
      </p:sp>
      <p:sp>
        <p:nvSpPr>
          <p:cNvPr id="6" name="Rectangle 5"/>
          <p:cNvSpPr/>
          <p:nvPr/>
        </p:nvSpPr>
        <p:spPr>
          <a:xfrm>
            <a:off x="2788920" y="1143000"/>
            <a:ext cx="2743200" cy="365760"/>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baseline.js</a:t>
            </a:r>
          </a:p>
        </p:txBody>
      </p:sp>
      <p:sp>
        <p:nvSpPr>
          <p:cNvPr id="7" name="Rectangle 6"/>
          <p:cNvSpPr/>
          <p:nvPr/>
        </p:nvSpPr>
        <p:spPr>
          <a:xfrm>
            <a:off x="5577840" y="1143000"/>
            <a:ext cx="2743200" cy="3657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test-nginx.js</a:t>
            </a:r>
          </a:p>
        </p:txBody>
      </p:sp>
      <p:sp>
        <p:nvSpPr>
          <p:cNvPr id="8" name="Rectangle 7"/>
          <p:cNvSpPr/>
          <p:nvPr/>
        </p:nvSpPr>
        <p:spPr>
          <a:xfrm>
            <a:off x="8366760" y="1143000"/>
            <a:ext cx="2743200" cy="365760"/>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test-kong.js</a:t>
            </a:r>
          </a:p>
        </p:txBody>
      </p:sp>
      <p:sp>
        <p:nvSpPr>
          <p:cNvPr id="9" name="Rectangle 8"/>
          <p:cNvSpPr/>
          <p:nvPr/>
        </p:nvSpPr>
        <p:spPr>
          <a:xfrm>
            <a:off x="365760" y="1508760"/>
            <a:ext cx="237744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URL default</a:t>
            </a:r>
          </a:p>
        </p:txBody>
      </p:sp>
      <p:sp>
        <p:nvSpPr>
          <p:cNvPr id="10" name="Rectangle 9"/>
          <p:cNvSpPr/>
          <p:nvPr/>
        </p:nvSpPr>
        <p:spPr>
          <a:xfrm>
            <a:off x="2788920" y="1508760"/>
            <a:ext cx="274320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:30080/process</a:t>
            </a:r>
          </a:p>
        </p:txBody>
      </p:sp>
      <p:sp>
        <p:nvSpPr>
          <p:cNvPr id="11" name="Rectangle 10"/>
          <p:cNvSpPr/>
          <p:nvPr/>
        </p:nvSpPr>
        <p:spPr>
          <a:xfrm>
            <a:off x="5577840" y="1508760"/>
            <a:ext cx="274320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:30080/process</a:t>
            </a:r>
          </a:p>
        </p:txBody>
      </p:sp>
      <p:sp>
        <p:nvSpPr>
          <p:cNvPr id="12" name="Rectangle 11"/>
          <p:cNvSpPr/>
          <p:nvPr/>
        </p:nvSpPr>
        <p:spPr>
          <a:xfrm>
            <a:off x="8366760" y="1508760"/>
            <a:ext cx="274320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:30082/process</a:t>
            </a:r>
          </a:p>
        </p:txBody>
      </p:sp>
      <p:sp>
        <p:nvSpPr>
          <p:cNvPr id="13" name="Rectangle 12"/>
          <p:cNvSpPr/>
          <p:nvPr/>
        </p:nvSpPr>
        <p:spPr>
          <a:xfrm>
            <a:off x="365760" y="1911096"/>
            <a:ext cx="237744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Thresholds p95</a:t>
            </a:r>
          </a:p>
        </p:txBody>
      </p:sp>
      <p:sp>
        <p:nvSpPr>
          <p:cNvPr id="14" name="Rectangle 13"/>
          <p:cNvSpPr/>
          <p:nvPr/>
        </p:nvSpPr>
        <p:spPr>
          <a:xfrm>
            <a:off x="2788920" y="1911096"/>
            <a:ext cx="274320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&lt; 500 ms</a:t>
            </a:r>
          </a:p>
        </p:txBody>
      </p:sp>
      <p:sp>
        <p:nvSpPr>
          <p:cNvPr id="15" name="Rectangle 14"/>
          <p:cNvSpPr/>
          <p:nvPr/>
        </p:nvSpPr>
        <p:spPr>
          <a:xfrm>
            <a:off x="5577840" y="1911096"/>
            <a:ext cx="274320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&lt; 800 ms</a:t>
            </a:r>
          </a:p>
        </p:txBody>
      </p:sp>
      <p:sp>
        <p:nvSpPr>
          <p:cNvPr id="16" name="Rectangle 15"/>
          <p:cNvSpPr/>
          <p:nvPr/>
        </p:nvSpPr>
        <p:spPr>
          <a:xfrm>
            <a:off x="8366760" y="1911096"/>
            <a:ext cx="274320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&lt; 1000 ms</a:t>
            </a:r>
          </a:p>
        </p:txBody>
      </p:sp>
      <p:sp>
        <p:nvSpPr>
          <p:cNvPr id="17" name="Rectangle 16"/>
          <p:cNvSpPr/>
          <p:nvPr/>
        </p:nvSpPr>
        <p:spPr>
          <a:xfrm>
            <a:off x="365760" y="2313432"/>
            <a:ext cx="237744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error rate</a:t>
            </a:r>
          </a:p>
        </p:txBody>
      </p:sp>
      <p:sp>
        <p:nvSpPr>
          <p:cNvPr id="18" name="Rectangle 17"/>
          <p:cNvSpPr/>
          <p:nvPr/>
        </p:nvSpPr>
        <p:spPr>
          <a:xfrm>
            <a:off x="2788920" y="2313432"/>
            <a:ext cx="274320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&lt; 1 %</a:t>
            </a:r>
          </a:p>
        </p:txBody>
      </p:sp>
      <p:sp>
        <p:nvSpPr>
          <p:cNvPr id="19" name="Rectangle 18"/>
          <p:cNvSpPr/>
          <p:nvPr/>
        </p:nvSpPr>
        <p:spPr>
          <a:xfrm>
            <a:off x="5577840" y="2313432"/>
            <a:ext cx="274320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&lt; 5 %</a:t>
            </a:r>
          </a:p>
        </p:txBody>
      </p:sp>
      <p:sp>
        <p:nvSpPr>
          <p:cNvPr id="20" name="Rectangle 19"/>
          <p:cNvSpPr/>
          <p:nvPr/>
        </p:nvSpPr>
        <p:spPr>
          <a:xfrm>
            <a:off x="8366760" y="2313432"/>
            <a:ext cx="274320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&lt; 5 %</a:t>
            </a:r>
          </a:p>
        </p:txBody>
      </p:sp>
      <p:sp>
        <p:nvSpPr>
          <p:cNvPr id="21" name="Rectangle 20"/>
          <p:cNvSpPr/>
          <p:nvPr/>
        </p:nvSpPr>
        <p:spPr>
          <a:xfrm>
            <a:off x="365760" y="2715768"/>
            <a:ext cx="237744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Rate limit code</a:t>
            </a:r>
          </a:p>
        </p:txBody>
      </p:sp>
      <p:sp>
        <p:nvSpPr>
          <p:cNvPr id="22" name="Rectangle 21"/>
          <p:cNvSpPr/>
          <p:nvPr/>
        </p:nvSpPr>
        <p:spPr>
          <a:xfrm>
            <a:off x="2788920" y="2715768"/>
            <a:ext cx="274320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N/A</a:t>
            </a:r>
          </a:p>
        </p:txBody>
      </p:sp>
      <p:sp>
        <p:nvSpPr>
          <p:cNvPr id="23" name="Rectangle 22"/>
          <p:cNvSpPr/>
          <p:nvPr/>
        </p:nvSpPr>
        <p:spPr>
          <a:xfrm>
            <a:off x="5577840" y="2715768"/>
            <a:ext cx="274320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503</a:t>
            </a:r>
          </a:p>
        </p:txBody>
      </p:sp>
      <p:sp>
        <p:nvSpPr>
          <p:cNvPr id="24" name="Rectangle 23"/>
          <p:cNvSpPr/>
          <p:nvPr/>
        </p:nvSpPr>
        <p:spPr>
          <a:xfrm>
            <a:off x="8366760" y="2715768"/>
            <a:ext cx="274320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429</a:t>
            </a:r>
          </a:p>
        </p:txBody>
      </p:sp>
      <p:sp>
        <p:nvSpPr>
          <p:cNvPr id="25" name="Rectangle 24"/>
          <p:cNvSpPr/>
          <p:nvPr/>
        </p:nvSpPr>
        <p:spPr>
          <a:xfrm>
            <a:off x="365760" y="3118104"/>
            <a:ext cx="237744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Counter especial</a:t>
            </a:r>
          </a:p>
        </p:txBody>
      </p:sp>
      <p:sp>
        <p:nvSpPr>
          <p:cNvPr id="26" name="Rectangle 25"/>
          <p:cNvSpPr/>
          <p:nvPr/>
        </p:nvSpPr>
        <p:spPr>
          <a:xfrm>
            <a:off x="2788920" y="3118104"/>
            <a:ext cx="274320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a:t>
            </a:r>
          </a:p>
        </p:txBody>
      </p:sp>
      <p:sp>
        <p:nvSpPr>
          <p:cNvPr id="27" name="Rectangle 26"/>
          <p:cNvSpPr/>
          <p:nvPr/>
        </p:nvSpPr>
        <p:spPr>
          <a:xfrm>
            <a:off x="5577840" y="3118104"/>
            <a:ext cx="274320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rate_limit_hits</a:t>
            </a:r>
          </a:p>
        </p:txBody>
      </p:sp>
      <p:sp>
        <p:nvSpPr>
          <p:cNvPr id="28" name="Rectangle 27"/>
          <p:cNvSpPr/>
          <p:nvPr/>
        </p:nvSpPr>
        <p:spPr>
          <a:xfrm>
            <a:off x="8366760" y="3118104"/>
            <a:ext cx="274320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rate_limit_hits</a:t>
            </a:r>
          </a:p>
        </p:txBody>
      </p:sp>
      <p:sp>
        <p:nvSpPr>
          <p:cNvPr id="29" name="Rectangle 28"/>
          <p:cNvSpPr/>
          <p:nvPr/>
        </p:nvSpPr>
        <p:spPr>
          <a:xfrm>
            <a:off x="365760" y="3520440"/>
            <a:ext cx="237744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Header validado</a:t>
            </a:r>
          </a:p>
        </p:txBody>
      </p:sp>
      <p:sp>
        <p:nvSpPr>
          <p:cNvPr id="30" name="Rectangle 29"/>
          <p:cNvSpPr/>
          <p:nvPr/>
        </p:nvSpPr>
        <p:spPr>
          <a:xfrm>
            <a:off x="2788920" y="3520440"/>
            <a:ext cx="274320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a:t>
            </a:r>
          </a:p>
        </p:txBody>
      </p:sp>
      <p:sp>
        <p:nvSpPr>
          <p:cNvPr id="31" name="Rectangle 30"/>
          <p:cNvSpPr/>
          <p:nvPr/>
        </p:nvSpPr>
        <p:spPr>
          <a:xfrm>
            <a:off x="5577840" y="3520440"/>
            <a:ext cx="274320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a:t>
            </a:r>
          </a:p>
        </p:txBody>
      </p:sp>
      <p:sp>
        <p:nvSpPr>
          <p:cNvPr id="32" name="Rectangle 31"/>
          <p:cNvSpPr/>
          <p:nvPr/>
        </p:nvSpPr>
        <p:spPr>
          <a:xfrm>
            <a:off x="8366760" y="3520440"/>
            <a:ext cx="274320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X-Kong-Upstream-Latency</a:t>
            </a:r>
          </a:p>
        </p:txBody>
      </p:sp>
      <p:sp>
        <p:nvSpPr>
          <p:cNvPr id="33" name="Rectangle 32"/>
          <p:cNvSpPr/>
          <p:nvPr/>
        </p:nvSpPr>
        <p:spPr>
          <a:xfrm>
            <a:off x="365760" y="3922776"/>
            <a:ext cx="237744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handleSummary</a:t>
            </a:r>
          </a:p>
        </p:txBody>
      </p:sp>
      <p:sp>
        <p:nvSpPr>
          <p:cNvPr id="34" name="Rectangle 33"/>
          <p:cNvSpPr/>
          <p:nvPr/>
        </p:nvSpPr>
        <p:spPr>
          <a:xfrm>
            <a:off x="2788920" y="3922776"/>
            <a:ext cx="274320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No</a:t>
            </a:r>
          </a:p>
        </p:txBody>
      </p:sp>
      <p:sp>
        <p:nvSpPr>
          <p:cNvPr id="35" name="Rectangle 34"/>
          <p:cNvSpPr/>
          <p:nvPr/>
        </p:nvSpPr>
        <p:spPr>
          <a:xfrm>
            <a:off x="5577840" y="3922776"/>
            <a:ext cx="274320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Si</a:t>
            </a:r>
          </a:p>
        </p:txBody>
      </p:sp>
      <p:sp>
        <p:nvSpPr>
          <p:cNvPr id="36" name="Rectangle 35"/>
          <p:cNvSpPr/>
          <p:nvPr/>
        </p:nvSpPr>
        <p:spPr>
          <a:xfrm>
            <a:off x="8366760" y="3922776"/>
            <a:ext cx="2743200" cy="40233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Si</a:t>
            </a:r>
          </a:p>
        </p:txBody>
      </p:sp>
      <p:sp>
        <p:nvSpPr>
          <p:cNvPr id="37" name="Rectangle 36"/>
          <p:cNvSpPr/>
          <p:nvPr/>
        </p:nvSpPr>
        <p:spPr>
          <a:xfrm>
            <a:off x="365760" y="4325112"/>
            <a:ext cx="237744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497D"/>
                </a:solidFill>
                <a:latin typeface="Courier New"/>
              </a:rPr>
              <a:t>sleep()</a:t>
            </a:r>
          </a:p>
        </p:txBody>
      </p:sp>
      <p:sp>
        <p:nvSpPr>
          <p:cNvPr id="38" name="Rectangle 37"/>
          <p:cNvSpPr/>
          <p:nvPr/>
        </p:nvSpPr>
        <p:spPr>
          <a:xfrm>
            <a:off x="2788920" y="4325112"/>
            <a:ext cx="274320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0.1 s</a:t>
            </a:r>
          </a:p>
        </p:txBody>
      </p:sp>
      <p:sp>
        <p:nvSpPr>
          <p:cNvPr id="39" name="Rectangle 38"/>
          <p:cNvSpPr/>
          <p:nvPr/>
        </p:nvSpPr>
        <p:spPr>
          <a:xfrm>
            <a:off x="5577840" y="4325112"/>
            <a:ext cx="274320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0.1 s</a:t>
            </a:r>
          </a:p>
        </p:txBody>
      </p:sp>
      <p:sp>
        <p:nvSpPr>
          <p:cNvPr id="40" name="Rectangle 39"/>
          <p:cNvSpPr/>
          <p:nvPr/>
        </p:nvSpPr>
        <p:spPr>
          <a:xfrm>
            <a:off x="8366760" y="4325112"/>
            <a:ext cx="2743200" cy="402336"/>
          </a:xfrm>
          <a:prstGeom prst="rect">
            <a:avLst/>
          </a:prstGeom>
          <a:solidFill>
            <a:srgbClr val="FFFFFF"/>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latin typeface="Courier New"/>
              </a:rPr>
              <a:t>0.1 s</a:t>
            </a:r>
          </a:p>
        </p:txBody>
      </p:sp>
      <p:sp>
        <p:nvSpPr>
          <p:cNvPr id="41" name="Rectangle 40"/>
          <p:cNvSpPr/>
          <p:nvPr/>
        </p:nvSpPr>
        <p:spPr>
          <a:xfrm>
            <a:off x="365760" y="4937760"/>
            <a:ext cx="5486400" cy="16916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baseline.js — thresholds estrictos</a:t>
            </a:r>
          </a:p>
          <a:p>
            <a:r>
              <a:rPr sz="1100">
                <a:solidFill>
                  <a:srgbClr val="CBD3F0"/>
                </a:solidFill>
                <a:latin typeface="Courier New"/>
              </a:rPr>
              <a:t>thresholds: {</a:t>
            </a:r>
          </a:p>
          <a:p>
            <a:r>
              <a:rPr sz="1100">
                <a:solidFill>
                  <a:srgbClr val="F9E2AF"/>
                </a:solidFill>
                <a:latin typeface="Courier New"/>
              </a:rPr>
              <a:t>  'http_req_duration': ['p(95)&lt;500', 'p(99)&lt;1000'],</a:t>
            </a:r>
          </a:p>
          <a:p>
            <a:r>
              <a:rPr sz="1100">
                <a:solidFill>
                  <a:srgbClr val="F9E2AF"/>
                </a:solidFill>
                <a:latin typeface="Courier New"/>
              </a:rPr>
              <a:t>  'http_req_failed':   ['rate&lt;0.01'],  // &lt; 1%</a:t>
            </a:r>
          </a:p>
          <a:p>
            <a:r>
              <a:rPr sz="1100">
                <a:solidFill>
                  <a:srgbClr val="F9E2AF"/>
                </a:solidFill>
                <a:latin typeface="Courier New"/>
              </a:rPr>
              <a:t>  'errors':            ['count&lt;50'],</a:t>
            </a:r>
          </a:p>
          <a:p>
            <a:r>
              <a:rPr sz="1100">
                <a:solidFill>
                  <a:srgbClr val="CBD3F0"/>
                </a:solidFill>
                <a:latin typeface="Courier New"/>
              </a:rPr>
              <a:t>}</a:t>
            </a:r>
          </a:p>
        </p:txBody>
      </p:sp>
      <p:sp>
        <p:nvSpPr>
          <p:cNvPr id="42" name="Rectangle 41"/>
          <p:cNvSpPr/>
          <p:nvPr/>
        </p:nvSpPr>
        <p:spPr>
          <a:xfrm>
            <a:off x="6035040" y="4937760"/>
            <a:ext cx="6126480" cy="16916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test-kong.js — thresholds permisivos (rate limits esperados)</a:t>
            </a:r>
          </a:p>
          <a:p>
            <a:r>
              <a:rPr sz="1100">
                <a:solidFill>
                  <a:srgbClr val="CBD3F0"/>
                </a:solidFill>
                <a:latin typeface="Courier New"/>
              </a:rPr>
              <a:t>check(res, {</a:t>
            </a:r>
          </a:p>
          <a:p>
            <a:r>
              <a:rPr sz="1100">
                <a:solidFill>
                  <a:srgbClr val="F9E2AF"/>
                </a:solidFill>
                <a:latin typeface="Courier New"/>
              </a:rPr>
              <a:t>  'status is 200 or 429': (r) =&gt; r.status===200 || r.status===429,</a:t>
            </a:r>
          </a:p>
          <a:p>
            <a:r>
              <a:rPr sz="1100">
                <a:solidFill>
                  <a:srgbClr val="F9E2AF"/>
                </a:solidFill>
                <a:latin typeface="Courier New"/>
              </a:rPr>
              <a:t>  'Kong headers present': (r) =&gt;</a:t>
            </a:r>
          </a:p>
          <a:p>
            <a:r>
              <a:rPr sz="1100">
                <a:solidFill>
                  <a:srgbClr val="CBD3F0"/>
                </a:solidFill>
                <a:latin typeface="Courier New"/>
              </a:rPr>
              <a:t>    r.headers['X-Gateway']==='Kong' ||</a:t>
            </a:r>
          </a:p>
          <a:p>
            <a:r>
              <a:rPr sz="1100">
                <a:solidFill>
                  <a:srgbClr val="CBD3F0"/>
                </a:solidFill>
                <a:latin typeface="Courier New"/>
              </a:rPr>
              <a:t>    r.headers['X-Kong-Upstream-Latency'] !== undefined,</a:t>
            </a:r>
          </a:p>
          <a:p>
            <a:r>
              <a:rPr sz="1100">
                <a:solidFill>
                  <a:srgbClr val="CBD3F0"/>
                </a:solidFill>
                <a:latin typeface="Courier New"/>
              </a:rPr>
              <a:t>})</a:t>
            </a:r>
          </a:p>
          <a:p>
            <a:r>
              <a:rPr sz="1100">
                <a:solidFill>
                  <a:srgbClr val="F9E2AF"/>
                </a:solidFill>
                <a:latin typeface="Courier New"/>
              </a:rPr>
              <a:t>if (res.status === 429) { rateLimitHits.add(1)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run-exp01.sh — Orquestacion del experimento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Script maestro: 3 variantes × 3 VUS × 3 reps = 27 ejecuciones de k6</a:t>
            </a:r>
          </a:p>
        </p:txBody>
      </p:sp>
      <p:sp>
        <p:nvSpPr>
          <p:cNvPr id="5" name="Rectangle 4"/>
          <p:cNvSpPr/>
          <p:nvPr/>
        </p:nvSpPr>
        <p:spPr>
          <a:xfrm>
            <a:off x="365760" y="1143000"/>
            <a:ext cx="557784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#!/usr/bin/env bash</a:t>
            </a:r>
          </a:p>
          <a:p>
            <a:r>
              <a:rPr sz="1100">
                <a:solidFill>
                  <a:srgbClr val="CBD3F0"/>
                </a:solidFill>
                <a:latin typeface="Courier New"/>
              </a:rPr>
              <a:t>set -euo pipefail</a:t>
            </a:r>
          </a:p>
          <a:p>
            <a:r>
              <a:rPr sz="1100">
                <a:solidFill>
                  <a:srgbClr val="CBD3F0"/>
                </a:solidFill>
                <a:latin typeface="Courier New"/>
              </a:rPr>
              <a:t/>
            </a:r>
          </a:p>
          <a:p>
            <a:r>
              <a:rPr sz="1100">
                <a:solidFill>
                  <a:srgbClr val="CBD3F0"/>
                </a:solidFill>
                <a:latin typeface="Courier New"/>
              </a:rPr>
              <a:t>VUS_LIST='5 10 20'</a:t>
            </a:r>
          </a:p>
          <a:p>
            <a:r>
              <a:rPr sz="1100">
                <a:solidFill>
                  <a:srgbClr val="F9E2AF"/>
                </a:solidFill>
                <a:latin typeface="Courier New"/>
              </a:rPr>
              <a:t>REPS=3</a:t>
            </a:r>
          </a:p>
          <a:p>
            <a:r>
              <a:rPr sz="1100">
                <a:solidFill>
                  <a:srgbClr val="CBD3F0"/>
                </a:solidFill>
                <a:latin typeface="Courier New"/>
              </a:rPr>
              <a:t>DURATION='60s'</a:t>
            </a:r>
          </a:p>
          <a:p>
            <a:r>
              <a:rPr sz="1100">
                <a:solidFill>
                  <a:srgbClr val="CBD3F0"/>
                </a:solidFill>
                <a:latin typeface="Courier New"/>
              </a:rPr>
              <a:t/>
            </a:r>
          </a:p>
          <a:p>
            <a:r>
              <a:rPr sz="1100">
                <a:solidFill>
                  <a:srgbClr val="CBD3F0"/>
                </a:solidFill>
                <a:latin typeface="Courier New"/>
              </a:rPr>
              <a:t># ── BASELINE (port-forward, no modifica Service) ──</a:t>
            </a:r>
          </a:p>
          <a:p>
            <a:r>
              <a:rPr sz="1100">
                <a:solidFill>
                  <a:srgbClr val="F9E2AF"/>
                </a:solidFill>
                <a:latin typeface="Courier New"/>
              </a:rPr>
              <a:t>kubectl port-forward svc/s0 30100:80 -n default &amp;</a:t>
            </a:r>
          </a:p>
          <a:p>
            <a:r>
              <a:rPr sz="1100">
                <a:solidFill>
                  <a:srgbClr val="CBD3F0"/>
                </a:solidFill>
                <a:latin typeface="Courier New"/>
              </a:rPr>
              <a:t>PF_PID=$!  # guardar PID para kill al final</a:t>
            </a:r>
          </a:p>
          <a:p>
            <a:r>
              <a:rPr sz="1100">
                <a:solidFill>
                  <a:srgbClr val="CBD3F0"/>
                </a:solidFill>
                <a:latin typeface="Courier New"/>
              </a:rPr>
              <a:t>sleep 3    # esperar que port-forward este listo</a:t>
            </a:r>
          </a:p>
          <a:p>
            <a:r>
              <a:rPr sz="1100">
                <a:solidFill>
                  <a:srgbClr val="CBD3F0"/>
                </a:solidFill>
                <a:latin typeface="Courier New"/>
              </a:rPr>
              <a:t/>
            </a:r>
          </a:p>
          <a:p>
            <a:r>
              <a:rPr sz="1100">
                <a:solidFill>
                  <a:srgbClr val="CBD3F0"/>
                </a:solidFill>
                <a:latin typeface="Courier New"/>
              </a:rPr>
              <a:t>for vus in $VUS_LIST; do</a:t>
            </a:r>
          </a:p>
          <a:p>
            <a:r>
              <a:rPr sz="1100">
                <a:solidFill>
                  <a:srgbClr val="CBD3F0"/>
                </a:solidFill>
                <a:latin typeface="Courier New"/>
              </a:rPr>
              <a:t>  for rep in $(seq 1 $REPS); do</a:t>
            </a:r>
          </a:p>
          <a:p>
            <a:r>
              <a:rPr sz="1100">
                <a:solidFill>
                  <a:srgbClr val="CBD3F0"/>
                </a:solidFill>
                <a:latin typeface="Courier New"/>
              </a:rPr>
              <a:t>    out='$RES_BASE/baseline-vus${vus}-rep${rep}.json'</a:t>
            </a:r>
          </a:p>
          <a:p>
            <a:r>
              <a:rPr sz="1100">
                <a:solidFill>
                  <a:srgbClr val="F9E2AF"/>
                </a:solidFill>
                <a:latin typeface="Courier New"/>
              </a:rPr>
              <a:t>    k6 run --no-thresholds \</a:t>
            </a:r>
          </a:p>
          <a:p>
            <a:r>
              <a:rPr sz="1100">
                <a:solidFill>
                  <a:srgbClr val="CBD3F0"/>
                </a:solidFill>
                <a:latin typeface="Courier New"/>
              </a:rPr>
              <a:t>      -e TARGET_URL='http://localhost:30100/process' \</a:t>
            </a:r>
          </a:p>
          <a:p>
            <a:r>
              <a:rPr sz="1100">
                <a:solidFill>
                  <a:srgbClr val="CBD3F0"/>
                </a:solidFill>
                <a:latin typeface="Courier New"/>
              </a:rPr>
              <a:t>      -e VUS='$vus' -e DURATION='$DURATION' \</a:t>
            </a:r>
          </a:p>
          <a:p>
            <a:r>
              <a:rPr sz="1100">
                <a:solidFill>
                  <a:srgbClr val="CBD3F0"/>
                </a:solidFill>
                <a:latin typeface="Courier New"/>
              </a:rPr>
              <a:t>      --out 'json=$out' \</a:t>
            </a:r>
          </a:p>
          <a:p>
            <a:r>
              <a:rPr sz="1100">
                <a:solidFill>
                  <a:srgbClr val="F9E2AF"/>
                </a:solidFill>
                <a:latin typeface="Courier New"/>
              </a:rPr>
              <a:t>      '$TEST_DIR/baseline.js' || true</a:t>
            </a:r>
          </a:p>
          <a:p>
            <a:r>
              <a:rPr sz="1100">
                <a:solidFill>
                  <a:srgbClr val="CBD3F0"/>
                </a:solidFill>
                <a:latin typeface="Courier New"/>
              </a:rPr>
              <a:t>    sleep 10  # cooldown entre ejecuciones</a:t>
            </a:r>
          </a:p>
          <a:p>
            <a:r>
              <a:rPr sz="1100">
                <a:solidFill>
                  <a:srgbClr val="CBD3F0"/>
                </a:solidFill>
                <a:latin typeface="Courier New"/>
              </a:rPr>
              <a:t>  done</a:t>
            </a:r>
          </a:p>
          <a:p>
            <a:r>
              <a:rPr sz="1100">
                <a:solidFill>
                  <a:srgbClr val="CBD3F0"/>
                </a:solidFill>
                <a:latin typeface="Courier New"/>
              </a:rPr>
              <a:t>done</a:t>
            </a:r>
          </a:p>
          <a:p>
            <a:r>
              <a:rPr sz="1100">
                <a:solidFill>
                  <a:srgbClr val="CBD3F0"/>
                </a:solidFill>
                <a:latin typeface="Courier New"/>
              </a:rPr>
              <a:t/>
            </a:r>
          </a:p>
          <a:p>
            <a:r>
              <a:rPr sz="1100">
                <a:solidFill>
                  <a:srgbClr val="F9E2AF"/>
                </a:solidFill>
                <a:latin typeface="Courier New"/>
              </a:rPr>
              <a:t>kill $PF_PID 2&gt;/dev/null || true</a:t>
            </a:r>
          </a:p>
          <a:p>
            <a:r>
              <a:rPr sz="1100">
                <a:solidFill>
                  <a:srgbClr val="CBD3F0"/>
                </a:solidFill>
                <a:latin typeface="Courier New"/>
              </a:rPr>
              <a:t/>
            </a:r>
          </a:p>
          <a:p>
            <a:r>
              <a:rPr sz="1100">
                <a:solidFill>
                  <a:srgbClr val="CBD3F0"/>
                </a:solidFill>
                <a:latin typeface="Courier New"/>
              </a:rPr>
              <a:t># ── NGINX (:30080) y KONG (:30082) ──</a:t>
            </a:r>
          </a:p>
          <a:p>
            <a:r>
              <a:rPr sz="1100">
                <a:solidFill>
                  <a:srgbClr val="CBD3F0"/>
                </a:solidFill>
                <a:latin typeface="Courier New"/>
              </a:rPr>
              <a:t># Identica estructura de loops para nginx y kong</a:t>
            </a:r>
          </a:p>
        </p:txBody>
      </p:sp>
      <p:sp>
        <p:nvSpPr>
          <p:cNvPr id="6" name="Rectangle 5"/>
          <p:cNvSpPr/>
          <p:nvPr/>
        </p:nvSpPr>
        <p:spPr>
          <a:xfrm>
            <a:off x="6126480" y="1143000"/>
            <a:ext cx="2788920" cy="17373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--no-thresholds</a:t>
            </a:r>
          </a:p>
          <a:p>
            <a:r>
              <a:rPr sz="1000">
                <a:solidFill>
                  <a:srgbClr val="555555"/>
                </a:solidFill>
              </a:rPr>
              <a:t>k6 run --no-thresholds hace que k6
NO falle el proceso si los thresholds
no se cumplen (exit code 0 siempre).
Permite que el loop continue aunque
una ejecucion tenga alta latencia.
El || true al final del comando
hace lo mismo de forma redundante.</a:t>
            </a:r>
          </a:p>
        </p:txBody>
      </p:sp>
      <p:sp>
        <p:nvSpPr>
          <p:cNvPr id="7" name="Rectangle 6"/>
          <p:cNvSpPr/>
          <p:nvPr/>
        </p:nvSpPr>
        <p:spPr>
          <a:xfrm>
            <a:off x="9052560" y="1143000"/>
            <a:ext cx="2788920" cy="17373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port-forward vs NodePort</a:t>
            </a:r>
          </a:p>
          <a:p>
            <a:r>
              <a:rPr sz="1000">
                <a:solidFill>
                  <a:srgbClr val="555555"/>
                </a:solidFill>
              </a:rPr>
              <a:t>Baseline usa port-forward (no modifica
el Service del cluster).
Puerto: :30100 (distinto al :30080 de
deploy-baseline.sh).
NGINX y Kong usan NodePort ya
configurado previamente.
El script asume que los gateways
ya estan instalados.</a:t>
            </a:r>
          </a:p>
        </p:txBody>
      </p:sp>
      <p:sp>
        <p:nvSpPr>
          <p:cNvPr id="8" name="Rectangle 7"/>
          <p:cNvSpPr/>
          <p:nvPr/>
        </p:nvSpPr>
        <p:spPr>
          <a:xfrm>
            <a:off x="6126480" y="3017519"/>
            <a:ext cx="2788920" cy="17373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Naming convention de resultados</a:t>
            </a:r>
          </a:p>
          <a:p>
            <a:r>
              <a:rPr sz="1000">
                <a:solidFill>
                  <a:srgbClr val="555555"/>
                </a:solidFill>
              </a:rPr>
              <a:t>Formato: {variante}-vus{n}-rep{n}.json
baseline-vus5-rep1.json
baseline-vus10-rep2.json
nginx-vus20-rep3.json
kong-vus5-rep1.json
Los scripts de analisis
parsean el nombre para extraer
VUS del path ('vus10' in file).</a:t>
            </a:r>
          </a:p>
        </p:txBody>
      </p:sp>
      <p:sp>
        <p:nvSpPr>
          <p:cNvPr id="9" name="Rectangle 8"/>
          <p:cNvSpPr/>
          <p:nvPr/>
        </p:nvSpPr>
        <p:spPr>
          <a:xfrm>
            <a:off x="9052560" y="3017519"/>
            <a:ext cx="2788920" cy="17373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sleep 10 entre ejecuciones</a:t>
            </a:r>
          </a:p>
          <a:p>
            <a:r>
              <a:rPr sz="1000">
                <a:solidFill>
                  <a:srgbClr val="555555"/>
                </a:solidFill>
              </a:rPr>
              <a:t>10 segundos entre runs de k6:
- Permite que las metricas de
  Prometheus se estabilicen
- Da tiempo al GC de Go (k6) para
  limpiar memoria
- Reduce interferencia entre runs
sleep 3 antes del loop = tiempo
para que port-forward establezca
la conexion TCP con el pod.</a:t>
            </a:r>
          </a:p>
        </p:txBody>
      </p:sp>
      <p:sp>
        <p:nvSpPr>
          <p:cNvPr id="10" name="Rectangle 9"/>
          <p:cNvSpPr/>
          <p:nvPr/>
        </p:nvSpPr>
        <p:spPr>
          <a:xfrm>
            <a:off x="6126480" y="4892038"/>
            <a:ext cx="2788920" cy="173736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set -euo pipefail</a:t>
            </a:r>
          </a:p>
          <a:p>
            <a:r>
              <a:rPr sz="1000">
                <a:solidFill>
                  <a:srgbClr val="555555"/>
                </a:solidFill>
              </a:rPr>
              <a:t>-e: exit si cualquier comando falla
-u: error si variable no definida
-o pipefail: falla si cualquier
  comando en un pipe falla
Excepciones deliberadas:
  k6 run ... || true
  kill $PF_PID 2&gt;/dev/null || true
El || true es la forma idiomatica
de ignorar el exit code de un
comando especifico con set -e.</a:t>
            </a:r>
          </a:p>
        </p:txBody>
      </p:sp>
      <p:sp>
        <p:nvSpPr>
          <p:cNvPr id="11" name="Rectangle 10"/>
          <p:cNvSpPr/>
          <p:nvPr/>
        </p:nvSpPr>
        <p:spPr>
          <a:xfrm>
            <a:off x="9052560" y="4892038"/>
            <a:ext cx="2788920" cy="173736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Estructura de directorios</a:t>
            </a:r>
          </a:p>
          <a:p>
            <a:r>
              <a:rPr sz="1000">
                <a:solidFill>
                  <a:srgbClr val="555555"/>
                </a:solidFill>
              </a:rPr>
              <a:t>ROOT_DIR = directorio del script
(relativo, con BASH_SOURCE[0])
RES_BASE=baseline/results/
RES_NGINX=nginx/results/
RES_KONG=kong/results/
LOG_DIR=results/logs/
mkdir -p crea si no existen.
Los .json van en subcarpetas
de cada variante.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Analisis de Resultados — 3 scripts Python</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analyze-baseline-only.py · analyze-comparison.py · analyze-gateway-overhead.py</a:t>
            </a:r>
          </a:p>
        </p:txBody>
      </p:sp>
      <p:sp>
        <p:nvSpPr>
          <p:cNvPr id="5" name="Rectangle 4"/>
          <p:cNvSpPr/>
          <p:nvPr/>
        </p:nvSpPr>
        <p:spPr>
          <a:xfrm>
            <a:off x="365760" y="1143000"/>
            <a:ext cx="557784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Pipeline de analisis (todos los scripts)</a:t>
            </a:r>
          </a:p>
          <a:p>
            <a:r>
              <a:rPr sz="1100">
                <a:solidFill>
                  <a:srgbClr val="CBD3F0"/>
                </a:solidFill>
                <a:latin typeface="Courier New"/>
              </a:rPr>
              <a:t/>
            </a:r>
          </a:p>
          <a:p>
            <a:r>
              <a:rPr sz="1100">
                <a:solidFill>
                  <a:srgbClr val="CBD3F0"/>
                </a:solidFill>
                <a:latin typeface="Courier New"/>
              </a:rPr>
              <a:t># 1. Leer archivos k6 JSON (formato JSONL)</a:t>
            </a:r>
          </a:p>
          <a:p>
            <a:r>
              <a:rPr sz="1100">
                <a:solidFill>
                  <a:srgbClr val="F9E2AF"/>
                </a:solidFill>
                <a:latin typeface="Courier New"/>
              </a:rPr>
              <a:t>def load_k6_results(json_file):</a:t>
            </a:r>
          </a:p>
          <a:p>
            <a:r>
              <a:rPr sz="1100">
                <a:solidFill>
                  <a:srgbClr val="CBD3F0"/>
                </a:solidFill>
                <a:latin typeface="Courier New"/>
              </a:rPr>
              <a:t>  for line in open(json_file):</a:t>
            </a:r>
          </a:p>
          <a:p>
            <a:r>
              <a:rPr sz="1100">
                <a:solidFill>
                  <a:srgbClr val="CBD3F0"/>
                </a:solidFill>
                <a:latin typeface="Courier New"/>
              </a:rPr>
              <a:t>    data = json.loads(line.strip())</a:t>
            </a:r>
          </a:p>
          <a:p>
            <a:r>
              <a:rPr sz="1100">
                <a:solidFill>
                  <a:srgbClr val="CBD3F0"/>
                </a:solidFill>
                <a:latin typeface="Courier New"/>
              </a:rPr>
              <a:t>    if data.get('type') == 'Point':  # solo datapoints</a:t>
            </a:r>
          </a:p>
          <a:p>
            <a:r>
              <a:rPr sz="1100">
                <a:solidFill>
                  <a:srgbClr val="CBD3F0"/>
                </a:solidFill>
                <a:latin typeface="Courier New"/>
              </a:rPr>
              <a:t>      metrics.append(data)</a:t>
            </a:r>
          </a:p>
          <a:p>
            <a:r>
              <a:rPr sz="1100">
                <a:solidFill>
                  <a:srgbClr val="CBD3F0"/>
                </a:solidFill>
                <a:latin typeface="Courier New"/>
              </a:rPr>
              <a:t/>
            </a:r>
          </a:p>
          <a:p>
            <a:r>
              <a:rPr sz="1100">
                <a:solidFill>
                  <a:srgbClr val="CBD3F0"/>
                </a:solidFill>
                <a:latin typeface="Courier New"/>
              </a:rPr>
              <a:t># 2. Extraer latencias HTTP</a:t>
            </a:r>
          </a:p>
          <a:p>
            <a:r>
              <a:rPr sz="1100">
                <a:solidFill>
                  <a:srgbClr val="F9E2AF"/>
                </a:solidFill>
                <a:latin typeface="Courier New"/>
              </a:rPr>
              <a:t>def extract_latency(metrics):</a:t>
            </a:r>
          </a:p>
          <a:p>
            <a:r>
              <a:rPr sz="1100">
                <a:solidFill>
                  <a:srgbClr val="CBD3F0"/>
                </a:solidFill>
                <a:latin typeface="Courier New"/>
              </a:rPr>
              <a:t>  for m in metrics:</a:t>
            </a:r>
          </a:p>
          <a:p>
            <a:r>
              <a:rPr sz="1100">
                <a:solidFill>
                  <a:srgbClr val="CBD3F0"/>
                </a:solidFill>
                <a:latin typeface="Courier New"/>
              </a:rPr>
              <a:t>    if m.get('metric') == 'http_req_duration':</a:t>
            </a:r>
          </a:p>
          <a:p>
            <a:r>
              <a:rPr sz="1100">
                <a:solidFill>
                  <a:srgbClr val="CBD3F0"/>
                </a:solidFill>
                <a:latin typeface="Courier New"/>
              </a:rPr>
              <a:t>      latencies.append(m['data']['value'])  # ms</a:t>
            </a:r>
          </a:p>
          <a:p>
            <a:r>
              <a:rPr sz="1100">
                <a:solidFill>
                  <a:srgbClr val="CBD3F0"/>
                </a:solidFill>
                <a:latin typeface="Courier New"/>
              </a:rPr>
              <a:t/>
            </a:r>
          </a:p>
          <a:p>
            <a:r>
              <a:rPr sz="1100">
                <a:solidFill>
                  <a:srgbClr val="CBD3F0"/>
                </a:solidFill>
                <a:latin typeface="Courier New"/>
              </a:rPr>
              <a:t># 3. Calcular estadisticas</a:t>
            </a:r>
          </a:p>
          <a:p>
            <a:r>
              <a:rPr sz="1100">
                <a:solidFill>
                  <a:srgbClr val="F9E2AF"/>
                </a:solidFill>
                <a:latin typeface="Courier New"/>
              </a:rPr>
              <a:t>def calculate_stats(values):</a:t>
            </a:r>
          </a:p>
          <a:p>
            <a:r>
              <a:rPr sz="1100">
                <a:solidFill>
                  <a:srgbClr val="CBD3F0"/>
                </a:solidFill>
                <a:latin typeface="Courier New"/>
              </a:rPr>
              <a:t>  return {</a:t>
            </a:r>
          </a:p>
          <a:p>
            <a:r>
              <a:rPr sz="1100">
                <a:solidFill>
                  <a:srgbClr val="CBD3F0"/>
                </a:solidFill>
                <a:latin typeface="Courier New"/>
              </a:rPr>
              <a:t>    'mean': np.mean(arr),</a:t>
            </a:r>
          </a:p>
          <a:p>
            <a:r>
              <a:rPr sz="1100">
                <a:solidFill>
                  <a:srgbClr val="CBD3F0"/>
                </a:solidFill>
                <a:latin typeface="Courier New"/>
              </a:rPr>
              <a:t>    'p50':  np.percentile(arr, 50),</a:t>
            </a:r>
          </a:p>
          <a:p>
            <a:r>
              <a:rPr sz="1100">
                <a:solidFill>
                  <a:srgbClr val="CBD3F0"/>
                </a:solidFill>
                <a:latin typeface="Courier New"/>
              </a:rPr>
              <a:t>    'p95':  np.percentile(arr, 95),</a:t>
            </a:r>
          </a:p>
          <a:p>
            <a:r>
              <a:rPr sz="1100">
                <a:solidFill>
                  <a:srgbClr val="CBD3F0"/>
                </a:solidFill>
                <a:latin typeface="Courier New"/>
              </a:rPr>
              <a:t>    'p99':  np.percentile(arr, 99),</a:t>
            </a:r>
          </a:p>
          <a:p>
            <a:r>
              <a:rPr sz="1100">
                <a:solidFill>
                  <a:srgbClr val="CBD3F0"/>
                </a:solidFill>
                <a:latin typeface="Courier New"/>
              </a:rPr>
              <a:t>    'std':  np.std(arr),</a:t>
            </a:r>
          </a:p>
          <a:p>
            <a:r>
              <a:rPr sz="1100">
                <a:solidFill>
                  <a:srgbClr val="CBD3F0"/>
                </a:solidFill>
                <a:latin typeface="Courier New"/>
              </a:rPr>
              <a:t>  }</a:t>
            </a:r>
          </a:p>
          <a:p>
            <a:r>
              <a:rPr sz="1100">
                <a:solidFill>
                  <a:srgbClr val="CBD3F0"/>
                </a:solidFill>
                <a:latin typeface="Courier New"/>
              </a:rPr>
              <a:t/>
            </a:r>
          </a:p>
          <a:p>
            <a:r>
              <a:rPr sz="1100">
                <a:solidFill>
                  <a:srgbClr val="CBD3F0"/>
                </a:solidFill>
                <a:latin typeface="Courier New"/>
              </a:rPr>
              <a:t># 4. Plot (matplotlib + seaborn)</a:t>
            </a:r>
          </a:p>
          <a:p>
            <a:r>
              <a:rPr sz="1100">
                <a:solidFill>
                  <a:srgbClr val="F9E2AF"/>
                </a:solidFill>
                <a:latin typeface="Courier New"/>
              </a:rPr>
              <a:t>plt.rcParams['figure.dpi'] = 300  # calidad publicacion</a:t>
            </a:r>
          </a:p>
          <a:p>
            <a:r>
              <a:rPr sz="1100">
                <a:solidFill>
                  <a:srgbClr val="CBD3F0"/>
                </a:solidFill>
                <a:latin typeface="Courier New"/>
              </a:rPr>
              <a:t>sns.set_style('whitegrid')</a:t>
            </a:r>
          </a:p>
          <a:p>
            <a:r>
              <a:rPr sz="1100">
                <a:solidFill>
                  <a:srgbClr val="CBD3F0"/>
                </a:solidFill>
                <a:latin typeface="Courier New"/>
              </a:rPr>
              <a:t>sns.set_palette('colorblind')</a:t>
            </a:r>
          </a:p>
        </p:txBody>
      </p:sp>
      <p:sp>
        <p:nvSpPr>
          <p:cNvPr id="6" name="Rectangle 5"/>
          <p:cNvSpPr/>
          <p:nvPr/>
        </p:nvSpPr>
        <p:spPr>
          <a:xfrm>
            <a:off x="6126480" y="1143000"/>
            <a:ext cx="2788920" cy="26517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analyze-baseline-only.py</a:t>
            </a:r>
          </a:p>
          <a:p>
            <a:r>
              <a:rPr sz="1100">
                <a:solidFill>
                  <a:srgbClr val="555555"/>
                </a:solidFill>
              </a:rPr>
              <a:t>Analiza SOLO los archivos
baseline/results/*.json.
Agrupa por VUs (5, 10, 20).
Calcula: mean, p50, p95, p99.
Genera boxplots de latencia
por nivel de carga.
Util para validar la referencia
ANTES de instalar gateways.</a:t>
            </a:r>
          </a:p>
        </p:txBody>
      </p:sp>
      <p:sp>
        <p:nvSpPr>
          <p:cNvPr id="7" name="Rectangle 6"/>
          <p:cNvSpPr/>
          <p:nvPr/>
        </p:nvSpPr>
        <p:spPr>
          <a:xfrm>
            <a:off x="9052560" y="1143000"/>
            <a:ext cx="2788920" cy="26517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analyze-comparison.py</a:t>
            </a:r>
          </a:p>
          <a:p>
            <a:r>
              <a:rPr sz="1100">
                <a:solidFill>
                  <a:srgbClr val="555555"/>
                </a:solidFill>
              </a:rPr>
              <a:t>Compara Baseline vs NGINX.
Usa scipy.stats para tests
estadisticos (t-test / Mann-Whitney).
Genera:
- CDF de latencias
- Boxplots por VUs
- Tabla de overhead (ms delta)
Entrada: glob de archivos JSON
de ambas variantes.</a:t>
            </a:r>
          </a:p>
        </p:txBody>
      </p:sp>
      <p:sp>
        <p:nvSpPr>
          <p:cNvPr id="8" name="Rectangle 7"/>
          <p:cNvSpPr/>
          <p:nvPr/>
        </p:nvSpPr>
        <p:spPr>
          <a:xfrm>
            <a:off x="6126480" y="3977640"/>
            <a:ext cx="2788920" cy="26517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analyze-gateway-overhead.py</a:t>
            </a:r>
          </a:p>
          <a:p>
            <a:r>
              <a:rPr sz="1100">
                <a:solidFill>
                  <a:srgbClr val="555555"/>
                </a:solidFill>
              </a:rPr>
              <a:t>Analisis de los 3 (Baseline+NGINX+Kong).
Configura matplotlib para calidad
de publicacion academica:
  dpi=300, font.family=serif
Genera gateway-report.pdf
con todas las graficas.
Argumentos:
--baseline --kong --nginx
--output &lt;archivo.pdf&gt;</a:t>
            </a:r>
          </a:p>
        </p:txBody>
      </p:sp>
      <p:sp>
        <p:nvSpPr>
          <p:cNvPr id="9" name="Rectangle 8"/>
          <p:cNvSpPr/>
          <p:nvPr/>
        </p:nvSpPr>
        <p:spPr>
          <a:xfrm>
            <a:off x="9052560" y="3977640"/>
            <a:ext cx="2788920" cy="26517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Formato k6 JSONL</a:t>
            </a:r>
          </a:p>
          <a:p>
            <a:r>
              <a:rPr sz="1100">
                <a:solidFill>
                  <a:srgbClr val="555555"/>
                </a:solidFill>
              </a:rPr>
              <a:t>k6 --out json guarda una linea
por metrica (JSONL, no JSON array).
Tipos de linea:
  type=Point: datapoint de metrica
  type=Metric: definicion de metrica
Los scripts filtran type=='Point'
y metric=='http_req_duration'
→ latencia por request en ms.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ServiceGraphGenerator/ y WorkModelGenerator/ — Pipeline de Simulación</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RunServiceGraphGen.py · ServiceGraphGenerator.py · RunWorkModelGen.py · WorkModelGenerator.py · servicegraph.json → workmodel.json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ServiceGraphGenerator/ — Topología del Service Mesh</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RunServiceGraphGen.py · ServiceGraphGenerator.py · ServiceGraphParameters.json · servicegraph.json</a:t>
            </a:r>
          </a:p>
        </p:txBody>
      </p:sp>
      <p:sp>
        <p:nvSpPr>
          <p:cNvPr id="5" name="Rectangle 4"/>
          <p:cNvSpPr/>
          <p:nvPr/>
        </p:nvSpPr>
        <p:spPr>
          <a:xfrm>
            <a:off x="365760" y="1143000"/>
            <a:ext cx="5577840" cy="27889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ServiceGraphGenerator.py: cómo genera el grafo ────────────────</a:t>
            </a:r>
          </a:p>
          <a:p>
            <a:r>
              <a:rPr sz="1100">
                <a:solidFill>
                  <a:srgbClr val="CBD3F0"/>
                </a:solidFill>
                <a:latin typeface="Courier New"/>
              </a:rPr>
              <a:t>from igraph import *</a:t>
            </a:r>
          </a:p>
          <a:p>
            <a:r>
              <a:rPr sz="1100">
                <a:solidFill>
                  <a:srgbClr val="CBD3F0"/>
                </a:solidFill>
                <a:latin typeface="Courier New"/>
              </a:rPr>
              <a:t/>
            </a:r>
          </a:p>
          <a:p>
            <a:r>
              <a:rPr sz="1100">
                <a:solidFill>
                  <a:srgbClr val="CBD3F0"/>
                </a:solidFill>
                <a:latin typeface="Courier New"/>
              </a:rPr>
              <a:t>def get_service_graph(graph_params, output_path, output_file_png):</a:t>
            </a:r>
          </a:p>
          <a:p>
            <a:r>
              <a:rPr sz="1100">
                <a:solidFill>
                  <a:srgbClr val="F9E2AF"/>
                </a:solidFill>
                <a:latin typeface="Courier New"/>
              </a:rPr>
              <a:t>    # 1. Generar grafo dirigido aleatorio (Barabási-Albert)</a:t>
            </a:r>
          </a:p>
          <a:p>
            <a:r>
              <a:rPr sz="1100">
                <a:solidFill>
                  <a:srgbClr val="CBD3F0"/>
                </a:solidFill>
                <a:latin typeface="Courier New"/>
              </a:rPr>
              <a:t>    g = Graph.Barabasi(</a:t>
            </a:r>
          </a:p>
          <a:p>
            <a:r>
              <a:rPr sz="1100">
                <a:solidFill>
                  <a:srgbClr val="CBD3F0"/>
                </a:solidFill>
                <a:latin typeface="Courier New"/>
              </a:rPr>
              <a:t>        n=graph_params['vertices'],      # nodos (microservicios)</a:t>
            </a:r>
          </a:p>
          <a:p>
            <a:r>
              <a:rPr sz="1100">
                <a:solidFill>
                  <a:srgbClr val="CBD3F0"/>
                </a:solidFill>
                <a:latin typeface="Courier New"/>
              </a:rPr>
              <a:t>        power=graph_params['power'],     # exponente preferential attachment</a:t>
            </a:r>
          </a:p>
          <a:p>
            <a:r>
              <a:rPr sz="1100">
                <a:solidFill>
                  <a:srgbClr val="CBD3F0"/>
                </a:solidFill>
                <a:latin typeface="Courier New"/>
              </a:rPr>
              <a:t>        m=1,                             # aristas por nodo nuevo</a:t>
            </a:r>
          </a:p>
          <a:p>
            <a:r>
              <a:rPr sz="1100">
                <a:solidFill>
                  <a:srgbClr val="CBD3F0"/>
                </a:solidFill>
                <a:latin typeface="Courier New"/>
              </a:rPr>
              <a:t>        zero_appeal=graph_params['zero_appeal'],  # atracción inicial</a:t>
            </a:r>
          </a:p>
          <a:p>
            <a:r>
              <a:rPr sz="1100">
                <a:solidFill>
                  <a:srgbClr val="CBD3F0"/>
                </a:solidFill>
                <a:latin typeface="Courier New"/>
              </a:rPr>
              <a:t>        directed=True</a:t>
            </a:r>
          </a:p>
          <a:p>
            <a:r>
              <a:rPr sz="1100">
                <a:solidFill>
                  <a:srgbClr val="CBD3F0"/>
                </a:solidFill>
                <a:latin typeface="Courier New"/>
              </a:rPr>
              <a:t>    )</a:t>
            </a:r>
          </a:p>
          <a:p>
            <a:r>
              <a:rPr sz="1100">
                <a:solidFill>
                  <a:srgbClr val="CBD3F0"/>
                </a:solidFill>
                <a:latin typeface="Courier New"/>
              </a:rPr>
              <a:t>    # 2. Invertir aristas: flujo root → hojas</a:t>
            </a:r>
          </a:p>
          <a:p>
            <a:r>
              <a:rPr sz="1100">
                <a:solidFill>
                  <a:srgbClr val="F9E2AF"/>
                </a:solidFill>
                <a:latin typeface="Courier New"/>
              </a:rPr>
              <a:t>    edges_reversal(g)</a:t>
            </a:r>
          </a:p>
          <a:p>
            <a:r>
              <a:rPr sz="1100">
                <a:solidFill>
                  <a:srgbClr val="CBD3F0"/>
                </a:solidFill>
                <a:latin typeface="Courier New"/>
              </a:rPr>
              <a:t>    # 3. Por cada nodo: generar lista de external_services</a:t>
            </a:r>
          </a:p>
          <a:p>
            <a:r>
              <a:rPr sz="1100">
                <a:solidFill>
                  <a:srgbClr val="F9E2AF"/>
                </a:solidFill>
                <a:latin typeface="Courier New"/>
              </a:rPr>
              <a:t>    for vertex in range(graph_params['vertices']):</a:t>
            </a:r>
          </a:p>
          <a:p>
            <a:r>
              <a:rPr sz="1100">
                <a:solidFill>
                  <a:srgbClr val="CBD3F0"/>
                </a:solidFill>
                <a:latin typeface="Courier New"/>
              </a:rPr>
              <a:t>        for service_id in g.get_adjlist()[vertex]:</a:t>
            </a:r>
          </a:p>
          <a:p>
            <a:r>
              <a:rPr sz="1100">
                <a:solidFill>
                  <a:srgbClr val="CBD3F0"/>
                </a:solidFill>
                <a:latin typeface="Courier New"/>
              </a:rPr>
              <a:t>            service_list[group]['services'].append(f's{service_id}')</a:t>
            </a:r>
          </a:p>
          <a:p>
            <a:r>
              <a:rPr sz="1100">
                <a:solidFill>
                  <a:srgbClr val="CBD3F0"/>
                </a:solidFill>
                <a:latin typeface="Courier New"/>
              </a:rPr>
              <a:t>            service_list[group]['probabilities'][f's{service_id}'] = get_probability(...)</a:t>
            </a:r>
          </a:p>
          <a:p>
            <a:r>
              <a:rPr sz="1100">
                <a:solidFill>
                  <a:srgbClr val="F9E2AF"/>
                </a:solidFill>
                <a:latin typeface="Courier New"/>
              </a:rPr>
              <a:t>    # 4. Añadir nodos DB (sdb1, sdb2) con probabilidad definida</a:t>
            </a:r>
          </a:p>
          <a:p>
            <a:r>
              <a:rPr sz="1100">
                <a:solidFill>
                  <a:srgbClr val="CBD3F0"/>
                </a:solidFill>
                <a:latin typeface="Courier New"/>
              </a:rPr>
              <a:t>    selected_db = select_db(graph_params['dbs'])  # {'nodb':0.2, 'sdb1':0.8}</a:t>
            </a:r>
          </a:p>
          <a:p>
            <a:r>
              <a:rPr sz="1100">
                <a:solidFill>
                  <a:srgbClr val="F9E2AF"/>
                </a:solidFill>
                <a:latin typeface="Courier New"/>
              </a:rPr>
              <a:t>    # 5. Guardar servicegraph.png (visualización del grafo)</a:t>
            </a:r>
          </a:p>
          <a:p>
            <a:r>
              <a:rPr sz="1100">
                <a:solidFill>
                  <a:srgbClr val="CBD3F0"/>
                </a:solidFill>
                <a:latin typeface="Courier New"/>
              </a:rPr>
              <a:t>    plot(g, f'{output_path}/{output_file_png}')</a:t>
            </a:r>
          </a:p>
          <a:p>
            <a:r>
              <a:rPr sz="1100">
                <a:solidFill>
                  <a:srgbClr val="CBD3F0"/>
                </a:solidFill>
                <a:latin typeface="Courier New"/>
              </a:rPr>
              <a:t>    return service_graph  # → dict listo para WorkModelGenerator</a:t>
            </a:r>
          </a:p>
        </p:txBody>
      </p:sp>
      <p:sp>
        <p:nvSpPr>
          <p:cNvPr id="6" name="Rectangle 5"/>
          <p:cNvSpPr/>
          <p:nvPr/>
        </p:nvSpPr>
        <p:spPr>
          <a:xfrm>
            <a:off x="365760" y="4023360"/>
            <a:ext cx="5577840" cy="27432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ServiceGraphParameters.json: parámetros de la topología ───────</a:t>
            </a:r>
          </a:p>
          <a:p>
            <a:r>
              <a:rPr sz="1100">
                <a:solidFill>
                  <a:srgbClr val="CBD3F0"/>
                </a:solidFill>
                <a:latin typeface="Courier New"/>
              </a:rPr>
              <a:t>{</a:t>
            </a:r>
          </a:p>
          <a:p>
            <a:r>
              <a:rPr sz="1100">
                <a:solidFill>
                  <a:srgbClr val="CBD3F0"/>
                </a:solidFill>
                <a:latin typeface="Courier New"/>
              </a:rPr>
              <a:t>  "ServiceGraphParameters": {</a:t>
            </a:r>
          </a:p>
          <a:p>
            <a:r>
              <a:rPr sz="1100">
                <a:solidFill>
                  <a:srgbClr val="F9E2AF"/>
                </a:solidFill>
                <a:latin typeface="Courier New"/>
              </a:rPr>
              <a:t>    "vertices": 2,                    // microservicios sin DB</a:t>
            </a:r>
          </a:p>
          <a:p>
            <a:r>
              <a:rPr sz="1100">
                <a:solidFill>
                  <a:srgbClr val="F9E2AF"/>
                </a:solidFill>
                <a:latin typeface="Courier New"/>
              </a:rPr>
              <a:t>    "external_service_groups": 1,     // grupos PARALELOS por nodo</a:t>
            </a:r>
          </a:p>
          <a:p>
            <a:r>
              <a:rPr sz="1100">
                <a:solidFill>
                  <a:srgbClr val="F9E2AF"/>
                </a:solidFill>
                <a:latin typeface="Courier New"/>
              </a:rPr>
              <a:t>    "power": 0.05,                    // Barabási power (0=uniforme)</a:t>
            </a:r>
          </a:p>
          <a:p>
            <a:r>
              <a:rPr sz="1100">
                <a:solidFill>
                  <a:srgbClr val="CBD3F0"/>
                </a:solidFill>
                <a:latin typeface="Courier New"/>
              </a:rPr>
              <a:t>    "seq_len": 100,                   // max servicios a llamar en secuencia</a:t>
            </a:r>
          </a:p>
          <a:p>
            <a:r>
              <a:rPr sz="1100">
                <a:solidFill>
                  <a:srgbClr val="CBD3F0"/>
                </a:solidFill>
                <a:latin typeface="Courier New"/>
              </a:rPr>
              <a:t>    "zero_appeal": 3.25,              // atracción de nodos sin conexiones</a:t>
            </a:r>
          </a:p>
          <a:p>
            <a:r>
              <a:rPr sz="1100">
                <a:solidFill>
                  <a:srgbClr val="CBD3F0"/>
                </a:solidFill>
                <a:latin typeface="Courier New"/>
              </a:rPr>
              <a:t>    "service_probability": {</a:t>
            </a:r>
          </a:p>
          <a:p>
            <a:r>
              <a:rPr sz="1100">
                <a:solidFill>
                  <a:srgbClr val="CBD3F0"/>
                </a:solidFill>
                <a:latin typeface="Courier New"/>
              </a:rPr>
              <a:t>      "model": "const",               // const | random</a:t>
            </a:r>
          </a:p>
          <a:p>
            <a:r>
              <a:rPr sz="1100">
                <a:solidFill>
                  <a:srgbClr val="CBD3F0"/>
                </a:solidFill>
                <a:latin typeface="Courier New"/>
              </a:rPr>
              <a:t>      "params": {"value": 1}          // probabilidad 100%</a:t>
            </a:r>
          </a:p>
          <a:p>
            <a:r>
              <a:rPr sz="1100">
                <a:solidFill>
                  <a:srgbClr val="CBD3F0"/>
                </a:solidFill>
                <a:latin typeface="Courier New"/>
              </a:rPr>
              <a:t>    },</a:t>
            </a:r>
          </a:p>
          <a:p>
            <a:r>
              <a:rPr sz="1100">
                <a:solidFill>
                  <a:srgbClr val="F9E2AF"/>
                </a:solidFill>
                <a:latin typeface="Courier New"/>
              </a:rPr>
              <a:t>    "dbs": {</a:t>
            </a:r>
          </a:p>
          <a:p>
            <a:r>
              <a:rPr sz="1100">
                <a:solidFill>
                  <a:srgbClr val="CBD3F0"/>
                </a:solidFill>
                <a:latin typeface="Courier New"/>
              </a:rPr>
              <a:t>      "nodb": 0.2,                    // 20% de nodos: sin DB</a:t>
            </a:r>
          </a:p>
          <a:p>
            <a:r>
              <a:rPr sz="1100">
                <a:solidFill>
                  <a:srgbClr val="CBD3F0"/>
                </a:solidFill>
                <a:latin typeface="Courier New"/>
              </a:rPr>
              <a:t>      "sdb1": 0.8,                    // 80% conectan a sdb1</a:t>
            </a:r>
          </a:p>
          <a:p>
            <a:r>
              <a:rPr sz="1100">
                <a:solidFill>
                  <a:srgbClr val="CBD3F0"/>
                </a:solidFill>
                <a:latin typeface="Courier New"/>
              </a:rPr>
              <a:t>      "sdb2": 0.0                     // 0% conectan a sdb2</a:t>
            </a:r>
          </a:p>
          <a:p>
            <a:r>
              <a:rPr sz="1100">
                <a:solidFill>
                  <a:srgbClr val="CBD3F0"/>
                </a:solidFill>
                <a:latin typeface="Courier New"/>
              </a:rPr>
              <a:t>    }</a:t>
            </a:r>
          </a:p>
          <a:p>
            <a:r>
              <a:rPr sz="1100">
                <a:solidFill>
                  <a:srgbClr val="CBD3F0"/>
                </a:solidFill>
                <a:latin typeface="Courier New"/>
              </a:rPr>
              <a:t>  },</a:t>
            </a:r>
          </a:p>
          <a:p>
            <a:r>
              <a:rPr sz="1100">
                <a:solidFill>
                  <a:srgbClr val="F9E2AF"/>
                </a:solidFill>
                <a:latin typeface="Courier New"/>
              </a:rPr>
              <a:t>  "OutputPath": "SimulationWorkspace",</a:t>
            </a:r>
          </a:p>
          <a:p>
            <a:r>
              <a:rPr sz="1100">
                <a:solidFill>
                  <a:srgbClr val="CBD3F0"/>
                </a:solidFill>
                <a:latin typeface="Courier New"/>
              </a:rPr>
              <a:t>  "OutputFile": "servicegraph.json"</a:t>
            </a:r>
          </a:p>
          <a:p>
            <a:r>
              <a:rPr sz="1100">
                <a:solidFill>
                  <a:srgbClr val="CBD3F0"/>
                </a:solidFill>
                <a:latin typeface="Courier New"/>
              </a:rPr>
              <a:t>}</a:t>
            </a:r>
          </a:p>
        </p:txBody>
      </p:sp>
      <p:sp>
        <p:nvSpPr>
          <p:cNvPr id="7" name="Rectangle 6"/>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Modelo Barabási-Albert</a:t>
            </a:r>
          </a:p>
          <a:p>
            <a:r>
              <a:rPr sz="1000">
                <a:solidFill>
                  <a:srgbClr val="555555"/>
                </a:solidFill>
              </a:rPr>
              <a:t>Simula topologías realistas:
  'rich get richer'
Nodos populares = más
conexiones entrantes.
power=0.05 → casi uniforme
power=1.0  → muy centralizado
m=1 → cada nodo nuevo
conecta con 1 nodo existente
zero_appeal=3.25:
  Atracción de nodos
  aún sin conexiones</a:t>
            </a:r>
          </a:p>
        </p:txBody>
      </p:sp>
      <p:sp>
        <p:nvSpPr>
          <p:cNvPr id="8" name="Rectangle 7"/>
          <p:cNvSpPr/>
          <p:nvPr/>
        </p:nvSpPr>
        <p:spPr>
          <a:xfrm>
            <a:off x="9052560" y="114300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Output: servicegraph.json</a:t>
            </a:r>
          </a:p>
          <a:p>
            <a:r>
              <a:rPr sz="1000">
                <a:solidFill>
                  <a:srgbClr val="555555"/>
                </a:solidFill>
              </a:rPr>
              <a:t>JSON con la topología:
{
  's0': {
    'external_services': [
      {'seq_len': 1,
       'services': ['s1'],
       'probabilities':
         {'s1': 1.0}}
    ]
  },
  's1': {'external_services':
    [{'services': ['sdb1']}]},
  'sdb1': {'external_services': []}
}</a:t>
            </a:r>
          </a:p>
        </p:txBody>
      </p:sp>
      <p:sp>
        <p:nvSpPr>
          <p:cNvPr id="9" name="Rectangle 8"/>
          <p:cNvSpPr/>
          <p:nvPr/>
        </p:nvSpPr>
        <p:spPr>
          <a:xfrm>
            <a:off x="6080760" y="338328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Rol en el Pipeline</a:t>
            </a:r>
          </a:p>
          <a:p>
            <a:r>
              <a:rPr sz="1000">
                <a:solidFill>
                  <a:srgbClr val="555555"/>
                </a:solidFill>
              </a:rPr>
              <a:t>PASO 1 del pipeline:
ServiceGraphParameters.json
          ↓
ServiceGraphGenerator.py
  → Barabási topology
  → servicegraph.png
          ↓
servicegraph.json
          ↓
WorkModelGenerator
  → añade CPU/bandwidth
          ↓
workmodel.json
          ↓
K8sDeployer → pods</a:t>
            </a:r>
          </a:p>
        </p:txBody>
      </p:sp>
      <p:sp>
        <p:nvSpPr>
          <p:cNvPr id="10" name="Rectangle 9"/>
          <p:cNvSpPr/>
          <p:nvPr/>
        </p:nvSpPr>
        <p:spPr>
          <a:xfrm>
            <a:off x="90525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Cómo ejecutarlo</a:t>
            </a:r>
          </a:p>
          <a:p>
            <a:r>
              <a:rPr sz="1000">
                <a:solidFill>
                  <a:srgbClr val="555555"/>
                </a:solidFill>
              </a:rPr>
              <a:t># Desde la raíz del proyecto:
python3 ServiceGraphGenerator/\
  RunServiceGraphGen.py \
  -c Configs/ServiceGraphParameters.json
# Output en SimulationWorkspace/:
  servicegraph.json
  servicegraph.png
# También lo llama el
# K8sAutopilot automáticamente:
  RunK8sAutopilot.py
  → llama RunServiceGraphGen.py
  → llama RunWorkModelGen.py
  → llama RunK8sDeployer.py</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WorkModelGenerator/ — Del ServiceGraph al WorkModel</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RunWorkModelGen.py · WorkModelGenerator.py · WorkModelParameters.json · workmodel.json</a:t>
            </a:r>
          </a:p>
        </p:txBody>
      </p:sp>
      <p:sp>
        <p:nvSpPr>
          <p:cNvPr id="5" name="Rectangle 4"/>
          <p:cNvSpPr/>
          <p:nvPr/>
        </p:nvSpPr>
        <p:spPr>
          <a:xfrm>
            <a:off x="365760" y="1143000"/>
            <a:ext cx="5577840" cy="30175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WorkModelGenerator.py: enriquece servicegraph con funciones ───</a:t>
            </a:r>
          </a:p>
          <a:p>
            <a:r>
              <a:rPr sz="1100">
                <a:solidFill>
                  <a:srgbClr val="F9E2AF"/>
                </a:solidFill>
                <a:latin typeface="Courier New"/>
              </a:rPr>
              <a:t>def get_work_model(service_graph, workmodel_params):</a:t>
            </a:r>
          </a:p>
          <a:p>
            <a:r>
              <a:rPr sz="1100">
                <a:solidFill>
                  <a:srgbClr val="CBD3F0"/>
                </a:solidFill>
                <a:latin typeface="Courier New"/>
              </a:rPr>
              <a:t>    request_method = workmodel_params['request_method']['value']</a:t>
            </a:r>
          </a:p>
          <a:p>
            <a:r>
              <a:rPr sz="1100">
                <a:solidFill>
                  <a:srgbClr val="CBD3F0"/>
                </a:solidFill>
                <a:latin typeface="Courier New"/>
              </a:rPr>
              <a:t>    databases_prefix = workmodel_params['databases_prefix']['value']  # 'sdb'</a:t>
            </a:r>
          </a:p>
          <a:p>
            <a:r>
              <a:rPr sz="1100">
                <a:solidFill>
                  <a:srgbClr val="CBD3F0"/>
                </a:solidFill>
                <a:latin typeface="Courier New"/>
              </a:rPr>
              <a:t>    #</a:t>
            </a:r>
          </a:p>
          <a:p>
            <a:r>
              <a:rPr sz="1100">
                <a:solidFill>
                  <a:srgbClr val="CBD3F0"/>
                </a:solidFill>
                <a:latin typeface="Courier New"/>
              </a:rPr>
              <a:t>    # Lee funciones del WorkModelParameters.json</a:t>
            </a:r>
          </a:p>
          <a:p>
            <a:r>
              <a:rPr sz="1100">
                <a:solidFill>
                  <a:srgbClr val="CBD3F0"/>
                </a:solidFill>
                <a:latin typeface="Courier New"/>
              </a:rPr>
              <a:t>    # Cada función tiene: name, parameters, probability, recipient</a:t>
            </a:r>
          </a:p>
          <a:p>
            <a:r>
              <a:rPr sz="1100">
                <a:solidFill>
                  <a:srgbClr val="F9E2AF"/>
                </a:solidFill>
                <a:latin typeface="Courier New"/>
              </a:rPr>
              <a:t>    for k in workmodel_params:</a:t>
            </a:r>
          </a:p>
          <a:p>
            <a:r>
              <a:rPr sz="1100">
                <a:solidFill>
                  <a:srgbClr val="CBD3F0"/>
                </a:solidFill>
                <a:latin typeface="Courier New"/>
              </a:rPr>
              <a:t>        if w['type'] == 'function':</a:t>
            </a:r>
          </a:p>
          <a:p>
            <a:r>
              <a:rPr sz="1100">
                <a:solidFill>
                  <a:srgbClr val="CBD3F0"/>
                </a:solidFill>
                <a:latin typeface="Courier New"/>
              </a:rPr>
              <a:t>            if w['value']['recipient'] == 'database':</a:t>
            </a:r>
          </a:p>
          <a:p>
            <a:r>
              <a:rPr sz="1100">
                <a:solidFill>
                  <a:srgbClr val="CBD3F0"/>
                </a:solidFill>
                <a:latin typeface="Courier New"/>
              </a:rPr>
              <a:t>                internal_services_db[k] = {...}  # para nodos sdb*</a:t>
            </a:r>
          </a:p>
          <a:p>
            <a:r>
              <a:rPr sz="1100">
                <a:solidFill>
                  <a:srgbClr val="CBD3F0"/>
                </a:solidFill>
                <a:latin typeface="Courier New"/>
              </a:rPr>
              <a:t>            else:</a:t>
            </a:r>
          </a:p>
          <a:p>
            <a:r>
              <a:rPr sz="1100">
                <a:solidFill>
                  <a:srgbClr val="CBD3F0"/>
                </a:solidFill>
                <a:latin typeface="Courier New"/>
              </a:rPr>
              <a:t>                internal_services[k] = {...}     # para nodos s*</a:t>
            </a:r>
          </a:p>
          <a:p>
            <a:r>
              <a:rPr sz="1100">
                <a:solidFill>
                  <a:srgbClr val="CBD3F0"/>
                </a:solidFill>
                <a:latin typeface="Courier New"/>
              </a:rPr>
              <a:t>    #</a:t>
            </a:r>
          </a:p>
          <a:p>
            <a:r>
              <a:rPr sz="1100">
                <a:solidFill>
                  <a:srgbClr val="F9E2AF"/>
                </a:solidFill>
                <a:latin typeface="Courier New"/>
              </a:rPr>
              <a:t>    # Asigna función a cada nodo (selección por probabilidad)</a:t>
            </a:r>
          </a:p>
          <a:p>
            <a:r>
              <a:rPr sz="1100">
                <a:solidFill>
                  <a:srgbClr val="CBD3F0"/>
                </a:solidFill>
                <a:latin typeface="Courier New"/>
              </a:rPr>
              <a:t>    for vertex in service_graph.keys():</a:t>
            </a:r>
          </a:p>
          <a:p>
            <a:r>
              <a:rPr sz="1100">
                <a:solidFill>
                  <a:srgbClr val="CBD3F0"/>
                </a:solidFill>
                <a:latin typeface="Courier New"/>
              </a:rPr>
              <a:t>        if vertex.startswith(databases_prefix):  # sdb1, sdb2</a:t>
            </a:r>
          </a:p>
          <a:p>
            <a:r>
              <a:rPr sz="1100">
                <a:solidFill>
                  <a:srgbClr val="CBD3F0"/>
                </a:solidFill>
                <a:latin typeface="Courier New"/>
              </a:rPr>
              <a:t>            fn = select_internal_service(internal_services_db)</a:t>
            </a:r>
          </a:p>
          <a:p>
            <a:r>
              <a:rPr sz="1100">
                <a:solidFill>
                  <a:srgbClr val="CBD3F0"/>
                </a:solidFill>
                <a:latin typeface="Courier New"/>
              </a:rPr>
              <a:t>        else:                                      # s0, s1, ...</a:t>
            </a:r>
          </a:p>
          <a:p>
            <a:r>
              <a:rPr sz="1100">
                <a:solidFill>
                  <a:srgbClr val="CBD3F0"/>
                </a:solidFill>
                <a:latin typeface="Courier New"/>
              </a:rPr>
              <a:t>            fn = select_internal_service(internal_services)</a:t>
            </a:r>
          </a:p>
          <a:p>
            <a:r>
              <a:rPr sz="1100">
                <a:solidFill>
                  <a:srgbClr val="F9E2AF"/>
                </a:solidFill>
                <a:latin typeface="Courier New"/>
              </a:rPr>
              <a:t>        work_model[vertex] = {</a:t>
            </a:r>
          </a:p>
          <a:p>
            <a:r>
              <a:rPr sz="1100">
                <a:solidFill>
                  <a:srgbClr val="CBD3F0"/>
                </a:solidFill>
                <a:latin typeface="Courier New"/>
              </a:rPr>
              <a:t>            'external_services': service_graph[vertex]['external_services'],</a:t>
            </a:r>
          </a:p>
          <a:p>
            <a:r>
              <a:rPr sz="1100">
                <a:solidFill>
                  <a:srgbClr val="CBD3F0"/>
                </a:solidFill>
                <a:latin typeface="Courier New"/>
              </a:rPr>
              <a:t>            'internal_service': {fn['name']: fn['parameters']},</a:t>
            </a:r>
          </a:p>
          <a:p>
            <a:r>
              <a:rPr sz="1100">
                <a:solidFill>
                  <a:srgbClr val="CBD3F0"/>
                </a:solidFill>
                <a:latin typeface="Courier New"/>
              </a:rPr>
              <a:t>            'request_method': request_method,   # rest | grpc</a:t>
            </a:r>
          </a:p>
          <a:p>
            <a:r>
              <a:rPr sz="1100">
                <a:solidFill>
                  <a:srgbClr val="CBD3F0"/>
                </a:solidFill>
                <a:latin typeface="Courier New"/>
              </a:rPr>
              <a:t>        }</a:t>
            </a:r>
          </a:p>
          <a:p>
            <a:r>
              <a:rPr sz="1100">
                <a:solidFill>
                  <a:srgbClr val="CBD3F0"/>
                </a:solidFill>
                <a:latin typeface="Courier New"/>
              </a:rPr>
              <a:t>    return work_model  # → workmodel.json</a:t>
            </a:r>
          </a:p>
        </p:txBody>
      </p:sp>
      <p:sp>
        <p:nvSpPr>
          <p:cNvPr id="6" name="Rectangle 5"/>
          <p:cNvSpPr/>
          <p:nvPr/>
        </p:nvSpPr>
        <p:spPr>
          <a:xfrm>
            <a:off x="365760" y="4251960"/>
            <a:ext cx="5577840" cy="25146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WorkModelParameters.json: funciones disponibles por nodo ──────</a:t>
            </a:r>
          </a:p>
          <a:p>
            <a:r>
              <a:rPr sz="1100">
                <a:solidFill>
                  <a:srgbClr val="CBD3F0"/>
                </a:solidFill>
                <a:latin typeface="Courier New"/>
              </a:rPr>
              <a:t>{</a:t>
            </a:r>
          </a:p>
          <a:p>
            <a:r>
              <a:rPr sz="1100">
                <a:solidFill>
                  <a:srgbClr val="CBD3F0"/>
                </a:solidFill>
                <a:latin typeface="Courier New"/>
              </a:rPr>
              <a:t>  "WorkModelParameters": {</a:t>
            </a:r>
          </a:p>
          <a:p>
            <a:r>
              <a:rPr sz="1100">
                <a:solidFill>
                  <a:srgbClr val="F9E2AF"/>
                </a:solidFill>
                <a:latin typeface="Courier New"/>
              </a:rPr>
              <a:t>    "f0": {"type": "function",  // compute_pi para servicios normales</a:t>
            </a:r>
          </a:p>
          <a:p>
            <a:r>
              <a:rPr sz="1100">
                <a:solidFill>
                  <a:srgbClr val="CBD3F0"/>
                </a:solidFill>
                <a:latin typeface="Courier New"/>
              </a:rPr>
              <a:t>      "value": {"name": "compute_pi", "recipient": "service",</a:t>
            </a:r>
          </a:p>
          <a:p>
            <a:r>
              <a:rPr sz="1100">
                <a:solidFill>
                  <a:srgbClr val="CBD3F0"/>
                </a:solidFill>
                <a:latin typeface="Courier New"/>
              </a:rPr>
              <a:t>        "probability": 0,       // 0% de probabilidad (desactivado)</a:t>
            </a:r>
          </a:p>
          <a:p>
            <a:r>
              <a:rPr sz="1100">
                <a:solidFill>
                  <a:srgbClr val="CBD3F0"/>
                </a:solidFill>
                <a:latin typeface="Courier New"/>
              </a:rPr>
              <a:t>        "parameters": {"mean_response_size": 10, "range_complexity": [50,100]},</a:t>
            </a:r>
          </a:p>
          <a:p>
            <a:r>
              <a:rPr sz="1100">
                <a:solidFill>
                  <a:srgbClr val="CBD3F0"/>
                </a:solidFill>
                <a:latin typeface="Courier New"/>
              </a:rPr>
              <a:t>        "workers": 4, "threads": 16,</a:t>
            </a:r>
          </a:p>
          <a:p>
            <a:r>
              <a:rPr sz="1100">
                <a:solidFill>
                  <a:srgbClr val="CBD3F0"/>
                </a:solidFill>
                <a:latin typeface="Courier New"/>
              </a:rPr>
              <a:t>        "cpu-requests": "1000m", "cpu-limits": "1000m"</a:t>
            </a:r>
          </a:p>
          <a:p>
            <a:r>
              <a:rPr sz="1100">
                <a:solidFill>
                  <a:srgbClr val="CBD3F0"/>
                </a:solidFill>
                <a:latin typeface="Courier New"/>
              </a:rPr>
              <a:t>    }},</a:t>
            </a:r>
          </a:p>
          <a:p>
            <a:r>
              <a:rPr sz="1100">
                <a:solidFill>
                  <a:srgbClr val="F9E2AF"/>
                </a:solidFill>
                <a:latin typeface="Courier New"/>
              </a:rPr>
              <a:t>    "f2": {"type": "function",  // loader para bases de datos (sdb*)</a:t>
            </a:r>
          </a:p>
          <a:p>
            <a:r>
              <a:rPr sz="1100">
                <a:solidFill>
                  <a:srgbClr val="CBD3F0"/>
                </a:solidFill>
                <a:latin typeface="Courier New"/>
              </a:rPr>
              <a:t>      "value": {"name": "loader", "recipient": "database",</a:t>
            </a:r>
          </a:p>
          <a:p>
            <a:r>
              <a:rPr sz="1100">
                <a:solidFill>
                  <a:srgbClr val="CBD3F0"/>
                </a:solidFill>
                <a:latin typeface="Courier New"/>
              </a:rPr>
              <a:t>        "probability": 1,       // 100% de probabilidad</a:t>
            </a:r>
          </a:p>
          <a:p>
            <a:r>
              <a:rPr sz="1100">
                <a:solidFill>
                  <a:srgbClr val="F9E2AF"/>
                </a:solidFill>
                <a:latin typeface="Courier New"/>
              </a:rPr>
              <a:t>        "parameters": {</a:t>
            </a:r>
          </a:p>
          <a:p>
            <a:r>
              <a:rPr sz="1100">
                <a:solidFill>
                  <a:srgbClr val="CBD3F0"/>
                </a:solidFill>
                <a:latin typeface="Courier New"/>
              </a:rPr>
              <a:t>          "disk_stress": {"run": true, "disk_write_block_count": 1000},</a:t>
            </a:r>
          </a:p>
          <a:p>
            <a:r>
              <a:rPr sz="1100">
                <a:solidFill>
                  <a:srgbClr val="CBD3F0"/>
                </a:solidFill>
                <a:latin typeface="Courier New"/>
              </a:rPr>
              <a:t>          "cpu_stress": {"run": false, ...}</a:t>
            </a:r>
          </a:p>
          <a:p>
            <a:r>
              <a:rPr sz="1100">
                <a:solidFill>
                  <a:srgbClr val="CBD3F0"/>
                </a:solidFill>
                <a:latin typeface="Courier New"/>
              </a:rPr>
              <a:t>    }}},</a:t>
            </a:r>
          </a:p>
          <a:p>
            <a:r>
              <a:rPr sz="1100">
                <a:solidFill>
                  <a:srgbClr val="F9E2AF"/>
                </a:solidFill>
                <a:latin typeface="Courier New"/>
              </a:rPr>
              <a:t>    "request_method": {"type": "metadata", "value": "rest"},</a:t>
            </a:r>
          </a:p>
          <a:p>
            <a:r>
              <a:rPr sz="1100">
                <a:solidFill>
                  <a:srgbClr val="CBD3F0"/>
                </a:solidFill>
                <a:latin typeface="Courier New"/>
              </a:rPr>
              <a:t>    "databases_prefix": {"type": "metadata", "value": "sdb"}</a:t>
            </a:r>
          </a:p>
          <a:p>
            <a:r>
              <a:rPr sz="1100">
                <a:solidFill>
                  <a:srgbClr val="CBD3F0"/>
                </a:solidFill>
                <a:latin typeface="Courier New"/>
              </a:rPr>
              <a:t>  }</a:t>
            </a:r>
          </a:p>
          <a:p>
            <a:r>
              <a:rPr sz="1100">
                <a:solidFill>
                  <a:srgbClr val="CBD3F0"/>
                </a:solidFill>
                <a:latin typeface="Courier New"/>
              </a:rPr>
              <a:t>}</a:t>
            </a:r>
          </a:p>
        </p:txBody>
      </p:sp>
      <p:sp>
        <p:nvSpPr>
          <p:cNvPr id="7" name="Rectangle 6"/>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Funciones internas disponibles</a:t>
            </a:r>
          </a:p>
          <a:p>
            <a:r>
              <a:rPr sz="1000">
                <a:solidFill>
                  <a:srgbClr val="555555"/>
                </a:solidFill>
              </a:rPr>
              <a:t>compute_pi:
  CPU real (Spigot π)
  range_complexity → dígitos
  mean_response_size → KB
loader:
  Simula cargas múltiples:
  • cpu_stress: hilos de cálculo
  • memory_stress: alloc/free
  • disk_stress: escritura bloques
  • sleep_stress: latencia fija
colosseum:
  Función avanzada (CustomFunctions)
  Carga configurable</a:t>
            </a:r>
          </a:p>
        </p:txBody>
      </p:sp>
      <p:sp>
        <p:nvSpPr>
          <p:cNvPr id="8" name="Rectangle 7"/>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Selección probabilística</a:t>
            </a:r>
          </a:p>
          <a:p>
            <a:r>
              <a:rPr sz="1000">
                <a:solidFill>
                  <a:srgbClr val="555555"/>
                </a:solidFill>
              </a:rPr>
              <a:t>Si hay 2 funciones:
  f0: probability=0.3
  f1: probability=0.7
select_internal_service():
  random() ∈ [0,1]
  → 30% elige f0
  → 70% elige f1
Resultado: cada nodo recibe
UNA función asignada
aleatoriamente al momento
de generar el workmodel.
Se puede forzar con:
  'override': {'s0': ...}</a:t>
            </a:r>
          </a:p>
        </p:txBody>
      </p:sp>
      <p:sp>
        <p:nvSpPr>
          <p:cNvPr id="9" name="Rectangle 8"/>
          <p:cNvSpPr/>
          <p:nvPr/>
        </p:nvSpPr>
        <p:spPr>
          <a:xfrm>
            <a:off x="60807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Output: workmodel.json</a:t>
            </a:r>
          </a:p>
          <a:p>
            <a:r>
              <a:rPr sz="1000">
                <a:solidFill>
                  <a:srgbClr val="555555"/>
                </a:solidFill>
              </a:rPr>
              <a:t>Combina servicegraph.json
+ funciones asignadas:
{
  's0': {
    'external_services':
       [{'services': ['s1']}],
    'internal_service':
       {'compute_pi': {
         'range_complexity': [50,100],
         'mean_response_size': 10}},
    'request_method': 'rest',
    'workers': 4
  }
}</a:t>
            </a:r>
          </a:p>
        </p:txBody>
      </p:sp>
      <p:sp>
        <p:nvSpPr>
          <p:cNvPr id="10" name="Rectangle 9"/>
          <p:cNvSpPr/>
          <p:nvPr/>
        </p:nvSpPr>
        <p:spPr>
          <a:xfrm>
            <a:off x="90525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Recursos K8s por servicio</a:t>
            </a:r>
          </a:p>
          <a:p>
            <a:r>
              <a:rPr sz="1000">
                <a:solidFill>
                  <a:srgbClr val="555555"/>
                </a:solidFill>
              </a:rPr>
              <a:t>WorkModelParameters permite
definir recursos por función:
  workers: 4    → PN (Gunicorn)
  threads: 16   → TN (gRPC)
  replicas: 2   → K8s replicas
  cpu-requests: '1000m'
  cpu-limits:   '1000m'
  memory-requests: ...
  memory-limits:   ...
K8sDeployer lee estos valores
y los inyecta en los
Deployment YAMLs generados.</a:t>
            </a:r>
          </a:p>
        </p:txBody>
      </p:sp>
      <p:sp>
        <p:nvSpPr>
          <p:cNvPr id="11" name="Rectangle 10"/>
          <p:cNvSpPr/>
          <p:nvPr/>
        </p:nvSpPr>
        <p:spPr>
          <a:xfrm>
            <a:off x="6080760" y="5623560"/>
            <a:ext cx="2834640" cy="2148840"/>
          </a:xfrm>
          <a:prstGeom prst="rect">
            <a:avLst/>
          </a:prstGeom>
          <a:solidFill>
            <a:srgbClr val="F0F4F8"/>
          </a:solidFill>
          <a:ln>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9E2AF"/>
                </a:solidFill>
                <a:latin typeface="Courier New"/>
              </a:rPr>
              <a:t>Override por nodo</a:t>
            </a:r>
          </a:p>
          <a:p>
            <a:r>
              <a:rPr sz="1000">
                <a:solidFill>
                  <a:srgbClr val="555555"/>
                </a:solidFill>
              </a:rPr>
              <a:t>workmodel.json permite
forzar una función específica
en un nodo concreto:
'override': {
  's0': {
    'function_id': 'f1',
    'sidecar': 'istio'
  }
}
s0 siempre usará f1
(sin importar probabilidades)
Útil para forzar nodo gateway
con función específica.</a:t>
            </a:r>
          </a:p>
        </p:txBody>
      </p:sp>
      <p:sp>
        <p:nvSpPr>
          <p:cNvPr id="12" name="Rectangle 11"/>
          <p:cNvSpPr/>
          <p:nvPr/>
        </p:nvSpPr>
        <p:spPr>
          <a:xfrm>
            <a:off x="90525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Pipeline completo (resumen)</a:t>
            </a:r>
          </a:p>
          <a:p>
            <a:r>
              <a:rPr sz="1000">
                <a:solidFill>
                  <a:srgbClr val="555555"/>
                </a:solidFill>
              </a:rPr>
              <a:t>1. ServiceGraphParameters.json
   ↓ RunServiceGraphGen.py
2. servicegraph.json
   + servicegraph.png
   ↓ RunWorkModelGen.py
3. workmodel.json
   ↓ RunK8sDeployer.py
4. Deployments K8s
   + ConfigMaps (workmodel)
   ↓ kubectl apply
5. CellController-mp.py
   lee workmodel.json
   → ejecuta comportamiento
Todo orquestado por:
  K8sAutopilot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Deployers / K8sDeployer</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Genera YAMLs desde plantillas y los despliega en el cluster via API de K8s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Deployers/K8sDeployer — Proposito y archivos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Convierte workmodel.json + K8sParameters.json en YAMLs y los aplica al cluster</a:t>
            </a:r>
          </a:p>
        </p:txBody>
      </p:sp>
      <p:sp>
        <p:nvSpPr>
          <p:cNvPr id="5" name="Rectangle 4"/>
          <p:cNvSpPr/>
          <p:nvPr/>
        </p:nvSpPr>
        <p:spPr>
          <a:xfrm>
            <a:off x="274320" y="1143000"/>
            <a:ext cx="5669280"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ourier New"/>
              </a:rPr>
              <a:t>RunK8sDeployer.py</a:t>
            </a:r>
          </a:p>
        </p:txBody>
      </p:sp>
      <p:sp>
        <p:nvSpPr>
          <p:cNvPr id="6" name="Rectangle 5"/>
          <p:cNvSpPr/>
          <p:nvPr/>
        </p:nvSpPr>
        <p:spPr>
          <a:xfrm>
            <a:off x="274320" y="1527048"/>
            <a:ext cx="5669280" cy="137160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a:solidFill>
                  <a:srgbClr val="555555"/>
                </a:solidFill>
              </a:rPr>
              <a:t>Punto de entrada CLI.
Lee K8sParameters.json, invoca
K8sYamlBuilder y K8sYamlDeployer.</a:t>
            </a:r>
          </a:p>
        </p:txBody>
      </p:sp>
      <p:sp>
        <p:nvSpPr>
          <p:cNvPr id="7" name="Rectangle 6"/>
          <p:cNvSpPr/>
          <p:nvPr/>
        </p:nvSpPr>
        <p:spPr>
          <a:xfrm>
            <a:off x="6217920" y="1143000"/>
            <a:ext cx="5669280" cy="384048"/>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ourier New"/>
              </a:rPr>
              <a:t>K8sYamlBuilder.py</a:t>
            </a:r>
          </a:p>
        </p:txBody>
      </p:sp>
      <p:sp>
        <p:nvSpPr>
          <p:cNvPr id="8" name="Rectangle 7"/>
          <p:cNvSpPr/>
          <p:nvPr/>
        </p:nvSpPr>
        <p:spPr>
          <a:xfrm>
            <a:off x="6217920" y="1527048"/>
            <a:ext cx="5669280" cy="137160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a:solidFill>
                  <a:srgbClr val="555555"/>
                </a:solidFill>
              </a:rPr>
              <a:t>Genera todos los YAMLs del proyecto
(Deployment, Service, ConfigMaps)
desde plantillas con placeholders.</a:t>
            </a:r>
          </a:p>
        </p:txBody>
      </p:sp>
      <p:sp>
        <p:nvSpPr>
          <p:cNvPr id="9" name="Rectangle 8"/>
          <p:cNvSpPr/>
          <p:nvPr/>
        </p:nvSpPr>
        <p:spPr>
          <a:xfrm>
            <a:off x="274320" y="3063240"/>
            <a:ext cx="5669280" cy="384048"/>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ourier New"/>
              </a:rPr>
              <a:t>K8sYamlDeployer.py</a:t>
            </a:r>
          </a:p>
        </p:txBody>
      </p:sp>
      <p:sp>
        <p:nvSpPr>
          <p:cNvPr id="10" name="Rectangle 9"/>
          <p:cNvSpPr/>
          <p:nvPr/>
        </p:nvSpPr>
        <p:spPr>
          <a:xfrm>
            <a:off x="274320" y="3447288"/>
            <a:ext cx="5669280" cy="137160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a:solidFill>
                  <a:srgbClr val="555555"/>
                </a:solidFill>
              </a:rPr>
              <a:t>Despliega y elimina recursos en K8s
via la API oficial de Python
(kubernetes-client).</a:t>
            </a:r>
          </a:p>
        </p:txBody>
      </p:sp>
      <p:sp>
        <p:nvSpPr>
          <p:cNvPr id="11" name="Rectangle 10"/>
          <p:cNvSpPr/>
          <p:nvPr/>
        </p:nvSpPr>
        <p:spPr>
          <a:xfrm>
            <a:off x="6217920" y="3063240"/>
            <a:ext cx="5669280" cy="384048"/>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ourier New"/>
              </a:rPr>
              <a:t>Templates/</a:t>
            </a:r>
          </a:p>
        </p:txBody>
      </p:sp>
      <p:sp>
        <p:nvSpPr>
          <p:cNvPr id="12" name="Rectangle 11"/>
          <p:cNvSpPr/>
          <p:nvPr/>
        </p:nvSpPr>
        <p:spPr>
          <a:xfrm>
            <a:off x="6217920" y="3447288"/>
            <a:ext cx="5669280" cy="137160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a:solidFill>
                  <a:srgbClr val="555555"/>
                </a:solidFill>
              </a:rPr>
              <a:t>6 plantillas YAML con placeholders
{{SERVICE_NAME}}, {{NAMESPACE}}, etc.
Base de todos los recursos generados.</a:t>
            </a:r>
          </a:p>
        </p:txBody>
      </p:sp>
      <p:sp>
        <p:nvSpPr>
          <p:cNvPr id="13" name="Rectangle 12"/>
          <p:cNvSpPr/>
          <p:nvPr/>
        </p:nvSpPr>
        <p:spPr>
          <a:xfrm>
            <a:off x="274320" y="5074920"/>
            <a:ext cx="11612880" cy="1554480"/>
          </a:xfrm>
          <a:prstGeom prst="rect">
            <a:avLst/>
          </a:prstGeom>
          <a:solidFill>
            <a:srgbClr val="E8F0FE"/>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E75B6"/>
                </a:solidFill>
              </a:rPr>
              <a:t>Flujo completo</a:t>
            </a:r>
          </a:p>
          <a:p>
            <a:r>
              <a:rPr sz="1200">
                <a:solidFill>
                  <a:srgbClr val="1F497D"/>
                </a:solidFill>
                <a:latin typeface="Courier New"/>
              </a:rPr>
              <a:t>workmodel.json + K8sParameters.json  →  RunK8sDeployer.py  →  K8sYamlBuilder.customization_work_model()  [inyecta url/namespace/image en workmodel]  →  create_deployment_service_yaml_files()  [plantillas + str.replace]  →  create_workmodel_configmap_yaml_file()  [workmodel.json como ConfigMap]  →  create_internalservice_configmap_yaml_file()  [CustomFunctions como ConfigMap]  →  K8sYamlDeployer.deploy_items()  [API K8s: create_namespaced_deployment/service/config_map]</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K8sYamlBuilder.py — Generacion de YAMLs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4 funciones que producen todos los archivos YAML del proyecto</a:t>
            </a:r>
          </a:p>
        </p:txBody>
      </p:sp>
      <p:sp>
        <p:nvSpPr>
          <p:cNvPr id="5" name="Rectangle 4"/>
          <p:cNvSpPr/>
          <p:nvPr/>
        </p:nvSpPr>
        <p:spPr>
          <a:xfrm>
            <a:off x="365760" y="1143000"/>
            <a:ext cx="576072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1. Inyecta url/namespace/image en workmodel</a:t>
            </a:r>
          </a:p>
          <a:p>
            <a:r>
              <a:rPr sz="1100">
                <a:solidFill>
                  <a:srgbClr val="CBD3F0"/>
                </a:solidFill>
                <a:latin typeface="Courier New"/>
              </a:rPr>
              <a:t>def customization_work_model(workmodel, k8s_parameters):</a:t>
            </a:r>
          </a:p>
          <a:p>
            <a:r>
              <a:rPr sz="1100">
                <a:solidFill>
                  <a:srgbClr val="F9E2AF"/>
                </a:solidFill>
                <a:latin typeface="Courier New"/>
              </a:rPr>
              <a:t>  for service in workmodel:</a:t>
            </a:r>
          </a:p>
          <a:p>
            <a:r>
              <a:rPr sz="1100">
                <a:solidFill>
                  <a:srgbClr val="CBD3F0"/>
                </a:solidFill>
                <a:latin typeface="Courier New"/>
              </a:rPr>
              <a:t>    workmodel[service].update({'url':</a:t>
            </a:r>
          </a:p>
          <a:p>
            <a:r>
              <a:rPr sz="1100">
                <a:solidFill>
                  <a:srgbClr val="CBD3F0"/>
                </a:solidFill>
                <a:latin typeface="Courier New"/>
              </a:rPr>
              <a:t>      f'{service}.{namespace}.svc.{domain}.local'})</a:t>
            </a:r>
          </a:p>
          <a:p>
            <a:r>
              <a:rPr sz="1100">
                <a:solidFill>
                  <a:srgbClr val="CBD3F0"/>
                </a:solidFill>
                <a:latin typeface="Courier New"/>
              </a:rPr>
              <a:t>    workmodel[service].update({'path': k8s_params['path']})</a:t>
            </a:r>
          </a:p>
          <a:p>
            <a:r>
              <a:rPr sz="1100">
                <a:solidFill>
                  <a:srgbClr val="CBD3F0"/>
                </a:solidFill>
                <a:latin typeface="Courier New"/>
              </a:rPr>
              <a:t>    workmodel[service].update({'image': k8s_params['image']})</a:t>
            </a:r>
          </a:p>
          <a:p>
            <a:r>
              <a:rPr sz="1100">
                <a:solidFill>
                  <a:srgbClr val="CBD3F0"/>
                </a:solidFill>
                <a:latin typeface="Courier New"/>
              </a:rPr>
              <a:t>    # override cpu/memory si estan en K8sParameters</a:t>
            </a:r>
          </a:p>
          <a:p>
            <a:r>
              <a:rPr sz="1100">
                <a:solidFill>
                  <a:srgbClr val="CBD3F0"/>
                </a:solidFill>
                <a:latin typeface="Courier New"/>
              </a:rPr>
              <a:t/>
            </a:r>
          </a:p>
          <a:p>
            <a:r>
              <a:rPr sz="1100">
                <a:solidFill>
                  <a:srgbClr val="CBD3F0"/>
                </a:solidFill>
                <a:latin typeface="Courier New"/>
              </a:rPr>
              <a:t># 2. Deployment + Service YAMLs (uno por servicio)</a:t>
            </a:r>
          </a:p>
          <a:p>
            <a:r>
              <a:rPr sz="1100">
                <a:solidFill>
                  <a:srgbClr val="CBD3F0"/>
                </a:solidFill>
                <a:latin typeface="Courier New"/>
              </a:rPr>
              <a:t>def create_deployment_service_yaml_files(...):</a:t>
            </a:r>
          </a:p>
          <a:p>
            <a:r>
              <a:rPr sz="1100">
                <a:solidFill>
                  <a:srgbClr val="F9E2AF"/>
                </a:solidFill>
                <a:latin typeface="Courier New"/>
              </a:rPr>
              <a:t>  for service in workmodel:</a:t>
            </a:r>
          </a:p>
          <a:p>
            <a:r>
              <a:rPr sz="1100">
                <a:solidFill>
                  <a:srgbClr val="CBD3F0"/>
                </a:solidFill>
                <a:latin typeface="Courier New"/>
              </a:rPr>
              <a:t>    f = open('Templates/DeploymentTemplate.yaml').read()</a:t>
            </a:r>
          </a:p>
          <a:p>
            <a:r>
              <a:rPr sz="1100">
                <a:solidFill>
                  <a:srgbClr val="CBD3F0"/>
                </a:solidFill>
                <a:latin typeface="Courier New"/>
              </a:rPr>
              <a:t>    f = f.replace('{{SERVICE_NAME}}', service)</a:t>
            </a:r>
          </a:p>
          <a:p>
            <a:r>
              <a:rPr sz="1100">
                <a:solidFill>
                  <a:srgbClr val="CBD3F0"/>
                </a:solidFill>
                <a:latin typeface="Courier New"/>
              </a:rPr>
              <a:t>    f = f.replace('{{IMAGE}}', workmodel[service]['image'])</a:t>
            </a:r>
          </a:p>
          <a:p>
            <a:r>
              <a:rPr sz="1100">
                <a:solidFill>
                  <a:srgbClr val="CBD3F0"/>
                </a:solidFill>
                <a:latin typeface="Courier New"/>
              </a:rPr>
              <a:t>    f = f.replace('{{REPLICAS}}', str(replicas))</a:t>
            </a:r>
          </a:p>
          <a:p>
            <a:r>
              <a:rPr sz="1100">
                <a:solidFill>
                  <a:srgbClr val="F9E2AF"/>
                </a:solidFill>
                <a:latin typeface="Courier New"/>
              </a:rPr>
              <a:t>    rank_string = str(cpu_milli).zfill(5)  # para ordenar</a:t>
            </a:r>
          </a:p>
          <a:p>
            <a:r>
              <a:rPr sz="1100">
                <a:solidFill>
                  <a:srgbClr val="CBD3F0"/>
                </a:solidFill>
                <a:latin typeface="Courier New"/>
              </a:rPr>
              <a:t>    open(f'{prefix}-{rank}-Deployment-{service}.yaml','w')</a:t>
            </a:r>
          </a:p>
          <a:p>
            <a:r>
              <a:rPr sz="1100">
                <a:solidFill>
                  <a:srgbClr val="CBD3F0"/>
                </a:solidFill>
                <a:latin typeface="Courier New"/>
              </a:rPr>
              <a:t/>
            </a:r>
          </a:p>
          <a:p>
            <a:r>
              <a:rPr sz="1100">
                <a:solidFill>
                  <a:srgbClr val="CBD3F0"/>
                </a:solidFill>
                <a:latin typeface="Courier New"/>
              </a:rPr>
              <a:t># 3. workmodel.json como ConfigMap</a:t>
            </a:r>
          </a:p>
          <a:p>
            <a:r>
              <a:rPr sz="1100">
                <a:solidFill>
                  <a:srgbClr val="F9E2AF"/>
                </a:solidFill>
                <a:latin typeface="Courier New"/>
              </a:rPr>
              <a:t>def create_workmodel_configmap_yaml_file(...):</a:t>
            </a:r>
          </a:p>
          <a:p>
            <a:r>
              <a:rPr sz="1100">
                <a:solidFill>
                  <a:srgbClr val="CBD3F0"/>
                </a:solidFill>
                <a:latin typeface="Courier New"/>
              </a:rPr>
              <a:t>  j = json.dumps(workmodel, indent=2)</a:t>
            </a:r>
          </a:p>
          <a:p>
            <a:r>
              <a:rPr sz="1100">
                <a:solidFill>
                  <a:srgbClr val="CBD3F0"/>
                </a:solidFill>
                <a:latin typeface="Courier New"/>
              </a:rPr>
              <a:t>  j = '    '.join(j.splitlines(True))  # indentacion YAML</a:t>
            </a:r>
          </a:p>
          <a:p>
            <a:r>
              <a:rPr sz="1100">
                <a:solidFill>
                  <a:srgbClr val="CBD3F0"/>
                </a:solidFill>
                <a:latin typeface="Courier New"/>
              </a:rPr>
              <a:t>  f = template.replace('{{WORKMODEL}}', j)</a:t>
            </a:r>
          </a:p>
          <a:p>
            <a:r>
              <a:rPr sz="1100">
                <a:solidFill>
                  <a:srgbClr val="CBD3F0"/>
                </a:solidFill>
                <a:latin typeface="Courier New"/>
              </a:rPr>
              <a:t/>
            </a:r>
          </a:p>
          <a:p>
            <a:r>
              <a:rPr sz="1100">
                <a:solidFill>
                  <a:srgbClr val="F9E2AF"/>
                </a:solidFill>
                <a:latin typeface="Courier New"/>
              </a:rPr>
              <a:t># 4. CustomFunctions como ConfigMap</a:t>
            </a:r>
          </a:p>
          <a:p>
            <a:r>
              <a:rPr sz="1100">
                <a:solidFill>
                  <a:srgbClr val="CBD3F0"/>
                </a:solidFill>
                <a:latin typeface="Courier New"/>
              </a:rPr>
              <a:t>def create_internalservice_configmap_yaml_file(...):</a:t>
            </a:r>
          </a:p>
          <a:p>
            <a:r>
              <a:rPr sz="1100">
                <a:solidFill>
                  <a:srgbClr val="CBD3F0"/>
                </a:solidFill>
                <a:latin typeface="Courier New"/>
              </a:rPr>
              <a:t>  for file_name in os.listdir(CustomFunctions/):</a:t>
            </a:r>
          </a:p>
          <a:p>
            <a:r>
              <a:rPr sz="1100">
                <a:solidFill>
                  <a:srgbClr val="CBD3F0"/>
                </a:solidFill>
                <a:latin typeface="Courier New"/>
              </a:rPr>
              <a:t>    data_dict[file_name] = open(file_name).read()</a:t>
            </a:r>
          </a:p>
          <a:p>
            <a:r>
              <a:rPr sz="1100">
                <a:solidFill>
                  <a:srgbClr val="CBD3F0"/>
                </a:solidFill>
                <a:latin typeface="Courier New"/>
              </a:rPr>
              <a:t>  f = template.replace('{{DATA}}', json.dumps(data_dict))</a:t>
            </a:r>
          </a:p>
        </p:txBody>
      </p:sp>
      <p:sp>
        <p:nvSpPr>
          <p:cNvPr id="6" name="Rectangle 5"/>
          <p:cNvSpPr/>
          <p:nvPr/>
        </p:nvSpPr>
        <p:spPr>
          <a:xfrm>
            <a:off x="6309360" y="1143000"/>
            <a:ext cx="2788920" cy="25603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rank_string — ordenamiento inteligente</a:t>
            </a:r>
          </a:p>
          <a:p>
            <a:r>
              <a:rPr sz="1100">
                <a:solidFill>
                  <a:srgbClr val="555555"/>
                </a:solidFill>
              </a:rPr>
              <a:t>El nombre del YAML incluye el rank:
prefix-00200-Deployment-api.yaml
prefix-00100-Deployment-auth.yaml
deploy_items() ordena f.sort(reverse=True)
→ los pods con MAS CPU se despliegan PRIMERO.
Esto evita que pods ligeros queden en
espera de recursos mientras los pesados
estan arrancando.</a:t>
            </a:r>
          </a:p>
        </p:txBody>
      </p:sp>
      <p:sp>
        <p:nvSpPr>
          <p:cNvPr id="7" name="Rectangle 6"/>
          <p:cNvSpPr/>
          <p:nvPr/>
        </p:nvSpPr>
        <p:spPr>
          <a:xfrm>
            <a:off x="9235440" y="1143000"/>
            <a:ext cx="2788920" cy="25603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customization_work_model — enriquecimiento</a:t>
            </a:r>
          </a:p>
          <a:p>
            <a:r>
              <a:rPr sz="1100">
                <a:solidFill>
                  <a:srgbClr val="555555"/>
                </a:solidFill>
              </a:rPr>
              <a:t>Agrega al workmodel campos que no tiene:
url: nombre DNS completo del servicio
  (para que los pods se llamen entre si)
path: /api/v1
image: msvcbench/microservice:latest
namespace: mubench-realistic / default
Permite que workmodel.json sea independiente
de la infraestructura K8s.</a:t>
            </a:r>
          </a:p>
        </p:txBody>
      </p:sp>
      <p:sp>
        <p:nvSpPr>
          <p:cNvPr id="8" name="Rectangle 7"/>
          <p:cNvSpPr/>
          <p:nvPr/>
        </p:nvSpPr>
        <p:spPr>
          <a:xfrm>
            <a:off x="6309360" y="3886200"/>
            <a:ext cx="2788920" cy="25603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ConfigMap con codigo Python</a:t>
            </a:r>
          </a:p>
          <a:p>
            <a:r>
              <a:rPr sz="1100">
                <a:solidFill>
                  <a:srgbClr val="555555"/>
                </a:solidFill>
              </a:rPr>
              <a:t>create_internalservice_configmap_yaml_file
lee cada .py de CustomFunctions/ y lo
embebe como string en el ConfigMap.
El pod lo monta en:
/app/MSConfig/InternalServiceFunctions/
CellController hace importlib.import_module
de ese directorio → acoplamiento cero.</a:t>
            </a:r>
          </a:p>
        </p:txBody>
      </p:sp>
      <p:sp>
        <p:nvSpPr>
          <p:cNvPr id="9" name="Rectangle 8"/>
          <p:cNvSpPr/>
          <p:nvPr/>
        </p:nvSpPr>
        <p:spPr>
          <a:xfrm>
            <a:off x="9235440" y="3886200"/>
            <a:ext cx="2788920" cy="25603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ConfigMap con workmodel.json</a:t>
            </a:r>
          </a:p>
          <a:p>
            <a:r>
              <a:rPr sz="1100">
                <a:solidFill>
                  <a:srgbClr val="555555"/>
                </a:solidFill>
              </a:rPr>
              <a:t>Todo workmodel.json se embebe en un
ConfigMap (clave: workmodel.json).
El pod lo monta en: /app/MSConfig/
CellController lo lee al arrancar para
saber a que servicios llamar y con
que funcion responder a cada request.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Templates/ — 6 plantillas YAML con placeholders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K8sYamlBuilder.py lee cada plantilla y reemplaza {{PLACEHOLDER}} con valores reales</a:t>
            </a:r>
          </a:p>
        </p:txBody>
      </p:sp>
      <p:sp>
        <p:nvSpPr>
          <p:cNvPr id="5" name="Rectangle 4"/>
          <p:cNvSpPr/>
          <p:nvPr/>
        </p:nvSpPr>
        <p:spPr>
          <a:xfrm>
            <a:off x="365760" y="1143000"/>
            <a:ext cx="566928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DeploymentTemplate.yaml (extracto)</a:t>
            </a:r>
          </a:p>
          <a:p>
            <a:r>
              <a:rPr sz="1100">
                <a:solidFill>
                  <a:srgbClr val="CBD3F0"/>
                </a:solidFill>
                <a:latin typeface="Courier New"/>
              </a:rPr>
              <a:t>apiVersion: apps/v1</a:t>
            </a:r>
          </a:p>
          <a:p>
            <a:r>
              <a:rPr sz="1100">
                <a:solidFill>
                  <a:srgbClr val="CBD3F0"/>
                </a:solidFill>
                <a:latin typeface="Courier New"/>
              </a:rPr>
              <a:t>kind: Deployment</a:t>
            </a:r>
          </a:p>
          <a:p>
            <a:r>
              <a:rPr sz="1100">
                <a:solidFill>
                  <a:srgbClr val="CBD3F0"/>
                </a:solidFill>
                <a:latin typeface="Courier New"/>
              </a:rPr>
              <a:t>metadata:</a:t>
            </a:r>
          </a:p>
          <a:p>
            <a:r>
              <a:rPr sz="1100">
                <a:solidFill>
                  <a:srgbClr val="F9E2AF"/>
                </a:solidFill>
                <a:latin typeface="Courier New"/>
              </a:rPr>
              <a:t>  name: {{SERVICE_NAME}}</a:t>
            </a:r>
          </a:p>
          <a:p>
            <a:r>
              <a:rPr sz="1100">
                <a:solidFill>
                  <a:srgbClr val="F9E2AF"/>
                </a:solidFill>
                <a:latin typeface="Courier New"/>
              </a:rPr>
              <a:t>  namespace: {{NAMESPACE}}</a:t>
            </a:r>
          </a:p>
          <a:p>
            <a:r>
              <a:rPr sz="1100">
                <a:solidFill>
                  <a:srgbClr val="CBD3F0"/>
                </a:solidFill>
                <a:latin typeface="Courier New"/>
              </a:rPr>
              <a:t>  labels:</a:t>
            </a:r>
          </a:p>
          <a:p>
            <a:r>
              <a:rPr sz="1100">
                <a:solidFill>
                  <a:srgbClr val="CBD3F0"/>
                </a:solidFill>
                <a:latin typeface="Courier New"/>
              </a:rPr>
              <a:t>    app: {{SERVICE_NAME}}</a:t>
            </a:r>
          </a:p>
          <a:p>
            <a:r>
              <a:rPr sz="1100">
                <a:solidFill>
                  <a:srgbClr val="CBD3F0"/>
                </a:solidFill>
                <a:latin typeface="Courier New"/>
              </a:rPr>
              <a:t>spec:</a:t>
            </a:r>
          </a:p>
          <a:p>
            <a:r>
              <a:rPr sz="1100">
                <a:solidFill>
                  <a:srgbClr val="CBD3F0"/>
                </a:solidFill>
                <a:latin typeface="Courier New"/>
              </a:rPr>
              <a:t>  replicas: {{REPLICAS}}</a:t>
            </a:r>
          </a:p>
          <a:p>
            <a:r>
              <a:rPr sz="1100">
                <a:solidFill>
                  <a:srgbClr val="F9E2AF"/>
                </a:solidFill>
                <a:latin typeface="Courier New"/>
              </a:rPr>
              <a:t>  {{NODE_AFFINITY}}</a:t>
            </a:r>
          </a:p>
          <a:p>
            <a:r>
              <a:rPr sz="1100">
                <a:solidFill>
                  <a:srgbClr val="CBD3F0"/>
                </a:solidFill>
                <a:latin typeface="Courier New"/>
              </a:rPr>
              <a:t>  template:</a:t>
            </a:r>
          </a:p>
          <a:p>
            <a:r>
              <a:rPr sz="1100">
                <a:solidFill>
                  <a:srgbClr val="CBD3F0"/>
                </a:solidFill>
                <a:latin typeface="Courier New"/>
              </a:rPr>
              <a:t>    spec:</a:t>
            </a:r>
          </a:p>
          <a:p>
            <a:r>
              <a:rPr sz="1100">
                <a:solidFill>
                  <a:srgbClr val="CBD3F0"/>
                </a:solidFill>
                <a:latin typeface="Courier New"/>
              </a:rPr>
              <a:t>      schedulerName: {{SCHEDULER_NAME}}</a:t>
            </a:r>
          </a:p>
          <a:p>
            <a:r>
              <a:rPr sz="1100">
                <a:solidFill>
                  <a:srgbClr val="CBD3F0"/>
                </a:solidFill>
                <a:latin typeface="Courier New"/>
              </a:rPr>
              <a:t>      containers:</a:t>
            </a:r>
          </a:p>
          <a:p>
            <a:r>
              <a:rPr sz="1100">
                <a:solidFill>
                  <a:srgbClr val="CBD3F0"/>
                </a:solidFill>
                <a:latin typeface="Courier New"/>
              </a:rPr>
              <a:t>        - name: {{SERVICE_NAME}}</a:t>
            </a:r>
          </a:p>
          <a:p>
            <a:r>
              <a:rPr sz="1100">
                <a:solidFill>
                  <a:srgbClr val="CBD3F0"/>
                </a:solidFill>
                <a:latin typeface="Courier New"/>
              </a:rPr>
              <a:t>          image: {{IMAGE}}</a:t>
            </a:r>
          </a:p>
          <a:p>
            <a:r>
              <a:rPr sz="1100">
                <a:solidFill>
                  <a:srgbClr val="CBD3F0"/>
                </a:solidFill>
                <a:latin typeface="Courier New"/>
              </a:rPr>
              <a:t>          env:</a:t>
            </a:r>
          </a:p>
          <a:p>
            <a:r>
              <a:rPr sz="1100">
                <a:solidFill>
                  <a:srgbClr val="CBD3F0"/>
                </a:solidFill>
                <a:latin typeface="Courier New"/>
              </a:rPr>
              <a:t>            - name: PN</a:t>
            </a:r>
          </a:p>
          <a:p>
            <a:r>
              <a:rPr sz="1100">
                <a:solidFill>
                  <a:srgbClr val="F9E2AF"/>
                </a:solidFill>
                <a:latin typeface="Courier New"/>
              </a:rPr>
              <a:t>              value: {{PN}}   # gunicorn workers</a:t>
            </a:r>
          </a:p>
          <a:p>
            <a:r>
              <a:rPr sz="1100">
                <a:solidFill>
                  <a:srgbClr val="CBD3F0"/>
                </a:solidFill>
                <a:latin typeface="Courier New"/>
              </a:rPr>
              <a:t>            - name: TN</a:t>
            </a:r>
          </a:p>
          <a:p>
            <a:r>
              <a:rPr sz="1100">
                <a:solidFill>
                  <a:srgbClr val="F9E2AF"/>
                </a:solidFill>
                <a:latin typeface="Courier New"/>
              </a:rPr>
              <a:t>              value: {{TN}}   # gunicorn threads</a:t>
            </a:r>
          </a:p>
          <a:p>
            <a:r>
              <a:rPr sz="1100">
                <a:solidFill>
                  <a:srgbClr val="F9E2AF"/>
                </a:solidFill>
                <a:latin typeface="Courier New"/>
              </a:rPr>
              <a:t>          resources:{{RESOURCES}}</a:t>
            </a:r>
          </a:p>
          <a:p>
            <a:r>
              <a:rPr sz="1100">
                <a:solidFill>
                  <a:srgbClr val="CBD3F0"/>
                </a:solidFill>
                <a:latin typeface="Courier New"/>
              </a:rPr>
              <a:t>          volumeMounts:</a:t>
            </a:r>
          </a:p>
          <a:p>
            <a:r>
              <a:rPr sz="1100">
                <a:solidFill>
                  <a:srgbClr val="CBD3F0"/>
                </a:solidFill>
                <a:latin typeface="Courier New"/>
              </a:rPr>
              <a:t>            - mountPath: /app/MSConfig</a:t>
            </a:r>
          </a:p>
          <a:p>
            <a:r>
              <a:rPr sz="1100">
                <a:solidFill>
                  <a:srgbClr val="F9E2AF"/>
                </a:solidFill>
                <a:latin typeface="Courier New"/>
              </a:rPr>
              <a:t>              name: microservice-workmodel</a:t>
            </a:r>
          </a:p>
          <a:p>
            <a:r>
              <a:rPr sz="1100">
                <a:solidFill>
                  <a:srgbClr val="CBD3F0"/>
                </a:solidFill>
                <a:latin typeface="Courier New"/>
              </a:rPr>
              <a:t>            - mountPath: /app/MSConfig/Internal...</a:t>
            </a:r>
          </a:p>
          <a:p>
            <a:r>
              <a:rPr sz="1100">
                <a:solidFill>
                  <a:srgbClr val="F9E2AF"/>
                </a:solidFill>
                <a:latin typeface="Courier New"/>
              </a:rPr>
              <a:t>              name: microservice-internal-services</a:t>
            </a:r>
          </a:p>
        </p:txBody>
      </p:sp>
      <p:sp>
        <p:nvSpPr>
          <p:cNvPr id="6" name="Rectangle 5"/>
          <p:cNvSpPr/>
          <p:nvPr/>
        </p:nvSpPr>
        <p:spPr>
          <a:xfrm>
            <a:off x="6035040" y="1143000"/>
            <a:ext cx="2926080" cy="29260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DeploymentTemplate.yaml</a:t>
            </a:r>
          </a:p>
        </p:txBody>
      </p:sp>
      <p:sp>
        <p:nvSpPr>
          <p:cNvPr id="7" name="Rectangle 6"/>
          <p:cNvSpPr/>
          <p:nvPr/>
        </p:nvSpPr>
        <p:spPr>
          <a:xfrm>
            <a:off x="6035040" y="1435608"/>
            <a:ext cx="2926080" cy="14173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rPr>
              <a:t>Genera un Deployment por servicio.
Placeholders clave: SERVICE_NAME, IMAGE,
NAMESPACE, REPLICAS, PN, TN, RESOURCES,
NODE_AFFINITY, POD_ANTIAFFINITY, SIDECAR.
Monta 2 ConfigMaps como volumenes.</a:t>
            </a:r>
          </a:p>
        </p:txBody>
      </p:sp>
      <p:sp>
        <p:nvSpPr>
          <p:cNvPr id="8" name="Rectangle 7"/>
          <p:cNvSpPr/>
          <p:nvPr/>
        </p:nvSpPr>
        <p:spPr>
          <a:xfrm>
            <a:off x="9098280" y="1143000"/>
            <a:ext cx="2926080" cy="292608"/>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ServiceTemplate.yaml</a:t>
            </a:r>
          </a:p>
        </p:txBody>
      </p:sp>
      <p:sp>
        <p:nvSpPr>
          <p:cNvPr id="9" name="Rectangle 8"/>
          <p:cNvSpPr/>
          <p:nvPr/>
        </p:nvSpPr>
        <p:spPr>
          <a:xfrm>
            <a:off x="9098280" y="1435608"/>
            <a:ext cx="2926080" cy="14173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rPr>
              <a:t>Genera un Service ClusterIP por servicio.
Placeholders: SERVICE_NAME, NAMESPACE.
Puerto 80 → containerPort 8080.
Permite que los pods se llamen por nombre
DNS dentro del cluster.</a:t>
            </a:r>
          </a:p>
        </p:txBody>
      </p:sp>
      <p:sp>
        <p:nvSpPr>
          <p:cNvPr id="10" name="Rectangle 9"/>
          <p:cNvSpPr/>
          <p:nvPr/>
        </p:nvSpPr>
        <p:spPr>
          <a:xfrm>
            <a:off x="6035040" y="2971800"/>
            <a:ext cx="2926080" cy="292608"/>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DeploymentNginxGwTemplate.yaml</a:t>
            </a:r>
          </a:p>
        </p:txBody>
      </p:sp>
      <p:sp>
        <p:nvSpPr>
          <p:cNvPr id="11" name="Rectangle 10"/>
          <p:cNvSpPr/>
          <p:nvPr/>
        </p:nvSpPr>
        <p:spPr>
          <a:xfrm>
            <a:off x="6035040" y="3264408"/>
            <a:ext cx="2926080" cy="14173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rPr>
              <a:t>Genera el Deployment del nginx gateway.
Placeholder: NAMESPACE, SVCTYPE, SCHEDULER.
SVCTYPE=NodePort → expone :31213.
Solo se genera si nginx-gw:true en
K8sParameters.json.</a:t>
            </a:r>
          </a:p>
        </p:txBody>
      </p:sp>
      <p:sp>
        <p:nvSpPr>
          <p:cNvPr id="12" name="Rectangle 11"/>
          <p:cNvSpPr/>
          <p:nvPr/>
        </p:nvSpPr>
        <p:spPr>
          <a:xfrm>
            <a:off x="9098280" y="2971800"/>
            <a:ext cx="2926080" cy="292608"/>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ConfigMapNginxGwTemplate.yaml</a:t>
            </a:r>
          </a:p>
        </p:txBody>
      </p:sp>
      <p:sp>
        <p:nvSpPr>
          <p:cNvPr id="13" name="Rectangle 12"/>
          <p:cNvSpPr/>
          <p:nvPr/>
        </p:nvSpPr>
        <p:spPr>
          <a:xfrm>
            <a:off x="9098280" y="3264408"/>
            <a:ext cx="2926080" cy="14173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rPr>
              <a:t>ConfigMap con la config de nginx.conf.
Placeholders: NAMESPACE, PATH, RESOLVER.
RESOLVER = coredns/kube-dns segun cluster.
PATH = /api/v1 → upstream de cada servicio.</a:t>
            </a:r>
          </a:p>
        </p:txBody>
      </p:sp>
      <p:sp>
        <p:nvSpPr>
          <p:cNvPr id="14" name="Rectangle 13"/>
          <p:cNvSpPr/>
          <p:nvPr/>
        </p:nvSpPr>
        <p:spPr>
          <a:xfrm>
            <a:off x="6035040" y="4800600"/>
            <a:ext cx="2926080" cy="2926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ConfigMapWorkmodelTemplate.yaml</a:t>
            </a:r>
          </a:p>
        </p:txBody>
      </p:sp>
      <p:sp>
        <p:nvSpPr>
          <p:cNvPr id="15" name="Rectangle 14"/>
          <p:cNvSpPr/>
          <p:nvPr/>
        </p:nvSpPr>
        <p:spPr>
          <a:xfrm>
            <a:off x="6035040" y="5093208"/>
            <a:ext cx="2926080" cy="14173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rPr>
              <a:t>ConfigMap que embebe workmodel.json.
Placeholder: NAMESPACE, WORKMODEL.
WORKMODEL = json.dumps con indentacion
4 espacios para formato YAML correcto.
Montado en /app/MSConfig/.</a:t>
            </a:r>
          </a:p>
        </p:txBody>
      </p:sp>
      <p:sp>
        <p:nvSpPr>
          <p:cNvPr id="16" name="Rectangle 15"/>
          <p:cNvSpPr/>
          <p:nvPr/>
        </p:nvSpPr>
        <p:spPr>
          <a:xfrm>
            <a:off x="9098280" y="4800600"/>
            <a:ext cx="2926080" cy="29260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ourier New"/>
              </a:rPr>
              <a:t>ConfigMapInternalServicesTemplate.yaml</a:t>
            </a:r>
          </a:p>
        </p:txBody>
      </p:sp>
      <p:sp>
        <p:nvSpPr>
          <p:cNvPr id="17" name="Rectangle 16"/>
          <p:cNvSpPr/>
          <p:nvPr/>
        </p:nvSpPr>
        <p:spPr>
          <a:xfrm>
            <a:off x="9098280" y="5093208"/>
            <a:ext cx="2926080" cy="14173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555555"/>
                </a:solidFill>
              </a:rPr>
              <a:t>ConfigMap con todo el codigo Python
de CustomFunctions/ embebido como strings.
Placeholder: NAMESPACE, DATA.
DATA = JSON con {filename: contenido}.
Montado en /app/MSConfig/InternalService
Functions/.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K8sYamlDeployer.py — API oficial de Kubernetes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deploy_items() y undeploy_items() usan kubernetes-client Python (no kubectl)</a:t>
            </a:r>
          </a:p>
        </p:txBody>
      </p:sp>
      <p:sp>
        <p:nvSpPr>
          <p:cNvPr id="5" name="Rectangle 4"/>
          <p:cNvSpPr/>
          <p:nvPr/>
        </p:nvSpPr>
        <p:spPr>
          <a:xfrm>
            <a:off x="365760" y="1143000"/>
            <a:ext cx="576072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def deploy_items(folder, st):</a:t>
            </a:r>
          </a:p>
          <a:p>
            <a:r>
              <a:rPr sz="1100">
                <a:solidFill>
                  <a:srgbClr val="CBD3F0"/>
                </a:solidFill>
                <a:latin typeface="Courier New"/>
              </a:rPr>
              <a:t>  config.load_kube_config()    # lee ~/.kube/config</a:t>
            </a:r>
          </a:p>
          <a:p>
            <a:r>
              <a:rPr sz="1100">
                <a:solidFill>
                  <a:srgbClr val="F9E2AF"/>
                </a:solidFill>
                <a:latin typeface="Courier New"/>
              </a:rPr>
              <a:t>  k8s_apps_api = client.AppsV1Api()</a:t>
            </a:r>
          </a:p>
          <a:p>
            <a:r>
              <a:rPr sz="1100">
                <a:solidFill>
                  <a:srgbClr val="CBD3F0"/>
                </a:solidFill>
                <a:latin typeface="Courier New"/>
              </a:rPr>
              <a:t>  k8s_core_api = client.CoreV1Api()</a:t>
            </a:r>
          </a:p>
          <a:p>
            <a:r>
              <a:rPr sz="1100">
                <a:solidFill>
                  <a:srgbClr val="CBD3F0"/>
                </a:solidFill>
                <a:latin typeface="Courier New"/>
              </a:rPr>
              <a:t/>
            </a:r>
          </a:p>
          <a:p>
            <a:r>
              <a:rPr sz="1100">
                <a:solidFill>
                  <a:srgbClr val="CBD3F0"/>
                </a:solidFill>
                <a:latin typeface="Courier New"/>
              </a:rPr>
              <a:t>  for yaml_to_apply in items:</a:t>
            </a:r>
          </a:p>
          <a:p>
            <a:r>
              <a:rPr sz="1100">
                <a:solidFill>
                  <a:srgbClr val="F9E2AF"/>
                </a:solidFill>
                <a:latin typeface="Courier New"/>
              </a:rPr>
              <a:t>    raw = re.sub(r'{{[^}]+}}', '', raw)  # limpia</a:t>
            </a:r>
          </a:p>
          <a:p>
            <a:r>
              <a:rPr sz="1100">
                <a:solidFill>
                  <a:srgbClr val="CBD3F0"/>
                </a:solidFill>
                <a:latin typeface="Courier New"/>
              </a:rPr>
              <a:t>    for partial_yaml in yaml.load_all(raw):</a:t>
            </a:r>
          </a:p>
          <a:p>
            <a:r>
              <a:rPr sz="1100">
                <a:solidFill>
                  <a:srgbClr val="CBD3F0"/>
                </a:solidFill>
                <a:latin typeface="Courier New"/>
              </a:rPr>
              <a:t/>
            </a:r>
          </a:p>
          <a:p>
            <a:r>
              <a:rPr sz="1100">
                <a:solidFill>
                  <a:srgbClr val="F9E2AF"/>
                </a:solidFill>
                <a:latin typeface="Courier New"/>
              </a:rPr>
              <a:t>      if kind == 'Deployment':</a:t>
            </a:r>
          </a:p>
          <a:p>
            <a:r>
              <a:rPr sz="1100">
                <a:solidFill>
                  <a:srgbClr val="CBD3F0"/>
                </a:solidFill>
                <a:latin typeface="Courier New"/>
              </a:rPr>
              <a:t>        k8s_apps_api.create_namespaced_deployment(</a:t>
            </a:r>
          </a:p>
          <a:p>
            <a:r>
              <a:rPr sz="1100">
                <a:solidFill>
                  <a:srgbClr val="CBD3F0"/>
                </a:solidFill>
                <a:latin typeface="Courier New"/>
              </a:rPr>
              <a:t>            namespace=ns, body=partial_yaml)</a:t>
            </a:r>
          </a:p>
          <a:p>
            <a:r>
              <a:rPr sz="1100">
                <a:solidFill>
                  <a:srgbClr val="CBD3F0"/>
                </a:solidFill>
                <a:latin typeface="Courier New"/>
              </a:rPr>
              <a:t>        # espera hasta ready_replicas == replicas</a:t>
            </a:r>
          </a:p>
          <a:p>
            <a:r>
              <a:rPr sz="1100">
                <a:solidFill>
                  <a:srgbClr val="F9E2AF"/>
                </a:solidFill>
                <a:latin typeface="Courier New"/>
              </a:rPr>
              <a:t>        while status.ready != status.total:</a:t>
            </a:r>
          </a:p>
          <a:p>
            <a:r>
              <a:rPr sz="1100">
                <a:solidFill>
                  <a:srgbClr val="F9E2AF"/>
                </a:solidFill>
                <a:latin typeface="Courier New"/>
              </a:rPr>
              <a:t>            time.sleep(1)</a:t>
            </a:r>
          </a:p>
          <a:p>
            <a:r>
              <a:rPr sz="1100">
                <a:solidFill>
                  <a:srgbClr val="F9E2AF"/>
                </a:solidFill>
                <a:latin typeface="Courier New"/>
              </a:rPr>
              <a:t>        time.sleep(st)  # anti-overload del API server</a:t>
            </a:r>
          </a:p>
          <a:p>
            <a:r>
              <a:rPr sz="1100">
                <a:solidFill>
                  <a:srgbClr val="CBD3F0"/>
                </a:solidFill>
                <a:latin typeface="Courier New"/>
              </a:rPr>
              <a:t/>
            </a:r>
          </a:p>
          <a:p>
            <a:r>
              <a:rPr sz="1100">
                <a:solidFill>
                  <a:srgbClr val="CBD3F0"/>
                </a:solidFill>
                <a:latin typeface="Courier New"/>
              </a:rPr>
              <a:t>      elif kind == 'Service':</a:t>
            </a:r>
          </a:p>
          <a:p>
            <a:r>
              <a:rPr sz="1100">
                <a:solidFill>
                  <a:srgbClr val="CBD3F0"/>
                </a:solidFill>
                <a:latin typeface="Courier New"/>
              </a:rPr>
              <a:t>        k8s_core_api.create_namespaced_service(...)</a:t>
            </a:r>
          </a:p>
          <a:p>
            <a:r>
              <a:rPr sz="1100">
                <a:solidFill>
                  <a:srgbClr val="CBD3F0"/>
                </a:solidFill>
                <a:latin typeface="Courier New"/>
              </a:rPr>
              <a:t/>
            </a:r>
          </a:p>
          <a:p>
            <a:r>
              <a:rPr sz="1100">
                <a:solidFill>
                  <a:srgbClr val="CBD3F0"/>
                </a:solidFill>
                <a:latin typeface="Courier New"/>
              </a:rPr>
              <a:t>      elif kind == 'ConfigMap':</a:t>
            </a:r>
          </a:p>
          <a:p>
            <a:r>
              <a:rPr sz="1100">
                <a:solidFill>
                  <a:srgbClr val="CBD3F0"/>
                </a:solidFill>
                <a:latin typeface="Courier New"/>
              </a:rPr>
              <a:t>        k8s_core_api.create_namespaced_config_map(...)</a:t>
            </a:r>
          </a:p>
          <a:p>
            <a:r>
              <a:rPr sz="1100">
                <a:solidFill>
                  <a:srgbClr val="CBD3F0"/>
                </a:solidFill>
                <a:latin typeface="Courier New"/>
              </a:rPr>
              <a:t/>
            </a:r>
          </a:p>
          <a:p>
            <a:r>
              <a:rPr sz="1100">
                <a:solidFill>
                  <a:srgbClr val="F9E2AF"/>
                </a:solidFill>
                <a:latin typeface="Courier New"/>
              </a:rPr>
              <a:t>      except ApiException as err:</a:t>
            </a:r>
          </a:p>
          <a:p>
            <a:r>
              <a:rPr sz="1100">
                <a:solidFill>
                  <a:srgbClr val="CBD3F0"/>
                </a:solidFill>
                <a:latin typeface="Courier New"/>
              </a:rPr>
              <a:t>        body = json.loads(err.body)</a:t>
            </a:r>
          </a:p>
          <a:p>
            <a:r>
              <a:rPr sz="1100">
                <a:solidFill>
                  <a:srgbClr val="CBD3F0"/>
                </a:solidFill>
                <a:latin typeface="Courier New"/>
              </a:rPr>
              <a:t>        print(body['details'], body['reason'])</a:t>
            </a:r>
          </a:p>
        </p:txBody>
      </p:sp>
      <p:sp>
        <p:nvSpPr>
          <p:cNvPr id="6" name="Rectangle 5"/>
          <p:cNvSpPr/>
          <p:nvPr/>
        </p:nvSpPr>
        <p:spPr>
          <a:xfrm>
            <a:off x="6309360" y="1143000"/>
            <a:ext cx="2788920" cy="16916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load_kube_config()</a:t>
            </a:r>
          </a:p>
          <a:p>
            <a:r>
              <a:rPr sz="1100">
                <a:solidFill>
                  <a:srgbClr val="555555"/>
                </a:solidFill>
              </a:rPr>
              <a:t>Lee el archivo ~/.kube/config del SO.
No necesita kubectl instalado.
En microk8s: microk8s config &gt; ~/.kube/config
Alternativa para pods en cluster:
config.load_incluster_config()
usa el ServiceAccount del pod.</a:t>
            </a:r>
          </a:p>
        </p:txBody>
      </p:sp>
      <p:sp>
        <p:nvSpPr>
          <p:cNvPr id="7" name="Rectangle 6"/>
          <p:cNvSpPr/>
          <p:nvPr/>
        </p:nvSpPr>
        <p:spPr>
          <a:xfrm>
            <a:off x="9235440" y="1143000"/>
            <a:ext cx="2788920" cy="16916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Espera de readiness activa</a:t>
            </a:r>
          </a:p>
          <a:p>
            <a:r>
              <a:rPr sz="1100">
                <a:solidFill>
                  <a:srgbClr val="555555"/>
                </a:solidFill>
              </a:rPr>
              <a:t>Despues de cada Deployment el deployer
consulta read_namespaced_deployment_status
en loop hasta que:
ready_replicas == replicas
Esto garantiza que el pod esta listo
ANTES de desplegar el siguiente.
time.sleep(st) adicional = amortiguador.</a:t>
            </a:r>
          </a:p>
        </p:txBody>
      </p:sp>
      <p:sp>
        <p:nvSpPr>
          <p:cNvPr id="8" name="Rectangle 7"/>
          <p:cNvSpPr/>
          <p:nvPr/>
        </p:nvSpPr>
        <p:spPr>
          <a:xfrm>
            <a:off x="6309360" y="2971800"/>
            <a:ext cx="2788920" cy="16916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f.sort(reverse=True)</a:t>
            </a:r>
          </a:p>
          <a:p>
            <a:r>
              <a:rPr sz="1100">
                <a:solidFill>
                  <a:srgbClr val="555555"/>
                </a:solidFill>
              </a:rPr>
              <a:t>Los YAMLs se ordenan por nombre DESC.
El rank en el nombre (00200, 00100) hace
que los pods con mas CPU (00200) se
desplieguen PRIMERO.
Ejemplo: api (200m CPU) antes que
auth (100m CPU). Optimiza el scheduler
K8s desde el inicio.</a:t>
            </a:r>
          </a:p>
        </p:txBody>
      </p:sp>
      <p:sp>
        <p:nvSpPr>
          <p:cNvPr id="9" name="Rectangle 8"/>
          <p:cNvSpPr/>
          <p:nvPr/>
        </p:nvSpPr>
        <p:spPr>
          <a:xfrm>
            <a:off x="9235440" y="2971800"/>
            <a:ext cx="2788920" cy="16916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ApiException — manejo de errores</a:t>
            </a:r>
          </a:p>
          <a:p>
            <a:r>
              <a:rPr sz="1100">
                <a:solidFill>
                  <a:srgbClr val="555555"/>
                </a:solidFill>
              </a:rPr>
              <a:t>Si un recurso ya existe (AlreadyExists)
u otro error de API, el deployer imprime
el detalle y continua con el siguiente.
NO aborta el despliegue completo.
Util para re-despliegues parciales
donde algunos recursos ya existen.</a:t>
            </a:r>
          </a:p>
        </p:txBody>
      </p:sp>
      <p:sp>
        <p:nvSpPr>
          <p:cNvPr id="10" name="Rectangle 9"/>
          <p:cNvSpPr/>
          <p:nvPr/>
        </p:nvSpPr>
        <p:spPr>
          <a:xfrm>
            <a:off x="6309360" y="4800600"/>
            <a:ext cx="2788920" cy="16916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undeploy_items()</a:t>
            </a:r>
          </a:p>
          <a:p>
            <a:r>
              <a:rPr sz="1100">
                <a:solidFill>
                  <a:srgbClr val="555555"/>
                </a:solidFill>
              </a:rPr>
              <a:t>Elimina en orden INVERSO al deploy:
primero Deployments, luego Services
y ConfigMaps.
grace_period_seconds=0 → terminacion
inmediata de los pods (SIGKILL).
Util en benchmarks para liberar
recursos rapidamente.</a:t>
            </a:r>
          </a:p>
        </p:txBody>
      </p:sp>
      <p:sp>
        <p:nvSpPr>
          <p:cNvPr id="11" name="Rectangle 10"/>
          <p:cNvSpPr/>
          <p:nvPr/>
        </p:nvSpPr>
        <p:spPr>
          <a:xfrm>
            <a:off x="9235440" y="4800600"/>
            <a:ext cx="2788920" cy="16916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kubernetes-client vs kubectl</a:t>
            </a:r>
          </a:p>
          <a:p>
            <a:r>
              <a:rPr sz="1100">
                <a:solidFill>
                  <a:srgbClr val="555555"/>
                </a:solidFill>
              </a:rPr>
              <a:t>Ventajas de kubernetes-client Python:
- Sin subprocess / shell injection risk
- Tipos Python nativos (dicts, objetos)
- Manejo de errores con excepciones
- Compatible con CI/CD sin CLI
El proyecto usa AMBOS:
K8sDeployer → kubernetes-client
Scripts shell → kubectl apply</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Autopilots / K8sAutopilot</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Orquestador del pipeline sintetico: ServiceGraph → WorkModel → K8sDeployer</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Autopilots/K8sAutopilot — Proposito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Orquestador de un solo comando para el pipeline sintetico completo de mubench</a:t>
            </a:r>
          </a:p>
        </p:txBody>
      </p:sp>
      <p:sp>
        <p:nvSpPr>
          <p:cNvPr id="5" name="Rectangle 4"/>
          <p:cNvSpPr/>
          <p:nvPr/>
        </p:nvSpPr>
        <p:spPr>
          <a:xfrm>
            <a:off x="274320" y="1188720"/>
            <a:ext cx="3749039"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ourier New"/>
              </a:rPr>
              <a:t>1. RunServiceGraphGen.py</a:t>
            </a:r>
          </a:p>
        </p:txBody>
      </p:sp>
      <p:sp>
        <p:nvSpPr>
          <p:cNvPr id="6" name="Rectangle 5"/>
          <p:cNvSpPr/>
          <p:nvPr/>
        </p:nvSpPr>
        <p:spPr>
          <a:xfrm>
            <a:off x="274320" y="1600200"/>
            <a:ext cx="3749039" cy="137160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a:solidFill>
                  <a:srgbClr val="555555"/>
                </a:solidFill>
              </a:rPr>
              <a:t>ServiceGraphGenerator/
Genera servicegraph.json:
grafos de dependencias entre servicios.</a:t>
            </a:r>
          </a:p>
        </p:txBody>
      </p:sp>
      <p:sp>
        <p:nvSpPr>
          <p:cNvPr id="7" name="Rectangle 6"/>
          <p:cNvSpPr/>
          <p:nvPr/>
        </p:nvSpPr>
        <p:spPr>
          <a:xfrm>
            <a:off x="4206240" y="1188720"/>
            <a:ext cx="3749039" cy="411480"/>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ourier New"/>
              </a:rPr>
              <a:t>2. RunWorkModelGen.py</a:t>
            </a:r>
          </a:p>
        </p:txBody>
      </p:sp>
      <p:sp>
        <p:nvSpPr>
          <p:cNvPr id="8" name="Rectangle 7"/>
          <p:cNvSpPr/>
          <p:nvPr/>
        </p:nvSpPr>
        <p:spPr>
          <a:xfrm>
            <a:off x="4206240" y="1600200"/>
            <a:ext cx="3749039" cy="137160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a:solidFill>
                  <a:srgbClr val="555555"/>
                </a:solidFill>
              </a:rPr>
              <a:t>WorkModelGenerator/
Genera workmodel.json:
que funcion ejecuta cada servicio.</a:t>
            </a:r>
          </a:p>
        </p:txBody>
      </p:sp>
      <p:sp>
        <p:nvSpPr>
          <p:cNvPr id="9" name="Rectangle 8"/>
          <p:cNvSpPr/>
          <p:nvPr/>
        </p:nvSpPr>
        <p:spPr>
          <a:xfrm>
            <a:off x="8138160" y="1188720"/>
            <a:ext cx="3749039" cy="411480"/>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ourier New"/>
              </a:rPr>
              <a:t>3. RunK8sDeployer.py</a:t>
            </a:r>
          </a:p>
        </p:txBody>
      </p:sp>
      <p:sp>
        <p:nvSpPr>
          <p:cNvPr id="10" name="Rectangle 9"/>
          <p:cNvSpPr/>
          <p:nvPr/>
        </p:nvSpPr>
        <p:spPr>
          <a:xfrm>
            <a:off x="8138160" y="1600200"/>
            <a:ext cx="3749039" cy="137160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a:solidFill>
                  <a:srgbClr val="555555"/>
                </a:solidFill>
              </a:rPr>
              <a:t>Deployers/K8sDeployer/
Genera YAMLs K8s y los aplica
en el cluster con kubectl.</a:t>
            </a:r>
          </a:p>
        </p:txBody>
      </p:sp>
      <p:sp>
        <p:nvSpPr>
          <p:cNvPr id="11" name="Rectangle 10"/>
          <p:cNvSpPr/>
          <p:nvPr/>
        </p:nvSpPr>
        <p:spPr>
          <a:xfrm>
            <a:off x="274320" y="3108960"/>
            <a:ext cx="11612880" cy="1554480"/>
          </a:xfrm>
          <a:prstGeom prst="rect">
            <a:avLst/>
          </a:prstGeom>
          <a:solidFill>
            <a:srgbClr val="E8F0FE"/>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E75B6"/>
                </a:solidFill>
              </a:rPr>
              <a:t>Donde se usa en el proyecto</a:t>
            </a:r>
          </a:p>
          <a:p>
            <a:r>
              <a:rPr sz="1200" b="1">
                <a:solidFill>
                  <a:srgbClr val="1F497D"/>
                </a:solidFill>
              </a:rPr>
              <a:t>deploy_microk8s old.sh: </a:t>
            </a:r>
            <a:r>
              <a:rPr sz="1200">
                <a:solidFill>
                  <a:srgbClr val="555555"/>
                </a:solidFill>
              </a:rPr>
              <a:t>Version antigua del script de despliegue. Llamaba directamente a K8sAutopilot.py para desplegar los servicios sinteticos (s0, s1, sdb1).</a:t>
            </a:r>
          </a:p>
          <a:p>
            <a:r>
              <a:rPr sz="1200" b="1">
                <a:solidFill>
                  <a:srgbClr val="1F497D"/>
                </a:solidFill>
              </a:rPr>
              <a:t>deploy_microk8s copy.sh: </a:t>
            </a:r>
            <a:r>
              <a:rPr sz="1200">
                <a:solidFill>
                  <a:srgbClr val="555555"/>
                </a:solidFill>
              </a:rPr>
              <a:t>Version intermedia. Tambien invocaba K8sAutopilot.py con K8sAutopilotConf.json.</a:t>
            </a:r>
          </a:p>
          <a:p>
            <a:r>
              <a:rPr sz="1200" b="1">
                <a:solidFill>
                  <a:srgbClr val="1F497D"/>
                </a:solidFill>
              </a:rPr>
              <a:t>deploy_microk8s.sh (actual): </a:t>
            </a:r>
            <a:r>
              <a:rPr sz="1200">
                <a:solidFill>
                  <a:srgbClr val="555555"/>
                </a:solidFill>
              </a:rPr>
              <a:t>La version de produccion YA NO llama a K8sAutopilot.py. Invoca cada script (ServiceGraph, WorkModel, K8sDeployer) por separado con mayor control.</a:t>
            </a:r>
          </a:p>
          <a:p>
            <a:r>
              <a:rPr sz="1200" b="1">
                <a:solidFill>
                  <a:srgbClr val="1F497D"/>
                </a:solidFill>
              </a:rPr>
              <a:t>experiment-flow.puml: </a:t>
            </a:r>
            <a:r>
              <a:rPr sz="1200">
                <a:solidFill>
                  <a:srgbClr val="555555"/>
                </a:solidFill>
              </a:rPr>
              <a:t>El diagrama conceptual del proyecto lo nombra como '1. Pipeline de Despliegue (K8sAutopilot)'.</a:t>
            </a:r>
          </a:p>
        </p:txBody>
      </p:sp>
      <p:sp>
        <p:nvSpPr>
          <p:cNvPr id="12" name="Rectangle 11"/>
          <p:cNvSpPr/>
          <p:nvPr/>
        </p:nvSpPr>
        <p:spPr>
          <a:xfrm>
            <a:off x="274320" y="4800600"/>
            <a:ext cx="11612880" cy="411480"/>
          </a:xfrm>
          <a:prstGeom prst="rect">
            <a:avLst/>
          </a:prstGeom>
          <a:solidFill>
            <a:srgbClr val="FFF3CD"/>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D3690F"/>
                </a:solidFill>
              </a:rPr>
              <a:t>ESTADO ACTUAL: K8sAutopilot.py es un 'atajo de un comando' para el pipeline sintetico. El flujo realista (mubench-realistic) nunca lo uso — sus servicios se despliegan manualmente.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K8sAutopilot.py — Codigo completo (~45 lineas)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Lectura de config JSON + 3 llamadas os.system() en secuencia</a:t>
            </a:r>
          </a:p>
        </p:txBody>
      </p:sp>
      <p:sp>
        <p:nvSpPr>
          <p:cNvPr id="5" name="Rectangle 4"/>
          <p:cNvSpPr/>
          <p:nvPr/>
        </p:nvSpPr>
        <p:spPr>
          <a:xfrm>
            <a:off x="365760" y="1143000"/>
            <a:ext cx="576072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import sys, os, argparse, argcomplete, json</a:t>
            </a:r>
          </a:p>
          <a:p>
            <a:r>
              <a:rPr sz="1100">
                <a:solidFill>
                  <a:srgbClr val="CBD3F0"/>
                </a:solidFill>
                <a:latin typeface="Courier New"/>
              </a:rPr>
              <a:t/>
            </a:r>
          </a:p>
          <a:p>
            <a:r>
              <a:rPr sz="1100">
                <a:solidFill>
                  <a:srgbClr val="CBD3F0"/>
                </a:solidFill>
                <a:latin typeface="Courier New"/>
              </a:rPr>
              <a:t>AUTOPILOT_PATH = os.path.dirname(</a:t>
            </a:r>
          </a:p>
          <a:p>
            <a:r>
              <a:rPr sz="1100">
                <a:solidFill>
                  <a:srgbClr val="CBD3F0"/>
                </a:solidFill>
                <a:latin typeface="Courier New"/>
              </a:rPr>
              <a:t>    os.path.abspath(__file__))</a:t>
            </a:r>
          </a:p>
          <a:p>
            <a:r>
              <a:rPr sz="1100">
                <a:solidFill>
                  <a:srgbClr val="CBD3F0"/>
                </a:solidFill>
                <a:latin typeface="Courier New"/>
              </a:rPr>
              <a:t/>
            </a:r>
          </a:p>
          <a:p>
            <a:r>
              <a:rPr sz="1100">
                <a:solidFill>
                  <a:srgbClr val="CBD3F0"/>
                </a:solidFill>
                <a:latin typeface="Courier New"/>
              </a:rPr>
              <a:t>parser = argparse.ArgumentParser()</a:t>
            </a:r>
          </a:p>
          <a:p>
            <a:r>
              <a:rPr sz="1100">
                <a:solidFill>
                  <a:srgbClr val="CBD3F0"/>
                </a:solidFill>
                <a:latin typeface="Courier New"/>
              </a:rPr>
              <a:t>parser.add_argument('-c','--config-file',</a:t>
            </a:r>
          </a:p>
          <a:p>
            <a:r>
              <a:rPr sz="1100">
                <a:solidFill>
                  <a:srgbClr val="CBD3F0"/>
                </a:solidFill>
                <a:latin typeface="Courier New"/>
              </a:rPr>
              <a:t>    dest='parameters_file',</a:t>
            </a:r>
          </a:p>
          <a:p>
            <a:r>
              <a:rPr sz="1100">
                <a:solidFill>
                  <a:srgbClr val="CBD3F0"/>
                </a:solidFill>
                <a:latin typeface="Courier New"/>
              </a:rPr>
              <a:t>    default=f'{AUTOPILOT_PATH}/K8sAutopilotConf.json')</a:t>
            </a:r>
          </a:p>
          <a:p>
            <a:r>
              <a:rPr sz="1100">
                <a:solidFill>
                  <a:srgbClr val="CBD3F0"/>
                </a:solidFill>
                <a:latin typeface="Courier New"/>
              </a:rPr>
              <a:t>argcomplete.autocomplete(parser)</a:t>
            </a:r>
          </a:p>
          <a:p>
            <a:r>
              <a:rPr sz="1100">
                <a:solidFill>
                  <a:srgbClr val="CBD3F0"/>
                </a:solidFill>
                <a:latin typeface="Courier New"/>
              </a:rPr>
              <a:t/>
            </a:r>
          </a:p>
          <a:p>
            <a:r>
              <a:rPr sz="1100">
                <a:solidFill>
                  <a:srgbClr val="CBD3F0"/>
                </a:solidFill>
                <a:latin typeface="Courier New"/>
              </a:rPr>
              <a:t>try:</a:t>
            </a:r>
          </a:p>
          <a:p>
            <a:r>
              <a:rPr sz="1100">
                <a:solidFill>
                  <a:srgbClr val="CBD3F0"/>
                </a:solidFill>
                <a:latin typeface="Courier New"/>
              </a:rPr>
              <a:t>    args = parser.parse_args()</a:t>
            </a:r>
          </a:p>
          <a:p>
            <a:r>
              <a:rPr sz="1100">
                <a:solidFill>
                  <a:srgbClr val="CBD3F0"/>
                </a:solidFill>
                <a:latin typeface="Courier New"/>
              </a:rPr>
              <a:t>except ImportError:</a:t>
            </a:r>
          </a:p>
          <a:p>
            <a:r>
              <a:rPr sz="1100">
                <a:solidFill>
                  <a:srgbClr val="CBD3F0"/>
                </a:solidFill>
                <a:latin typeface="Courier New"/>
              </a:rPr>
              <a:t>    print('instalar argcomplete')</a:t>
            </a:r>
          </a:p>
          <a:p>
            <a:r>
              <a:rPr sz="1100">
                <a:solidFill>
                  <a:srgbClr val="CBD3F0"/>
                </a:solidFill>
                <a:latin typeface="Courier New"/>
              </a:rPr>
              <a:t>except AttributeError:</a:t>
            </a:r>
          </a:p>
          <a:p>
            <a:r>
              <a:rPr sz="1100">
                <a:solidFill>
                  <a:srgbClr val="CBD3F0"/>
                </a:solidFill>
                <a:latin typeface="Courier New"/>
              </a:rPr>
              <a:t>    parser.print_help()</a:t>
            </a:r>
          </a:p>
          <a:p>
            <a:r>
              <a:rPr sz="1100">
                <a:solidFill>
                  <a:srgbClr val="CBD3F0"/>
                </a:solidFill>
                <a:latin typeface="Courier New"/>
              </a:rPr>
              <a:t/>
            </a:r>
          </a:p>
          <a:p>
            <a:r>
              <a:rPr sz="1100">
                <a:solidFill>
                  <a:srgbClr val="CBD3F0"/>
                </a:solidFill>
                <a:latin typeface="Courier New"/>
              </a:rPr>
              <a:t>with open(args.parameters_file) as f:</a:t>
            </a:r>
          </a:p>
          <a:p>
            <a:r>
              <a:rPr sz="1100">
                <a:solidFill>
                  <a:srgbClr val="CBD3F0"/>
                </a:solidFill>
                <a:latin typeface="Courier New"/>
              </a:rPr>
              <a:t>    params = json.load(f)</a:t>
            </a:r>
          </a:p>
          <a:p>
            <a:r>
              <a:rPr sz="1100">
                <a:solidFill>
                  <a:srgbClr val="CBD3F0"/>
                </a:solidFill>
                <a:latin typeface="Courier New"/>
              </a:rPr>
              <a:t/>
            </a:r>
          </a:p>
          <a:p>
            <a:r>
              <a:rPr sz="1100">
                <a:solidFill>
                  <a:srgbClr val="CBD3F0"/>
                </a:solidFill>
                <a:latin typeface="Courier New"/>
              </a:rPr>
              <a:t>graph_run    = params['RunServiceGraphGeneratorFilePath']</a:t>
            </a:r>
          </a:p>
          <a:p>
            <a:r>
              <a:rPr sz="1100">
                <a:solidFill>
                  <a:srgbClr val="CBD3F0"/>
                </a:solidFill>
                <a:latin typeface="Courier New"/>
              </a:rPr>
              <a:t>graph_params = params['ServiceGraphParametersFilePath']</a:t>
            </a:r>
          </a:p>
          <a:p>
            <a:r>
              <a:rPr sz="1100">
                <a:solidFill>
                  <a:srgbClr val="CBD3F0"/>
                </a:solidFill>
                <a:latin typeface="Courier New"/>
              </a:rPr>
              <a:t>wm_run       = params['RunWorkModelGeneratorFilePath']</a:t>
            </a:r>
          </a:p>
          <a:p>
            <a:r>
              <a:rPr sz="1100">
                <a:solidFill>
                  <a:srgbClr val="CBD3F0"/>
                </a:solidFill>
                <a:latin typeface="Courier New"/>
              </a:rPr>
              <a:t>wm_params    = params['WorkModelParametersFilePath']</a:t>
            </a:r>
          </a:p>
          <a:p>
            <a:r>
              <a:rPr sz="1100">
                <a:solidFill>
                  <a:srgbClr val="CBD3F0"/>
                </a:solidFill>
                <a:latin typeface="Courier New"/>
              </a:rPr>
              <a:t>k8s_run      = params['RunK8sDeployerFilePath']</a:t>
            </a:r>
          </a:p>
          <a:p>
            <a:r>
              <a:rPr sz="1100">
                <a:solidFill>
                  <a:srgbClr val="CBD3F0"/>
                </a:solidFill>
                <a:latin typeface="Courier New"/>
              </a:rPr>
              <a:t>k8s_params   = params['K8sParametersFilePath']</a:t>
            </a:r>
          </a:p>
          <a:p>
            <a:r>
              <a:rPr sz="1100">
                <a:solidFill>
                  <a:srgbClr val="CBD3F0"/>
                </a:solidFill>
                <a:latin typeface="Courier New"/>
              </a:rPr>
              <a:t/>
            </a:r>
          </a:p>
          <a:p>
            <a:r>
              <a:rPr sz="1100">
                <a:solidFill>
                  <a:srgbClr val="F9E2AF"/>
                </a:solidFill>
                <a:latin typeface="Courier New"/>
              </a:rPr>
              <a:t>os.system('python3 '+f'{graph_run} -c {graph_params}')</a:t>
            </a:r>
          </a:p>
          <a:p>
            <a:r>
              <a:rPr sz="1100">
                <a:solidFill>
                  <a:srgbClr val="F9E2AF"/>
                </a:solidFill>
                <a:latin typeface="Courier New"/>
              </a:rPr>
              <a:t>os.system('python3 '+f'{wm_run} -c {wm_params}')</a:t>
            </a:r>
          </a:p>
          <a:p>
            <a:r>
              <a:rPr sz="1100">
                <a:solidFill>
                  <a:srgbClr val="F9E2AF"/>
                </a:solidFill>
                <a:latin typeface="Courier New"/>
              </a:rPr>
              <a:t>os.system('python3 '+f'{k8s_run} -c {k8s_params}')</a:t>
            </a:r>
          </a:p>
        </p:txBody>
      </p:sp>
      <p:sp>
        <p:nvSpPr>
          <p:cNvPr id="6" name="Rectangle 5"/>
          <p:cNvSpPr/>
          <p:nvPr/>
        </p:nvSpPr>
        <p:spPr>
          <a:xfrm>
            <a:off x="6309360" y="1143000"/>
            <a:ext cx="2788920" cy="25603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AUTOPILOT_PATH</a:t>
            </a:r>
          </a:p>
          <a:p>
            <a:r>
              <a:rPr sz="1100">
                <a:solidFill>
                  <a:srgbClr val="555555"/>
                </a:solidFill>
              </a:rPr>
              <a:t>os.path.abspath(__file__) da la ruta absoluta
del script en disco.
dirname() extrae solo el directorio.
Permite que el default del config JSON
siempre apunte al mismo directorio
sin importar desde donde se ejecute.</a:t>
            </a:r>
          </a:p>
        </p:txBody>
      </p:sp>
      <p:sp>
        <p:nvSpPr>
          <p:cNvPr id="7" name="Rectangle 6"/>
          <p:cNvSpPr/>
          <p:nvPr/>
        </p:nvSpPr>
        <p:spPr>
          <a:xfrm>
            <a:off x="9235440" y="1143000"/>
            <a:ext cx="2788920" cy="25603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argcomplete</a:t>
            </a:r>
          </a:p>
          <a:p>
            <a:r>
              <a:rPr sz="1100">
                <a:solidFill>
                  <a:srgbClr val="555555"/>
                </a:solidFill>
              </a:rPr>
              <a:t>Habilita autocompletado en bash/zsh:
python3 K8sAutopilot.py --[TAB]
completa los argumentos automaticamente.
Requiere:
apt-get install python3-argcomplete
activate-global-python-argcomplete3</a:t>
            </a:r>
          </a:p>
        </p:txBody>
      </p:sp>
      <p:sp>
        <p:nvSpPr>
          <p:cNvPr id="8" name="Rectangle 7"/>
          <p:cNvSpPr/>
          <p:nvPr/>
        </p:nvSpPr>
        <p:spPr>
          <a:xfrm>
            <a:off x="6309360" y="3886200"/>
            <a:ext cx="2788920" cy="25603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os.system() — bloqueo secuencial</a:t>
            </a:r>
          </a:p>
          <a:p>
            <a:r>
              <a:rPr sz="1100">
                <a:solidFill>
                  <a:srgbClr val="555555"/>
                </a:solidFill>
              </a:rPr>
              <a:t>os.system() es SINCRONO:
espera que el proceso hijo termine
antes de lanzar el siguiente.
Esto garantiza el orden:
1. grafo → 2. workmodel → 3. deploy
No hay manejo de errores entre pasos:
si el grafo falla, el deploy igual corre.</a:t>
            </a:r>
          </a:p>
        </p:txBody>
      </p:sp>
      <p:sp>
        <p:nvSpPr>
          <p:cNvPr id="9" name="Rectangle 8"/>
          <p:cNvSpPr/>
          <p:nvPr/>
        </p:nvSpPr>
        <p:spPr>
          <a:xfrm>
            <a:off x="9235440" y="3886200"/>
            <a:ext cx="2788920" cy="25603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Codigo a nivel de modulo</a:t>
            </a:r>
          </a:p>
          <a:p>
            <a:r>
              <a:rPr sz="1100">
                <a:solidFill>
                  <a:srgbClr val="555555"/>
                </a:solidFill>
              </a:rPr>
              <a:t>ATENCION: el codigo que parsea args
y llama os.system() esta al nivel del
modulo (no dentro de main()).
Se ejecuta al hacer 'import K8sAutopilot'
ademas de al correrlo directamente.
Patron poco recomendado pero funcional.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K8sAutopilotConf.json — Archivo de configuracion</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6 rutas relativas que apuntan a los 3 scripts y sus 3 archivos de parametros</a:t>
            </a:r>
          </a:p>
        </p:txBody>
      </p:sp>
      <p:sp>
        <p:nvSpPr>
          <p:cNvPr id="5" name="Rectangle 4"/>
          <p:cNvSpPr/>
          <p:nvPr/>
        </p:nvSpPr>
        <p:spPr>
          <a:xfrm>
            <a:off x="365760" y="1143000"/>
            <a:ext cx="5486400" cy="25603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Configs/K8sAutopilotConf.json</a:t>
            </a:r>
          </a:p>
          <a:p>
            <a:r>
              <a:rPr sz="1100">
                <a:solidFill>
                  <a:srgbClr val="CBD3F0"/>
                </a:solidFill>
                <a:latin typeface="Courier New"/>
              </a:rPr>
              <a:t>{</a:t>
            </a:r>
          </a:p>
          <a:p>
            <a:r>
              <a:rPr sz="1100">
                <a:solidFill>
                  <a:srgbClr val="CBD3F0"/>
                </a:solidFill>
                <a:latin typeface="Courier New"/>
              </a:rPr>
              <a:t>  "RunServiceGraphGeneratorFilePath":</a:t>
            </a:r>
          </a:p>
          <a:p>
            <a:r>
              <a:rPr sz="1100">
                <a:solidFill>
                  <a:srgbClr val="F9E2AF"/>
                </a:solidFill>
                <a:latin typeface="Courier New"/>
              </a:rPr>
              <a:t>    "../../ServiceGraphGenerator/RunServiceGraphGen.py",</a:t>
            </a:r>
          </a:p>
          <a:p>
            <a:r>
              <a:rPr sz="1100">
                <a:solidFill>
                  <a:srgbClr val="CBD3F0"/>
                </a:solidFill>
                <a:latin typeface="Courier New"/>
              </a:rPr>
              <a:t>  "ServiceGraphParametersFilePath":</a:t>
            </a:r>
          </a:p>
          <a:p>
            <a:r>
              <a:rPr sz="1100">
                <a:solidFill>
                  <a:srgbClr val="F9E2AF"/>
                </a:solidFill>
                <a:latin typeface="Courier New"/>
              </a:rPr>
              <a:t>    "../../Configs/ServiceGraphParameters.json",</a:t>
            </a:r>
          </a:p>
          <a:p>
            <a:r>
              <a:rPr sz="1100">
                <a:solidFill>
                  <a:srgbClr val="CBD3F0"/>
                </a:solidFill>
                <a:latin typeface="Courier New"/>
              </a:rPr>
              <a:t>  "RunWorkModelGeneratorFilePath":</a:t>
            </a:r>
          </a:p>
          <a:p>
            <a:r>
              <a:rPr sz="1100">
                <a:solidFill>
                  <a:srgbClr val="F9E2AF"/>
                </a:solidFill>
                <a:latin typeface="Courier New"/>
              </a:rPr>
              <a:t>    "../../WorkModelGenerator/RunWorkModelGen.py",</a:t>
            </a:r>
          </a:p>
          <a:p>
            <a:r>
              <a:rPr sz="1100">
                <a:solidFill>
                  <a:srgbClr val="CBD3F0"/>
                </a:solidFill>
                <a:latin typeface="Courier New"/>
              </a:rPr>
              <a:t>  "WorkModelParametersFilePath":</a:t>
            </a:r>
          </a:p>
          <a:p>
            <a:r>
              <a:rPr sz="1100">
                <a:solidFill>
                  <a:srgbClr val="F9E2AF"/>
                </a:solidFill>
                <a:latin typeface="Courier New"/>
              </a:rPr>
              <a:t>    "../../Configs/WorkModelParameters.json",</a:t>
            </a:r>
          </a:p>
          <a:p>
            <a:r>
              <a:rPr sz="1100">
                <a:solidFill>
                  <a:srgbClr val="CBD3F0"/>
                </a:solidFill>
                <a:latin typeface="Courier New"/>
              </a:rPr>
              <a:t>  "RunK8sDeployerFilePath":</a:t>
            </a:r>
          </a:p>
          <a:p>
            <a:r>
              <a:rPr sz="1100">
                <a:solidFill>
                  <a:srgbClr val="F9E2AF"/>
                </a:solidFill>
                <a:latin typeface="Courier New"/>
              </a:rPr>
              <a:t>    "../../Deployers/K8sDeployer/RunK8sDeployer.py",</a:t>
            </a:r>
          </a:p>
          <a:p>
            <a:r>
              <a:rPr sz="1100">
                <a:solidFill>
                  <a:srgbClr val="CBD3F0"/>
                </a:solidFill>
                <a:latin typeface="Courier New"/>
              </a:rPr>
              <a:t>  "K8sParametersFilePath":</a:t>
            </a:r>
          </a:p>
          <a:p>
            <a:r>
              <a:rPr sz="1100">
                <a:solidFill>
                  <a:srgbClr val="F9E2AF"/>
                </a:solidFill>
                <a:latin typeface="Courier New"/>
              </a:rPr>
              <a:t>    "../../Configs/K8sParameters.json"</a:t>
            </a:r>
          </a:p>
          <a:p>
            <a:r>
              <a:rPr sz="1100">
                <a:solidFill>
                  <a:srgbClr val="CBD3F0"/>
                </a:solidFill>
                <a:latin typeface="Courier New"/>
              </a:rPr>
              <a:t>}</a:t>
            </a:r>
          </a:p>
        </p:txBody>
      </p:sp>
      <p:sp>
        <p:nvSpPr>
          <p:cNvPr id="6" name="Rectangle 5"/>
          <p:cNvSpPr/>
          <p:nvPr/>
        </p:nvSpPr>
        <p:spPr>
          <a:xfrm>
            <a:off x="365760" y="3886200"/>
            <a:ext cx="5486400" cy="2788920"/>
          </a:xfrm>
          <a:prstGeom prst="rect">
            <a:avLst/>
          </a:prstGeom>
          <a:solidFill>
            <a:srgbClr val="1E1E2E"/>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0">
                <a:solidFill>
                  <a:srgbClr val="FFFFFF"/>
                </a:solidFill>
                <a:latin typeface="Courier New"/>
              </a:rPr>
              <a:t>muBench/</a:t>
            </a:r>
          </a:p>
          <a:p>
            <a:r>
              <a:rPr sz="1000" b="0">
                <a:solidFill>
                  <a:srgbClr val="A6E3A1"/>
                </a:solidFill>
                <a:latin typeface="Courier New"/>
              </a:rPr>
              <a:t>  Configs/</a:t>
            </a:r>
          </a:p>
          <a:p>
            <a:r>
              <a:rPr sz="1000" b="1">
                <a:solidFill>
                  <a:srgbClr val="F9E2AF"/>
                </a:solidFill>
                <a:latin typeface="Courier New"/>
              </a:rPr>
              <a:t>    K8sAutopilotConf.json   &lt;- este archivo</a:t>
            </a:r>
          </a:p>
          <a:p>
            <a:r>
              <a:rPr sz="1000" b="0">
                <a:solidFill>
                  <a:srgbClr val="A6E3A1"/>
                </a:solidFill>
                <a:latin typeface="Courier New"/>
              </a:rPr>
              <a:t>    ServiceGraphParameters.json</a:t>
            </a:r>
          </a:p>
          <a:p>
            <a:r>
              <a:rPr sz="1000" b="0">
                <a:solidFill>
                  <a:srgbClr val="A6E3A1"/>
                </a:solidFill>
                <a:latin typeface="Courier New"/>
              </a:rPr>
              <a:t>    WorkModelParameters.json</a:t>
            </a:r>
          </a:p>
          <a:p>
            <a:r>
              <a:rPr sz="1000" b="0">
                <a:solidFill>
                  <a:srgbClr val="A6E3A1"/>
                </a:solidFill>
                <a:latin typeface="Courier New"/>
              </a:rPr>
              <a:t>    K8sParameters.json</a:t>
            </a:r>
          </a:p>
          <a:p>
            <a:r>
              <a:rPr sz="1000" b="0">
                <a:solidFill>
                  <a:srgbClr val="89DCEB"/>
                </a:solidFill>
                <a:latin typeface="Courier New"/>
              </a:rPr>
              <a:t>  ServiceGraphGenerator/</a:t>
            </a:r>
          </a:p>
          <a:p>
            <a:r>
              <a:rPr sz="1000" b="0">
                <a:solidFill>
                  <a:srgbClr val="89DCEB"/>
                </a:solidFill>
                <a:latin typeface="Courier New"/>
              </a:rPr>
              <a:t>    RunServiceGraphGen.py</a:t>
            </a:r>
          </a:p>
          <a:p>
            <a:r>
              <a:rPr sz="1000" b="0">
                <a:solidFill>
                  <a:srgbClr val="CBA6F7"/>
                </a:solidFill>
                <a:latin typeface="Courier New"/>
              </a:rPr>
              <a:t>  WorkModelGenerator/</a:t>
            </a:r>
          </a:p>
          <a:p>
            <a:r>
              <a:rPr sz="1000" b="0">
                <a:solidFill>
                  <a:srgbClr val="CBA6F7"/>
                </a:solidFill>
                <a:latin typeface="Courier New"/>
              </a:rPr>
              <a:t>    RunWorkModelGen.py</a:t>
            </a:r>
          </a:p>
          <a:p>
            <a:r>
              <a:rPr sz="1000" b="0">
                <a:solidFill>
                  <a:srgbClr val="A6E3A1"/>
                </a:solidFill>
                <a:latin typeface="Courier New"/>
              </a:rPr>
              <a:t>  Deployers/K8sDeployer/</a:t>
            </a:r>
          </a:p>
          <a:p>
            <a:r>
              <a:rPr sz="1000" b="0">
                <a:solidFill>
                  <a:srgbClr val="A6E3A1"/>
                </a:solidFill>
                <a:latin typeface="Courier New"/>
              </a:rPr>
              <a:t>    RunK8sDeployer.py</a:t>
            </a:r>
          </a:p>
          <a:p>
            <a:r>
              <a:rPr sz="1000" b="0">
                <a:solidFill>
                  <a:srgbClr val="F9E2AF"/>
                </a:solidFill>
                <a:latin typeface="Courier New"/>
              </a:rPr>
              <a:t>  Autopilots/K8sAutopilot/</a:t>
            </a:r>
          </a:p>
          <a:p>
            <a:r>
              <a:rPr sz="1000" b="1">
                <a:solidFill>
                  <a:srgbClr val="F9E2AF"/>
                </a:solidFill>
                <a:latin typeface="Courier New"/>
              </a:rPr>
              <a:t>    K8sAutopilot.py   &lt;- ejecuta todo</a:t>
            </a:r>
          </a:p>
        </p:txBody>
      </p:sp>
      <p:sp>
        <p:nvSpPr>
          <p:cNvPr id="7" name="Rectangle 6"/>
          <p:cNvSpPr/>
          <p:nvPr/>
        </p:nvSpPr>
        <p:spPr>
          <a:xfrm>
            <a:off x="5852160" y="1143000"/>
            <a:ext cx="1965960" cy="5532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rPr>
              <a:t>Rutas relativas al script</a:t>
            </a:r>
          </a:p>
          <a:p>
            <a:r>
              <a:rPr sz="1100">
                <a:solidFill>
                  <a:srgbClr val="555555"/>
                </a:solidFill>
              </a:rPr>
              <a:t>Las 6 rutas usan '../../' porque K8sAutopilot.py
esta en Autopilots/K8sAutopilot/ y los scripts
apuntados estan 2 niveles arriba en la raiz.
Si se ejecuta K8sAutopilot.py desde otro
directorio, las rutas se rompen.
Por eso el script usa AUTOPILOT_PATH para
el default del JSON de config.</a:t>
            </a:r>
          </a:p>
        </p:txBody>
      </p:sp>
      <p:sp>
        <p:nvSpPr>
          <p:cNvPr id="8" name="Rectangle 7"/>
          <p:cNvSpPr/>
          <p:nvPr/>
        </p:nvSpPr>
        <p:spPr>
          <a:xfrm>
            <a:off x="7955280" y="1143000"/>
            <a:ext cx="1965960" cy="5532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rPr>
              <a:t>Par script + parametros</a:t>
            </a:r>
          </a:p>
          <a:p>
            <a:r>
              <a:rPr sz="1100">
                <a:solidFill>
                  <a:srgbClr val="555555"/>
                </a:solidFill>
              </a:rPr>
              <a:t>Cada herramienta tiene DOS entradas:
1. RunXxx.py → el script ejecutable
2. XxxParameters.json → su config
Esto permite cambiar el archivo de
parametros sin tocar el script:
python3 K8sAutopilot.py -c mi-conf.json
→ usa los paths del JSON personalizado.</a:t>
            </a:r>
          </a:p>
        </p:txBody>
      </p:sp>
      <p:sp>
        <p:nvSpPr>
          <p:cNvPr id="9" name="Rectangle 8"/>
          <p:cNvSpPr/>
          <p:nvPr/>
        </p:nvSpPr>
        <p:spPr>
          <a:xfrm>
            <a:off x="10058400" y="1143000"/>
            <a:ext cx="1965960" cy="5532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rPr>
              <a:t>Relacion con otros Configs/</a:t>
            </a:r>
          </a:p>
          <a:p>
            <a:r>
              <a:rPr sz="1100">
                <a:solidFill>
                  <a:srgbClr val="555555"/>
                </a:solidFill>
              </a:rPr>
              <a:t>K8sParameters.json: namespace, image, replicas
ServiceGraphParameters.json: num servicios, grafo
WorkModelParameters.json: funciones, tiempos
Estos 3 JSONs son los que configuras
ANTES de ejecutar el autopilot.
K8sAutopilotConf.json solo apunta a ellos.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Pipeline sintetico completo — De un comando a servicios en K8s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python3 K8sAutopilot.py -c K8sAutopilotConf.json</a:t>
            </a:r>
          </a:p>
        </p:txBody>
      </p:sp>
      <p:sp>
        <p:nvSpPr>
          <p:cNvPr id="5" name="Rectangle 4"/>
          <p:cNvSpPr/>
          <p:nvPr/>
        </p:nvSpPr>
        <p:spPr>
          <a:xfrm>
            <a:off x="274320" y="1188720"/>
            <a:ext cx="2834640" cy="56692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Paso 1
ServiceGraphGenerator</a:t>
            </a:r>
          </a:p>
        </p:txBody>
      </p:sp>
      <p:sp>
        <p:nvSpPr>
          <p:cNvPr id="6" name="Rectangle 5"/>
          <p:cNvSpPr/>
          <p:nvPr/>
        </p:nvSpPr>
        <p:spPr>
          <a:xfrm>
            <a:off x="274320" y="1755648"/>
            <a:ext cx="2834640" cy="34747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latin typeface="Courier New"/>
              </a:rPr>
              <a:t>RunServiceGraphGen.py
-c ServiceGraphParameters.json
INPUT: parametros del grafo
(num servicios, topologia)
OUTPUT: servicegraph.json
Ejemplo: s0→s1→sdb1
(quién llama a quien)</a:t>
            </a:r>
          </a:p>
        </p:txBody>
      </p:sp>
      <p:sp>
        <p:nvSpPr>
          <p:cNvPr id="7" name="TextBox 6"/>
          <p:cNvSpPr txBox="1"/>
          <p:nvPr/>
        </p:nvSpPr>
        <p:spPr>
          <a:xfrm>
            <a:off x="3108960" y="2103120"/>
            <a:ext cx="109728" cy="365760"/>
          </a:xfrm>
          <a:prstGeom prst="rect">
            <a:avLst/>
          </a:prstGeom>
          <a:noFill/>
        </p:spPr>
        <p:txBody>
          <a:bodyPr wrap="none">
            <a:spAutoFit/>
          </a:bodyPr>
          <a:lstStyle/>
          <a:p>
            <a:r>
              <a:rPr sz="1800" b="1">
                <a:solidFill>
                  <a:srgbClr val="1F497D"/>
                </a:solidFill>
              </a:rPr>
              <a:t>&gt;</a:t>
            </a:r>
          </a:p>
        </p:txBody>
      </p:sp>
      <p:sp>
        <p:nvSpPr>
          <p:cNvPr id="8" name="Rectangle 7"/>
          <p:cNvSpPr/>
          <p:nvPr/>
        </p:nvSpPr>
        <p:spPr>
          <a:xfrm>
            <a:off x="3246120" y="1188720"/>
            <a:ext cx="2834640" cy="566928"/>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Paso 2
WorkModelGenerator</a:t>
            </a:r>
          </a:p>
        </p:txBody>
      </p:sp>
      <p:sp>
        <p:nvSpPr>
          <p:cNvPr id="9" name="Rectangle 8"/>
          <p:cNvSpPr/>
          <p:nvPr/>
        </p:nvSpPr>
        <p:spPr>
          <a:xfrm>
            <a:off x="3246120" y="1755648"/>
            <a:ext cx="2834640" cy="34747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latin typeface="Courier New"/>
              </a:rPr>
              <a:t>RunWorkModelGen.py
-c WorkModelParameters.json
INPUT: servicegraph.json
+ parametros de carga
OUTPUT: workmodel.json
Define funcion Python que
ejecuta cada servicio</a:t>
            </a:r>
          </a:p>
        </p:txBody>
      </p:sp>
      <p:sp>
        <p:nvSpPr>
          <p:cNvPr id="10" name="TextBox 9"/>
          <p:cNvSpPr txBox="1"/>
          <p:nvPr/>
        </p:nvSpPr>
        <p:spPr>
          <a:xfrm>
            <a:off x="6080760" y="2103120"/>
            <a:ext cx="109728" cy="365760"/>
          </a:xfrm>
          <a:prstGeom prst="rect">
            <a:avLst/>
          </a:prstGeom>
          <a:noFill/>
        </p:spPr>
        <p:txBody>
          <a:bodyPr wrap="none">
            <a:spAutoFit/>
          </a:bodyPr>
          <a:lstStyle/>
          <a:p>
            <a:r>
              <a:rPr sz="1800" b="1">
                <a:solidFill>
                  <a:srgbClr val="1F497D"/>
                </a:solidFill>
              </a:rPr>
              <a:t>&gt;</a:t>
            </a:r>
          </a:p>
        </p:txBody>
      </p:sp>
      <p:sp>
        <p:nvSpPr>
          <p:cNvPr id="11" name="Rectangle 10"/>
          <p:cNvSpPr/>
          <p:nvPr/>
        </p:nvSpPr>
        <p:spPr>
          <a:xfrm>
            <a:off x="6217920" y="1188720"/>
            <a:ext cx="2834640" cy="566928"/>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Paso 3
K8sDeployer</a:t>
            </a:r>
          </a:p>
        </p:txBody>
      </p:sp>
      <p:sp>
        <p:nvSpPr>
          <p:cNvPr id="12" name="Rectangle 11"/>
          <p:cNvSpPr/>
          <p:nvPr/>
        </p:nvSpPr>
        <p:spPr>
          <a:xfrm>
            <a:off x="6217920" y="1755648"/>
            <a:ext cx="2834640" cy="34747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latin typeface="Courier New"/>
              </a:rPr>
              <a:t>RunK8sDeployer.py
-c K8sParameters.json
INPUT: workmodel.json
+ params K8s
OUTPUT: YAMLs generados
+ kubectl apply
Pods corriendo en cluster</a:t>
            </a:r>
          </a:p>
        </p:txBody>
      </p:sp>
      <p:sp>
        <p:nvSpPr>
          <p:cNvPr id="13" name="TextBox 12"/>
          <p:cNvSpPr txBox="1"/>
          <p:nvPr/>
        </p:nvSpPr>
        <p:spPr>
          <a:xfrm>
            <a:off x="9052560" y="2103120"/>
            <a:ext cx="109728" cy="365760"/>
          </a:xfrm>
          <a:prstGeom prst="rect">
            <a:avLst/>
          </a:prstGeom>
          <a:noFill/>
        </p:spPr>
        <p:txBody>
          <a:bodyPr wrap="none">
            <a:spAutoFit/>
          </a:bodyPr>
          <a:lstStyle/>
          <a:p>
            <a:r>
              <a:rPr sz="1800" b="1">
                <a:solidFill>
                  <a:srgbClr val="1F497D"/>
                </a:solidFill>
              </a:rPr>
              <a:t>&gt;</a:t>
            </a:r>
          </a:p>
        </p:txBody>
      </p:sp>
      <p:sp>
        <p:nvSpPr>
          <p:cNvPr id="14" name="Rectangle 13"/>
          <p:cNvSpPr/>
          <p:nvPr/>
        </p:nvSpPr>
        <p:spPr>
          <a:xfrm>
            <a:off x="9189720" y="1188720"/>
            <a:ext cx="2834640" cy="566928"/>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Resultado
Cluster listo</a:t>
            </a:r>
          </a:p>
        </p:txBody>
      </p:sp>
      <p:sp>
        <p:nvSpPr>
          <p:cNvPr id="15" name="Rectangle 14"/>
          <p:cNvSpPr/>
          <p:nvPr/>
        </p:nvSpPr>
        <p:spPr>
          <a:xfrm>
            <a:off x="9189720" y="1755648"/>
            <a:ext cx="2834640" cy="34747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55555"/>
                </a:solidFill>
                <a:latin typeface="Courier New"/>
              </a:rPr>
              <a:t>Servicios sinteticos
s0, s1, sdb1
corriendo en namespace
default
Listos para:
- TrafficGenerator
- Benchmarks/Runner
- Tests k6</a:t>
            </a:r>
          </a:p>
        </p:txBody>
      </p:sp>
      <p:sp>
        <p:nvSpPr>
          <p:cNvPr id="16" name="Rectangle 15"/>
          <p:cNvSpPr/>
          <p:nvPr/>
        </p:nvSpPr>
        <p:spPr>
          <a:xfrm>
            <a:off x="274320" y="4892040"/>
            <a:ext cx="11612880" cy="685800"/>
          </a:xfrm>
          <a:prstGeom prst="rect">
            <a:avLst/>
          </a:prstGeom>
          <a:solidFill>
            <a:srgbClr val="FFF3CD"/>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D3690F"/>
                </a:solidFill>
              </a:rPr>
              <a:t>EVOLUCION: </a:t>
            </a:r>
            <a:r>
              <a:rPr sz="1200">
                <a:solidFill>
                  <a:srgbClr val="1F497D"/>
                </a:solidFill>
              </a:rPr>
              <a:t>deploy_microk8s.sh (version actual) invoca cada script por separado para tener mayor control de errores y salida. K8sAutopilot.py sigue siendo util como acceso rapido ('un solo comando') para despliegues sinteticos desde cero. Usos: deploy_microk8s old.sh (linea 49-50) y deploy_microk8s copy.sh (linea 201-202).</a:t>
            </a:r>
          </a:p>
        </p:txBody>
      </p:sp>
      <p:sp>
        <p:nvSpPr>
          <p:cNvPr id="17" name="Rectangle 16"/>
          <p:cNvSpPr/>
          <p:nvPr/>
        </p:nvSpPr>
        <p:spPr>
          <a:xfrm>
            <a:off x="274320" y="5669280"/>
            <a:ext cx="11612880" cy="502920"/>
          </a:xfrm>
          <a:prstGeom prst="rect">
            <a:avLst/>
          </a:prstGeom>
          <a:solidFill>
            <a:srgbClr val="FFEBEB"/>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C0392B"/>
                </a:solidFill>
              </a:rPr>
              <a:t>LIMITACION: </a:t>
            </a:r>
            <a:r>
              <a:rPr sz="1200">
                <a:solidFill>
                  <a:srgbClr val="1F497D"/>
                </a:solidFill>
              </a:rPr>
              <a:t>os.system() no comprueba el codigo de retorno de cada script. Si el Paso 1 falla, el Paso 2 y 3 igualmente se ejecutan con datos incorrectos o ausentes. Para produccion se recomienda subprocess.run(..., check=True) con manejo de excepciones.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Testing/ — Scripts de análisis, plots y carga k6</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generate_plots.py · analyze_k6_results.py · baseline.js · inter-service-test.js · compare_qos_headers.py · run_realistic_combined.sh</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Testing/ — Scripts de análisis, plots y carga k6</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Herramientas de validación, análisis de latencia HTTP/HTTPS y generación de gráficas académicas</a:t>
            </a:r>
          </a:p>
        </p:txBody>
      </p:sp>
      <p:sp>
        <p:nvSpPr>
          <p:cNvPr id="5" name="Rectangle 4"/>
          <p:cNvSpPr/>
          <p:nvPr/>
        </p:nvSpPr>
        <p:spPr>
          <a:xfrm>
            <a:off x="274320" y="1143000"/>
            <a:ext cx="379476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generate_plots.py</a:t>
            </a:r>
          </a:p>
        </p:txBody>
      </p:sp>
      <p:sp>
        <p:nvSpPr>
          <p:cNvPr id="6" name="Rectangle 5"/>
          <p:cNvSpPr/>
          <p:nvPr/>
        </p:nvSpPr>
        <p:spPr>
          <a:xfrm>
            <a:off x="274320" y="1490472"/>
            <a:ext cx="3794760" cy="2212848"/>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a:solidFill>
                  <a:srgbClr val="1F497D"/>
                </a:solidFill>
                <a:latin typeface="Courier New"/>
              </a:rPr>
              <a:t>Genera 5 gráficas académicas (300 DPI)
con matplotlib + seaborn para papers.
Graficas:
  1. latency_comparison.png  → boxplot HTTP vs HTTPS
  2. throughput_vs_load.png  → req/s vs VUs
  3. resource_overhead.png   → CPU/Mem/Net overhead
  4. latency_timeseries.png  → serie temporal 5min
  5. correlation_heatmap.png → matriz correlaciones
Salida: Testing/plots/*.png</a:t>
            </a:r>
          </a:p>
        </p:txBody>
      </p:sp>
      <p:sp>
        <p:nvSpPr>
          <p:cNvPr id="7" name="Rectangle 6"/>
          <p:cNvSpPr/>
          <p:nvPr/>
        </p:nvSpPr>
        <p:spPr>
          <a:xfrm>
            <a:off x="274320" y="3703320"/>
            <a:ext cx="3794760" cy="320040"/>
          </a:xfrm>
          <a:prstGeom prst="rect">
            <a:avLst/>
          </a:prstGeom>
          <a:solidFill>
            <a:srgbClr val="1F497D"/>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2E75B6"/>
                </a:solidFill>
                <a:latin typeface="Courier New"/>
              </a:rPr>
              <a:t>matplotlib, seaborn, pandas, numpy</a:t>
            </a:r>
          </a:p>
        </p:txBody>
      </p:sp>
      <p:sp>
        <p:nvSpPr>
          <p:cNvPr id="8" name="Rectangle 7"/>
          <p:cNvSpPr/>
          <p:nvPr/>
        </p:nvSpPr>
        <p:spPr>
          <a:xfrm>
            <a:off x="4224528" y="1143000"/>
            <a:ext cx="3794760" cy="347472"/>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analyze_k6_results.py</a:t>
            </a:r>
          </a:p>
        </p:txBody>
      </p:sp>
      <p:sp>
        <p:nvSpPr>
          <p:cNvPr id="9" name="Rectangle 8"/>
          <p:cNvSpPr/>
          <p:nvPr/>
        </p:nvSpPr>
        <p:spPr>
          <a:xfrm>
            <a:off x="4224528" y="1490472"/>
            <a:ext cx="3794760" cy="2212848"/>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a:solidFill>
                  <a:srgbClr val="1F497D"/>
                </a:solidFill>
                <a:latin typeface="Courier New"/>
              </a:rPr>
              <a:t>Compara dos corridas de k6 (HTTP vs HTTPS).
Lee NDJSON (newline-delimited JSON) de k6.
Metricas extraidas:
  avg/p95/p99/median duration
  throughput (req/s)
  failed rate (%)
  data_received / data_sent (bytes)
Calcula overhead% = (HTTPS-HTTP)/HTTP*100
y da recomendaciones (TLS 1.3, session
resumption, mas CPU).</a:t>
            </a:r>
          </a:p>
        </p:txBody>
      </p:sp>
      <p:sp>
        <p:nvSpPr>
          <p:cNvPr id="10" name="Rectangle 9"/>
          <p:cNvSpPr/>
          <p:nvPr/>
        </p:nvSpPr>
        <p:spPr>
          <a:xfrm>
            <a:off x="4224528" y="3703320"/>
            <a:ext cx="3794760" cy="320040"/>
          </a:xfrm>
          <a:prstGeom prst="rect">
            <a:avLst/>
          </a:prstGeom>
          <a:solidFill>
            <a:srgbClr val="1F497D"/>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D3690F"/>
                </a:solidFill>
                <a:latin typeface="Courier New"/>
              </a:rPr>
              <a:t>Uso: python3 analyze_k6_results.py http.json https.json</a:t>
            </a:r>
          </a:p>
        </p:txBody>
      </p:sp>
      <p:sp>
        <p:nvSpPr>
          <p:cNvPr id="11" name="Rectangle 10"/>
          <p:cNvSpPr/>
          <p:nvPr/>
        </p:nvSpPr>
        <p:spPr>
          <a:xfrm>
            <a:off x="8174736" y="1143000"/>
            <a:ext cx="3794760" cy="347472"/>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baseline.js</a:t>
            </a:r>
          </a:p>
        </p:txBody>
      </p:sp>
      <p:sp>
        <p:nvSpPr>
          <p:cNvPr id="12" name="Rectangle 11"/>
          <p:cNvSpPr/>
          <p:nvPr/>
        </p:nvSpPr>
        <p:spPr>
          <a:xfrm>
            <a:off x="8174736" y="1490472"/>
            <a:ext cx="3794760" cy="2212848"/>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a:solidFill>
                  <a:srgbClr val="1F497D"/>
                </a:solidFill>
                <a:latin typeface="Courier New"/>
              </a:rPr>
              <a:t>Script k6 para test de carga simple.
Un solo endpoint TARGET_URL.
Metricas custom:
  errorRate (Rate)
  requestDuration (Trend)
  requestsTotal (Counter)
Thresholds:
  p95 &lt; 500ms, p99 &lt; 1000ms
  errors rate &lt; 10%
  http_req_failed &lt; 5%
Config por env vars: TARGET_URL, VUS,
DURATION, PROTOCOL, INSECURE_SKIP_TLS_VERIFY</a:t>
            </a:r>
          </a:p>
        </p:txBody>
      </p:sp>
      <p:sp>
        <p:nvSpPr>
          <p:cNvPr id="13" name="Rectangle 12"/>
          <p:cNvSpPr/>
          <p:nvPr/>
        </p:nvSpPr>
        <p:spPr>
          <a:xfrm>
            <a:off x="8174736" y="3703320"/>
            <a:ext cx="3794760" cy="320040"/>
          </a:xfrm>
          <a:prstGeom prst="rect">
            <a:avLst/>
          </a:prstGeom>
          <a:solidFill>
            <a:srgbClr val="1F497D"/>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6844B4"/>
                </a:solidFill>
                <a:latin typeface="Courier New"/>
              </a:rPr>
              <a:t>Testing/baseline.js  →  Testing/results/</a:t>
            </a:r>
          </a:p>
        </p:txBody>
      </p:sp>
      <p:sp>
        <p:nvSpPr>
          <p:cNvPr id="14" name="Rectangle 13"/>
          <p:cNvSpPr/>
          <p:nvPr/>
        </p:nvSpPr>
        <p:spPr>
          <a:xfrm>
            <a:off x="274320" y="4069080"/>
            <a:ext cx="3794760" cy="347472"/>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inter-service-test.js</a:t>
            </a:r>
          </a:p>
        </p:txBody>
      </p:sp>
      <p:sp>
        <p:nvSpPr>
          <p:cNvPr id="15" name="Rectangle 14"/>
          <p:cNvSpPr/>
          <p:nvPr/>
        </p:nvSpPr>
        <p:spPr>
          <a:xfrm>
            <a:off x="274320" y="4416552"/>
            <a:ext cx="3794760" cy="2212848"/>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a:solidFill>
                  <a:srgbClr val="1F497D"/>
                </a:solidFill>
                <a:latin typeface="Courier New"/>
              </a:rPr>
              <a:t>Test de la cadena completa s0→s1→sdb1.
Usa group() de k6 para separar por servicio.
Endpoints testeados:
  POST /process  → s0
  POST /validate → s1
  POST /query    → sdb1
Metricas por servicio (Trend+Rate):
  s0_request_duration, s0_errors
  s1_request_duration, s1_errors
  sdb_request_duration, sdb_errors
Thresholds individuales por servicio.</a:t>
            </a:r>
          </a:p>
        </p:txBody>
      </p:sp>
      <p:sp>
        <p:nvSpPr>
          <p:cNvPr id="16" name="Rectangle 15"/>
          <p:cNvSpPr/>
          <p:nvPr/>
        </p:nvSpPr>
        <p:spPr>
          <a:xfrm>
            <a:off x="274320" y="6629400"/>
            <a:ext cx="3794760" cy="320040"/>
          </a:xfrm>
          <a:prstGeom prst="rect">
            <a:avLst/>
          </a:prstGeom>
          <a:solidFill>
            <a:srgbClr val="1F497D"/>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E6B3A"/>
                </a:solidFill>
                <a:latin typeface="Courier New"/>
              </a:rPr>
              <a:t>BASE_URL=http://localhost:31113</a:t>
            </a:r>
          </a:p>
        </p:txBody>
      </p:sp>
      <p:sp>
        <p:nvSpPr>
          <p:cNvPr id="17" name="Rectangle 16"/>
          <p:cNvSpPr/>
          <p:nvPr/>
        </p:nvSpPr>
        <p:spPr>
          <a:xfrm>
            <a:off x="4224528" y="4069080"/>
            <a:ext cx="3794760" cy="347472"/>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compare_qos_headers.py</a:t>
            </a:r>
          </a:p>
        </p:txBody>
      </p:sp>
      <p:sp>
        <p:nvSpPr>
          <p:cNvPr id="18" name="Rectangle 17"/>
          <p:cNvSpPr/>
          <p:nvPr/>
        </p:nvSpPr>
        <p:spPr>
          <a:xfrm>
            <a:off x="4224528" y="4416552"/>
            <a:ext cx="3794760" cy="2212848"/>
          </a:xfrm>
          <a:prstGeom prst="rect">
            <a:avLst/>
          </a:prstGeom>
          <a:solidFill>
            <a:srgbClr val="F0F4F8"/>
          </a:solidFill>
          <a:ln>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a:solidFill>
                  <a:srgbClr val="1F497D"/>
                </a:solidFill>
                <a:latin typeface="Courier New"/>
              </a:rPr>
              <a:t>Compara columnas de los CSV QoS
generados por los controles c1-c4.
Para cada control lee el primer CSV que
matchea el patron:
  c1-realistic-*/*-qos.csv
Calcula:
  1. Metricas comunes (interseccion)
  2. Metricas especificas por control
Util para verificar que todos los
controles exportan las mismas columnas
antes de unirlos en un analisis global.</a:t>
            </a:r>
          </a:p>
        </p:txBody>
      </p:sp>
      <p:sp>
        <p:nvSpPr>
          <p:cNvPr id="19" name="Rectangle 18"/>
          <p:cNvSpPr/>
          <p:nvPr/>
        </p:nvSpPr>
        <p:spPr>
          <a:xfrm>
            <a:off x="4224528" y="6629400"/>
            <a:ext cx="3794760" cy="320040"/>
          </a:xfrm>
          <a:prstGeom prst="rect">
            <a:avLst/>
          </a:prstGeom>
          <a:solidFill>
            <a:srgbClr val="1F497D"/>
          </a:solidFill>
          <a:ln>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F9E2AF"/>
                </a:solidFill>
                <a:latin typeface="Courier New"/>
              </a:rPr>
              <a:t>Testing/results/c1-realistic-*/...</a:t>
            </a:r>
          </a:p>
        </p:txBody>
      </p:sp>
      <p:sp>
        <p:nvSpPr>
          <p:cNvPr id="20" name="Rectangle 19"/>
          <p:cNvSpPr/>
          <p:nvPr/>
        </p:nvSpPr>
        <p:spPr>
          <a:xfrm>
            <a:off x="8174736" y="4069080"/>
            <a:ext cx="379476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run_realistic_combined.sh</a:t>
            </a:r>
          </a:p>
        </p:txBody>
      </p:sp>
      <p:sp>
        <p:nvSpPr>
          <p:cNvPr id="21" name="Rectangle 20"/>
          <p:cNvSpPr/>
          <p:nvPr/>
        </p:nvSpPr>
        <p:spPr>
          <a:xfrm>
            <a:off x="8174736" y="4416552"/>
            <a:ext cx="3794760" cy="2212848"/>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a:solidFill>
                  <a:srgbClr val="1F497D"/>
                </a:solidFill>
                <a:latin typeface="Courier New"/>
              </a:rPr>
              <a:t>Orquesta dos flujos k6 en secuencia:
  1. users-bulk-create-list.js
     → negocio: crear y listar usuarios
     → AUTH_BASE=http://127.0.0.1:18082
  2. realistic-flow.js
     → autenticacion: login + profile
     → API_BASE=http://127.0.0.1:30081
Uso: bash run_realistic_combined.sh c1 ./out
Salida: JSON por flujo en OUT_DIR/
  users-bulk-create-list.json
  realistic-flow.json</a:t>
            </a:r>
          </a:p>
        </p:txBody>
      </p:sp>
      <p:sp>
        <p:nvSpPr>
          <p:cNvPr id="22" name="Rectangle 21"/>
          <p:cNvSpPr/>
          <p:nvPr/>
        </p:nvSpPr>
        <p:spPr>
          <a:xfrm>
            <a:off x="8174736" y="6629400"/>
            <a:ext cx="3794760" cy="320040"/>
          </a:xfrm>
          <a:prstGeom prst="rect">
            <a:avLst/>
          </a:prstGeom>
          <a:solidFill>
            <a:srgbClr val="1F497D"/>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C0392B"/>
                </a:solidFill>
                <a:latin typeface="Courier New"/>
              </a:rPr>
              <a:t>set -euo pipefail  /  mkdir -p OUT_DIR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generate_plots.py — Gráficas académicas de alta calidad</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matplotlib + seaborn → 5 PNGs a 300 DPI para papers/informes</a:t>
            </a:r>
          </a:p>
        </p:txBody>
      </p:sp>
      <p:sp>
        <p:nvSpPr>
          <p:cNvPr id="5" name="Rectangle 4"/>
          <p:cNvSpPr/>
          <p:nvPr/>
        </p:nvSpPr>
        <p:spPr>
          <a:xfrm>
            <a:off x="365760" y="1143000"/>
            <a:ext cx="5212080" cy="53035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Configuración global (aplica a todos los plots)</a:t>
            </a:r>
          </a:p>
          <a:p>
            <a:r>
              <a:rPr sz="1100">
                <a:solidFill>
                  <a:srgbClr val="F9E2AF"/>
                </a:solidFill>
                <a:latin typeface="Courier New"/>
              </a:rPr>
              <a:t>plt.rcParams.update({</a:t>
            </a:r>
          </a:p>
          <a:p>
            <a:r>
              <a:rPr sz="1100">
                <a:solidFill>
                  <a:srgbClr val="CBD3F0"/>
                </a:solidFill>
                <a:latin typeface="Courier New"/>
              </a:rPr>
              <a:t>    'figure.dpi': 300,</a:t>
            </a:r>
          </a:p>
          <a:p>
            <a:r>
              <a:rPr sz="1100">
                <a:solidFill>
                  <a:srgbClr val="CBD3F0"/>
                </a:solidFill>
                <a:latin typeface="Courier New"/>
              </a:rPr>
              <a:t>    'savefig.dpi': 300,</a:t>
            </a:r>
          </a:p>
          <a:p>
            <a:r>
              <a:rPr sz="1100">
                <a:solidFill>
                  <a:srgbClr val="CBD3F0"/>
                </a:solidFill>
                <a:latin typeface="Courier New"/>
              </a:rPr>
              <a:t>    'font.size': 12,</a:t>
            </a:r>
          </a:p>
          <a:p>
            <a:r>
              <a:rPr sz="1100">
                <a:solidFill>
                  <a:srgbClr val="CBD3F0"/>
                </a:solidFill>
                <a:latin typeface="Courier New"/>
              </a:rPr>
              <a:t>    'font.family': 'serif',  # estilo académico</a:t>
            </a:r>
          </a:p>
          <a:p>
            <a:r>
              <a:rPr sz="1100">
                <a:solidFill>
                  <a:srgbClr val="CBD3F0"/>
                </a:solidFill>
                <a:latin typeface="Courier New"/>
              </a:rPr>
              <a:t>    'axes.labelsize': 14,</a:t>
            </a:r>
          </a:p>
          <a:p>
            <a:r>
              <a:rPr sz="1100">
                <a:solidFill>
                  <a:srgbClr val="CBD3F0"/>
                </a:solidFill>
                <a:latin typeface="Courier New"/>
              </a:rPr>
              <a:t>    'axes.titlesize': 16,</a:t>
            </a:r>
          </a:p>
          <a:p>
            <a:r>
              <a:rPr sz="1100">
                <a:solidFill>
                  <a:srgbClr val="CBD3F0"/>
                </a:solidFill>
                <a:latin typeface="Courier New"/>
              </a:rPr>
              <a:t>})</a:t>
            </a:r>
          </a:p>
          <a:p>
            <a:r>
              <a:rPr sz="1100">
                <a:solidFill>
                  <a:srgbClr val="CBD3F0"/>
                </a:solidFill>
                <a:latin typeface="Courier New"/>
              </a:rPr>
              <a:t>sns.set_style('whitegrid')</a:t>
            </a:r>
          </a:p>
          <a:p>
            <a:r>
              <a:rPr sz="1100">
                <a:solidFill>
                  <a:srgbClr val="CBD3F0"/>
                </a:solidFill>
                <a:latin typeface="Courier New"/>
              </a:rPr>
              <a:t>sns.set_palette('colorblind')</a:t>
            </a:r>
          </a:p>
          <a:p>
            <a:r>
              <a:rPr sz="1100">
                <a:solidFill>
                  <a:srgbClr val="CBD3F0"/>
                </a:solidFill>
                <a:latin typeface="Courier New"/>
              </a:rPr>
              <a:t/>
            </a:r>
          </a:p>
          <a:p>
            <a:r>
              <a:rPr sz="1100">
                <a:solidFill>
                  <a:srgbClr val="CBD3F0"/>
                </a:solidFill>
                <a:latin typeface="Courier New"/>
              </a:rPr>
              <a:t># GRÁFICO 1: Boxplot de Latencia (HTTP vs HTTPS)</a:t>
            </a:r>
          </a:p>
          <a:p>
            <a:r>
              <a:rPr sz="1100">
                <a:solidFill>
                  <a:srgbClr val="F9E2AF"/>
                </a:solidFill>
                <a:latin typeface="Courier New"/>
              </a:rPr>
              <a:t>def plot_latency_comparison():</a:t>
            </a:r>
          </a:p>
          <a:p>
            <a:r>
              <a:rPr sz="1100">
                <a:solidFill>
                  <a:srgbClr val="CBD3F0"/>
                </a:solidFill>
                <a:latin typeface="Courier New"/>
              </a:rPr>
              <a:t>    http_latencies  = np.random.normal(46, 3, 100)</a:t>
            </a:r>
          </a:p>
          <a:p>
            <a:r>
              <a:rPr sz="1100">
                <a:solidFill>
                  <a:srgbClr val="CBD3F0"/>
                </a:solidFill>
                <a:latin typeface="Courier New"/>
              </a:rPr>
              <a:t>    https_latencies = np.random.normal(68, 5, 100)</a:t>
            </a:r>
          </a:p>
          <a:p>
            <a:r>
              <a:rPr sz="1100">
                <a:solidFill>
                  <a:srgbClr val="CBD3F0"/>
                </a:solidFill>
                <a:latin typeface="Courier New"/>
              </a:rPr>
              <a:t>    sns.boxplot(x='Protocolo', y='Latencia (ms)', data=df,</a:t>
            </a:r>
          </a:p>
          <a:p>
            <a:r>
              <a:rPr sz="1100">
                <a:solidFill>
                  <a:srgbClr val="CBD3F0"/>
                </a:solidFill>
                <a:latin typeface="Courier New"/>
              </a:rPr>
              <a:t>        palette={'HTTP':'#4CAF50','HTTPS':'#F44336'})</a:t>
            </a:r>
          </a:p>
          <a:p>
            <a:r>
              <a:rPr sz="1100">
                <a:solidFill>
                  <a:srgbClr val="CBD3F0"/>
                </a:solidFill>
                <a:latin typeface="Courier New"/>
              </a:rPr>
              <a:t>    ax.plot([0,1], means, 'D', color='black', ...)</a:t>
            </a:r>
          </a:p>
          <a:p>
            <a:r>
              <a:rPr sz="1100">
                <a:solidFill>
                  <a:srgbClr val="CBD3F0"/>
                </a:solidFill>
                <a:latin typeface="Courier New"/>
              </a:rPr>
              <a:t>    overhead = ((p95_https - p95_http) / p95_http) * 100</a:t>
            </a:r>
          </a:p>
          <a:p>
            <a:r>
              <a:rPr sz="1100">
                <a:solidFill>
                  <a:srgbClr val="CBD3F0"/>
                </a:solidFill>
                <a:latin typeface="Courier New"/>
              </a:rPr>
              <a:t>    ax.text(0.5, max_val, f'Overhead: +{overhead:.1f}%', ...)</a:t>
            </a:r>
          </a:p>
          <a:p>
            <a:r>
              <a:rPr sz="1100">
                <a:solidFill>
                  <a:srgbClr val="CBD3F0"/>
                </a:solidFill>
                <a:latin typeface="Courier New"/>
              </a:rPr>
              <a:t/>
            </a:r>
          </a:p>
          <a:p>
            <a:r>
              <a:rPr sz="1100">
                <a:solidFill>
                  <a:srgbClr val="CBD3F0"/>
                </a:solidFill>
                <a:latin typeface="Courier New"/>
              </a:rPr>
              <a:t># GRÁFICO 2: Throughput vs VUs</a:t>
            </a:r>
          </a:p>
          <a:p>
            <a:r>
              <a:rPr sz="1100">
                <a:solidFill>
                  <a:srgbClr val="F9E2AF"/>
                </a:solidFill>
                <a:latin typeface="Courier New"/>
              </a:rPr>
              <a:t>def plot_throughput_vs_load():</a:t>
            </a:r>
          </a:p>
          <a:p>
            <a:r>
              <a:rPr sz="1100">
                <a:solidFill>
                  <a:srgbClr val="CBD3F0"/>
                </a:solidFill>
                <a:latin typeface="Courier New"/>
              </a:rPr>
              <a:t>    vus  = [5,10,25,50,100]</a:t>
            </a:r>
          </a:p>
          <a:p>
            <a:r>
              <a:rPr sz="1100">
                <a:solidFill>
                  <a:srgbClr val="CBD3F0"/>
                </a:solidFill>
                <a:latin typeface="Courier New"/>
              </a:rPr>
              <a:t>    http_throughput  = [38,77,185,355,450]</a:t>
            </a:r>
          </a:p>
          <a:p>
            <a:r>
              <a:rPr sz="1100">
                <a:solidFill>
                  <a:srgbClr val="CBD3F0"/>
                </a:solidFill>
                <a:latin typeface="Courier New"/>
              </a:rPr>
              <a:t>    https_throughput = [32,65,160,305,380]</a:t>
            </a:r>
          </a:p>
          <a:p>
            <a:r>
              <a:rPr sz="1100">
                <a:solidFill>
                  <a:srgbClr val="CBD3F0"/>
                </a:solidFill>
                <a:latin typeface="Courier New"/>
              </a:rPr>
              <a:t>    ax.fill_between(vus, http, https,  # área de degradación</a:t>
            </a:r>
          </a:p>
          <a:p>
            <a:r>
              <a:rPr sz="1100">
                <a:solidFill>
                  <a:srgbClr val="CBD3F0"/>
                </a:solidFill>
                <a:latin typeface="Courier New"/>
              </a:rPr>
              <a:t>        alpha=0.2, color='gray')</a:t>
            </a:r>
          </a:p>
          <a:p>
            <a:r>
              <a:rPr sz="1100">
                <a:solidFill>
                  <a:srgbClr val="CBD3F0"/>
                </a:solidFill>
                <a:latin typeface="Courier New"/>
              </a:rPr>
              <a:t/>
            </a:r>
          </a:p>
          <a:p>
            <a:r>
              <a:rPr sz="1100">
                <a:solidFill>
                  <a:srgbClr val="CBD3F0"/>
                </a:solidFill>
                <a:latin typeface="Courier New"/>
              </a:rPr>
              <a:t># GRÁFICO 5: Heatmap de correlaciones</a:t>
            </a:r>
          </a:p>
          <a:p>
            <a:r>
              <a:rPr sz="1100">
                <a:solidFill>
                  <a:srgbClr val="F9E2AF"/>
                </a:solidFill>
                <a:latin typeface="Courier New"/>
              </a:rPr>
              <a:t>def plot_correlation_heatmap():</a:t>
            </a:r>
          </a:p>
          <a:p>
            <a:r>
              <a:rPr sz="1100">
                <a:solidFill>
                  <a:srgbClr val="CBD3F0"/>
                </a:solidFill>
                <a:latin typeface="Courier New"/>
              </a:rPr>
              <a:t>    data['CPU']        = data['Latencia'] * 0.5 + ruido</a:t>
            </a:r>
          </a:p>
          <a:p>
            <a:r>
              <a:rPr sz="1100">
                <a:solidFill>
                  <a:srgbClr val="CBD3F0"/>
                </a:solidFill>
                <a:latin typeface="Courier New"/>
              </a:rPr>
              <a:t>    data['Throughput'] = 600 - data['Latencia'] * 2 + ruido</a:t>
            </a:r>
          </a:p>
          <a:p>
            <a:r>
              <a:rPr sz="1100">
                <a:solidFill>
                  <a:srgbClr val="CBD3F0"/>
                </a:solidFill>
                <a:latin typeface="Courier New"/>
              </a:rPr>
              <a:t>    corr = data.corr()</a:t>
            </a:r>
          </a:p>
          <a:p>
            <a:r>
              <a:rPr sz="1100">
                <a:solidFill>
                  <a:srgbClr val="CBD3F0"/>
                </a:solidFill>
                <a:latin typeface="Courier New"/>
              </a:rPr>
              <a:t>    sns.heatmap(corr, annot=True, fmt='.2f',</a:t>
            </a:r>
          </a:p>
          <a:p>
            <a:r>
              <a:rPr sz="1100">
                <a:solidFill>
                  <a:srgbClr val="CBD3F0"/>
                </a:solidFill>
                <a:latin typeface="Courier New"/>
              </a:rPr>
              <a:t>        cmap='RdYlGn_r', center=0, square=True, linewidths=1)</a:t>
            </a:r>
          </a:p>
        </p:txBody>
      </p:sp>
      <p:sp>
        <p:nvSpPr>
          <p:cNvPr id="6" name="Rectangle 5"/>
          <p:cNvSpPr/>
          <p:nvPr/>
        </p:nvSpPr>
        <p:spPr>
          <a:xfrm>
            <a:off x="5669280" y="1143000"/>
            <a:ext cx="3154680" cy="201168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1. latency_comparison.png</a:t>
            </a:r>
          </a:p>
          <a:p>
            <a:r>
              <a:rPr sz="1000">
                <a:solidFill>
                  <a:srgbClr val="555555"/>
                </a:solidFill>
              </a:rPr>
              <a:t>Boxplot con:
- Caja HTTP (verde) vs HTTPS (rojo)
- Punto de media (diamante negro)
- Líneas P95 horizontales punteadas
- Texto 'Overhead: +X%' sobre el box
Parametros actuales (simulados):
  HTTP: μ=46ms σ=3ms  (100 muestras)
  HTTPS: μ=68ms σ=5ms (100 muestras)
→ Sustituir con datos reales de k6.</a:t>
            </a:r>
          </a:p>
        </p:txBody>
      </p:sp>
      <p:sp>
        <p:nvSpPr>
          <p:cNvPr id="7" name="Rectangle 6"/>
          <p:cNvSpPr/>
          <p:nvPr/>
        </p:nvSpPr>
        <p:spPr>
          <a:xfrm>
            <a:off x="8961120" y="1143000"/>
            <a:ext cx="3154680" cy="201168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2. throughput_vs_load.png</a:t>
            </a:r>
          </a:p>
          <a:p>
            <a:r>
              <a:rPr sz="1000">
                <a:solidFill>
                  <a:srgbClr val="555555"/>
                </a:solidFill>
              </a:rPr>
              <a:t>Líneas con marcadores (o- y s-):
  HTTP:  38→77→185→355→450 req/s
  HTTPS: 32→65→160→305→380 req/s
fill_between = área gris que representa
la DEGRADACIÓN por TLS.
Anotaciones de valor en cada punto.</a:t>
            </a:r>
          </a:p>
        </p:txBody>
      </p:sp>
      <p:sp>
        <p:nvSpPr>
          <p:cNvPr id="8" name="Rectangle 7"/>
          <p:cNvSpPr/>
          <p:nvPr/>
        </p:nvSpPr>
        <p:spPr>
          <a:xfrm>
            <a:off x="5669280" y="3291840"/>
            <a:ext cx="3154680" cy="201168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3. resource_overhead.png</a:t>
            </a:r>
          </a:p>
          <a:p>
            <a:r>
              <a:rPr sz="1000">
                <a:solidFill>
                  <a:srgbClr val="555555"/>
                </a:solidFill>
              </a:rPr>
              <a:t>Doble subplot:
  ax1: barras agrupadas HTTP/HTTPS
       (valores absolutos)
  ax2: barras horizontales de overhead%
       (color rojo si positivo)
Métricas: P95, Throughput, CPU, Red TX.</a:t>
            </a:r>
          </a:p>
        </p:txBody>
      </p:sp>
      <p:sp>
        <p:nvSpPr>
          <p:cNvPr id="9" name="Rectangle 8"/>
          <p:cNvSpPr/>
          <p:nvPr/>
        </p:nvSpPr>
        <p:spPr>
          <a:xfrm>
            <a:off x="8961120" y="3291840"/>
            <a:ext cx="3154680" cy="201168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4. latency_timeseries.png</a:t>
            </a:r>
          </a:p>
          <a:p>
            <a:r>
              <a:rPr sz="1000">
                <a:solidFill>
                  <a:srgbClr val="555555"/>
                </a:solidFill>
              </a:rPr>
              <a:t>Serie temporal 300 segundos:
  Latencia con oscilación periódica:
    sin(t/30)*5 → simula carga cíclica
  Banda de ±σ con fill_between
  Líneas de referencia (promedio)
Útil para detectar degradación
temporal durante el experimento.</a:t>
            </a:r>
          </a:p>
        </p:txBody>
      </p:sp>
      <p:sp>
        <p:nvSpPr>
          <p:cNvPr id="10" name="Rectangle 9"/>
          <p:cNvSpPr/>
          <p:nvPr/>
        </p:nvSpPr>
        <p:spPr>
          <a:xfrm>
            <a:off x="5669280" y="5440680"/>
            <a:ext cx="3154680" cy="201168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5. correlation_heatmap.png</a:t>
            </a:r>
          </a:p>
          <a:p>
            <a:r>
              <a:rPr sz="1000">
                <a:solidFill>
                  <a:srgbClr val="555555"/>
                </a:solidFill>
              </a:rPr>
              <a:t>Matriz 5×5: Latencia, CPU, Mem,
Red TX, Throughput.
Correlaciones artificiales:
  CPU = Latencia * 0.5 + ruido
  Throughput = 600 - Lat*2 + ruido
cmap='RdYlGn_r': rojo=correlación alta
verde=sin correlación, center=0.</a:t>
            </a:r>
          </a:p>
        </p:txBody>
      </p:sp>
      <p:sp>
        <p:nvSpPr>
          <p:cNvPr id="11" name="Rectangle 10"/>
          <p:cNvSpPr/>
          <p:nvPr/>
        </p:nvSpPr>
        <p:spPr>
          <a:xfrm>
            <a:off x="8961120" y="5440680"/>
            <a:ext cx="3154680" cy="201168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Notas de uso</a:t>
            </a:r>
          </a:p>
          <a:p>
            <a:r>
              <a:rPr sz="1000">
                <a:solidFill>
                  <a:srgbClr val="555555"/>
                </a:solidFill>
              </a:rPr>
              <a:t>Los datos son SIMULADOS (np.random.seed(42))
para demostración y reproducibilidad.
Para usar datos reales:
  1. Exportar k6 con --out json=out.json
  2. Parsear con analyze_k6_results.py
  3. Reemplazar arrays en generate_plots.py
output_dir = Path('plots')
output_dir.mkdir(parents=True, exist_ok=True)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analyze_k6_results.py — Overhead TLS HTTP vs HTTPS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Lee NDJSON de k6, extrae métricas, calcula overhead% y muestra recomendaciones</a:t>
            </a:r>
          </a:p>
        </p:txBody>
      </p:sp>
      <p:sp>
        <p:nvSpPr>
          <p:cNvPr id="5" name="Rectangle 4"/>
          <p:cNvSpPr/>
          <p:nvPr/>
        </p:nvSpPr>
        <p:spPr>
          <a:xfrm>
            <a:off x="365760" y="1143000"/>
            <a:ext cx="5577840" cy="32461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def load_k6_results(filepath):</a:t>
            </a:r>
          </a:p>
          <a:p>
            <a:r>
              <a:rPr sz="1100">
                <a:solidFill>
                  <a:srgbClr val="F9E2AF"/>
                </a:solidFill>
                <a:latin typeface="Courier New"/>
              </a:rPr>
              <a:t>    with open(filepath) as f:</a:t>
            </a:r>
          </a:p>
          <a:p>
            <a:r>
              <a:rPr sz="1100">
                <a:solidFill>
                  <a:srgbClr val="CBD3F0"/>
                </a:solidFill>
                <a:latin typeface="Courier New"/>
              </a:rPr>
              <a:t>        lines = f.readlines()</a:t>
            </a:r>
          </a:p>
          <a:p>
            <a:r>
              <a:rPr sz="1100">
                <a:solidFill>
                  <a:srgbClr val="CBD3F0"/>
                </a:solidFill>
                <a:latin typeface="Courier New"/>
              </a:rPr>
              <a:t>        for line in reversed(lines):</a:t>
            </a:r>
          </a:p>
          <a:p>
            <a:r>
              <a:rPr sz="1100">
                <a:solidFill>
                  <a:srgbClr val="CBD3F0"/>
                </a:solidFill>
                <a:latin typeface="Courier New"/>
              </a:rPr>
              <a:t>            data = json.loads(line)</a:t>
            </a:r>
          </a:p>
          <a:p>
            <a:r>
              <a:rPr sz="1100">
                <a:solidFill>
                  <a:srgbClr val="CBD3F0"/>
                </a:solidFill>
                <a:latin typeface="Courier New"/>
              </a:rPr>
              <a:t>            if 'metrics' in data:   # resumen final</a:t>
            </a:r>
          </a:p>
          <a:p>
            <a:r>
              <a:rPr sz="1100">
                <a:solidFill>
                  <a:srgbClr val="F9E2AF"/>
                </a:solidFill>
                <a:latin typeface="Courier New"/>
              </a:rPr>
              <a:t>                return data</a:t>
            </a:r>
          </a:p>
          <a:p>
            <a:r>
              <a:rPr sz="1100">
                <a:solidFill>
                  <a:srgbClr val="CBD3F0"/>
                </a:solidFill>
                <a:latin typeface="Courier New"/>
              </a:rPr>
              <a:t>    # fallback: JSON normal (no NDJSON)</a:t>
            </a:r>
          </a:p>
          <a:p>
            <a:r>
              <a:rPr sz="1100">
                <a:solidFill>
                  <a:srgbClr val="CBD3F0"/>
                </a:solidFill>
                <a:latin typeface="Courier New"/>
              </a:rPr>
              <a:t>    with open(filepath) as f:</a:t>
            </a:r>
          </a:p>
          <a:p>
            <a:r>
              <a:rPr sz="1100">
                <a:solidFill>
                  <a:srgbClr val="CBD3F0"/>
                </a:solidFill>
                <a:latin typeface="Courier New"/>
              </a:rPr>
              <a:t>        return json.load(f)</a:t>
            </a:r>
          </a:p>
          <a:p>
            <a:r>
              <a:rPr sz="1100">
                <a:solidFill>
                  <a:srgbClr val="CBD3F0"/>
                </a:solidFill>
                <a:latin typeface="Courier New"/>
              </a:rPr>
              <a:t/>
            </a:r>
          </a:p>
          <a:p>
            <a:r>
              <a:rPr sz="1100">
                <a:solidFill>
                  <a:srgbClr val="CBD3F0"/>
                </a:solidFill>
                <a:latin typeface="Courier New"/>
              </a:rPr>
              <a:t>def extract_metrics(results):</a:t>
            </a:r>
          </a:p>
          <a:p>
            <a:r>
              <a:rPr sz="1100">
                <a:solidFill>
                  <a:srgbClr val="F9E2AF"/>
                </a:solidFill>
                <a:latin typeface="Courier New"/>
              </a:rPr>
              <a:t>    metrics = results.get('metrics', {})</a:t>
            </a:r>
          </a:p>
          <a:p>
            <a:r>
              <a:rPr sz="1100">
                <a:solidFill>
                  <a:srgbClr val="CBD3F0"/>
                </a:solidFill>
                <a:latin typeface="Courier New"/>
              </a:rPr>
              <a:t>    return {</a:t>
            </a:r>
          </a:p>
          <a:p>
            <a:r>
              <a:rPr sz="1100">
                <a:solidFill>
                  <a:srgbClr val="CBD3F0"/>
                </a:solidFill>
                <a:latin typeface="Courier New"/>
              </a:rPr>
              <a:t>        'avg_duration':  metrics['http_req_duration']['avg'],</a:t>
            </a:r>
          </a:p>
          <a:p>
            <a:r>
              <a:rPr sz="1100">
                <a:solidFill>
                  <a:srgbClr val="CBD3F0"/>
                </a:solidFill>
                <a:latin typeface="Courier New"/>
              </a:rPr>
              <a:t>        'p95_duration':  metrics['http_req_duration']['p(95)'],</a:t>
            </a:r>
          </a:p>
          <a:p>
            <a:r>
              <a:rPr sz="1100">
                <a:solidFill>
                  <a:srgbClr val="CBD3F0"/>
                </a:solidFill>
                <a:latin typeface="Courier New"/>
              </a:rPr>
              <a:t>        'p99_duration':  metrics['http_req_duration']['p(99)'],</a:t>
            </a:r>
          </a:p>
          <a:p>
            <a:r>
              <a:rPr sz="1100">
                <a:solidFill>
                  <a:srgbClr val="CBD3F0"/>
                </a:solidFill>
                <a:latin typeface="Courier New"/>
              </a:rPr>
              <a:t>        'median_duration':metrics['http_req_duration']['med'],</a:t>
            </a:r>
          </a:p>
          <a:p>
            <a:r>
              <a:rPr sz="1100">
                <a:solidFill>
                  <a:srgbClr val="CBD3F0"/>
                </a:solidFill>
                <a:latin typeface="Courier New"/>
              </a:rPr>
              <a:t>        'throughput':    metrics['http_reqs']['rate'],</a:t>
            </a:r>
          </a:p>
          <a:p>
            <a:r>
              <a:rPr sz="1100">
                <a:solidFill>
                  <a:srgbClr val="CBD3F0"/>
                </a:solidFill>
                <a:latin typeface="Courier New"/>
              </a:rPr>
              <a:t>        'total_requests':metrics['http_reqs']['count'],</a:t>
            </a:r>
          </a:p>
          <a:p>
            <a:r>
              <a:rPr sz="1100">
                <a:solidFill>
                  <a:srgbClr val="CBD3F0"/>
                </a:solidFill>
                <a:latin typeface="Courier New"/>
              </a:rPr>
              <a:t>        'failed_requests':metrics['http_req_failed']['rate']*100,</a:t>
            </a:r>
          </a:p>
          <a:p>
            <a:r>
              <a:rPr sz="1100">
                <a:solidFill>
                  <a:srgbClr val="CBD3F0"/>
                </a:solidFill>
                <a:latin typeface="Courier New"/>
              </a:rPr>
              <a:t>        'data_received': metrics['data_received']['count'],</a:t>
            </a:r>
          </a:p>
          <a:p>
            <a:r>
              <a:rPr sz="1100">
                <a:solidFill>
                  <a:srgbClr val="CBD3F0"/>
                </a:solidFill>
                <a:latin typeface="Courier New"/>
              </a:rPr>
              <a:t>        'data_sent':     metrics['data_sent']['count'],</a:t>
            </a:r>
          </a:p>
          <a:p>
            <a:r>
              <a:rPr sz="1100">
                <a:solidFill>
                  <a:srgbClr val="CBD3F0"/>
                </a:solidFill>
                <a:latin typeface="Courier New"/>
              </a:rPr>
              <a:t>    }</a:t>
            </a:r>
          </a:p>
          <a:p>
            <a:r>
              <a:rPr sz="1100">
                <a:solidFill>
                  <a:srgbClr val="CBD3F0"/>
                </a:solidFill>
                <a:latin typeface="Courier New"/>
              </a:rPr>
              <a:t/>
            </a:r>
          </a:p>
          <a:p>
            <a:r>
              <a:rPr sz="1100">
                <a:solidFill>
                  <a:srgbClr val="CBD3F0"/>
                </a:solidFill>
                <a:latin typeface="Courier New"/>
              </a:rPr>
              <a:t>def calculate_overhead(http_m, https_m):</a:t>
            </a:r>
          </a:p>
          <a:p>
            <a:r>
              <a:rPr sz="1100">
                <a:solidFill>
                  <a:srgbClr val="F9E2AF"/>
                </a:solidFill>
                <a:latin typeface="Courier New"/>
              </a:rPr>
              <a:t>    overhead = {}</a:t>
            </a:r>
          </a:p>
          <a:p>
            <a:r>
              <a:rPr sz="1100">
                <a:solidFill>
                  <a:srgbClr val="CBD3F0"/>
                </a:solidFill>
                <a:latin typeface="Courier New"/>
              </a:rPr>
              <a:t>    for key in http_m:</a:t>
            </a:r>
          </a:p>
          <a:p>
            <a:r>
              <a:rPr sz="1100">
                <a:solidFill>
                  <a:srgbClr val="CBD3F0"/>
                </a:solidFill>
                <a:latin typeface="Courier New"/>
              </a:rPr>
              <a:t>        absolute   = https_m[key] - http_m[key]</a:t>
            </a:r>
          </a:p>
          <a:p>
            <a:r>
              <a:rPr sz="1100">
                <a:solidFill>
                  <a:srgbClr val="CBD3F0"/>
                </a:solidFill>
                <a:latin typeface="Courier New"/>
              </a:rPr>
              <a:t>        percentage = (absolute / http_m[key]) * 100</a:t>
            </a:r>
          </a:p>
          <a:p>
            <a:r>
              <a:rPr sz="1100">
                <a:solidFill>
                  <a:srgbClr val="CBD3F0"/>
                </a:solidFill>
                <a:latin typeface="Courier New"/>
              </a:rPr>
              <a:t>        overhead[key] = {'absolute': absolute,</a:t>
            </a:r>
          </a:p>
          <a:p>
            <a:r>
              <a:rPr sz="1100">
                <a:solidFill>
                  <a:srgbClr val="CBD3F0"/>
                </a:solidFill>
                <a:latin typeface="Courier New"/>
              </a:rPr>
              <a:t>                         'percentage': percentage}</a:t>
            </a:r>
          </a:p>
          <a:p>
            <a:r>
              <a:rPr sz="1100">
                <a:solidFill>
                  <a:srgbClr val="CBD3F0"/>
                </a:solidFill>
                <a:latin typeface="Courier New"/>
              </a:rPr>
              <a:t>    return overhead</a:t>
            </a:r>
          </a:p>
        </p:txBody>
      </p:sp>
      <p:sp>
        <p:nvSpPr>
          <p:cNvPr id="6" name="Rectangle 5"/>
          <p:cNvSpPr/>
          <p:nvPr/>
        </p:nvSpPr>
        <p:spPr>
          <a:xfrm>
            <a:off x="365760" y="4526280"/>
            <a:ext cx="5577840" cy="21488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Salida de print_comparison()</a:t>
            </a:r>
          </a:p>
          <a:p>
            <a:r>
              <a:rPr sz="1100">
                <a:solidFill>
                  <a:srgbClr val="CBD3F0"/>
                </a:solidFill>
                <a:latin typeface="Courier New"/>
              </a:rPr>
              <a:t>Metric                    HTTP           HTTPS          Overhead       %</a:t>
            </a:r>
          </a:p>
          <a:p>
            <a:r>
              <a:rPr sz="1100">
                <a:solidFill>
                  <a:srgbClr val="F9E2AF"/>
                </a:solidFill>
                <a:latin typeface="Courier New"/>
              </a:rPr>
              <a:t>--------------------------------------------------------------------------------</a:t>
            </a:r>
          </a:p>
          <a:p>
            <a:r>
              <a:rPr sz="1100">
                <a:solidFill>
                  <a:srgbClr val="CBD3F0"/>
                </a:solidFill>
                <a:latin typeface="Courier New"/>
              </a:rPr>
              <a:t>Avg Latency (ms)         46.00          68.00          22.00       47.8%</a:t>
            </a:r>
          </a:p>
          <a:p>
            <a:r>
              <a:rPr sz="1100">
                <a:solidFill>
                  <a:srgbClr val="CBD3F0"/>
                </a:solidFill>
                <a:latin typeface="Courier New"/>
              </a:rPr>
              <a:t>P95 Latency (ms)         52.00          79.00          27.00       51.9%</a:t>
            </a:r>
          </a:p>
          <a:p>
            <a:r>
              <a:rPr sz="1100">
                <a:solidFill>
                  <a:srgbClr val="CBD3F0"/>
                </a:solidFill>
                <a:latin typeface="Courier New"/>
              </a:rPr>
              <a:t>Throughput (req/s)      450.00         380.00         -70.00      -15.6%</a:t>
            </a:r>
          </a:p>
          <a:p>
            <a:r>
              <a:rPr sz="1100">
                <a:solidFill>
                  <a:srgbClr val="CBD3F0"/>
                </a:solidFill>
                <a:latin typeface="Courier New"/>
              </a:rPr>
              <a:t>Failed Rate (%)           0.00           0.20           0.20         inf%</a:t>
            </a:r>
          </a:p>
          <a:p>
            <a:r>
              <a:rPr sz="1100">
                <a:solidFill>
                  <a:srgbClr val="CBD3F0"/>
                </a:solidFill>
                <a:latin typeface="Courier New"/>
              </a:rPr>
              <a:t/>
            </a:r>
          </a:p>
          <a:p>
            <a:r>
              <a:rPr sz="1100">
                <a:solidFill>
                  <a:srgbClr val="CBD3F0"/>
                </a:solidFill>
                <a:latin typeface="Courier New"/>
              </a:rPr>
              <a:t># Recomendaciones automaticas:</a:t>
            </a:r>
          </a:p>
          <a:p>
            <a:r>
              <a:rPr sz="1100">
                <a:solidFill>
                  <a:srgbClr val="F9E2AF"/>
                </a:solidFill>
                <a:latin typeface="Courier New"/>
              </a:rPr>
              <a:t>if overhead['avg_duration']['percentage'] &gt; 50:</a:t>
            </a:r>
          </a:p>
          <a:p>
            <a:r>
              <a:rPr sz="1100">
                <a:solidFill>
                  <a:srgbClr val="F9E2AF"/>
                </a:solidFill>
                <a:latin typeface="Courier New"/>
              </a:rPr>
              <a:t>    print('TLS overhead muy alto (&gt;50%): usar TLS 1.3,</a:t>
            </a:r>
          </a:p>
          <a:p>
            <a:r>
              <a:rPr sz="1100">
                <a:solidFill>
                  <a:srgbClr val="CBD3F0"/>
                </a:solidFill>
                <a:latin typeface="Courier New"/>
              </a:rPr>
              <a:t>          habilitar session resumption, mas CPU')</a:t>
            </a:r>
          </a:p>
        </p:txBody>
      </p:sp>
      <p:sp>
        <p:nvSpPr>
          <p:cNvPr id="7" name="Rectangle 6"/>
          <p:cNvSpPr/>
          <p:nvPr/>
        </p:nvSpPr>
        <p:spPr>
          <a:xfrm>
            <a:off x="6035040" y="1143000"/>
            <a:ext cx="2926080" cy="21945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NDJSON — Newline-Delimited JSON</a:t>
            </a:r>
          </a:p>
          <a:p>
            <a:r>
              <a:rPr sz="1000">
                <a:solidFill>
                  <a:srgbClr val="555555"/>
                </a:solidFill>
              </a:rPr>
              <a:t>k6 emite una linea JSON por evento:
  {'type':'Point','metric':'http_req_duration',...}
  {'type':'Point','metric':'http_reqs',...}
  ...
  {'metrics': {...}}  ← resumen al final
load_k6_results() recorre las lineas
en REVERSO buscando 'metrics' en la clave
→ encuentra el resumen final primero.
Sin --out json= k6 solo imprime en consola.</a:t>
            </a:r>
          </a:p>
        </p:txBody>
      </p:sp>
      <p:sp>
        <p:nvSpPr>
          <p:cNvPr id="8" name="Rectangle 7"/>
          <p:cNvSpPr/>
          <p:nvPr/>
        </p:nvSpPr>
        <p:spPr>
          <a:xfrm>
            <a:off x="9098280" y="1143000"/>
            <a:ext cx="2926080" cy="21945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Overhead% — formula</a:t>
            </a:r>
          </a:p>
          <a:p>
            <a:r>
              <a:rPr sz="1000">
                <a:solidFill>
                  <a:srgbClr val="555555"/>
                </a:solidFill>
              </a:rPr>
              <a:t>percentage = (https - http) / http * 100
Latencia: valor POSITIVO = mas lento
  +47% = HTTPS tarda 47% mas que HTTP
Throughput: valor NEGATIVO = peor
  -15% = HTTPS sirve 15% menos req/s
Failed rate: si http_m[key]==0
  → overhead = inf% (ZeroDivision)
  El codigo devuelve 0 en ese caso.</a:t>
            </a:r>
          </a:p>
        </p:txBody>
      </p:sp>
      <p:sp>
        <p:nvSpPr>
          <p:cNvPr id="9" name="Rectangle 8"/>
          <p:cNvSpPr/>
          <p:nvPr/>
        </p:nvSpPr>
        <p:spPr>
          <a:xfrm>
            <a:off x="6035040" y="3474720"/>
            <a:ext cx="2926080" cy="21945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Metricas de k6 — nombres exactos</a:t>
            </a:r>
          </a:p>
          <a:p>
            <a:r>
              <a:rPr sz="1000">
                <a:solidFill>
                  <a:srgbClr val="555555"/>
                </a:solidFill>
              </a:rPr>
              <a:t>El script usa estos paths en el JSON:
  http_req_duration.avg
  http_req_duration.p(95)
  http_req_duration.p(99)
  http_req_duration.med
  http_reqs.rate
  http_reqs.count
  http_req_failed.rate
  data_received.count
  data_sent.count
Si k6 usa nombre custom, el dict devuelve 0.</a:t>
            </a:r>
          </a:p>
        </p:txBody>
      </p:sp>
      <p:sp>
        <p:nvSpPr>
          <p:cNvPr id="10" name="Rectangle 9"/>
          <p:cNvSpPr/>
          <p:nvPr/>
        </p:nvSpPr>
        <p:spPr>
          <a:xfrm>
            <a:off x="9098280" y="3474720"/>
            <a:ext cx="2926080" cy="21945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Uso en el proyecto</a:t>
            </a:r>
          </a:p>
          <a:p>
            <a:r>
              <a:rPr sz="1000">
                <a:solidFill>
                  <a:srgbClr val="555555"/>
                </a:solidFill>
              </a:rPr>
              <a:t>Flujo completo de analisis:
1. bash baseline.js TARGET_URL=... PROTOCOL=http
   → Testing/results/http-baseline-DATE.json
2. bash baseline.js TARGET_URL=... PROTOCOL=https
   → Testing/results/https-baseline-DATE.json
3. python3 analyze_k6_results.py http.json https.json
   → tabla comparativa + recomendaciones
4. python3 generate_plots.py
   → Testing/plots/*.png para el paper</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baseline.js y inter-service-test.js — Scripts k6 de carga</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Métricas custom (Rate/Trend/Counter), thresholds por servicio, grupos y setup/teardown</a:t>
            </a:r>
          </a:p>
        </p:txBody>
      </p:sp>
      <p:sp>
        <p:nvSpPr>
          <p:cNvPr id="5" name="Rectangle 4"/>
          <p:cNvSpPr/>
          <p:nvPr/>
        </p:nvSpPr>
        <p:spPr>
          <a:xfrm>
            <a:off x="365760" y="1143000"/>
            <a:ext cx="5577840" cy="25146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baseline.js — test simple de un endpoint</a:t>
            </a:r>
          </a:p>
          <a:p>
            <a:r>
              <a:rPr sz="1100">
                <a:solidFill>
                  <a:srgbClr val="F9E2AF"/>
                </a:solidFill>
                <a:latin typeface="Courier New"/>
              </a:rPr>
              <a:t>import { Rate, Trend, Counter } from 'k6/metrics';</a:t>
            </a:r>
          </a:p>
          <a:p>
            <a:r>
              <a:rPr sz="1100">
                <a:solidFill>
                  <a:srgbClr val="CBD3F0"/>
                </a:solidFill>
                <a:latin typeface="Courier New"/>
              </a:rPr>
              <a:t/>
            </a:r>
          </a:p>
          <a:p>
            <a:r>
              <a:rPr sz="1100">
                <a:solidFill>
                  <a:srgbClr val="CBD3F0"/>
                </a:solidFill>
                <a:latin typeface="Courier New"/>
              </a:rPr>
              <a:t>const errorRate       = new Rate('errors');</a:t>
            </a:r>
          </a:p>
          <a:p>
            <a:r>
              <a:rPr sz="1100">
                <a:solidFill>
                  <a:srgbClr val="F9E2AF"/>
                </a:solidFill>
                <a:latin typeface="Courier New"/>
              </a:rPr>
              <a:t>const requestDuration = new Trend('request_duration');</a:t>
            </a:r>
          </a:p>
          <a:p>
            <a:r>
              <a:rPr sz="1100">
                <a:solidFill>
                  <a:srgbClr val="CBD3F0"/>
                </a:solidFill>
                <a:latin typeface="Courier New"/>
              </a:rPr>
              <a:t>const requestsTotal   = new Counter('requests_total');</a:t>
            </a:r>
          </a:p>
          <a:p>
            <a:r>
              <a:rPr sz="1100">
                <a:solidFill>
                  <a:srgbClr val="CBD3F0"/>
                </a:solidFill>
                <a:latin typeface="Courier New"/>
              </a:rPr>
              <a:t/>
            </a:r>
          </a:p>
          <a:p>
            <a:r>
              <a:rPr sz="1100">
                <a:solidFill>
                  <a:srgbClr val="CBD3F0"/>
                </a:solidFill>
                <a:latin typeface="Courier New"/>
              </a:rPr>
              <a:t>export const options = {</a:t>
            </a:r>
          </a:p>
          <a:p>
            <a:r>
              <a:rPr sz="1100">
                <a:solidFill>
                  <a:srgbClr val="CBD3F0"/>
                </a:solidFill>
                <a:latin typeface="Courier New"/>
              </a:rPr>
              <a:t>  vus: VUS, duration: DURATION,</a:t>
            </a:r>
          </a:p>
          <a:p>
            <a:r>
              <a:rPr sz="1100">
                <a:solidFill>
                  <a:srgbClr val="CBD3F0"/>
                </a:solidFill>
                <a:latin typeface="Courier New"/>
              </a:rPr>
              <a:t>  thresholds: {</a:t>
            </a:r>
          </a:p>
          <a:p>
            <a:r>
              <a:rPr sz="1100">
                <a:solidFill>
                  <a:srgbClr val="F9E2AF"/>
                </a:solidFill>
                <a:latin typeface="Courier New"/>
              </a:rPr>
              <a:t>    'http_req_duration': ['p(95)&lt;500', 'p(99)&lt;1000'],</a:t>
            </a:r>
          </a:p>
          <a:p>
            <a:r>
              <a:rPr sz="1100">
                <a:solidFill>
                  <a:srgbClr val="CBD3F0"/>
                </a:solidFill>
                <a:latin typeface="Courier New"/>
              </a:rPr>
              <a:t>    'errors':            ['rate&lt;0.1'],</a:t>
            </a:r>
          </a:p>
          <a:p>
            <a:r>
              <a:rPr sz="1100">
                <a:solidFill>
                  <a:srgbClr val="CBD3F0"/>
                </a:solidFill>
                <a:latin typeface="Courier New"/>
              </a:rPr>
              <a:t>    'http_req_failed':   ['rate&lt;0.05'],</a:t>
            </a:r>
          </a:p>
          <a:p>
            <a:r>
              <a:rPr sz="1100">
                <a:solidFill>
                  <a:srgbClr val="CBD3F0"/>
                </a:solidFill>
                <a:latin typeface="Courier New"/>
              </a:rPr>
              <a:t>  },</a:t>
            </a:r>
          </a:p>
          <a:p>
            <a:r>
              <a:rPr sz="1100">
                <a:solidFill>
                  <a:srgbClr val="CBD3F0"/>
                </a:solidFill>
                <a:latin typeface="Courier New"/>
              </a:rPr>
              <a:t>  insecureSkipTLSVerify: INSECURE_SKIP_TLS_VERIFY,</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export default function() {</a:t>
            </a:r>
          </a:p>
          <a:p>
            <a:r>
              <a:rPr sz="1100">
                <a:solidFill>
                  <a:srgbClr val="CBD3F0"/>
                </a:solidFill>
                <a:latin typeface="Courier New"/>
              </a:rPr>
              <a:t>  const response = http.get(TARGET_URL, params);</a:t>
            </a:r>
          </a:p>
          <a:p>
            <a:r>
              <a:rPr sz="1100">
                <a:solidFill>
                  <a:srgbClr val="CBD3F0"/>
                </a:solidFill>
                <a:latin typeface="Courier New"/>
              </a:rPr>
              <a:t>  const result = check(response, {</a:t>
            </a:r>
          </a:p>
          <a:p>
            <a:r>
              <a:rPr sz="1100">
                <a:solidFill>
                  <a:srgbClr val="F9E2AF"/>
                </a:solidFill>
                <a:latin typeface="Courier New"/>
              </a:rPr>
              <a:t>    'status is 200':        r =&gt; r.status === 200,</a:t>
            </a:r>
          </a:p>
          <a:p>
            <a:r>
              <a:rPr sz="1100">
                <a:solidFill>
                  <a:srgbClr val="CBD3F0"/>
                </a:solidFill>
                <a:latin typeface="Courier New"/>
              </a:rPr>
              <a:t>    'response time &lt; 500ms':r =&gt; r.timings.duration &lt; 500,</a:t>
            </a:r>
          </a:p>
          <a:p>
            <a:r>
              <a:rPr sz="1100">
                <a:solidFill>
                  <a:srgbClr val="CBD3F0"/>
                </a:solidFill>
                <a:latin typeface="Courier New"/>
              </a:rPr>
              <a:t>    'response has body':    r =&gt; r.body &amp;&amp; r.body.length &gt; 0,</a:t>
            </a:r>
          </a:p>
          <a:p>
            <a:r>
              <a:rPr sz="1100">
                <a:solidFill>
                  <a:srgbClr val="CBD3F0"/>
                </a:solidFill>
                <a:latin typeface="Courier New"/>
              </a:rPr>
              <a:t>  });</a:t>
            </a:r>
          </a:p>
          <a:p>
            <a:r>
              <a:rPr sz="1100">
                <a:solidFill>
                  <a:srgbClr val="CBD3F0"/>
                </a:solidFill>
                <a:latin typeface="Courier New"/>
              </a:rPr>
              <a:t>  errorRate.add(!result);</a:t>
            </a:r>
          </a:p>
          <a:p>
            <a:r>
              <a:rPr sz="1100">
                <a:solidFill>
                  <a:srgbClr val="CBD3F0"/>
                </a:solidFill>
                <a:latin typeface="Courier New"/>
              </a:rPr>
              <a:t>  requestDuration.add(response.timings.duration);</a:t>
            </a:r>
          </a:p>
          <a:p>
            <a:r>
              <a:rPr sz="1100">
                <a:solidFill>
                  <a:srgbClr val="CBD3F0"/>
                </a:solidFill>
                <a:latin typeface="Courier New"/>
              </a:rPr>
              <a:t>  requestsTotal.add(1);</a:t>
            </a:r>
          </a:p>
          <a:p>
            <a:r>
              <a:rPr sz="1100">
                <a:solidFill>
                  <a:srgbClr val="CBD3F0"/>
                </a:solidFill>
                <a:latin typeface="Courier New"/>
              </a:rPr>
              <a:t>}</a:t>
            </a:r>
          </a:p>
        </p:txBody>
      </p:sp>
      <p:sp>
        <p:nvSpPr>
          <p:cNvPr id="6" name="Rectangle 5"/>
          <p:cNvSpPr/>
          <p:nvPr/>
        </p:nvSpPr>
        <p:spPr>
          <a:xfrm>
            <a:off x="365760" y="3794760"/>
            <a:ext cx="5577840" cy="28803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inter-service-test.js — cadena s0 → s1 → sdb1</a:t>
            </a:r>
          </a:p>
          <a:p>
            <a:r>
              <a:rPr sz="1100">
                <a:solidFill>
                  <a:srgbClr val="F9E2AF"/>
                </a:solidFill>
                <a:latin typeface="Courier New"/>
              </a:rPr>
              <a:t>const s0Duration = new Trend('s0_request_duration');</a:t>
            </a:r>
          </a:p>
          <a:p>
            <a:r>
              <a:rPr sz="1100">
                <a:solidFill>
                  <a:srgbClr val="CBD3F0"/>
                </a:solidFill>
                <a:latin typeface="Courier New"/>
              </a:rPr>
              <a:t>const s1Duration = new Trend('s1_request_duration');</a:t>
            </a:r>
          </a:p>
          <a:p>
            <a:r>
              <a:rPr sz="1100">
                <a:solidFill>
                  <a:srgbClr val="CBD3F0"/>
                </a:solidFill>
                <a:latin typeface="Courier New"/>
              </a:rPr>
              <a:t>const sdbDuration= new Trend('sdb_request_duration');</a:t>
            </a:r>
          </a:p>
          <a:p>
            <a:r>
              <a:rPr sz="1100">
                <a:solidFill>
                  <a:srgbClr val="CBD3F0"/>
                </a:solidFill>
                <a:latin typeface="Courier New"/>
              </a:rPr>
              <a:t/>
            </a:r>
          </a:p>
          <a:p>
            <a:r>
              <a:rPr sz="1100">
                <a:solidFill>
                  <a:srgbClr val="CBD3F0"/>
                </a:solidFill>
                <a:latin typeface="Courier New"/>
              </a:rPr>
              <a:t>thresholds: {</a:t>
            </a:r>
          </a:p>
          <a:p>
            <a:r>
              <a:rPr sz="1100">
                <a:solidFill>
                  <a:srgbClr val="CBD3F0"/>
                </a:solidFill>
                <a:latin typeface="Courier New"/>
              </a:rPr>
              <a:t>  's0_request_duration':  ['p(95)&lt;500'],</a:t>
            </a:r>
          </a:p>
          <a:p>
            <a:r>
              <a:rPr sz="1100">
                <a:solidFill>
                  <a:srgbClr val="CBD3F0"/>
                </a:solidFill>
                <a:latin typeface="Courier New"/>
              </a:rPr>
              <a:t>  's1_request_duration':  ['p(95)&lt;500'],</a:t>
            </a:r>
          </a:p>
          <a:p>
            <a:r>
              <a:rPr sz="1100">
                <a:solidFill>
                  <a:srgbClr val="CBD3F0"/>
                </a:solidFill>
                <a:latin typeface="Courier New"/>
              </a:rPr>
              <a:t>  'sdb_request_duration': ['p(95)&lt;500'],</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export default function() {</a:t>
            </a:r>
          </a:p>
          <a:p>
            <a:r>
              <a:rPr sz="1100">
                <a:solidFill>
                  <a:srgbClr val="CBD3F0"/>
                </a:solidFill>
                <a:latin typeface="Courier New"/>
              </a:rPr>
              <a:t>  group('Service0 Process', function() {</a:t>
            </a:r>
          </a:p>
          <a:p>
            <a:r>
              <a:rPr sz="1100">
                <a:solidFill>
                  <a:srgbClr val="F9E2AF"/>
                </a:solidFill>
                <a:latin typeface="Courier New"/>
              </a:rPr>
              <a:t>    const s0Resp = http.post(`${BASE_URL}/process`, payload);</a:t>
            </a:r>
          </a:p>
          <a:p>
            <a:r>
              <a:rPr sz="1100">
                <a:solidFill>
                  <a:srgbClr val="CBD3F0"/>
                </a:solidFill>
                <a:latin typeface="Courier New"/>
              </a:rPr>
              <a:t>    const ok = check(s0Resp, {'s0:200': r =&gt; r.status===200});</a:t>
            </a:r>
          </a:p>
          <a:p>
            <a:r>
              <a:rPr sz="1100">
                <a:solidFill>
                  <a:srgbClr val="F9E2AF"/>
                </a:solidFill>
                <a:latin typeface="Courier New"/>
              </a:rPr>
              <a:t>    s0Duration.add(s0Resp.timings.duration);</a:t>
            </a:r>
          </a:p>
          <a:p>
            <a:r>
              <a:rPr sz="1100">
                <a:solidFill>
                  <a:srgbClr val="CBD3F0"/>
                </a:solidFill>
                <a:latin typeface="Courier New"/>
              </a:rPr>
              <a:t>    s0ErrorRate.add(!ok);</a:t>
            </a:r>
          </a:p>
          <a:p>
            <a:r>
              <a:rPr sz="1100">
                <a:solidFill>
                  <a:srgbClr val="CBD3F0"/>
                </a:solidFill>
                <a:latin typeface="Courier New"/>
              </a:rPr>
              <a:t>  });</a:t>
            </a:r>
          </a:p>
          <a:p>
            <a:r>
              <a:rPr sz="1100">
                <a:solidFill>
                  <a:srgbClr val="CBD3F0"/>
                </a:solidFill>
                <a:latin typeface="Courier New"/>
              </a:rPr>
              <a:t>  sleep(0.2);</a:t>
            </a:r>
          </a:p>
          <a:p>
            <a:r>
              <a:rPr sz="1100">
                <a:solidFill>
                  <a:srgbClr val="CBD3F0"/>
                </a:solidFill>
                <a:latin typeface="Courier New"/>
              </a:rPr>
              <a:t>  group('Service1 Validate', ...);  // POST /validate</a:t>
            </a:r>
          </a:p>
          <a:p>
            <a:r>
              <a:rPr sz="1100">
                <a:solidFill>
                  <a:srgbClr val="CBD3F0"/>
                </a:solidFill>
                <a:latin typeface="Courier New"/>
              </a:rPr>
              <a:t>  sleep(0.2);</a:t>
            </a:r>
          </a:p>
          <a:p>
            <a:r>
              <a:rPr sz="1100">
                <a:solidFill>
                  <a:srgbClr val="CBD3F0"/>
                </a:solidFill>
                <a:latin typeface="Courier New"/>
              </a:rPr>
              <a:t>  group('ServiceDB Query', ...);     // POST /query</a:t>
            </a:r>
          </a:p>
          <a:p>
            <a:r>
              <a:rPr sz="1100">
                <a:solidFill>
                  <a:srgbClr val="CBD3F0"/>
                </a:solidFill>
                <a:latin typeface="Courier New"/>
              </a:rPr>
              <a:t>  sleep(0.5);</a:t>
            </a:r>
          </a:p>
          <a:p>
            <a:r>
              <a:rPr sz="1100">
                <a:solidFill>
                  <a:srgbClr val="CBD3F0"/>
                </a:solidFill>
                <a:latin typeface="Courier New"/>
              </a:rPr>
              <a:t>}</a:t>
            </a:r>
          </a:p>
        </p:txBody>
      </p:sp>
      <p:sp>
        <p:nvSpPr>
          <p:cNvPr id="7" name="Rectangle 6"/>
          <p:cNvSpPr/>
          <p:nvPr/>
        </p:nvSpPr>
        <p:spPr>
          <a:xfrm>
            <a:off x="5943600" y="1143000"/>
            <a:ext cx="297180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Rate vs Trend vs Counter</a:t>
            </a:r>
          </a:p>
          <a:p>
            <a:r>
              <a:rPr sz="1000">
                <a:solidFill>
                  <a:srgbClr val="555555"/>
                </a:solidFill>
              </a:rPr>
              <a:t>Rate — tasa porcentual (0-1):
  errorRate.add(true/false)
  k6 reporta: rate (ratio de true)
  threshold: 'rate&lt;0.1' = &lt;10% errores
Trend — distribución de valores:
  requestDuration.add(ms)
  k6 reporta: avg, p90, p95, p99, max
Counter — acumulador:
  requestsTotal.add(1)
  k6 reporta: count (suma total)</a:t>
            </a:r>
          </a:p>
        </p:txBody>
      </p:sp>
      <p:sp>
        <p:nvSpPr>
          <p:cNvPr id="8" name="Rectangle 7"/>
          <p:cNvSpPr/>
          <p:nvPr/>
        </p:nvSpPr>
        <p:spPr>
          <a:xfrm>
            <a:off x="9052560" y="1143000"/>
            <a:ext cx="297180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group() — aislamiento por servicio</a:t>
            </a:r>
          </a:p>
          <a:p>
            <a:r>
              <a:rPr sz="1000">
                <a:solidFill>
                  <a:srgbClr val="555555"/>
                </a:solidFill>
              </a:rPr>
              <a:t>group() agrupa checks y métricas
bajo un nombre en la salida de k6.
Permite ver en el resumen:
  ✓ Service0 Process
    ✓ s0:200 (98 de 100)
  ✓ Service1 Validate
    ✗ s1:200 (70 de 100)
Sin group() todos los checks se
mezclan en el mismo output.</a:t>
            </a:r>
          </a:p>
        </p:txBody>
      </p:sp>
      <p:sp>
        <p:nvSpPr>
          <p:cNvPr id="9" name="Rectangle 8"/>
          <p:cNvSpPr/>
          <p:nvPr/>
        </p:nvSpPr>
        <p:spPr>
          <a:xfrm>
            <a:off x="5943600" y="3383280"/>
            <a:ext cx="297180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setup() y teardown()</a:t>
            </a:r>
          </a:p>
          <a:p>
            <a:r>
              <a:rPr sz="1000">
                <a:solidFill>
                  <a:srgbClr val="555555"/>
                </a:solidFill>
              </a:rPr>
              <a:t>setup() corre UNA vez al inicio:
  - Imprime config del test
  - Retorna datos pasados a teardown
  - puede crear fixtures en APIs
teardown(data) corre UNA vez al final:
  - recibe lo que retornó setup()
  - calcula duración total
  - puede limpiar recursos creados
data.startTime viene de setup().</a:t>
            </a:r>
          </a:p>
        </p:txBody>
      </p:sp>
      <p:sp>
        <p:nvSpPr>
          <p:cNvPr id="10" name="Rectangle 9"/>
          <p:cNvSpPr/>
          <p:nvPr/>
        </p:nvSpPr>
        <p:spPr>
          <a:xfrm>
            <a:off x="9052560" y="3383280"/>
            <a:ext cx="297180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insecureSkipTLSVerify</a:t>
            </a:r>
          </a:p>
          <a:p>
            <a:r>
              <a:rPr sz="1000">
                <a:solidFill>
                  <a:srgbClr val="555555"/>
                </a:solidFill>
              </a:rPr>
              <a:t>Para test HTTPS contra clusters con
certificados self-signed.
En baseline.js:
  options.insecureSkipTLSVerify =
    INSECURE_SKIP_TLS_VERIFY === 'true'
En inter-service-test.js:
  insecureSkipTLSVerify:
    PROTOCOL === 'https'
Permite que k6 no falle por TLS
cuando el cert es autofirmado.</a:t>
            </a:r>
          </a:p>
        </p:txBody>
      </p:sp>
      <p:sp>
        <p:nvSpPr>
          <p:cNvPr id="11" name="Rectangle 10"/>
          <p:cNvSpPr/>
          <p:nvPr/>
        </p:nvSpPr>
        <p:spPr>
          <a:xfrm>
            <a:off x="5943600" y="5623560"/>
            <a:ext cx="297180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Thresholds — criterio de PASS/FAIL</a:t>
            </a:r>
          </a:p>
          <a:p>
            <a:r>
              <a:rPr sz="1000">
                <a:solidFill>
                  <a:srgbClr val="555555"/>
                </a:solidFill>
              </a:rPr>
              <a:t>Si un threshold se viola, k6 retorna
exit code != 0 (falla el CI/CD).
baseline.js thresholds:
  p(95) &lt; 500ms     → latencia aceptable
  p(99) &lt; 1000ms    → cola controlada
  errors &lt; 10%      → tasa de error
  http_req_failed &lt; 5%  → fallos HTTP
inter-service: threshold por servicio
  s0/s1/sdb_request_duration p95 &lt; 500</a:t>
            </a:r>
          </a:p>
        </p:txBody>
      </p:sp>
      <p:sp>
        <p:nvSpPr>
          <p:cNvPr id="12" name="Rectangle 11"/>
          <p:cNvSpPr/>
          <p:nvPr/>
        </p:nvSpPr>
        <p:spPr>
          <a:xfrm>
            <a:off x="9052560" y="5623560"/>
            <a:ext cx="297180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Config por ENV vars</a:t>
            </a:r>
          </a:p>
          <a:p>
            <a:r>
              <a:rPr sz="1000">
                <a:solidFill>
                  <a:srgbClr val="555555"/>
                </a:solidFill>
              </a:rPr>
              <a:t>Ambos scripts usan __ENV.*:
  TARGET_URL  default: localhost:31113/s0
  VUS         default: 10
  DURATION    default: 30s / 60s
  PROTOCOL    default: http
Uso:
  k6 run -e TARGET_URL=http://...:30080 \
         -e VUS=50 -e DURATION=2m \
         --out json=results.json \
         baseline.js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compare_qos_headers.py y run_realistic_combined.sh</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Validación de columnas QoS por control (c1-c4) y orquestador de flujos k6 realistas</a:t>
            </a:r>
          </a:p>
        </p:txBody>
      </p:sp>
      <p:sp>
        <p:nvSpPr>
          <p:cNvPr id="5" name="Rectangle 4"/>
          <p:cNvSpPr/>
          <p:nvPr/>
        </p:nvSpPr>
        <p:spPr>
          <a:xfrm>
            <a:off x="365760" y="1143000"/>
            <a:ext cx="5577840" cy="32918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compare_qos_headers.py</a:t>
            </a:r>
          </a:p>
          <a:p>
            <a:r>
              <a:rPr sz="1100">
                <a:solidFill>
                  <a:srgbClr val="F9E2AF"/>
                </a:solidFill>
                <a:latin typeface="Courier New"/>
              </a:rPr>
              <a:t>RESULTS_DIR = './Testing/results'</a:t>
            </a:r>
          </a:p>
          <a:p>
            <a:r>
              <a:rPr sz="1100">
                <a:solidFill>
                  <a:srgbClr val="CBD3F0"/>
                </a:solidFill>
                <a:latin typeface="Courier New"/>
              </a:rPr>
              <a:t>controls = [('c1','c1-realistic-*/*-qos.csv'),</a:t>
            </a:r>
          </a:p>
          <a:p>
            <a:r>
              <a:rPr sz="1100">
                <a:solidFill>
                  <a:srgbClr val="CBD3F0"/>
                </a:solidFill>
                <a:latin typeface="Courier New"/>
              </a:rPr>
              <a:t>            ('c2','c2-realistic-*/*-qos.csv'),</a:t>
            </a:r>
          </a:p>
          <a:p>
            <a:r>
              <a:rPr sz="1100">
                <a:solidFill>
                  <a:srgbClr val="CBD3F0"/>
                </a:solidFill>
                <a:latin typeface="Courier New"/>
              </a:rPr>
              <a:t>            ('c3','c3-realistic-*/*-qos.csv'),</a:t>
            </a:r>
          </a:p>
          <a:p>
            <a:r>
              <a:rPr sz="1100">
                <a:solidFill>
                  <a:srgbClr val="CBD3F0"/>
                </a:solidFill>
                <a:latin typeface="Courier New"/>
              </a:rPr>
              <a:t>            ('c4','c4-realistic-*/*-qos.csv')]</a:t>
            </a:r>
          </a:p>
          <a:p>
            <a:r>
              <a:rPr sz="1100">
                <a:solidFill>
                  <a:srgbClr val="CBD3F0"/>
                </a:solidFill>
                <a:latin typeface="Courier New"/>
              </a:rPr>
              <a:t/>
            </a:r>
          </a:p>
          <a:p>
            <a:r>
              <a:rPr sz="1100">
                <a:solidFill>
                  <a:srgbClr val="CBD3F0"/>
                </a:solidFill>
                <a:latin typeface="Courier New"/>
              </a:rPr>
              <a:t>for control, pattern in controls:</a:t>
            </a:r>
          </a:p>
          <a:p>
            <a:r>
              <a:rPr sz="1100">
                <a:solidFill>
                  <a:srgbClr val="CBD3F0"/>
                </a:solidFill>
                <a:latin typeface="Courier New"/>
              </a:rPr>
              <a:t>    files = glob.glob(os.path.join(RESULTS_DIR, pattern))</a:t>
            </a:r>
          </a:p>
          <a:p>
            <a:r>
              <a:rPr sz="1100">
                <a:solidFill>
                  <a:srgbClr val="CBD3F0"/>
                </a:solidFill>
                <a:latin typeface="Courier New"/>
              </a:rPr>
              <a:t>    if files:</a:t>
            </a:r>
          </a:p>
          <a:p>
            <a:r>
              <a:rPr sz="1100">
                <a:solidFill>
                  <a:srgbClr val="CBD3F0"/>
                </a:solidFill>
                <a:latin typeface="Courier New"/>
              </a:rPr>
              <a:t>        with open(files[0]) as f:</a:t>
            </a:r>
          </a:p>
          <a:p>
            <a:r>
              <a:rPr sz="1100">
                <a:solidFill>
                  <a:srgbClr val="CBD3F0"/>
                </a:solidFill>
                <a:latin typeface="Courier New"/>
              </a:rPr>
              <a:t>            reader = csv.reader(f)</a:t>
            </a:r>
          </a:p>
          <a:p>
            <a:r>
              <a:rPr sz="1100">
                <a:solidFill>
                  <a:srgbClr val="CBD3F0"/>
                </a:solidFill>
                <a:latin typeface="Courier New"/>
              </a:rPr>
              <a:t>            headers = next(reader)  # solo el header row</a:t>
            </a:r>
          </a:p>
          <a:p>
            <a:r>
              <a:rPr sz="1100">
                <a:solidFill>
                  <a:srgbClr val="CBD3F0"/>
                </a:solidFill>
                <a:latin typeface="Courier New"/>
              </a:rPr>
              <a:t>            headers_by_control[control] = set(headers)</a:t>
            </a:r>
          </a:p>
          <a:p>
            <a:r>
              <a:rPr sz="1100">
                <a:solidFill>
                  <a:srgbClr val="CBD3F0"/>
                </a:solidFill>
                <a:latin typeface="Courier New"/>
              </a:rPr>
              <a:t/>
            </a:r>
          </a:p>
          <a:p>
            <a:r>
              <a:rPr sz="1100">
                <a:solidFill>
                  <a:srgbClr val="CBD3F0"/>
                </a:solidFill>
                <a:latin typeface="Courier New"/>
              </a:rPr>
              <a:t># Interseccion: metricas COMUNES en todos los controles</a:t>
            </a:r>
          </a:p>
          <a:p>
            <a:r>
              <a:rPr sz="1100">
                <a:solidFill>
                  <a:srgbClr val="F9E2AF"/>
                </a:solidFill>
                <a:latin typeface="Courier New"/>
              </a:rPr>
              <a:t>global_common = set.intersection(</a:t>
            </a:r>
          </a:p>
          <a:p>
            <a:r>
              <a:rPr sz="1100">
                <a:solidFill>
                  <a:srgbClr val="CBD3F0"/>
                </a:solidFill>
                <a:latin typeface="Courier New"/>
              </a:rPr>
              <a:t>    *(h for h in headers_by_control.values() if h)</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 Metricas ESPECIFICAS por control</a:t>
            </a:r>
          </a:p>
          <a:p>
            <a:r>
              <a:rPr sz="1100">
                <a:solidFill>
                  <a:srgbClr val="F9E2AF"/>
                </a:solidFill>
                <a:latin typeface="Courier New"/>
              </a:rPr>
              <a:t>specific = {c: h - global_common</a:t>
            </a:r>
          </a:p>
          <a:p>
            <a:r>
              <a:rPr sz="1100">
                <a:solidFill>
                  <a:srgbClr val="CBD3F0"/>
                </a:solidFill>
                <a:latin typeface="Courier New"/>
              </a:rPr>
              <a:t>            for c, h in headers_by_control.items()}</a:t>
            </a:r>
          </a:p>
          <a:p>
            <a:r>
              <a:rPr sz="1100">
                <a:solidFill>
                  <a:srgbClr val="CBD3F0"/>
                </a:solidFill>
                <a:latin typeface="Courier New"/>
              </a:rPr>
              <a:t/>
            </a:r>
          </a:p>
          <a:p>
            <a:r>
              <a:rPr sz="1100">
                <a:solidFill>
                  <a:srgbClr val="CBD3F0"/>
                </a:solidFill>
                <a:latin typeface="Courier New"/>
              </a:rPr>
              <a:t># Ejemplo de salida:</a:t>
            </a:r>
          </a:p>
          <a:p>
            <a:r>
              <a:rPr sz="1100">
                <a:solidFill>
                  <a:srgbClr val="CBD3F0"/>
                </a:solidFill>
                <a:latin typeface="Courier New"/>
              </a:rPr>
              <a:t># Metricas comunes: ['avg_latency','p95','throughput',...]</a:t>
            </a:r>
          </a:p>
          <a:p>
            <a:r>
              <a:rPr sz="1100">
                <a:solidFill>
                  <a:srgbClr val="CBD3F0"/>
                </a:solidFill>
                <a:latin typeface="Courier New"/>
              </a:rPr>
              <a:t># c1 especifico: ['mtls_handshake_ms']</a:t>
            </a:r>
          </a:p>
          <a:p>
            <a:r>
              <a:rPr sz="1100">
                <a:solidFill>
                  <a:srgbClr val="CBD3F0"/>
                </a:solidFill>
                <a:latin typeface="Courier New"/>
              </a:rPr>
              <a:t># c2 especifico: ['ratelimit_dropped']</a:t>
            </a:r>
          </a:p>
        </p:txBody>
      </p:sp>
      <p:sp>
        <p:nvSpPr>
          <p:cNvPr id="6" name="Rectangle 5"/>
          <p:cNvSpPr/>
          <p:nvPr/>
        </p:nvSpPr>
        <p:spPr>
          <a:xfrm>
            <a:off x="365760" y="4526280"/>
            <a:ext cx="5577840" cy="21488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run_realistic_combined.sh</a:t>
            </a:r>
          </a:p>
          <a:p>
            <a:r>
              <a:rPr sz="1100">
                <a:solidFill>
                  <a:srgbClr val="F9E2AF"/>
                </a:solidFill>
                <a:latin typeface="Courier New"/>
              </a:rPr>
              <a:t>set -euo pipefail</a:t>
            </a:r>
          </a:p>
          <a:p>
            <a:r>
              <a:rPr sz="1100">
                <a:solidFill>
                  <a:srgbClr val="CBD3F0"/>
                </a:solidFill>
                <a:latin typeface="Courier New"/>
              </a:rPr>
              <a:t>CONTROL=${1:-c1}</a:t>
            </a:r>
          </a:p>
          <a:p>
            <a:r>
              <a:rPr sz="1100">
                <a:solidFill>
                  <a:srgbClr val="CBD3F0"/>
                </a:solidFill>
                <a:latin typeface="Courier New"/>
              </a:rPr>
              <a:t>OUT_DIR=${2:-./results/${CONTROL}-realistic-combined}</a:t>
            </a:r>
          </a:p>
          <a:p>
            <a:r>
              <a:rPr sz="1100">
                <a:solidFill>
                  <a:srgbClr val="CBD3F0"/>
                </a:solidFill>
                <a:latin typeface="Courier New"/>
              </a:rPr>
              <a:t>mkdir -p '$OUT_DIR'</a:t>
            </a:r>
          </a:p>
          <a:p>
            <a:r>
              <a:rPr sz="1100">
                <a:solidFill>
                  <a:srgbClr val="CBD3F0"/>
                </a:solidFill>
                <a:latin typeface="Courier New"/>
              </a:rPr>
              <a:t/>
            </a:r>
          </a:p>
          <a:p>
            <a:r>
              <a:rPr sz="1100">
                <a:solidFill>
                  <a:srgbClr val="CBD3F0"/>
                </a:solidFill>
                <a:latin typeface="Courier New"/>
              </a:rPr>
              <a:t>export AUTH_BASE='http://127.0.0.1:18082'</a:t>
            </a:r>
          </a:p>
          <a:p>
            <a:r>
              <a:rPr sz="1100">
                <a:solidFill>
                  <a:srgbClr val="CBD3F0"/>
                </a:solidFill>
                <a:latin typeface="Courier New"/>
              </a:rPr>
              <a:t>export API_BASE='http://127.0.0.1:30081'</a:t>
            </a:r>
          </a:p>
          <a:p>
            <a:r>
              <a:rPr sz="1100">
                <a:solidFill>
                  <a:srgbClr val="CBD3F0"/>
                </a:solidFill>
                <a:latin typeface="Courier New"/>
              </a:rPr>
              <a:t/>
            </a:r>
          </a:p>
          <a:p>
            <a:r>
              <a:rPr sz="1100">
                <a:solidFill>
                  <a:srgbClr val="CBD3F0"/>
                </a:solidFill>
                <a:latin typeface="Courier New"/>
              </a:rPr>
              <a:t># Flujo 1: crear y listar usuarios (servicio de negocio)</a:t>
            </a:r>
          </a:p>
          <a:p>
            <a:r>
              <a:rPr sz="1100">
                <a:solidFill>
                  <a:srgbClr val="F9E2AF"/>
                </a:solidFill>
                <a:latin typeface="Courier New"/>
              </a:rPr>
              <a:t>k6 run --out json='$OUT_DIR/users-bulk-create-list.json' \</a:t>
            </a:r>
          </a:p>
          <a:p>
            <a:r>
              <a:rPr sz="1100">
                <a:solidFill>
                  <a:srgbClr val="CBD3F0"/>
                </a:solidFill>
                <a:latin typeface="Courier New"/>
              </a:rPr>
              <a:t>  ../RealisticServices/k6/users-bulk-create-list.js</a:t>
            </a:r>
          </a:p>
          <a:p>
            <a:r>
              <a:rPr sz="1100">
                <a:solidFill>
                  <a:srgbClr val="CBD3F0"/>
                </a:solidFill>
                <a:latin typeface="Courier New"/>
              </a:rPr>
              <a:t/>
            </a:r>
          </a:p>
          <a:p>
            <a:r>
              <a:rPr sz="1100">
                <a:solidFill>
                  <a:srgbClr val="CBD3F0"/>
                </a:solidFill>
                <a:latin typeface="Courier New"/>
              </a:rPr>
              <a:t># Flujo 2: login + profile (autenticacion/acceso)</a:t>
            </a:r>
          </a:p>
          <a:p>
            <a:r>
              <a:rPr sz="1100">
                <a:solidFill>
                  <a:srgbClr val="F9E2AF"/>
                </a:solidFill>
                <a:latin typeface="Courier New"/>
              </a:rPr>
              <a:t>k6 run --out json='$OUT_DIR/realistic-flow.json' \</a:t>
            </a:r>
          </a:p>
          <a:p>
            <a:r>
              <a:rPr sz="1100">
                <a:solidFill>
                  <a:srgbClr val="CBD3F0"/>
                </a:solidFill>
                <a:latin typeface="Courier New"/>
              </a:rPr>
              <a:t>  ../RealisticServices/k6/realistic-flow.js</a:t>
            </a:r>
          </a:p>
        </p:txBody>
      </p:sp>
      <p:sp>
        <p:nvSpPr>
          <p:cNvPr id="7" name="Rectangle 6"/>
          <p:cNvSpPr/>
          <p:nvPr/>
        </p:nvSpPr>
        <p:spPr>
          <a:xfrm>
            <a:off x="5943600" y="1143000"/>
            <a:ext cx="297180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Para que sirve compare_qos_headers.py</a:t>
            </a:r>
          </a:p>
          <a:p>
            <a:r>
              <a:rPr sz="1000">
                <a:solidFill>
                  <a:srgbClr val="555555"/>
                </a:solidFill>
              </a:rPr>
              <a:t>Los scripts de experimento (run_c1_*.sh,
run_c2_*.sh...) generan CSV con metricas QoS.
Antes de unirlos en un analisis global hay
que verificar que TODOS los CSV tienen
las mismas columnas (mismas metricas).
Si un control exporta columnas distintas,
pd.concat() o numpy falla con error
de indexacion.
Este script detecta ese problema antes
de que falle el analisis principal.</a:t>
            </a:r>
          </a:p>
        </p:txBody>
      </p:sp>
      <p:sp>
        <p:nvSpPr>
          <p:cNvPr id="8" name="Rectangle 7"/>
          <p:cNvSpPr/>
          <p:nvPr/>
        </p:nvSpPr>
        <p:spPr>
          <a:xfrm>
            <a:off x="9052560" y="1143000"/>
            <a:ext cx="297180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set.intersection() — metricas comunes</a:t>
            </a:r>
          </a:p>
          <a:p>
            <a:r>
              <a:rPr sz="1000">
                <a:solidFill>
                  <a:srgbClr val="555555"/>
                </a:solidFill>
              </a:rPr>
              <a:t>Python set operations:
  set.intersection(*sets)
  → elementos en TODOS los conjuntos
  set_a - set_b
  → elementos SOLO en set_a
El script usa generator expression:
  *(h for h in values() if h)
El if h descarta controles sin
archivos CSV (set vacio).
El * desempaqueta el generador
para intersection().</a:t>
            </a:r>
          </a:p>
        </p:txBody>
      </p:sp>
      <p:sp>
        <p:nvSpPr>
          <p:cNvPr id="9" name="Rectangle 8"/>
          <p:cNvSpPr/>
          <p:nvPr/>
        </p:nvSpPr>
        <p:spPr>
          <a:xfrm>
            <a:off x="5943600" y="3383280"/>
            <a:ext cx="297180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run_realistic_combined.sh — dos flujos</a:t>
            </a:r>
          </a:p>
          <a:p>
            <a:r>
              <a:rPr sz="1000">
                <a:solidFill>
                  <a:srgbClr val="555555"/>
                </a:solidFill>
              </a:rPr>
              <a:t>Flujo 1: users-bulk-create-list.js
  PORT AUTH_BASE :18082 (auth-service)
  Crea N usuarios en masa
  Lista usuarios paginados
  Mide throughput de escritura/lectura
Flujo 2: realistic-flow.js
  PORT API_BASE :30081 (API service)
  Login → obtiene JWT token
  GET /profile con token
  Mide latencia de autenticacion
Los dos flujos van al mismo OUT_DIR.</a:t>
            </a:r>
          </a:p>
        </p:txBody>
      </p:sp>
      <p:sp>
        <p:nvSpPr>
          <p:cNvPr id="10" name="Rectangle 9"/>
          <p:cNvSpPr/>
          <p:nvPr/>
        </p:nvSpPr>
        <p:spPr>
          <a:xfrm>
            <a:off x="9052560" y="3383280"/>
            <a:ext cx="297180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Patron c1-c4 en resultados</a:t>
            </a:r>
          </a:p>
          <a:p>
            <a:r>
              <a:rPr sz="1000">
                <a:solidFill>
                  <a:srgbClr val="555555"/>
                </a:solidFill>
              </a:rPr>
              <a:t>Estructura esperada en Testing/results/:
  c1-realistic-20260101_120000/
    c1-realistic-qos.csv
  c2-realistic-20260101_130000/
    c2-realistic-qos.csv
  ...
compare_qos_headers.py busca con
dos patrones (con y sin timestamp)
para mayor compatibilidad con
distintas versiones de scripts.
glob() retorna lista vacía si no existe.</a:t>
            </a:r>
          </a:p>
        </p:txBody>
      </p:sp>
      <p:sp>
        <p:nvSpPr>
          <p:cNvPr id="11" name="Rectangle 10"/>
          <p:cNvSpPr/>
          <p:nvPr/>
        </p:nvSpPr>
        <p:spPr>
          <a:xfrm>
            <a:off x="5943600" y="5623560"/>
            <a:ext cx="297180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--out json= de k6</a:t>
            </a:r>
          </a:p>
          <a:p>
            <a:r>
              <a:rPr sz="1000">
                <a:solidFill>
                  <a:srgbClr val="555555"/>
                </a:solidFill>
              </a:rPr>
              <a:t>k6 soporta múltiples outputs:
  --out json=file.json  → NDJSON
  --out csv=file.csv    → CSV flat
  --out influxdb=...    → InfluxDB
  --out prometheus=...  → Prometheus RW
NDJSON es el más flexible:
  cada línea = un evento de métrica
  la última línea = resumen final
analyze_k6_results.py espera NDJSON
(reverse scan buscando 'metrics' key).</a:t>
            </a:r>
          </a:p>
        </p:txBody>
      </p:sp>
      <p:sp>
        <p:nvSpPr>
          <p:cNvPr id="12" name="Rectangle 11"/>
          <p:cNvSpPr/>
          <p:nvPr/>
        </p:nvSpPr>
        <p:spPr>
          <a:xfrm>
            <a:off x="9052560" y="5623560"/>
            <a:ext cx="297180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Integración con Grafana</a:t>
            </a:r>
          </a:p>
          <a:p>
            <a:r>
              <a:rPr sz="1000">
                <a:solidFill>
                  <a:srgbClr val="555555"/>
                </a:solidFill>
              </a:rPr>
              <a:t>Los resultados de k6 pueden enviarse
a InfluxDB/Prometheus para Grafana:
  k6 run --out influxdb=http://...:8086/k6
El proyecto usa Grafana + Prometheus
(mubench-dashboard.json) para ver
métricas de K8s en tiempo real.
Los PNG de generate_plots.py son
la alternativa offline/académica
(para papers sin dashboard live).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mubench_baseline.jmx — Plan de carga JMeter (legacy)</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Apache JMeter 5.6.2 — sustituido por k6 en el proyecto actual. Referencia histórica del benchmark inicial.</a:t>
            </a:r>
          </a:p>
        </p:txBody>
      </p:sp>
      <p:sp>
        <p:nvSpPr>
          <p:cNvPr id="5" name="Rectangle 4"/>
          <p:cNvSpPr/>
          <p:nvPr/>
        </p:nvSpPr>
        <p:spPr>
          <a:xfrm>
            <a:off x="365760" y="1143000"/>
            <a:ext cx="5577840" cy="46634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&lt;!-- mubench_baseline.jmx — JMeter 5.6.2 --&gt;</a:t>
            </a:r>
          </a:p>
          <a:p>
            <a:r>
              <a:rPr sz="1100">
                <a:solidFill>
                  <a:srgbClr val="F9E2AF"/>
                </a:solidFill>
                <a:latin typeface="Courier New"/>
              </a:rPr>
              <a:t>&lt;TestPlan testname='MuBench Baseline Test'&gt;</a:t>
            </a:r>
          </a:p>
          <a:p>
            <a:r>
              <a:rPr sz="1100">
                <a:solidFill>
                  <a:srgbClr val="CBD3F0"/>
                </a:solidFill>
                <a:latin typeface="Courier New"/>
              </a:rPr>
              <a:t>  &lt;!-- variables globales reutilizables --&gt;</a:t>
            </a:r>
          </a:p>
          <a:p>
            <a:r>
              <a:rPr sz="1100">
                <a:solidFill>
                  <a:srgbClr val="CBD3F0"/>
                </a:solidFill>
                <a:latin typeface="Courier New"/>
              </a:rPr>
              <a:t>  &lt;user_defined_variables&gt;</a:t>
            </a:r>
          </a:p>
          <a:p>
            <a:r>
              <a:rPr sz="1100">
                <a:solidFill>
                  <a:srgbClr val="CBD3F0"/>
                </a:solidFill>
                <a:latin typeface="Courier New"/>
              </a:rPr>
              <a:t>    &lt;Argument name='TARGET_URL' value='http://localhost'/&gt;</a:t>
            </a:r>
          </a:p>
          <a:p>
            <a:r>
              <a:rPr sz="1100">
                <a:solidFill>
                  <a:srgbClr val="CBD3F0"/>
                </a:solidFill>
                <a:latin typeface="Courier New"/>
              </a:rPr>
              <a:t>    &lt;Argument name='TARGET_PORT' value='31113'/&gt;</a:t>
            </a:r>
          </a:p>
          <a:p>
            <a:r>
              <a:rPr sz="1100">
                <a:solidFill>
                  <a:srgbClr val="CBD3F0"/>
                </a:solidFill>
                <a:latin typeface="Courier New"/>
              </a:rPr>
              <a:t>  &lt;/user_defined_variables&gt;</a:t>
            </a:r>
          </a:p>
          <a:p>
            <a:r>
              <a:rPr sz="1100">
                <a:solidFill>
                  <a:srgbClr val="CBD3F0"/>
                </a:solidFill>
                <a:latin typeface="Courier New"/>
              </a:rPr>
              <a:t/>
            </a:r>
          </a:p>
          <a:p>
            <a:r>
              <a:rPr sz="1100">
                <a:solidFill>
                  <a:srgbClr val="CBD3F0"/>
                </a:solidFill>
                <a:latin typeface="Courier New"/>
              </a:rPr>
              <a:t>  &lt;!-- Thread Group 1: endpoint /demo — 50 VUs paralelos --&gt;</a:t>
            </a:r>
          </a:p>
          <a:p>
            <a:r>
              <a:rPr sz="1100">
                <a:solidFill>
                  <a:srgbClr val="F9E2AF"/>
                </a:solidFill>
                <a:latin typeface="Courier New"/>
              </a:rPr>
              <a:t>  &lt;ThreadGroup testname='API Demo - 50 Users'&gt;</a:t>
            </a:r>
          </a:p>
          <a:p>
            <a:r>
              <a:rPr sz="1100">
                <a:solidFill>
                  <a:srgbClr val="CBD3F0"/>
                </a:solidFill>
                <a:latin typeface="Courier New"/>
              </a:rPr>
              <a:t>    &lt;num_threads&gt;50&lt;/num_threads&gt;</a:t>
            </a:r>
          </a:p>
          <a:p>
            <a:r>
              <a:rPr sz="1100">
                <a:solidFill>
                  <a:srgbClr val="F9E2AF"/>
                </a:solidFill>
                <a:latin typeface="Courier New"/>
              </a:rPr>
              <a:t>    &lt;ramp_time&gt;5&lt;/ramp_time&gt;    &lt;!-- rampa de 5s --&gt;</a:t>
            </a:r>
          </a:p>
          <a:p>
            <a:r>
              <a:rPr sz="1100">
                <a:solidFill>
                  <a:srgbClr val="F9E2AF"/>
                </a:solidFill>
                <a:latin typeface="Courier New"/>
              </a:rPr>
              <a:t>    &lt;scheduler&gt;true&lt;/scheduler&gt;</a:t>
            </a:r>
          </a:p>
          <a:p>
            <a:r>
              <a:rPr sz="1100">
                <a:solidFill>
                  <a:srgbClr val="F9E2AF"/>
                </a:solidFill>
                <a:latin typeface="Courier New"/>
              </a:rPr>
              <a:t>    &lt;duration&gt;60&lt;/duration&gt;     &lt;!-- 60 segundos --&gt;</a:t>
            </a:r>
          </a:p>
          <a:p>
            <a:r>
              <a:rPr sz="1100">
                <a:solidFill>
                  <a:srgbClr val="CBD3F0"/>
                </a:solidFill>
                <a:latin typeface="Courier New"/>
              </a:rPr>
              <a:t>    &lt;LoopController loops='-1'/&gt; &lt;!-- loop infinito --&gt;</a:t>
            </a:r>
          </a:p>
          <a:p>
            <a:r>
              <a:rPr sz="1100">
                <a:solidFill>
                  <a:srgbClr val="CBD3F0"/>
                </a:solidFill>
                <a:latin typeface="Courier New"/>
              </a:rPr>
              <a:t/>
            </a:r>
          </a:p>
          <a:p>
            <a:r>
              <a:rPr sz="1100">
                <a:solidFill>
                  <a:srgbClr val="CBD3F0"/>
                </a:solidFill>
                <a:latin typeface="Courier New"/>
              </a:rPr>
              <a:t>    &lt;HTTPSamplerProxy testname='Request to /demo/'&gt;</a:t>
            </a:r>
          </a:p>
          <a:p>
            <a:r>
              <a:rPr sz="1100">
                <a:solidFill>
                  <a:srgbClr val="CBD3F0"/>
                </a:solidFill>
                <a:latin typeface="Courier New"/>
              </a:rPr>
              <a:t>      &lt;domain&gt;localhost&lt;/domain&gt;</a:t>
            </a:r>
          </a:p>
          <a:p>
            <a:r>
              <a:rPr sz="1100">
                <a:solidFill>
                  <a:srgbClr val="CBD3F0"/>
                </a:solidFill>
                <a:latin typeface="Courier New"/>
              </a:rPr>
              <a:t>      &lt;port&gt;31113&lt;/port&gt;</a:t>
            </a:r>
          </a:p>
          <a:p>
            <a:r>
              <a:rPr sz="1100">
                <a:solidFill>
                  <a:srgbClr val="CBD3F0"/>
                </a:solidFill>
                <a:latin typeface="Courier New"/>
              </a:rPr>
              <a:t>      &lt;protocol&gt;http&lt;/protocol&gt;</a:t>
            </a:r>
          </a:p>
          <a:p>
            <a:r>
              <a:rPr sz="1100">
                <a:solidFill>
                  <a:srgbClr val="CBD3F0"/>
                </a:solidFill>
                <a:latin typeface="Courier New"/>
              </a:rPr>
              <a:t>      &lt;path&gt;/demo/&lt;/path&gt;</a:t>
            </a:r>
          </a:p>
          <a:p>
            <a:r>
              <a:rPr sz="1100">
                <a:solidFill>
                  <a:srgbClr val="CBD3F0"/>
                </a:solidFill>
                <a:latin typeface="Courier New"/>
              </a:rPr>
              <a:t>      &lt;method&gt;GET&lt;/method&gt;</a:t>
            </a:r>
          </a:p>
          <a:p>
            <a:r>
              <a:rPr sz="1100">
                <a:solidFill>
                  <a:srgbClr val="CBD3F0"/>
                </a:solidFill>
                <a:latin typeface="Courier New"/>
              </a:rPr>
              <a:t>      &lt;follow_redirects&gt;true&lt;/follow_redirects&gt;</a:t>
            </a:r>
          </a:p>
          <a:p>
            <a:r>
              <a:rPr sz="1100">
                <a:solidFill>
                  <a:srgbClr val="CBD3F0"/>
                </a:solidFill>
                <a:latin typeface="Courier New"/>
              </a:rPr>
              <a:t>      &lt;use_keepalive&gt;true&lt;/use_keepalive&gt;</a:t>
            </a:r>
          </a:p>
          <a:p>
            <a:r>
              <a:rPr sz="1100">
                <a:solidFill>
                  <a:srgbClr val="CBD3F0"/>
                </a:solidFill>
                <a:latin typeface="Courier New"/>
              </a:rPr>
              <a:t>    &lt;/HTTPSamplerProxy&gt;</a:t>
            </a:r>
          </a:p>
          <a:p>
            <a:r>
              <a:rPr sz="1100">
                <a:solidFill>
                  <a:srgbClr val="CBD3F0"/>
                </a:solidFill>
                <a:latin typeface="Courier New"/>
              </a:rPr>
              <a:t>  &lt;/ThreadGroup&gt;</a:t>
            </a:r>
          </a:p>
          <a:p>
            <a:r>
              <a:rPr sz="1100">
                <a:solidFill>
                  <a:srgbClr val="CBD3F0"/>
                </a:solidFill>
                <a:latin typeface="Courier New"/>
              </a:rPr>
              <a:t/>
            </a:r>
          </a:p>
          <a:p>
            <a:r>
              <a:rPr sz="1100">
                <a:solidFill>
                  <a:srgbClr val="F9E2AF"/>
                </a:solidFill>
                <a:latin typeface="Courier New"/>
              </a:rPr>
              <a:t>  &lt;!-- Thread Group 2: endpoint /service0 — 50 VUs paralelos --&gt;</a:t>
            </a:r>
          </a:p>
          <a:p>
            <a:r>
              <a:rPr sz="1100">
                <a:solidFill>
                  <a:srgbClr val="CBD3F0"/>
                </a:solidFill>
                <a:latin typeface="Courier New"/>
              </a:rPr>
              <a:t>  &lt;ThreadGroup testname='Service0 - 50 Users'&gt;</a:t>
            </a:r>
          </a:p>
          <a:p>
            <a:r>
              <a:rPr sz="1100">
                <a:solidFill>
                  <a:srgbClr val="CBD3F0"/>
                </a:solidFill>
                <a:latin typeface="Courier New"/>
              </a:rPr>
              <a:t>    &lt;!-- misma config: 50 VUs, ramp 5s, 60s, loops=-1 --&gt;</a:t>
            </a:r>
          </a:p>
          <a:p>
            <a:r>
              <a:rPr sz="1100">
                <a:solidFill>
                  <a:srgbClr val="CBD3F0"/>
                </a:solidFill>
                <a:latin typeface="Courier New"/>
              </a:rPr>
              <a:t>    &lt;HTTPSamplerProxy testname='Request to /service0/'/&gt;</a:t>
            </a:r>
          </a:p>
          <a:p>
            <a:r>
              <a:rPr sz="1100">
                <a:solidFill>
                  <a:srgbClr val="CBD3F0"/>
                </a:solidFill>
                <a:latin typeface="Courier New"/>
              </a:rPr>
              <a:t>  &lt;/ThreadGroup&gt;</a:t>
            </a:r>
          </a:p>
          <a:p>
            <a:r>
              <a:rPr sz="1100">
                <a:solidFill>
                  <a:srgbClr val="CBD3F0"/>
                </a:solidFill>
                <a:latin typeface="Courier New"/>
              </a:rPr>
              <a:t>&lt;/TestPlan&gt;</a:t>
            </a:r>
          </a:p>
        </p:txBody>
      </p:sp>
      <p:sp>
        <p:nvSpPr>
          <p:cNvPr id="6" name="Rectangle 5"/>
          <p:cNvSpPr/>
          <p:nvPr/>
        </p:nvSpPr>
        <p:spPr>
          <a:xfrm>
            <a:off x="5943600" y="1143000"/>
            <a:ext cx="297180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JMeter vs k6 — por qué se migró</a:t>
            </a:r>
          </a:p>
          <a:p>
            <a:r>
              <a:rPr sz="1000">
                <a:solidFill>
                  <a:srgbClr val="555555"/>
                </a:solidFill>
              </a:rPr>
              <a:t>JMeter (Java/XML):
  + GUI para usuarios no técnicos
  + Ecosistema maduro, muchos plugins
  - JMX = XML verboso, difícil de
    versionar en Git
  - Consume más memoria (JVM)
  - Config por archivo, no por CLI
k6 (Go/JS):
  + Script en JS, versionable
  + CLI con env vars (-e KEY=val)
  + Output JSON/CSV/InfluxDB/Prometheus
  + Menor overhead de memoria
  → El proyecto adoptó k6 para todos
    los experimentos nuevos.</a:t>
            </a:r>
          </a:p>
        </p:txBody>
      </p:sp>
      <p:sp>
        <p:nvSpPr>
          <p:cNvPr id="7" name="Rectangle 6"/>
          <p:cNvSpPr/>
          <p:nvPr/>
        </p:nvSpPr>
        <p:spPr>
          <a:xfrm>
            <a:off x="9052560" y="1143000"/>
            <a:ext cx="297180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Puerto :31113 — gw-nginx NodePort</a:t>
            </a:r>
          </a:p>
          <a:p>
            <a:r>
              <a:rPr sz="1000">
                <a:solidFill>
                  <a:srgbClr val="555555"/>
                </a:solidFill>
              </a:rPr>
              <a:t>El JMX apunta a localhost:31113.
Este es el NodePort de gw-nginx
(el gateway nginx interno del
benchmark sintético).
Endpoints testeados:
  /demo/     → servicio demo
  /service0/ → microservicio s0
El mismo puerto que usa baseline.js
(TARGET_URL=http://localhost:31113)
→ coherencia entre herramientas.</a:t>
            </a:r>
          </a:p>
        </p:txBody>
      </p:sp>
      <p:sp>
        <p:nvSpPr>
          <p:cNvPr id="8" name="Rectangle 7"/>
          <p:cNvSpPr/>
          <p:nvPr/>
        </p:nvSpPr>
        <p:spPr>
          <a:xfrm>
            <a:off x="5943600" y="3383280"/>
            <a:ext cx="297180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Thread Group — 50 VUs + ramp</a:t>
            </a:r>
          </a:p>
          <a:p>
            <a:r>
              <a:rPr sz="1000">
                <a:solidFill>
                  <a:srgbClr val="555555"/>
                </a:solidFill>
              </a:rPr>
              <a:t>num_threads: 50  → 50 usuarios virtuales
ramp_time: 5s    → escala 0→50 en 5s
                   (1 VU cada 100ms)
duration: 60s    → corre 60 segundos
loops: -1        → loop infinito
                   (controlado por duration)
Los dos ThreadGroups corren
EN PARALELO (serialize=false).
→ 100 VUs totales simultáneos
  (50 en /demo + 50 en /service0)</a:t>
            </a:r>
          </a:p>
        </p:txBody>
      </p:sp>
      <p:sp>
        <p:nvSpPr>
          <p:cNvPr id="9" name="Rectangle 8"/>
          <p:cNvSpPr/>
          <p:nvPr/>
        </p:nvSpPr>
        <p:spPr>
          <a:xfrm>
            <a:off x="9052560" y="3383280"/>
            <a:ext cx="297180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Salida: archivos .jtl</a:t>
            </a:r>
          </a:p>
          <a:p>
            <a:r>
              <a:rPr sz="1000">
                <a:solidFill>
                  <a:srgbClr val="555555"/>
                </a:solidFill>
              </a:rPr>
              <a:t>JMeter guarda resultados en JTL
(JMeter Test Log) — formato CSV:
  results_YYYYMMDD_HHMMSS.jtl
  results_database_*.jtl
  results_demo_*.jtl
  results_service0_*.jtl
Columnas típicas JTL:
  timeStamp, elapsed, label,
  responseCode, success, bytes,
  sentBytes, grpThreads, allThreads
Archivos en Testing/results/*.jtl</a:t>
            </a:r>
          </a:p>
        </p:txBody>
      </p:sp>
      <p:sp>
        <p:nvSpPr>
          <p:cNvPr id="10" name="Rectangle 9"/>
          <p:cNvSpPr/>
          <p:nvPr/>
        </p:nvSpPr>
        <p:spPr>
          <a:xfrm>
            <a:off x="5943600" y="5623560"/>
            <a:ext cx="297180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use_keepalive: true</a:t>
            </a:r>
          </a:p>
          <a:p>
            <a:r>
              <a:rPr sz="1000">
                <a:solidFill>
                  <a:srgbClr val="555555"/>
                </a:solidFill>
              </a:rPr>
              <a:t>HTTP Keep-Alive (Connection: keep-alive)
Reutiliza la conexión TCP para
múltiples requests al mismo servidor.
Con 50 VUs y keep-alive:
  - 50 conexiones TCP abiertas
  - cada VU reutiliza su conexión
  - evita overhead de TCP handshake
Sin keep-alive:
  - nueva conexión TCP por request
  - mucho más overhead → latencias
    artificialmente altas</a:t>
            </a:r>
          </a:p>
        </p:txBody>
      </p:sp>
      <p:sp>
        <p:nvSpPr>
          <p:cNvPr id="11" name="Rectangle 10"/>
          <p:cNvSpPr/>
          <p:nvPr/>
        </p:nvSpPr>
        <p:spPr>
          <a:xfrm>
            <a:off x="9052560" y="5623560"/>
            <a:ext cx="297180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follow_redirects: true</a:t>
            </a:r>
          </a:p>
          <a:p>
            <a:r>
              <a:rPr sz="1000">
                <a:solidFill>
                  <a:srgbClr val="555555"/>
                </a:solidFill>
              </a:rPr>
              <a:t>El microservicio CellController puede
devolver 302 Redirect en algunos
endpoints.
follow_redirects=true hace que
JMeter siga el redirect y mida el
tiempo total (incluyendo el redirect).
En k6 esto se controla con:
  params.redirects = 5  (default)
  params.redirects = 0  (sin follow)
El comportamiento es equivalente.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Testing/results/ — Estructura de resultados por control</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JTL (JMeter legacy) · JSON k6 · CSV QoS/fault/resource · MD summary · all-controls-comparison</a:t>
            </a:r>
          </a:p>
        </p:txBody>
      </p:sp>
      <p:sp>
        <p:nvSpPr>
          <p:cNvPr id="5" name="Rectangle 4"/>
          <p:cNvSpPr/>
          <p:nvPr/>
        </p:nvSpPr>
        <p:spPr>
          <a:xfrm>
            <a:off x="365760" y="1143000"/>
            <a:ext cx="5303520" cy="27432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Testing/results/</a:t>
            </a:r>
          </a:p>
          <a:p>
            <a:r>
              <a:rPr sz="1100">
                <a:solidFill>
                  <a:srgbClr val="F9E2AF"/>
                </a:solidFill>
                <a:latin typeface="Courier New"/>
              </a:rPr>
              <a:t>├── results_YYYYMMDD_HHMMSS.jtl        # JMeter: todos los servicios</a:t>
            </a:r>
          </a:p>
          <a:p>
            <a:r>
              <a:rPr sz="1100">
                <a:solidFill>
                  <a:srgbClr val="CBD3F0"/>
                </a:solidFill>
                <a:latin typeface="Courier New"/>
              </a:rPr>
              <a:t>├── results_demo_*.jtl                  # JMeter: solo /demo</a:t>
            </a:r>
          </a:p>
          <a:p>
            <a:r>
              <a:rPr sz="1100">
                <a:solidFill>
                  <a:srgbClr val="CBD3F0"/>
                </a:solidFill>
                <a:latin typeface="Courier New"/>
              </a:rPr>
              <a:t>├── results_service0_*.jtl              # JMeter: solo /service0</a:t>
            </a:r>
          </a:p>
          <a:p>
            <a:r>
              <a:rPr sz="1100">
                <a:solidFill>
                  <a:srgbClr val="CBD3F0"/>
                </a:solidFill>
                <a:latin typeface="Courier New"/>
              </a:rPr>
              <a:t>├── results_database_*.jtl              # JMeter: solo db service</a:t>
            </a:r>
          </a:p>
          <a:p>
            <a:r>
              <a:rPr sz="1100">
                <a:solidFill>
                  <a:srgbClr val="CBD3F0"/>
                </a:solidFill>
                <a:latin typeface="Courier New"/>
              </a:rPr>
              <a:t>├── http-baseline-20260413_201944.json  # k6 NDJSON (HTTP)</a:t>
            </a:r>
          </a:p>
          <a:p>
            <a:r>
              <a:rPr sz="1100">
                <a:solidFill>
                  <a:srgbClr val="CBD3F0"/>
                </a:solidFill>
                <a:latin typeface="Courier New"/>
              </a:rPr>
              <a:t>├── http-interservice-*.json            # k6 NDJSON (inter-service)</a:t>
            </a:r>
          </a:p>
          <a:p>
            <a:r>
              <a:rPr sz="1100">
                <a:solidFill>
                  <a:srgbClr val="CBD3F0"/>
                </a:solidFill>
                <a:latin typeface="Courier New"/>
              </a:rPr>
              <a:t>├── all-controls-comparison.csv         # CSV consolidado C1-C4</a:t>
            </a:r>
          </a:p>
          <a:p>
            <a:r>
              <a:rPr sz="1100">
                <a:solidFill>
                  <a:srgbClr val="F9E2AF"/>
                </a:solidFill>
                <a:latin typeface="Courier New"/>
              </a:rPr>
              <a:t>├── all-controls-comparison-clean.csv   # sin outliers</a:t>
            </a:r>
          </a:p>
          <a:p>
            <a:r>
              <a:rPr sz="1100">
                <a:solidFill>
                  <a:srgbClr val="CBD3F0"/>
                </a:solidFill>
                <a:latin typeface="Courier New"/>
              </a:rPr>
              <a:t>├── all-controls-comparison.md          # tabla MD C1-C4</a:t>
            </a:r>
          </a:p>
          <a:p>
            <a:r>
              <a:rPr sz="1100">
                <a:solidFill>
                  <a:srgbClr val="CBD3F0"/>
                </a:solidFill>
                <a:latin typeface="Courier New"/>
              </a:rPr>
              <a:t>├── all-controls-validation-report.md   # conteo filas por control</a:t>
            </a:r>
          </a:p>
          <a:p>
            <a:r>
              <a:rPr sz="1100">
                <a:solidFill>
                  <a:srgbClr val="CBD3F0"/>
                </a:solidFill>
                <a:latin typeface="Courier New"/>
              </a:rPr>
              <a:t>├── all-controls-avg-vus.png            # gráfica avg_ms vs VUs</a:t>
            </a:r>
          </a:p>
          <a:p>
            <a:r>
              <a:rPr sz="1100">
                <a:solidFill>
                  <a:srgbClr val="CBD3F0"/>
                </a:solidFill>
                <a:latin typeface="Courier New"/>
              </a:rPr>
              <a:t>├── all-controls-p95.png                # gráfica p95_ms vs VUs</a:t>
            </a:r>
          </a:p>
          <a:p>
            <a:r>
              <a:rPr sz="1100">
                <a:solidFill>
                  <a:srgbClr val="CBD3F0"/>
                </a:solidFill>
                <a:latin typeface="Courier New"/>
              </a:rPr>
              <a:t>│</a:t>
            </a:r>
          </a:p>
          <a:p>
            <a:r>
              <a:rPr sz="1100">
                <a:solidFill>
                  <a:srgbClr val="CBD3F0"/>
                </a:solidFill>
                <a:latin typeface="Courier New"/>
              </a:rPr>
              <a:t>├── c1-realistic-20260328_233106/</a:t>
            </a:r>
          </a:p>
          <a:p>
            <a:r>
              <a:rPr sz="1100">
                <a:solidFill>
                  <a:srgbClr val="F9E2AF"/>
                </a:solidFill>
                <a:latin typeface="Courier New"/>
              </a:rPr>
              <a:t>│   ├── c1-realistic-qos.csv            # QoS: RPS, avg, p95, checks</a:t>
            </a:r>
          </a:p>
          <a:p>
            <a:r>
              <a:rPr sz="1100">
                <a:solidFill>
                  <a:srgbClr val="CBD3F0"/>
                </a:solidFill>
                <a:latin typeface="Courier New"/>
              </a:rPr>
              <a:t>│   ├── c1-realistic-fault.csv          # fault tolerance + MTTR</a:t>
            </a:r>
          </a:p>
          <a:p>
            <a:r>
              <a:rPr sz="1100">
                <a:solidFill>
                  <a:srgbClr val="CBD3F0"/>
                </a:solidFill>
                <a:latin typeface="Courier New"/>
              </a:rPr>
              <a:t>│   ├── c1-realistic-resource-by-tech.csv # CPU/Mem por gateway</a:t>
            </a:r>
          </a:p>
          <a:p>
            <a:r>
              <a:rPr sz="1100">
                <a:solidFill>
                  <a:srgbClr val="CBD3F0"/>
                </a:solidFill>
                <a:latin typeface="Courier New"/>
              </a:rPr>
              <a:t>│   ├── c1-realistic-summary.md         # resumen legible</a:t>
            </a:r>
          </a:p>
          <a:p>
            <a:r>
              <a:rPr sz="1100">
                <a:solidFill>
                  <a:srgbClr val="F9E2AF"/>
                </a:solidFill>
                <a:latin typeface="Courier New"/>
              </a:rPr>
              <a:t>│   ├── summary-baseline-realistic.json # JSON k6 raw por tech</a:t>
            </a:r>
          </a:p>
          <a:p>
            <a:r>
              <a:rPr sz="1100">
                <a:solidFill>
                  <a:srgbClr val="CBD3F0"/>
                </a:solidFill>
                <a:latin typeface="Courier New"/>
              </a:rPr>
              <a:t>│   ├── summary-kong-realistic.json</a:t>
            </a:r>
          </a:p>
          <a:p>
            <a:r>
              <a:rPr sz="1100">
                <a:solidFill>
                  <a:srgbClr val="CBD3F0"/>
                </a:solidFill>
                <a:latin typeface="Courier New"/>
              </a:rPr>
              <a:t>│   └── summary-nginx-realistic.json</a:t>
            </a:r>
          </a:p>
          <a:p>
            <a:r>
              <a:rPr sz="1100">
                <a:solidFill>
                  <a:srgbClr val="CBD3F0"/>
                </a:solidFill>
                <a:latin typeface="Courier New"/>
              </a:rPr>
              <a:t>│</a:t>
            </a:r>
          </a:p>
          <a:p>
            <a:r>
              <a:rPr sz="1100">
                <a:solidFill>
                  <a:srgbClr val="CBD3F0"/>
                </a:solidFill>
                <a:latin typeface="Courier New"/>
              </a:rPr>
              <a:t>└── c2-mesh-realistic-20260328_234750/</a:t>
            </a:r>
          </a:p>
          <a:p>
            <a:r>
              <a:rPr sz="1100">
                <a:solidFill>
                  <a:srgbClr val="F9E2AF"/>
                </a:solidFill>
                <a:latin typeface="Courier New"/>
              </a:rPr>
              <a:t>    ├── c2-realistic-qos.csv</a:t>
            </a:r>
          </a:p>
          <a:p>
            <a:r>
              <a:rPr sz="1100">
                <a:solidFill>
                  <a:srgbClr val="CBD3F0"/>
                </a:solidFill>
                <a:latin typeface="Courier New"/>
              </a:rPr>
              <a:t>    ├── c2-realistic-fault.csv</a:t>
            </a:r>
          </a:p>
          <a:p>
            <a:r>
              <a:rPr sz="1100">
                <a:solidFill>
                  <a:srgbClr val="CBD3F0"/>
                </a:solidFill>
                <a:latin typeface="Courier New"/>
              </a:rPr>
              <a:t>    ├── c2-realistic-resource-by-tech.csv</a:t>
            </a:r>
          </a:p>
          <a:p>
            <a:r>
              <a:rPr sz="1100">
                <a:solidFill>
                  <a:srgbClr val="CBD3F0"/>
                </a:solidFill>
                <a:latin typeface="Courier New"/>
              </a:rPr>
              <a:t>    └── summary-{baseline,istio-mtls,linkerd-mtls}-realistic.json</a:t>
            </a:r>
          </a:p>
        </p:txBody>
      </p:sp>
      <p:sp>
        <p:nvSpPr>
          <p:cNvPr id="6" name="Rectangle 5"/>
          <p:cNvSpPr/>
          <p:nvPr/>
        </p:nvSpPr>
        <p:spPr>
          <a:xfrm>
            <a:off x="365760" y="4023360"/>
            <a:ext cx="5303520" cy="26974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c1-realistic-qos.csv — columnas</a:t>
            </a:r>
          </a:p>
          <a:p>
            <a:r>
              <a:rPr sz="1100">
                <a:solidFill>
                  <a:srgbClr val="F9E2AF"/>
                </a:solidFill>
                <a:latin typeface="Courier New"/>
              </a:rPr>
              <a:t>technology, http_reqs_count, http_reqs_rate_rps,</a:t>
            </a:r>
          </a:p>
          <a:p>
            <a:r>
              <a:rPr sz="1100">
                <a:solidFill>
                  <a:srgbClr val="CBD3F0"/>
                </a:solidFill>
                <a:latin typeface="Courier New"/>
              </a:rPr>
              <a:t>avg_ms, p95_ms, p99_ms,</a:t>
            </a:r>
          </a:p>
          <a:p>
            <a:r>
              <a:rPr sz="1100">
                <a:solidFill>
                  <a:srgbClr val="CBD3F0"/>
                </a:solidFill>
                <a:latin typeface="Courier New"/>
              </a:rPr>
              <a:t>http_req_failed_rate, checks_rate,</a:t>
            </a:r>
          </a:p>
          <a:p>
            <a:r>
              <a:rPr sz="1100">
                <a:solidFill>
                  <a:srgbClr val="CBD3F0"/>
                </a:solidFill>
                <a:latin typeface="Courier New"/>
              </a:rPr>
              <a:t>users_created_total, users_listed_total,</a:t>
            </a:r>
          </a:p>
          <a:p>
            <a:r>
              <a:rPr sz="1100">
                <a:solidFill>
                  <a:srgbClr val="CBD3F0"/>
                </a:solidFill>
                <a:latin typeface="Courier New"/>
              </a:rPr>
              <a:t>users_create_p95_ms, users_list_p95_ms</a:t>
            </a:r>
          </a:p>
          <a:p>
            <a:r>
              <a:rPr sz="1100">
                <a:solidFill>
                  <a:srgbClr val="CBD3F0"/>
                </a:solidFill>
                <a:latin typeface="Courier New"/>
              </a:rPr>
              <a:t/>
            </a:r>
          </a:p>
          <a:p>
            <a:r>
              <a:rPr sz="1100">
                <a:solidFill>
                  <a:srgbClr val="CBD3F0"/>
                </a:solidFill>
                <a:latin typeface="Courier New"/>
              </a:rPr>
              <a:t># c1-realistic-fault.csv — columnas</a:t>
            </a:r>
          </a:p>
          <a:p>
            <a:r>
              <a:rPr sz="1100">
                <a:solidFill>
                  <a:srgbClr val="F9E2AF"/>
                </a:solidFill>
                <a:latin typeface="Courier New"/>
              </a:rPr>
              <a:t>technology, fault_scenario, recovered,</a:t>
            </a:r>
          </a:p>
          <a:p>
            <a:r>
              <a:rPr sz="1100">
                <a:solidFill>
                  <a:srgbClr val="CBD3F0"/>
                </a:solidFill>
                <a:latin typeface="Courier New"/>
              </a:rPr>
              <a:t>mttr_seconds, http_req_duration_p95_ms,</a:t>
            </a:r>
          </a:p>
          <a:p>
            <a:r>
              <a:rPr sz="1100">
                <a:solidFill>
                  <a:srgbClr val="CBD3F0"/>
                </a:solidFill>
                <a:latin typeface="Courier New"/>
              </a:rPr>
              <a:t>http_req_failed_rate, request_success_rate, checks_rate</a:t>
            </a:r>
          </a:p>
          <a:p>
            <a:r>
              <a:rPr sz="1100">
                <a:solidFill>
                  <a:srgbClr val="CBD3F0"/>
                </a:solidFill>
                <a:latin typeface="Courier New"/>
              </a:rPr>
              <a:t/>
            </a:r>
          </a:p>
          <a:p>
            <a:r>
              <a:rPr sz="1100">
                <a:solidFill>
                  <a:srgbClr val="CBD3F0"/>
                </a:solidFill>
                <a:latin typeface="Courier New"/>
              </a:rPr>
              <a:t># c1-realistic-resource-by-tech.csv — columnas</a:t>
            </a:r>
          </a:p>
          <a:p>
            <a:r>
              <a:rPr sz="1100">
                <a:solidFill>
                  <a:srgbClr val="F9E2AF"/>
                </a:solidFill>
                <a:latin typeface="Courier New"/>
              </a:rPr>
              <a:t>technology, realistic_cpu_cores, realistic_mem_mib,</a:t>
            </a:r>
          </a:p>
          <a:p>
            <a:r>
              <a:rPr sz="1100">
                <a:solidFill>
                  <a:srgbClr val="CBD3F0"/>
                </a:solidFill>
                <a:latin typeface="Courier New"/>
              </a:rPr>
              <a:t>gateway_cpu_cores, gateway_mem_mib,</a:t>
            </a:r>
          </a:p>
          <a:p>
            <a:r>
              <a:rPr sz="1100">
                <a:solidFill>
                  <a:srgbClr val="CBD3F0"/>
                </a:solidFill>
                <a:latin typeface="Courier New"/>
              </a:rPr>
              <a:t>e2e_cpu_cores, e2e_mem_mib</a:t>
            </a:r>
          </a:p>
          <a:p>
            <a:r>
              <a:rPr sz="1100">
                <a:solidFill>
                  <a:srgbClr val="CBD3F0"/>
                </a:solidFill>
                <a:latin typeface="Courier New"/>
              </a:rPr>
              <a:t/>
            </a:r>
          </a:p>
          <a:p>
            <a:r>
              <a:rPr sz="1100">
                <a:solidFill>
                  <a:srgbClr val="CBD3F0"/>
                </a:solidFill>
                <a:latin typeface="Courier New"/>
              </a:rPr>
              <a:t># all-controls-comparison.csv — columnas</a:t>
            </a:r>
          </a:p>
          <a:p>
            <a:r>
              <a:rPr sz="1100">
                <a:solidFill>
                  <a:srgbClr val="F9E2AF"/>
                </a:solidFill>
                <a:latin typeface="Courier New"/>
              </a:rPr>
              <a:t>control, scenario, vus, avg_ms, p95_ms</a:t>
            </a:r>
          </a:p>
        </p:txBody>
      </p:sp>
      <p:sp>
        <p:nvSpPr>
          <p:cNvPr id="7" name="Rectangle 6"/>
          <p:cNvSpPr/>
          <p:nvPr/>
        </p:nvSpPr>
        <p:spPr>
          <a:xfrm>
            <a:off x="5760720" y="1143000"/>
            <a:ext cx="306324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QoS CSV — métricas de negocio</a:t>
            </a:r>
          </a:p>
          <a:p>
            <a:r>
              <a:rPr sz="1000">
                <a:solidFill>
                  <a:srgbClr val="555555"/>
                </a:solidFill>
              </a:rPr>
              <a:t>Combina métricas QoS Y de negocio:
QoS (rendimiento técnico):
  avg_ms, p95_ms, RPS, failed_rate
Negocio (usuarios creados/listados):
  users_created_total → cuántos usuarios
    se pudieron crear exitosamente
  users_listed_total  → cuántos se listaron
  users_create_p95_ms → latencia P95 de
    la operación de negocio específica
Permite correlacionar: ¿el overhead
del gateway afecta las ops de negocio?</a:t>
            </a:r>
          </a:p>
        </p:txBody>
      </p:sp>
      <p:sp>
        <p:nvSpPr>
          <p:cNvPr id="8" name="Rectangle 7"/>
          <p:cNvSpPr/>
          <p:nvPr/>
        </p:nvSpPr>
        <p:spPr>
          <a:xfrm>
            <a:off x="8961120" y="1143000"/>
            <a:ext cx="306324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Fault CSV — MTTR y recuperación</a:t>
            </a:r>
          </a:p>
          <a:p>
            <a:r>
              <a:rPr sz="1000">
                <a:solidFill>
                  <a:srgbClr val="555555"/>
                </a:solidFill>
              </a:rPr>
              <a:t>fault_scenario: restart-api-service
  → se reinicia el pod api-service
recovered: 0/1
  0 = baseline (sin gateway) NO se
    recupera (requests fallan hasta
    que K8s reinicia el pod)
  1 = con gateway (nginx/kong) el
    gateway hace retry y se recupera
mttr_seconds: -1 para baseline
(no hay MTTR si no se recupera).
Kong MTTR=11s vs nginx MTTR=15s</a:t>
            </a:r>
          </a:p>
        </p:txBody>
      </p:sp>
      <p:sp>
        <p:nvSpPr>
          <p:cNvPr id="9" name="Rectangle 8"/>
          <p:cNvSpPr/>
          <p:nvPr/>
        </p:nvSpPr>
        <p:spPr>
          <a:xfrm>
            <a:off x="5760720" y="3383280"/>
            <a:ext cx="306324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Resource CSV — comparación justa E2E</a:t>
            </a:r>
          </a:p>
          <a:p>
            <a:r>
              <a:rPr sz="1000">
                <a:solidFill>
                  <a:srgbClr val="555555"/>
                </a:solidFill>
              </a:rPr>
              <a:t>3 perspectivas de CPU/Mem:
realistic_*: solo los pods del
  namespace mubench-realistic
  (sin contar el gateway)
gateway_*: solo el pod del gateway
  (nginx o kong)
e2e_*: realistic + gateway
  → costo TOTAL del sistema
Insight C1:
  kong gateway: 1375 MiB vs nginx: 168 MiB
  Kong consume 8× más memoria que nginx</a:t>
            </a:r>
          </a:p>
        </p:txBody>
      </p:sp>
      <p:sp>
        <p:nvSpPr>
          <p:cNvPr id="10" name="Rectangle 9"/>
          <p:cNvSpPr/>
          <p:nvPr/>
        </p:nvSpPr>
        <p:spPr>
          <a:xfrm>
            <a:off x="8961120" y="3383280"/>
            <a:ext cx="306324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all-controls-comparison — consolidado</a:t>
            </a:r>
          </a:p>
          <a:p>
            <a:r>
              <a:rPr sz="1000">
                <a:solidFill>
                  <a:srgbClr val="555555"/>
                </a:solidFill>
              </a:rPr>
              <a:t>Consolida resultados de C1-C4 en
UN solo archivo para análisis global.
Columnas: control, scenario, vus,
  avg_ms, p95_ms
96 filas total (all-controls):
  C1-api-gateway: 0 filas (sin datos)
  C2-mtls:       52 filas
  C3-netpol:     26 filas
  C4-ratelimit:  18 filas
Los PNGs all-controls-*.png se
generan a partir de este CSV.</a:t>
            </a:r>
          </a:p>
        </p:txBody>
      </p:sp>
      <p:sp>
        <p:nvSpPr>
          <p:cNvPr id="11" name="Rectangle 10"/>
          <p:cNvSpPr/>
          <p:nvPr/>
        </p:nvSpPr>
        <p:spPr>
          <a:xfrm>
            <a:off x="5760720" y="5623560"/>
            <a:ext cx="306324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summary-*.json — resultados k6 raw</a:t>
            </a:r>
          </a:p>
          <a:p>
            <a:r>
              <a:rPr sz="1000">
                <a:solidFill>
                  <a:srgbClr val="555555"/>
                </a:solidFill>
              </a:rPr>
              <a:t>JSON completo del endpoint k6
(--out json=...) por tecnología.
Contiene:
  setup_data.token (JWT del login)
  root_group.groups.setup.checks
  root_group.groups['*'].checks
  metrics.http_req_duration.*
  metrics.http_reqs.*
Permite re-analizar sin repetir
el experimento. analyze_k6_results.py
lee exactamente este formato.</a:t>
            </a:r>
          </a:p>
        </p:txBody>
      </p:sp>
      <p:sp>
        <p:nvSpPr>
          <p:cNvPr id="12" name="Rectangle 11"/>
          <p:cNvSpPr/>
          <p:nvPr/>
        </p:nvSpPr>
        <p:spPr>
          <a:xfrm>
            <a:off x="8961120" y="5623560"/>
            <a:ext cx="306324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Validation report — cobertura</a:t>
            </a:r>
          </a:p>
          <a:p>
            <a:r>
              <a:rPr sz="1000">
                <a:solidFill>
                  <a:srgbClr val="555555"/>
                </a:solidFill>
              </a:rPr>
              <a:t>all-controls-validation-report.md:
  Input rows: 96
  Valid rows: 96
  Invalid rows removed: 0
  C1-api-gateway: 0 filas ← advertencia
  C2-mtls:       52 filas
  C3-netpol:     26 filas
  C4-ratelimit:  18 filas
El 0 de C1 indica que la corrida C1
no se incluyó en el all-controls (o
que usa estructura distinta de CSV).</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Experiments / 01-api-gateway-realistic</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run-exp01-realistic.sh · tests/test-*.js · resultados reales: baseline vs Kong vs Istio</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run-exp01-realistic.sh — Orquestador del experimento 01</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3 variantes (baseline/istio/kong) × 3 cargas (VUS 5/10/20) × 3 repeticiones = 27 corridas de 60s cada una</a:t>
            </a:r>
          </a:p>
        </p:txBody>
      </p:sp>
      <p:sp>
        <p:nvSpPr>
          <p:cNvPr id="5" name="Rectangle 4"/>
          <p:cNvSpPr/>
          <p:nvPr/>
        </p:nvSpPr>
        <p:spPr>
          <a:xfrm>
            <a:off x="365760" y="1143000"/>
            <a:ext cx="5577840" cy="53035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#!/usr/bin/env bash</a:t>
            </a:r>
          </a:p>
          <a:p>
            <a:r>
              <a:rPr sz="1100">
                <a:solidFill>
                  <a:srgbClr val="F9E2AF"/>
                </a:solidFill>
                <a:latin typeface="Courier New"/>
              </a:rPr>
              <a:t># run-exp01-realistic.sh</a:t>
            </a:r>
          </a:p>
          <a:p>
            <a:r>
              <a:rPr sz="1100">
                <a:solidFill>
                  <a:srgbClr val="CBD3F0"/>
                </a:solidFill>
                <a:latin typeface="Courier New"/>
              </a:rPr>
              <a:t># Variantes: baseline (gw-nginx :31213),</a:t>
            </a:r>
          </a:p>
          <a:p>
            <a:r>
              <a:rPr sz="1100">
                <a:solidFill>
                  <a:srgbClr val="CBD3F0"/>
                </a:solidFill>
                <a:latin typeface="Courier New"/>
              </a:rPr>
              <a:t>#            istio-igw (:31486), kong (:30082)</a:t>
            </a:r>
          </a:p>
          <a:p>
            <a:r>
              <a:rPr sz="1100">
                <a:solidFill>
                  <a:srgbClr val="CBD3F0"/>
                </a:solidFill>
                <a:latin typeface="Courier New"/>
              </a:rPr>
              <a:t># Carga: VUS=5/10/20 × 3 reps × 60s</a:t>
            </a:r>
          </a:p>
          <a:p>
            <a:r>
              <a:rPr sz="1100">
                <a:solidFill>
                  <a:srgbClr val="CBD3F0"/>
                </a:solidFill>
                <a:latin typeface="Courier New"/>
              </a:rPr>
              <a:t>set -euo pipefail</a:t>
            </a:r>
          </a:p>
          <a:p>
            <a:r>
              <a:rPr sz="1100">
                <a:solidFill>
                  <a:srgbClr val="CBD3F0"/>
                </a:solidFill>
                <a:latin typeface="Courier New"/>
              </a:rPr>
              <a:t/>
            </a:r>
          </a:p>
          <a:p>
            <a:r>
              <a:rPr sz="1100">
                <a:solidFill>
                  <a:srgbClr val="CBD3F0"/>
                </a:solidFill>
                <a:latin typeface="Courier New"/>
              </a:rPr>
              <a:t>run_variant() {</a:t>
            </a:r>
          </a:p>
          <a:p>
            <a:r>
              <a:rPr sz="1100">
                <a:solidFill>
                  <a:srgbClr val="F9E2AF"/>
                </a:solidFill>
                <a:latin typeface="Courier New"/>
              </a:rPr>
              <a:t>  local name='$1'   # baseline | istio | kong</a:t>
            </a:r>
          </a:p>
          <a:p>
            <a:r>
              <a:rPr sz="1100">
                <a:solidFill>
                  <a:srgbClr val="CBD3F0"/>
                </a:solidFill>
                <a:latin typeface="Courier New"/>
              </a:rPr>
              <a:t>  local url='$2'    # http://localhost:PUERTO</a:t>
            </a:r>
          </a:p>
          <a:p>
            <a:r>
              <a:rPr sz="1100">
                <a:solidFill>
                  <a:srgbClr val="CBD3F0"/>
                </a:solidFill>
                <a:latin typeface="Courier New"/>
              </a:rPr>
              <a:t>  local script='$3' # test-baseline.js | ...</a:t>
            </a:r>
          </a:p>
          <a:p>
            <a:r>
              <a:rPr sz="1100">
                <a:solidFill>
                  <a:srgbClr val="CBD3F0"/>
                </a:solidFill>
                <a:latin typeface="Courier New"/>
              </a:rPr>
              <a:t>  local res_dir='$ROOT_DIR/$name/results'</a:t>
            </a:r>
          </a:p>
          <a:p>
            <a:r>
              <a:rPr sz="1100">
                <a:solidFill>
                  <a:srgbClr val="CBD3F0"/>
                </a:solidFill>
                <a:latin typeface="Courier New"/>
              </a:rPr>
              <a:t>  mkdir -p '$res_dir'</a:t>
            </a:r>
          </a:p>
          <a:p>
            <a:r>
              <a:rPr sz="1100">
                <a:solidFill>
                  <a:srgbClr val="CBD3F0"/>
                </a:solidFill>
                <a:latin typeface="Courier New"/>
              </a:rPr>
              <a:t/>
            </a:r>
          </a:p>
          <a:p>
            <a:r>
              <a:rPr sz="1100">
                <a:solidFill>
                  <a:srgbClr val="CBD3F0"/>
                </a:solidFill>
                <a:latin typeface="Courier New"/>
              </a:rPr>
              <a:t>  for vus in 5 10 20; do</a:t>
            </a:r>
          </a:p>
          <a:p>
            <a:r>
              <a:rPr sz="1100">
                <a:solidFill>
                  <a:srgbClr val="F9E2AF"/>
                </a:solidFill>
                <a:latin typeface="Courier New"/>
              </a:rPr>
              <a:t>    for rep in 1 2 3; do</a:t>
            </a:r>
          </a:p>
          <a:p>
            <a:r>
              <a:rPr sz="1100">
                <a:solidFill>
                  <a:srgbClr val="F9E2AF"/>
                </a:solidFill>
                <a:latin typeface="Courier New"/>
              </a:rPr>
              <a:t>      local out='$res_dir/${name}-vus${vus}-rep${rep}.json'</a:t>
            </a:r>
          </a:p>
          <a:p>
            <a:r>
              <a:rPr sz="1100">
                <a:solidFill>
                  <a:srgbClr val="CBD3F0"/>
                </a:solidFill>
                <a:latin typeface="Courier New"/>
              </a:rPr>
              <a:t>      local log='$LOG_DIR/${name}-vus${vus}-rep${rep}.log'</a:t>
            </a:r>
          </a:p>
          <a:p>
            <a:r>
              <a:rPr sz="1100">
                <a:solidFill>
                  <a:srgbClr val="CBD3F0"/>
                </a:solidFill>
                <a:latin typeface="Courier New"/>
              </a:rPr>
              <a:t/>
            </a:r>
          </a:p>
          <a:p>
            <a:r>
              <a:rPr sz="1100">
                <a:solidFill>
                  <a:srgbClr val="CBD3F0"/>
                </a:solidFill>
                <a:latin typeface="Courier New"/>
              </a:rPr>
              <a:t>      k6 run --no-thresholds \</a:t>
            </a:r>
          </a:p>
          <a:p>
            <a:r>
              <a:rPr sz="1100">
                <a:solidFill>
                  <a:srgbClr val="F9E2AF"/>
                </a:solidFill>
                <a:latin typeface="Courier New"/>
              </a:rPr>
              <a:t>        -e TARGET_URL='$url' \</a:t>
            </a:r>
          </a:p>
          <a:p>
            <a:r>
              <a:rPr sz="1100">
                <a:solidFill>
                  <a:srgbClr val="CBD3F0"/>
                </a:solidFill>
                <a:latin typeface="Courier New"/>
              </a:rPr>
              <a:t>        -e VUS='$vus' \</a:t>
            </a:r>
          </a:p>
          <a:p>
            <a:r>
              <a:rPr sz="1100">
                <a:solidFill>
                  <a:srgbClr val="CBD3F0"/>
                </a:solidFill>
                <a:latin typeface="Courier New"/>
              </a:rPr>
              <a:t>        -e DURATION='60s' \</a:t>
            </a:r>
          </a:p>
          <a:p>
            <a:r>
              <a:rPr sz="1100">
                <a:solidFill>
                  <a:srgbClr val="CBD3F0"/>
                </a:solidFill>
                <a:latin typeface="Courier New"/>
              </a:rPr>
              <a:t>        --out 'json=$out' \</a:t>
            </a:r>
          </a:p>
          <a:p>
            <a:r>
              <a:rPr sz="1100">
                <a:solidFill>
                  <a:srgbClr val="CBD3F0"/>
                </a:solidFill>
                <a:latin typeface="Courier New"/>
              </a:rPr>
              <a:t>        '$TEST_DIR/$script' &gt; '$log' 2&gt;&amp;1 || true</a:t>
            </a:r>
          </a:p>
          <a:p>
            <a:r>
              <a:rPr sz="1100">
                <a:solidFill>
                  <a:srgbClr val="CBD3F0"/>
                </a:solidFill>
                <a:latin typeface="Courier New"/>
              </a:rPr>
              <a:t/>
            </a:r>
          </a:p>
          <a:p>
            <a:r>
              <a:rPr sz="1100">
                <a:solidFill>
                  <a:srgbClr val="CBD3F0"/>
                </a:solidFill>
                <a:latin typeface="Courier New"/>
              </a:rPr>
              <a:t>      sleep 10  # pausa entre runs</a:t>
            </a:r>
          </a:p>
          <a:p>
            <a:r>
              <a:rPr sz="1100">
                <a:solidFill>
                  <a:srgbClr val="F9E2AF"/>
                </a:solidFill>
                <a:latin typeface="Courier New"/>
              </a:rPr>
              <a:t>    done</a:t>
            </a:r>
          </a:p>
          <a:p>
            <a:r>
              <a:rPr sz="1100">
                <a:solidFill>
                  <a:srgbClr val="CBD3F0"/>
                </a:solidFill>
                <a:latin typeface="Courier New"/>
              </a:rPr>
              <a:t>  done</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run_variant 'baseline' 'http://localhost:31213' 'test-baseline.js'</a:t>
            </a:r>
          </a:p>
          <a:p>
            <a:r>
              <a:rPr sz="1100">
                <a:solidFill>
                  <a:srgbClr val="F9E2AF"/>
                </a:solidFill>
                <a:latin typeface="Courier New"/>
              </a:rPr>
              <a:t>run_variant 'istio'    'http://localhost:31486' 'test-istio.js'</a:t>
            </a:r>
          </a:p>
          <a:p>
            <a:r>
              <a:rPr sz="1100">
                <a:solidFill>
                  <a:srgbClr val="CBD3F0"/>
                </a:solidFill>
                <a:latin typeface="Courier New"/>
              </a:rPr>
              <a:t>run_variant 'kong'     'http://localhost:30082' 'test-kong.js'</a:t>
            </a:r>
          </a:p>
        </p:txBody>
      </p:sp>
      <p:sp>
        <p:nvSpPr>
          <p:cNvPr id="6" name="Rectangle 5"/>
          <p:cNvSpPr/>
          <p:nvPr/>
        </p:nvSpPr>
        <p:spPr>
          <a:xfrm>
            <a:off x="5943600" y="1143000"/>
            <a:ext cx="297180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Estructura de salida — 27 × 2 archivos</a:t>
            </a:r>
          </a:p>
          <a:p>
            <a:r>
              <a:rPr sz="1000">
                <a:solidFill>
                  <a:srgbClr val="555555"/>
                </a:solidFill>
              </a:rPr>
              <a:t>Cada corrida genera DOS archivos:
JSON (--out json=$out):
  baseline/results/baseline-vus5-rep1.json
  → NDJSON completo: todos los puntos
    de métrica + resumen final
  → Permite re-análisis posterior
LOG (&gt; $log 2&gt;&amp;1):
  results/logs/baseline-vus5-rep1.log
  → Salida de consola de k6
  → Legible: muestra progreso en tiempo
    real y resumen final con tabla</a:t>
            </a:r>
          </a:p>
        </p:txBody>
      </p:sp>
      <p:sp>
        <p:nvSpPr>
          <p:cNvPr id="7" name="Rectangle 6"/>
          <p:cNvSpPr/>
          <p:nvPr/>
        </p:nvSpPr>
        <p:spPr>
          <a:xfrm>
            <a:off x="9052560" y="1143000"/>
            <a:ext cx="297180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 true — tolerancia a fallos</a:t>
            </a:r>
          </a:p>
          <a:p>
            <a:r>
              <a:rPr sz="1000">
                <a:solidFill>
                  <a:srgbClr val="555555"/>
                </a:solidFill>
              </a:rPr>
              <a:t>k6 run ... || true
Sin || true: si k6 falla (threshold
violado o error de red), el script
se detiene por set -e.
Con || true: la corrida falla pero
el bucle continúa con la siguiente.
--no-thresholds: desactiva los
thresholds del script JS para que
k6 no retorne exit code != 0 aunque
la latencia supere los límites.</a:t>
            </a:r>
          </a:p>
        </p:txBody>
      </p:sp>
      <p:sp>
        <p:nvSpPr>
          <p:cNvPr id="8" name="Rectangle 7"/>
          <p:cNvSpPr/>
          <p:nvPr/>
        </p:nvSpPr>
        <p:spPr>
          <a:xfrm>
            <a:off x="5943600" y="3383280"/>
            <a:ext cx="297180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sleep 10 — cooldown entre runs</a:t>
            </a:r>
          </a:p>
          <a:p>
            <a:r>
              <a:rPr sz="1000">
                <a:solidFill>
                  <a:srgbClr val="555555"/>
                </a:solidFill>
              </a:rPr>
              <a:t>10 segundos de pausa entre cada
corrida para:
  1. Que el sistema (K8s pods) se
     estabilice después de la carga
  2. Que el HPA de gw-nginx vuelva
     a 1 réplica si escaló
  3. Que métricas de Prometheus se
     actualicen (scrape cada 15s)
  4. Que el GC de Kong limpie
     las conexiones cerradas
Sin cooldown los resultados de
corridas seguidas pueden contaminarse.</a:t>
            </a:r>
          </a:p>
        </p:txBody>
      </p:sp>
      <p:sp>
        <p:nvSpPr>
          <p:cNvPr id="9" name="Rectangle 8"/>
          <p:cNvSpPr/>
          <p:nvPr/>
        </p:nvSpPr>
        <p:spPr>
          <a:xfrm>
            <a:off x="9052560" y="3383280"/>
            <a:ext cx="297180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set -euo pipefail</a:t>
            </a:r>
          </a:p>
          <a:p>
            <a:r>
              <a:rPr sz="1000">
                <a:solidFill>
                  <a:srgbClr val="555555"/>
                </a:solidFill>
              </a:rPr>
              <a:t>set -e  → salir al primer error
set -u  → error si variable no definida
set -o pipefail → error si pipe falla
Combinado con || true:
  Los errores de k6 son tolerados
  (|| true captura el exit code)
  pero los errores de mkdir, cd,
  o variables no definidas SÍ
  detienen el script.
Patrón seguro para scripts de
experimento con múltiples pasos.</a:t>
            </a:r>
          </a:p>
        </p:txBody>
      </p:sp>
      <p:sp>
        <p:nvSpPr>
          <p:cNvPr id="10" name="Rectangle 9"/>
          <p:cNvSpPr/>
          <p:nvPr/>
        </p:nvSpPr>
        <p:spPr>
          <a:xfrm>
            <a:off x="5943600" y="5623560"/>
            <a:ext cx="297180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3 × 3 × 3 — diseño experimental</a:t>
            </a:r>
          </a:p>
          <a:p>
            <a:r>
              <a:rPr sz="1000">
                <a:solidFill>
                  <a:srgbClr val="555555"/>
                </a:solidFill>
              </a:rPr>
              <a:t>3 variantes (tecnologías a comparar):
  baseline → gw-nginx (control)
  kong     → Kong DB-less
  istio    → Istio IngressGateway
3 cargas (stress progresivo):
  VUS=5  → carga baja
  VUS=10 → carga media
  VUS=20 → carga alta
3 repeticiones → media + varianza
  → robustez estadística
  → 27 archivos JSON + 27 LOGs</a:t>
            </a:r>
          </a:p>
        </p:txBody>
      </p:sp>
      <p:sp>
        <p:nvSpPr>
          <p:cNvPr id="11" name="Rectangle 10"/>
          <p:cNvSpPr/>
          <p:nvPr/>
        </p:nvSpPr>
        <p:spPr>
          <a:xfrm>
            <a:off x="9052560" y="5623560"/>
            <a:ext cx="297180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Puertos de cada variante</a:t>
            </a:r>
          </a:p>
          <a:p>
            <a:r>
              <a:rPr sz="1000">
                <a:solidFill>
                  <a:srgbClr val="555555"/>
                </a:solidFill>
              </a:rPr>
              <a:t>baseline: :31213
  → gw-nginx NodePort
  → nginx vanilla con proxy_pass DNS
istio: :31486
  → Istio IngressGateway NodePort
  → VirtualService → api-service
  → mTLS dentro del mesh
kong: :30082
  → Kong DB-less NodePort
  → Route /api → api-service
  → Plugins: rate-limit, prometheus,
    request-transformer (X-Gateway:Kong)</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tests/test-*.js — Scripts k6 y resultados reales del experimento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GET /api con timeout 10s · summaryTrendStats con p90/p95/p99 · datos reales de 27 corridas</a:t>
            </a:r>
          </a:p>
        </p:txBody>
      </p:sp>
      <p:sp>
        <p:nvSpPr>
          <p:cNvPr id="5" name="Rectangle 4"/>
          <p:cNvSpPr/>
          <p:nvPr/>
        </p:nvSpPr>
        <p:spPr>
          <a:xfrm>
            <a:off x="365760" y="1143000"/>
            <a:ext cx="5394960" cy="25146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test-baseline.js — gw-nginx :31213</a:t>
            </a:r>
          </a:p>
          <a:p>
            <a:r>
              <a:rPr sz="1100">
                <a:solidFill>
                  <a:srgbClr val="F9E2AF"/>
                </a:solidFill>
                <a:latin typeface="Courier New"/>
              </a:rPr>
              <a:t>// Entry: http://localhost:31213/api</a:t>
            </a:r>
          </a:p>
          <a:p>
            <a:r>
              <a:rPr sz="1100">
                <a:solidFill>
                  <a:srgbClr val="CBD3F0"/>
                </a:solidFill>
                <a:latin typeface="Courier New"/>
              </a:rPr>
              <a:t>// → proxy_pass: api.mubench-realistic/api/v1</a:t>
            </a:r>
          </a:p>
          <a:p>
            <a:r>
              <a:rPr sz="1100">
                <a:solidFill>
                  <a:srgbClr val="F9E2AF"/>
                </a:solidFill>
                <a:latin typeface="Courier New"/>
              </a:rPr>
              <a:t>export let options = {</a:t>
            </a:r>
          </a:p>
          <a:p>
            <a:r>
              <a:rPr sz="1100">
                <a:solidFill>
                  <a:srgbClr val="CBD3F0"/>
                </a:solidFill>
                <a:latin typeface="Courier New"/>
              </a:rPr>
              <a:t>  vus: parseInt(__ENV.VUS) || 10,</a:t>
            </a:r>
          </a:p>
          <a:p>
            <a:r>
              <a:rPr sz="1100">
                <a:solidFill>
                  <a:srgbClr val="CBD3F0"/>
                </a:solidFill>
                <a:latin typeface="Courier New"/>
              </a:rPr>
              <a:t>  duration: __ENV.DURATION || '60s',</a:t>
            </a:r>
          </a:p>
          <a:p>
            <a:r>
              <a:rPr sz="1100">
                <a:solidFill>
                  <a:srgbClr val="CBD3F0"/>
                </a:solidFill>
                <a:latin typeface="Courier New"/>
              </a:rPr>
              <a:t>  summaryTrendStats: ['min','avg','med',</a:t>
            </a:r>
          </a:p>
          <a:p>
            <a:r>
              <a:rPr sz="1100">
                <a:solidFill>
                  <a:srgbClr val="F9E2AF"/>
                </a:solidFill>
                <a:latin typeface="Courier New"/>
              </a:rPr>
              <a:t>    'p(90)','p(95)','p(99)','max'],</a:t>
            </a:r>
          </a:p>
          <a:p>
            <a:r>
              <a:rPr sz="1100">
                <a:solidFill>
                  <a:srgbClr val="CBD3F0"/>
                </a:solidFill>
                <a:latin typeface="Courier New"/>
              </a:rPr>
              <a:t>};</a:t>
            </a:r>
          </a:p>
          <a:p>
            <a:r>
              <a:rPr sz="1100">
                <a:solidFill>
                  <a:srgbClr val="CBD3F0"/>
                </a:solidFill>
                <a:latin typeface="Courier New"/>
              </a:rPr>
              <a:t>export default function () {</a:t>
            </a:r>
          </a:p>
          <a:p>
            <a:r>
              <a:rPr sz="1100">
                <a:solidFill>
                  <a:srgbClr val="CBD3F0"/>
                </a:solidFill>
                <a:latin typeface="Courier New"/>
              </a:rPr>
              <a:t>  const res = http.get(`${TARGET_URL}/api`,</a:t>
            </a:r>
          </a:p>
          <a:p>
            <a:r>
              <a:rPr sz="1100">
                <a:solidFill>
                  <a:srgbClr val="CBD3F0"/>
                </a:solidFill>
                <a:latin typeface="Courier New"/>
              </a:rPr>
              <a:t>                       { timeout: '10s' });</a:t>
            </a:r>
          </a:p>
          <a:p>
            <a:r>
              <a:rPr sz="1100">
                <a:solidFill>
                  <a:srgbClr val="CBD3F0"/>
                </a:solidFill>
                <a:latin typeface="Courier New"/>
              </a:rPr>
              <a:t>  check(res, { 'status 200': r =&gt; r.status===200 });</a:t>
            </a:r>
          </a:p>
          <a:p>
            <a:r>
              <a:rPr sz="1100">
                <a:solidFill>
                  <a:srgbClr val="CBD3F0"/>
                </a:solidFill>
                <a:latin typeface="Courier New"/>
              </a:rPr>
              <a:t>}</a:t>
            </a:r>
          </a:p>
          <a:p>
            <a:r>
              <a:rPr sz="1100">
                <a:solidFill>
                  <a:srgbClr val="CBD3F0"/>
                </a:solidFill>
                <a:latin typeface="Courier New"/>
              </a:rPr>
              <a:t/>
            </a:r>
          </a:p>
          <a:p>
            <a:r>
              <a:rPr sz="1100">
                <a:solidFill>
                  <a:srgbClr val="F9E2AF"/>
                </a:solidFill>
                <a:latin typeface="Courier New"/>
              </a:rPr>
              <a:t>// test-kong.js — Kong :30082</a:t>
            </a:r>
          </a:p>
          <a:p>
            <a:r>
              <a:rPr sz="1100">
                <a:solidFill>
                  <a:srgbClr val="CBD3F0"/>
                </a:solidFill>
                <a:latin typeface="Courier New"/>
              </a:rPr>
              <a:t>// Plugins: request-transformer (X-Gateway:Kong),</a:t>
            </a:r>
          </a:p>
          <a:p>
            <a:r>
              <a:rPr sz="1100">
                <a:solidFill>
                  <a:srgbClr val="CBD3F0"/>
                </a:solidFill>
                <a:latin typeface="Courier New"/>
              </a:rPr>
              <a:t>//          prometheus, rate-limiting (12000 rpm)</a:t>
            </a:r>
          </a:p>
          <a:p>
            <a:r>
              <a:rPr sz="1100">
                <a:solidFill>
                  <a:srgbClr val="CBD3F0"/>
                </a:solidFill>
                <a:latin typeface="Courier New"/>
              </a:rPr>
              <a:t/>
            </a:r>
          </a:p>
          <a:p>
            <a:r>
              <a:rPr sz="1100">
                <a:solidFill>
                  <a:srgbClr val="F9E2AF"/>
                </a:solidFill>
                <a:latin typeface="Courier New"/>
              </a:rPr>
              <a:t>// test-istio.js — Istio IngressGateway :31486</a:t>
            </a:r>
          </a:p>
          <a:p>
            <a:r>
              <a:rPr sz="1100">
                <a:solidFill>
                  <a:srgbClr val="CBD3F0"/>
                </a:solidFill>
                <a:latin typeface="Courier New"/>
              </a:rPr>
              <a:t>// VirtualService → api.mubench-realistic/api/v1</a:t>
            </a:r>
          </a:p>
          <a:p>
            <a:r>
              <a:rPr sz="1100">
                <a:solidFill>
                  <a:srgbClr val="CBD3F0"/>
                </a:solidFill>
                <a:latin typeface="Courier New"/>
              </a:rPr>
              <a:t>// mTLS dentro del mesh (PeerAuth STRICT)</a:t>
            </a:r>
          </a:p>
        </p:txBody>
      </p:sp>
      <p:sp>
        <p:nvSpPr>
          <p:cNvPr id="6" name="Rectangle 5"/>
          <p:cNvSpPr/>
          <p:nvPr/>
        </p:nvSpPr>
        <p:spPr>
          <a:xfrm>
            <a:off x="365760" y="3794760"/>
            <a:ext cx="118872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Gateway</a:t>
            </a:r>
          </a:p>
        </p:txBody>
      </p:sp>
      <p:sp>
        <p:nvSpPr>
          <p:cNvPr id="7" name="Rectangle 6"/>
          <p:cNvSpPr/>
          <p:nvPr/>
        </p:nvSpPr>
        <p:spPr>
          <a:xfrm>
            <a:off x="1554480" y="3794760"/>
            <a:ext cx="50292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VUS</a:t>
            </a:r>
          </a:p>
        </p:txBody>
      </p:sp>
      <p:sp>
        <p:nvSpPr>
          <p:cNvPr id="8" name="Rectangle 7"/>
          <p:cNvSpPr/>
          <p:nvPr/>
        </p:nvSpPr>
        <p:spPr>
          <a:xfrm>
            <a:off x="2057400" y="3794760"/>
            <a:ext cx="100584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avg (ms)</a:t>
            </a:r>
          </a:p>
        </p:txBody>
      </p:sp>
      <p:sp>
        <p:nvSpPr>
          <p:cNvPr id="9" name="Rectangle 8"/>
          <p:cNvSpPr/>
          <p:nvPr/>
        </p:nvSpPr>
        <p:spPr>
          <a:xfrm>
            <a:off x="3063240" y="3794760"/>
            <a:ext cx="100584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med (ms)</a:t>
            </a:r>
          </a:p>
        </p:txBody>
      </p:sp>
      <p:sp>
        <p:nvSpPr>
          <p:cNvPr id="10" name="Rectangle 9"/>
          <p:cNvSpPr/>
          <p:nvPr/>
        </p:nvSpPr>
        <p:spPr>
          <a:xfrm>
            <a:off x="4069080" y="3794760"/>
            <a:ext cx="100584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p(95) ms</a:t>
            </a:r>
          </a:p>
        </p:txBody>
      </p:sp>
      <p:sp>
        <p:nvSpPr>
          <p:cNvPr id="11" name="Rectangle 10"/>
          <p:cNvSpPr/>
          <p:nvPr/>
        </p:nvSpPr>
        <p:spPr>
          <a:xfrm>
            <a:off x="5074920" y="3794760"/>
            <a:ext cx="100584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RPS (aprox)</a:t>
            </a:r>
          </a:p>
        </p:txBody>
      </p:sp>
      <p:sp>
        <p:nvSpPr>
          <p:cNvPr id="12" name="Rectangle 11"/>
          <p:cNvSpPr/>
          <p:nvPr/>
        </p:nvSpPr>
        <p:spPr>
          <a:xfrm>
            <a:off x="365760" y="4123944"/>
            <a:ext cx="118872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baseline</a:t>
            </a:r>
          </a:p>
        </p:txBody>
      </p:sp>
      <p:sp>
        <p:nvSpPr>
          <p:cNvPr id="13" name="Rectangle 12"/>
          <p:cNvSpPr/>
          <p:nvPr/>
        </p:nvSpPr>
        <p:spPr>
          <a:xfrm>
            <a:off x="1554480" y="4123944"/>
            <a:ext cx="50292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5</a:t>
            </a:r>
          </a:p>
        </p:txBody>
      </p:sp>
      <p:sp>
        <p:nvSpPr>
          <p:cNvPr id="14" name="Rectangle 13"/>
          <p:cNvSpPr/>
          <p:nvPr/>
        </p:nvSpPr>
        <p:spPr>
          <a:xfrm>
            <a:off x="2057400" y="4123944"/>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100.4</a:t>
            </a:r>
          </a:p>
        </p:txBody>
      </p:sp>
      <p:sp>
        <p:nvSpPr>
          <p:cNvPr id="15" name="Rectangle 14"/>
          <p:cNvSpPr/>
          <p:nvPr/>
        </p:nvSpPr>
        <p:spPr>
          <a:xfrm>
            <a:off x="3063240" y="4123944"/>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78.8</a:t>
            </a:r>
          </a:p>
        </p:txBody>
      </p:sp>
      <p:sp>
        <p:nvSpPr>
          <p:cNvPr id="16" name="Rectangle 15"/>
          <p:cNvSpPr/>
          <p:nvPr/>
        </p:nvSpPr>
        <p:spPr>
          <a:xfrm>
            <a:off x="4069080" y="4123944"/>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211.1</a:t>
            </a:r>
          </a:p>
        </p:txBody>
      </p:sp>
      <p:sp>
        <p:nvSpPr>
          <p:cNvPr id="17" name="Rectangle 16"/>
          <p:cNvSpPr/>
          <p:nvPr/>
        </p:nvSpPr>
        <p:spPr>
          <a:xfrm>
            <a:off x="5074920" y="4123944"/>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49.6</a:t>
            </a:r>
          </a:p>
        </p:txBody>
      </p:sp>
      <p:sp>
        <p:nvSpPr>
          <p:cNvPr id="18" name="Rectangle 17"/>
          <p:cNvSpPr/>
          <p:nvPr/>
        </p:nvSpPr>
        <p:spPr>
          <a:xfrm>
            <a:off x="365760" y="4471416"/>
            <a:ext cx="1188720" cy="347472"/>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kong</a:t>
            </a:r>
          </a:p>
        </p:txBody>
      </p:sp>
      <p:sp>
        <p:nvSpPr>
          <p:cNvPr id="19" name="Rectangle 18"/>
          <p:cNvSpPr/>
          <p:nvPr/>
        </p:nvSpPr>
        <p:spPr>
          <a:xfrm>
            <a:off x="1554480" y="4471416"/>
            <a:ext cx="50292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5</a:t>
            </a:r>
          </a:p>
        </p:txBody>
      </p:sp>
      <p:sp>
        <p:nvSpPr>
          <p:cNvPr id="20" name="Rectangle 19"/>
          <p:cNvSpPr/>
          <p:nvPr/>
        </p:nvSpPr>
        <p:spPr>
          <a:xfrm>
            <a:off x="2057400" y="4471416"/>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81.6</a:t>
            </a:r>
          </a:p>
        </p:txBody>
      </p:sp>
      <p:sp>
        <p:nvSpPr>
          <p:cNvPr id="21" name="Rectangle 20"/>
          <p:cNvSpPr/>
          <p:nvPr/>
        </p:nvSpPr>
        <p:spPr>
          <a:xfrm>
            <a:off x="3063240" y="4471416"/>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55.4</a:t>
            </a:r>
          </a:p>
        </p:txBody>
      </p:sp>
      <p:sp>
        <p:nvSpPr>
          <p:cNvPr id="22" name="Rectangle 21"/>
          <p:cNvSpPr/>
          <p:nvPr/>
        </p:nvSpPr>
        <p:spPr>
          <a:xfrm>
            <a:off x="4069080" y="4471416"/>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197.4</a:t>
            </a:r>
          </a:p>
        </p:txBody>
      </p:sp>
      <p:sp>
        <p:nvSpPr>
          <p:cNvPr id="23" name="Rectangle 22"/>
          <p:cNvSpPr/>
          <p:nvPr/>
        </p:nvSpPr>
        <p:spPr>
          <a:xfrm>
            <a:off x="5074920" y="4471416"/>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61.0</a:t>
            </a:r>
          </a:p>
        </p:txBody>
      </p:sp>
      <p:sp>
        <p:nvSpPr>
          <p:cNvPr id="24" name="Rectangle 23"/>
          <p:cNvSpPr/>
          <p:nvPr/>
        </p:nvSpPr>
        <p:spPr>
          <a:xfrm>
            <a:off x="365760" y="4818888"/>
            <a:ext cx="1188720" cy="347472"/>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istio</a:t>
            </a:r>
          </a:p>
        </p:txBody>
      </p:sp>
      <p:sp>
        <p:nvSpPr>
          <p:cNvPr id="25" name="Rectangle 24"/>
          <p:cNvSpPr/>
          <p:nvPr/>
        </p:nvSpPr>
        <p:spPr>
          <a:xfrm>
            <a:off x="1554480" y="4818888"/>
            <a:ext cx="50292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5</a:t>
            </a:r>
          </a:p>
        </p:txBody>
      </p:sp>
      <p:sp>
        <p:nvSpPr>
          <p:cNvPr id="26" name="Rectangle 25"/>
          <p:cNvSpPr/>
          <p:nvPr/>
        </p:nvSpPr>
        <p:spPr>
          <a:xfrm>
            <a:off x="2057400" y="4818888"/>
            <a:ext cx="10058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75.9</a:t>
            </a:r>
          </a:p>
        </p:txBody>
      </p:sp>
      <p:sp>
        <p:nvSpPr>
          <p:cNvPr id="27" name="Rectangle 26"/>
          <p:cNvSpPr/>
          <p:nvPr/>
        </p:nvSpPr>
        <p:spPr>
          <a:xfrm>
            <a:off x="3063240" y="4818888"/>
            <a:ext cx="10058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58.5</a:t>
            </a:r>
          </a:p>
        </p:txBody>
      </p:sp>
      <p:sp>
        <p:nvSpPr>
          <p:cNvPr id="28" name="Rectangle 27"/>
          <p:cNvSpPr/>
          <p:nvPr/>
        </p:nvSpPr>
        <p:spPr>
          <a:xfrm>
            <a:off x="4069080" y="4818888"/>
            <a:ext cx="10058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156.4</a:t>
            </a:r>
          </a:p>
        </p:txBody>
      </p:sp>
      <p:sp>
        <p:nvSpPr>
          <p:cNvPr id="29" name="Rectangle 28"/>
          <p:cNvSpPr/>
          <p:nvPr/>
        </p:nvSpPr>
        <p:spPr>
          <a:xfrm>
            <a:off x="5074920" y="4818888"/>
            <a:ext cx="10058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65.5</a:t>
            </a:r>
          </a:p>
        </p:txBody>
      </p:sp>
      <p:sp>
        <p:nvSpPr>
          <p:cNvPr id="30" name="Rectangle 29"/>
          <p:cNvSpPr/>
          <p:nvPr/>
        </p:nvSpPr>
        <p:spPr>
          <a:xfrm>
            <a:off x="365760" y="5166360"/>
            <a:ext cx="118872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baseline</a:t>
            </a:r>
          </a:p>
        </p:txBody>
      </p:sp>
      <p:sp>
        <p:nvSpPr>
          <p:cNvPr id="31" name="Rectangle 30"/>
          <p:cNvSpPr/>
          <p:nvPr/>
        </p:nvSpPr>
        <p:spPr>
          <a:xfrm>
            <a:off x="1554480" y="5166360"/>
            <a:ext cx="50292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10</a:t>
            </a:r>
          </a:p>
        </p:txBody>
      </p:sp>
      <p:sp>
        <p:nvSpPr>
          <p:cNvPr id="32" name="Rectangle 31"/>
          <p:cNvSpPr/>
          <p:nvPr/>
        </p:nvSpPr>
        <p:spPr>
          <a:xfrm>
            <a:off x="2057400" y="5166360"/>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119.6</a:t>
            </a:r>
          </a:p>
        </p:txBody>
      </p:sp>
      <p:sp>
        <p:nvSpPr>
          <p:cNvPr id="33" name="Rectangle 32"/>
          <p:cNvSpPr/>
          <p:nvPr/>
        </p:nvSpPr>
        <p:spPr>
          <a:xfrm>
            <a:off x="3063240" y="5166360"/>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65.2</a:t>
            </a:r>
          </a:p>
        </p:txBody>
      </p:sp>
      <p:sp>
        <p:nvSpPr>
          <p:cNvPr id="34" name="Rectangle 33"/>
          <p:cNvSpPr/>
          <p:nvPr/>
        </p:nvSpPr>
        <p:spPr>
          <a:xfrm>
            <a:off x="4069080" y="5166360"/>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326.3</a:t>
            </a:r>
          </a:p>
        </p:txBody>
      </p:sp>
      <p:sp>
        <p:nvSpPr>
          <p:cNvPr id="35" name="Rectangle 34"/>
          <p:cNvSpPr/>
          <p:nvPr/>
        </p:nvSpPr>
        <p:spPr>
          <a:xfrm>
            <a:off x="5074920" y="5166360"/>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~83</a:t>
            </a:r>
          </a:p>
        </p:txBody>
      </p:sp>
      <p:sp>
        <p:nvSpPr>
          <p:cNvPr id="36" name="Rectangle 35"/>
          <p:cNvSpPr/>
          <p:nvPr/>
        </p:nvSpPr>
        <p:spPr>
          <a:xfrm>
            <a:off x="365760" y="5513832"/>
            <a:ext cx="1188720" cy="347472"/>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kong</a:t>
            </a:r>
          </a:p>
        </p:txBody>
      </p:sp>
      <p:sp>
        <p:nvSpPr>
          <p:cNvPr id="37" name="Rectangle 36"/>
          <p:cNvSpPr/>
          <p:nvPr/>
        </p:nvSpPr>
        <p:spPr>
          <a:xfrm>
            <a:off x="1554480" y="5513832"/>
            <a:ext cx="50292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10</a:t>
            </a:r>
          </a:p>
        </p:txBody>
      </p:sp>
      <p:sp>
        <p:nvSpPr>
          <p:cNvPr id="38" name="Rectangle 37"/>
          <p:cNvSpPr/>
          <p:nvPr/>
        </p:nvSpPr>
        <p:spPr>
          <a:xfrm>
            <a:off x="2057400" y="5513832"/>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108.2</a:t>
            </a:r>
          </a:p>
        </p:txBody>
      </p:sp>
      <p:sp>
        <p:nvSpPr>
          <p:cNvPr id="39" name="Rectangle 38"/>
          <p:cNvSpPr/>
          <p:nvPr/>
        </p:nvSpPr>
        <p:spPr>
          <a:xfrm>
            <a:off x="3063240" y="5513832"/>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70.9</a:t>
            </a:r>
          </a:p>
        </p:txBody>
      </p:sp>
      <p:sp>
        <p:nvSpPr>
          <p:cNvPr id="40" name="Rectangle 39"/>
          <p:cNvSpPr/>
          <p:nvPr/>
        </p:nvSpPr>
        <p:spPr>
          <a:xfrm>
            <a:off x="4069080" y="5513832"/>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295.7</a:t>
            </a:r>
          </a:p>
        </p:txBody>
      </p:sp>
      <p:sp>
        <p:nvSpPr>
          <p:cNvPr id="41" name="Rectangle 40"/>
          <p:cNvSpPr/>
          <p:nvPr/>
        </p:nvSpPr>
        <p:spPr>
          <a:xfrm>
            <a:off x="5074920" y="5513832"/>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~92</a:t>
            </a:r>
          </a:p>
        </p:txBody>
      </p:sp>
      <p:sp>
        <p:nvSpPr>
          <p:cNvPr id="42" name="Rectangle 41"/>
          <p:cNvSpPr/>
          <p:nvPr/>
        </p:nvSpPr>
        <p:spPr>
          <a:xfrm>
            <a:off x="365760" y="5861304"/>
            <a:ext cx="1188720" cy="347472"/>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istio</a:t>
            </a:r>
          </a:p>
        </p:txBody>
      </p:sp>
      <p:sp>
        <p:nvSpPr>
          <p:cNvPr id="43" name="Rectangle 42"/>
          <p:cNvSpPr/>
          <p:nvPr/>
        </p:nvSpPr>
        <p:spPr>
          <a:xfrm>
            <a:off x="1554480" y="5861304"/>
            <a:ext cx="50292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10</a:t>
            </a:r>
          </a:p>
        </p:txBody>
      </p:sp>
      <p:sp>
        <p:nvSpPr>
          <p:cNvPr id="44" name="Rectangle 43"/>
          <p:cNvSpPr/>
          <p:nvPr/>
        </p:nvSpPr>
        <p:spPr>
          <a:xfrm>
            <a:off x="2057400" y="5861304"/>
            <a:ext cx="10058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105.5</a:t>
            </a:r>
          </a:p>
        </p:txBody>
      </p:sp>
      <p:sp>
        <p:nvSpPr>
          <p:cNvPr id="45" name="Rectangle 44"/>
          <p:cNvSpPr/>
          <p:nvPr/>
        </p:nvSpPr>
        <p:spPr>
          <a:xfrm>
            <a:off x="3063240" y="5861304"/>
            <a:ext cx="10058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55.9</a:t>
            </a:r>
          </a:p>
        </p:txBody>
      </p:sp>
      <p:sp>
        <p:nvSpPr>
          <p:cNvPr id="46" name="Rectangle 45"/>
          <p:cNvSpPr/>
          <p:nvPr/>
        </p:nvSpPr>
        <p:spPr>
          <a:xfrm>
            <a:off x="4069080" y="5861304"/>
            <a:ext cx="10058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295.8</a:t>
            </a:r>
          </a:p>
        </p:txBody>
      </p:sp>
      <p:sp>
        <p:nvSpPr>
          <p:cNvPr id="47" name="Rectangle 46"/>
          <p:cNvSpPr/>
          <p:nvPr/>
        </p:nvSpPr>
        <p:spPr>
          <a:xfrm>
            <a:off x="5074920" y="5861304"/>
            <a:ext cx="10058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~94</a:t>
            </a:r>
          </a:p>
        </p:txBody>
      </p:sp>
      <p:sp>
        <p:nvSpPr>
          <p:cNvPr id="48" name="Rectangle 47"/>
          <p:cNvSpPr/>
          <p:nvPr/>
        </p:nvSpPr>
        <p:spPr>
          <a:xfrm>
            <a:off x="365760" y="6208776"/>
            <a:ext cx="118872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baseline</a:t>
            </a:r>
          </a:p>
        </p:txBody>
      </p:sp>
      <p:sp>
        <p:nvSpPr>
          <p:cNvPr id="49" name="Rectangle 48"/>
          <p:cNvSpPr/>
          <p:nvPr/>
        </p:nvSpPr>
        <p:spPr>
          <a:xfrm>
            <a:off x="1554480" y="6208776"/>
            <a:ext cx="50292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20</a:t>
            </a:r>
          </a:p>
        </p:txBody>
      </p:sp>
      <p:sp>
        <p:nvSpPr>
          <p:cNvPr id="50" name="Rectangle 49"/>
          <p:cNvSpPr/>
          <p:nvPr/>
        </p:nvSpPr>
        <p:spPr>
          <a:xfrm>
            <a:off x="2057400" y="6208776"/>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207.9</a:t>
            </a:r>
          </a:p>
        </p:txBody>
      </p:sp>
      <p:sp>
        <p:nvSpPr>
          <p:cNvPr id="51" name="Rectangle 50"/>
          <p:cNvSpPr/>
          <p:nvPr/>
        </p:nvSpPr>
        <p:spPr>
          <a:xfrm>
            <a:off x="3063240" y="6208776"/>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100.0</a:t>
            </a:r>
          </a:p>
        </p:txBody>
      </p:sp>
      <p:sp>
        <p:nvSpPr>
          <p:cNvPr id="52" name="Rectangle 51"/>
          <p:cNvSpPr/>
          <p:nvPr/>
        </p:nvSpPr>
        <p:spPr>
          <a:xfrm>
            <a:off x="4069080" y="6208776"/>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693.4</a:t>
            </a:r>
          </a:p>
        </p:txBody>
      </p:sp>
      <p:sp>
        <p:nvSpPr>
          <p:cNvPr id="53" name="Rectangle 52"/>
          <p:cNvSpPr/>
          <p:nvPr/>
        </p:nvSpPr>
        <p:spPr>
          <a:xfrm>
            <a:off x="5074920" y="6208776"/>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~96</a:t>
            </a:r>
          </a:p>
        </p:txBody>
      </p:sp>
      <p:sp>
        <p:nvSpPr>
          <p:cNvPr id="54" name="Rectangle 53"/>
          <p:cNvSpPr/>
          <p:nvPr/>
        </p:nvSpPr>
        <p:spPr>
          <a:xfrm>
            <a:off x="365760" y="6556248"/>
            <a:ext cx="1188720" cy="347472"/>
          </a:xfrm>
          <a:prstGeom prst="rect">
            <a:avLst/>
          </a:prstGeom>
          <a:solidFill>
            <a:srgbClr val="D369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kong</a:t>
            </a:r>
          </a:p>
        </p:txBody>
      </p:sp>
      <p:sp>
        <p:nvSpPr>
          <p:cNvPr id="55" name="Rectangle 54"/>
          <p:cNvSpPr/>
          <p:nvPr/>
        </p:nvSpPr>
        <p:spPr>
          <a:xfrm>
            <a:off x="1554480" y="6556248"/>
            <a:ext cx="50292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20</a:t>
            </a:r>
          </a:p>
        </p:txBody>
      </p:sp>
      <p:sp>
        <p:nvSpPr>
          <p:cNvPr id="56" name="Rectangle 55"/>
          <p:cNvSpPr/>
          <p:nvPr/>
        </p:nvSpPr>
        <p:spPr>
          <a:xfrm>
            <a:off x="2057400" y="6556248"/>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210.1</a:t>
            </a:r>
          </a:p>
        </p:txBody>
      </p:sp>
      <p:sp>
        <p:nvSpPr>
          <p:cNvPr id="57" name="Rectangle 56"/>
          <p:cNvSpPr/>
          <p:nvPr/>
        </p:nvSpPr>
        <p:spPr>
          <a:xfrm>
            <a:off x="3063240" y="6556248"/>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113.6</a:t>
            </a:r>
          </a:p>
        </p:txBody>
      </p:sp>
      <p:sp>
        <p:nvSpPr>
          <p:cNvPr id="58" name="Rectangle 57"/>
          <p:cNvSpPr/>
          <p:nvPr/>
        </p:nvSpPr>
        <p:spPr>
          <a:xfrm>
            <a:off x="4069080" y="6556248"/>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670.9</a:t>
            </a:r>
          </a:p>
        </p:txBody>
      </p:sp>
      <p:sp>
        <p:nvSpPr>
          <p:cNvPr id="59" name="Rectangle 58"/>
          <p:cNvSpPr/>
          <p:nvPr/>
        </p:nvSpPr>
        <p:spPr>
          <a:xfrm>
            <a:off x="5074920" y="6556248"/>
            <a:ext cx="10058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~95</a:t>
            </a:r>
          </a:p>
        </p:txBody>
      </p:sp>
      <p:sp>
        <p:nvSpPr>
          <p:cNvPr id="60" name="Rectangle 59"/>
          <p:cNvSpPr/>
          <p:nvPr/>
        </p:nvSpPr>
        <p:spPr>
          <a:xfrm>
            <a:off x="365760" y="6903720"/>
            <a:ext cx="1188720" cy="347472"/>
          </a:xfrm>
          <a:prstGeom prst="rect">
            <a:avLst/>
          </a:prstGeom>
          <a:solidFill>
            <a:srgbClr val="684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istio</a:t>
            </a:r>
          </a:p>
        </p:txBody>
      </p:sp>
      <p:sp>
        <p:nvSpPr>
          <p:cNvPr id="61" name="Rectangle 60"/>
          <p:cNvSpPr/>
          <p:nvPr/>
        </p:nvSpPr>
        <p:spPr>
          <a:xfrm>
            <a:off x="1554480" y="6903720"/>
            <a:ext cx="50292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20</a:t>
            </a:r>
          </a:p>
        </p:txBody>
      </p:sp>
      <p:sp>
        <p:nvSpPr>
          <p:cNvPr id="62" name="Rectangle 61"/>
          <p:cNvSpPr/>
          <p:nvPr/>
        </p:nvSpPr>
        <p:spPr>
          <a:xfrm>
            <a:off x="2057400" y="6903720"/>
            <a:ext cx="10058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203.9</a:t>
            </a:r>
          </a:p>
        </p:txBody>
      </p:sp>
      <p:sp>
        <p:nvSpPr>
          <p:cNvPr id="63" name="Rectangle 62"/>
          <p:cNvSpPr/>
          <p:nvPr/>
        </p:nvSpPr>
        <p:spPr>
          <a:xfrm>
            <a:off x="3063240" y="6903720"/>
            <a:ext cx="10058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99.9</a:t>
            </a:r>
          </a:p>
        </p:txBody>
      </p:sp>
      <p:sp>
        <p:nvSpPr>
          <p:cNvPr id="64" name="Rectangle 63"/>
          <p:cNvSpPr/>
          <p:nvPr/>
        </p:nvSpPr>
        <p:spPr>
          <a:xfrm>
            <a:off x="4069080" y="6903720"/>
            <a:ext cx="10058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662.6</a:t>
            </a:r>
          </a:p>
        </p:txBody>
      </p:sp>
      <p:sp>
        <p:nvSpPr>
          <p:cNvPr id="65" name="Rectangle 64"/>
          <p:cNvSpPr/>
          <p:nvPr/>
        </p:nvSpPr>
        <p:spPr>
          <a:xfrm>
            <a:off x="5074920" y="6903720"/>
            <a:ext cx="10058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~98</a:t>
            </a:r>
          </a:p>
        </p:txBody>
      </p:sp>
      <p:sp>
        <p:nvSpPr>
          <p:cNvPr id="66" name="Rectangle 65"/>
          <p:cNvSpPr/>
          <p:nvPr/>
        </p:nvSpPr>
        <p:spPr>
          <a:xfrm>
            <a:off x="5943600" y="1143000"/>
            <a:ext cx="2971800" cy="21945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summaryTrendStats — P90 y P99</a:t>
            </a:r>
          </a:p>
          <a:p>
            <a:r>
              <a:rPr sz="1000">
                <a:solidFill>
                  <a:srgbClr val="555555"/>
                </a:solidFill>
              </a:rPr>
              <a:t>Por defecto k6 reporta solo avg, med,
p(90) y p(95) en el resumen.
summaryTrendStats agrega P99 y max:
  ['min','avg','med','p(90)',
   'p(95)','p(99)','max']
P99 es importante para detectar
outliers y tail latency:
  baseline VUS=5: P99=283ms
  kong VUS=5:     P99=206ms
  istio VUS=5:    P99=197ms</a:t>
            </a:r>
          </a:p>
        </p:txBody>
      </p:sp>
      <p:sp>
        <p:nvSpPr>
          <p:cNvPr id="67" name="Rectangle 66"/>
          <p:cNvSpPr/>
          <p:nvPr/>
        </p:nvSpPr>
        <p:spPr>
          <a:xfrm>
            <a:off x="9052560" y="1143000"/>
            <a:ext cx="2971800" cy="21945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Análisis: baseline más lento que gateways</a:t>
            </a:r>
          </a:p>
          <a:p>
            <a:r>
              <a:rPr sz="1000">
                <a:solidFill>
                  <a:srgbClr val="555555"/>
                </a:solidFill>
              </a:rPr>
              <a:t>Resultado contraintuitivo:
baseline &gt; kong &gt; istio en latencia
(baseline es el MÁS lento a VUS=5).
Explicación probable:
  gw-nginx usa DNS dinámico con
  resolver lookup en cada request.
  Kong y Istio tienen el upstream
  resuelto y cacheado internamente.
A VUS=20 los tres convergen (~200ms)
→ el bottleneck pasa a ser los
  microservicios, no el gateway.</a:t>
            </a:r>
          </a:p>
        </p:txBody>
      </p:sp>
      <p:sp>
        <p:nvSpPr>
          <p:cNvPr id="68" name="Rectangle 67"/>
          <p:cNvSpPr/>
          <p:nvPr/>
        </p:nvSpPr>
        <p:spPr>
          <a:xfrm>
            <a:off x="5943600" y="3474720"/>
            <a:ext cx="2971800" cy="21945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timeout: '10s'</a:t>
            </a:r>
          </a:p>
          <a:p>
            <a:r>
              <a:rPr sz="1000">
                <a:solidFill>
                  <a:srgbClr val="555555"/>
                </a:solidFill>
              </a:rPr>
              <a:t>Los 3 scripts usan timeout: '10s'.
Sin timeout k6 espera indefinidamente
por una respuesta (puede colgar el
test si un pod se cae).
Con timeout: 10s el request falla
con error 'request timeout' y:
  check 'status 200' → false
  http_req_failed → 1
Permite detectar pods lentos sin
bloquear el experimento.</a:t>
            </a:r>
          </a:p>
        </p:txBody>
      </p:sp>
      <p:sp>
        <p:nvSpPr>
          <p:cNvPr id="69" name="Rectangle 68"/>
          <p:cNvSpPr/>
          <p:nvPr/>
        </p:nvSpPr>
        <p:spPr>
          <a:xfrm>
            <a:off x="9052560" y="3474720"/>
            <a:ext cx="2971800" cy="21945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Todos los checks al 100%</a:t>
            </a:r>
          </a:p>
          <a:p>
            <a:r>
              <a:rPr sz="1000">
                <a:solidFill>
                  <a:srgbClr val="555555"/>
                </a:solidFill>
              </a:rPr>
              <a:t>Las 27 corridas tienen:
  checks_succeeded: 100.00%
  http_req_failed:  0.00%
Esto indica que el stack está
estable en VUS=5/10/20:
  - Ningún pod se cayó
  - Ningún timeout de 10s
  - Ningún error 4xx/5xx
El HPA de gw-nginx probablemente
no llegó a escalar (carga baja).</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Experiments / 02-mtls-service-mesh</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Control 2: overhead de mTLS — baseline vs Istio STRICT vs Linkerd · run-control2-safe.sh · analyze-mtls-results.py</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02-mtls-service-mesh — Estructura y orquestador</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run-control2-safe.sh despacha baseline / istio / linkerd; run-control2-autopilot-safe.sh orquesta los tres con lock file</a:t>
            </a:r>
          </a:p>
        </p:txBody>
      </p:sp>
      <p:sp>
        <p:nvSpPr>
          <p:cNvPr id="5" name="Rectangle 4"/>
          <p:cNvSpPr/>
          <p:nvPr/>
        </p:nvSpPr>
        <p:spPr>
          <a:xfrm>
            <a:off x="365760" y="1143000"/>
            <a:ext cx="5394960" cy="32918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run-control2-safe.sh — dispatcher por escenario</a:t>
            </a:r>
          </a:p>
          <a:p>
            <a:r>
              <a:rPr sz="1100">
                <a:solidFill>
                  <a:srgbClr val="F9E2AF"/>
                </a:solidFill>
                <a:latin typeface="Courier New"/>
              </a:rPr>
              <a:t>case '$TARGET' in</a:t>
            </a:r>
          </a:p>
          <a:p>
            <a:r>
              <a:rPr sz="1100">
                <a:solidFill>
                  <a:srgbClr val="CBD3F0"/>
                </a:solidFill>
                <a:latin typeface="Courier New"/>
              </a:rPr>
              <a:t>  baseline)</a:t>
            </a:r>
          </a:p>
          <a:p>
            <a:r>
              <a:rPr sz="1100">
                <a:solidFill>
                  <a:srgbClr val="CBD3F0"/>
                </a:solidFill>
                <a:latin typeface="Courier New"/>
              </a:rPr>
              <a:t>    bash baseline/run-baseline-safe.sh</a:t>
            </a:r>
          </a:p>
          <a:p>
            <a:r>
              <a:rPr sz="1100">
                <a:solidFill>
                  <a:srgbClr val="CBD3F0"/>
                </a:solidFill>
                <a:latin typeface="Courier New"/>
              </a:rPr>
              <a:t>    ;;</a:t>
            </a:r>
          </a:p>
          <a:p>
            <a:r>
              <a:rPr sz="1100">
                <a:solidFill>
                  <a:srgbClr val="CBD3F0"/>
                </a:solidFill>
                <a:latin typeface="Courier New"/>
              </a:rPr>
              <a:t>  istio)</a:t>
            </a:r>
          </a:p>
          <a:p>
            <a:r>
              <a:rPr sz="1100">
                <a:solidFill>
                  <a:srgbClr val="F9E2AF"/>
                </a:solidFill>
                <a:latin typeface="Courier New"/>
              </a:rPr>
              <a:t>    bash istio/install-istio-safe.sh</a:t>
            </a:r>
          </a:p>
          <a:p>
            <a:r>
              <a:rPr sz="1100">
                <a:solidFill>
                  <a:srgbClr val="F9E2AF"/>
                </a:solidFill>
                <a:latin typeface="Courier New"/>
              </a:rPr>
              <a:t>    bash istio/enable-mtls-strict.sh</a:t>
            </a:r>
          </a:p>
          <a:p>
            <a:r>
              <a:rPr sz="1100">
                <a:solidFill>
                  <a:srgbClr val="F9E2AF"/>
                </a:solidFill>
                <a:latin typeface="Courier New"/>
              </a:rPr>
              <a:t>    bash istio/run-istio-tests-safe.sh</a:t>
            </a:r>
          </a:p>
          <a:p>
            <a:r>
              <a:rPr sz="1100">
                <a:solidFill>
                  <a:srgbClr val="CBD3F0"/>
                </a:solidFill>
                <a:latin typeface="Courier New"/>
              </a:rPr>
              <a:t>    ;;</a:t>
            </a:r>
          </a:p>
          <a:p>
            <a:r>
              <a:rPr sz="1100">
                <a:solidFill>
                  <a:srgbClr val="CBD3F0"/>
                </a:solidFill>
                <a:latin typeface="Courier New"/>
              </a:rPr>
              <a:t>  linkerd)</a:t>
            </a:r>
          </a:p>
          <a:p>
            <a:r>
              <a:rPr sz="1100">
                <a:solidFill>
                  <a:srgbClr val="F9E2AF"/>
                </a:solidFill>
                <a:latin typeface="Courier New"/>
              </a:rPr>
              <a:t>    bash linkerd/install-linkerd-safe.sh</a:t>
            </a:r>
          </a:p>
          <a:p>
            <a:r>
              <a:rPr sz="1100">
                <a:solidFill>
                  <a:srgbClr val="CBD3F0"/>
                </a:solidFill>
                <a:latin typeface="Courier New"/>
              </a:rPr>
              <a:t>    bash linkerd/run-linkerd-tests-safe.sh</a:t>
            </a:r>
          </a:p>
          <a:p>
            <a:r>
              <a:rPr sz="1100">
                <a:solidFill>
                  <a:srgbClr val="CBD3F0"/>
                </a:solidFill>
                <a:latin typeface="Courier New"/>
              </a:rPr>
              <a:t>    ;;</a:t>
            </a:r>
          </a:p>
          <a:p>
            <a:r>
              <a:rPr sz="1100">
                <a:solidFill>
                  <a:srgbClr val="CBD3F0"/>
                </a:solidFill>
                <a:latin typeface="Courier New"/>
              </a:rPr>
              <a:t>esac</a:t>
            </a:r>
          </a:p>
          <a:p>
            <a:r>
              <a:rPr sz="1100">
                <a:solidFill>
                  <a:srgbClr val="CBD3F0"/>
                </a:solidFill>
                <a:latin typeface="Courier New"/>
              </a:rPr>
              <a:t/>
            </a:r>
          </a:p>
          <a:p>
            <a:r>
              <a:rPr sz="1100">
                <a:solidFill>
                  <a:srgbClr val="CBD3F0"/>
                </a:solidFill>
                <a:latin typeface="Courier New"/>
              </a:rPr>
              <a:t># Uso:</a:t>
            </a:r>
          </a:p>
          <a:p>
            <a:r>
              <a:rPr sz="1100">
                <a:solidFill>
                  <a:srgbClr val="CBD3F0"/>
                </a:solidFill>
                <a:latin typeface="Courier New"/>
              </a:rPr>
              <a:t># bash run-control2-safe.sh --scenario baseline</a:t>
            </a:r>
          </a:p>
          <a:p>
            <a:r>
              <a:rPr sz="1100">
                <a:solidFill>
                  <a:srgbClr val="CBD3F0"/>
                </a:solidFill>
                <a:latin typeface="Courier New"/>
              </a:rPr>
              <a:t># bash run-control2-safe.sh --scenario istio</a:t>
            </a:r>
          </a:p>
          <a:p>
            <a:r>
              <a:rPr sz="1100">
                <a:solidFill>
                  <a:srgbClr val="CBD3F0"/>
                </a:solidFill>
                <a:latin typeface="Courier New"/>
              </a:rPr>
              <a:t># bash run-control2-safe.sh --scenario linkerd</a:t>
            </a:r>
          </a:p>
        </p:txBody>
      </p:sp>
      <p:sp>
        <p:nvSpPr>
          <p:cNvPr id="6" name="Rectangle 5"/>
          <p:cNvSpPr/>
          <p:nvPr/>
        </p:nvSpPr>
        <p:spPr>
          <a:xfrm>
            <a:off x="365760" y="4572000"/>
            <a:ext cx="5394960" cy="21488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run-control2-autopilot-safe.sh — orquesta los tres</a:t>
            </a:r>
          </a:p>
          <a:p>
            <a:r>
              <a:rPr sz="1100">
                <a:solidFill>
                  <a:srgbClr val="F9E2AF"/>
                </a:solidFill>
                <a:latin typeface="Courier New"/>
              </a:rPr>
              <a:t>exec &gt;&gt; '$MASTER_LOG' 2&gt;&amp;1   # todo al log</a:t>
            </a:r>
          </a:p>
          <a:p>
            <a:r>
              <a:rPr sz="1100">
                <a:solidFill>
                  <a:srgbClr val="CBD3F0"/>
                </a:solidFill>
                <a:latin typeface="Courier New"/>
              </a:rPr>
              <a:t/>
            </a:r>
          </a:p>
          <a:p>
            <a:r>
              <a:rPr sz="1100">
                <a:solidFill>
                  <a:srgbClr val="CBD3F0"/>
                </a:solidFill>
                <a:latin typeface="Courier New"/>
              </a:rPr>
              <a:t># LOCK FILE — evita ejecuciones duplicadas</a:t>
            </a:r>
          </a:p>
          <a:p>
            <a:r>
              <a:rPr sz="1100">
                <a:solidFill>
                  <a:srgbClr val="F9E2AF"/>
                </a:solidFill>
                <a:latin typeface="Courier New"/>
              </a:rPr>
              <a:t>if [[ -f '$LOCK_FILE' ]]; then exit 1; fi</a:t>
            </a:r>
          </a:p>
          <a:p>
            <a:r>
              <a:rPr sz="1100">
                <a:solidFill>
                  <a:srgbClr val="F9E2AF"/>
                </a:solidFill>
                <a:latin typeface="Courier New"/>
              </a:rPr>
              <a:t>trap 'rm -f $LOCK_FILE' EXIT</a:t>
            </a:r>
          </a:p>
          <a:p>
            <a:r>
              <a:rPr sz="1100">
                <a:solidFill>
                  <a:srgbClr val="CBD3F0"/>
                </a:solidFill>
                <a:latin typeface="Courier New"/>
              </a:rPr>
              <a:t>printf '%s' '$$' &gt; '$LOCK_FILE'  # PID del proceso</a:t>
            </a:r>
          </a:p>
          <a:p>
            <a:r>
              <a:rPr sz="1100">
                <a:solidFill>
                  <a:srgbClr val="CBD3F0"/>
                </a:solidFill>
                <a:latin typeface="Courier New"/>
              </a:rPr>
              <a:t/>
            </a:r>
          </a:p>
          <a:p>
            <a:r>
              <a:rPr sz="1100">
                <a:solidFill>
                  <a:srgbClr val="CBD3F0"/>
                </a:solidFill>
                <a:latin typeface="Courier New"/>
              </a:rPr>
              <a:t># Verifica si cada escenario ya tiene 9 archivos</a:t>
            </a:r>
          </a:p>
          <a:p>
            <a:r>
              <a:rPr sz="1100">
                <a:solidFill>
                  <a:srgbClr val="F9E2AF"/>
                </a:solidFill>
                <a:latin typeface="Courier New"/>
              </a:rPr>
              <a:t>base_count=$(ls results/baseline/*.json | wc -l)</a:t>
            </a:r>
          </a:p>
          <a:p>
            <a:r>
              <a:rPr sz="1100">
                <a:solidFill>
                  <a:srgbClr val="F9E2AF"/>
                </a:solidFill>
                <a:latin typeface="Courier New"/>
              </a:rPr>
              <a:t>if (( base_count &lt; 9 )); then</a:t>
            </a:r>
          </a:p>
          <a:p>
            <a:r>
              <a:rPr sz="1100">
                <a:solidFill>
                  <a:srgbClr val="CBD3F0"/>
                </a:solidFill>
                <a:latin typeface="Courier New"/>
              </a:rPr>
              <a:t>  run_safely 'baseline' 'bash run-control2-safe.sh --scenario baseline'</a:t>
            </a:r>
          </a:p>
          <a:p>
            <a:r>
              <a:rPr sz="1100">
                <a:solidFill>
                  <a:srgbClr val="CBD3F0"/>
                </a:solidFill>
                <a:latin typeface="Courier New"/>
              </a:rPr>
              <a:t>fi</a:t>
            </a:r>
          </a:p>
          <a:p>
            <a:r>
              <a:rPr sz="1100">
                <a:solidFill>
                  <a:srgbClr val="CBD3F0"/>
                </a:solidFill>
                <a:latin typeface="Courier New"/>
              </a:rPr>
              <a:t># Idem para istio (si istioctl existe) y linkerd</a:t>
            </a:r>
          </a:p>
        </p:txBody>
      </p:sp>
      <p:sp>
        <p:nvSpPr>
          <p:cNvPr id="7" name="Rectangle 6"/>
          <p:cNvSpPr/>
          <p:nvPr/>
        </p:nvSpPr>
        <p:spPr>
          <a:xfrm>
            <a:off x="5852160" y="1143000"/>
            <a:ext cx="301752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Estructura del directorio</a:t>
            </a:r>
          </a:p>
          <a:p>
            <a:r>
              <a:rPr sz="1000">
                <a:solidFill>
                  <a:srgbClr val="555555"/>
                </a:solidFill>
              </a:rPr>
              <a:t>02-mtls-service-mesh/
  run-control2-safe.sh      # dispatcher
  run-control2-autopilot-safe.sh  # orquesta
  monitor-control2.sh       # estado en vivo
  analyze-results.py        # tabla overhead
  baseline/
    run-baseline-safe.sh
  istio/
    install-istio-safe.sh
    enable-mtls-strict.sh
    run-istio-tests-safe.sh
  linkerd/
    install-linkerd-safe.sh
    run-linkerd-tests-safe.sh
  tests/  results/  analysis/</a:t>
            </a:r>
          </a:p>
        </p:txBody>
      </p:sp>
      <p:sp>
        <p:nvSpPr>
          <p:cNvPr id="8" name="Rectangle 7"/>
          <p:cNvSpPr/>
          <p:nvPr/>
        </p:nvSpPr>
        <p:spPr>
          <a:xfrm>
            <a:off x="9006840" y="1143000"/>
            <a:ext cx="301752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Lock file — evitar duplicados</a:t>
            </a:r>
          </a:p>
          <a:p>
            <a:r>
              <a:rPr sz="1000">
                <a:solidFill>
                  <a:srgbClr val="555555"/>
                </a:solidFill>
              </a:rPr>
              <a:t>El autopilot escribe su PID en:
  results/.control2-autopilot.lock
Si el archivo existe → salir (exit 1)
trap EXIT → borra el lock al terminar
  (incluso si falla con set -e)
Permite lanzar el autopilot desde
cron o K8sAutopilot sin riesgo de
correr dos instancias paralelas.
9 JSON esperados = 3 VUs × 3 reps</a:t>
            </a:r>
          </a:p>
        </p:txBody>
      </p:sp>
      <p:sp>
        <p:nvSpPr>
          <p:cNvPr id="9" name="Rectangle 8"/>
          <p:cNvSpPr/>
          <p:nvPr/>
        </p:nvSpPr>
        <p:spPr>
          <a:xfrm>
            <a:off x="5852160" y="3383280"/>
            <a:ext cx="301752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monitor-control2.sh</a:t>
            </a:r>
          </a:p>
          <a:p>
            <a:r>
              <a:rPr sz="1000">
                <a:solidFill>
                  <a:srgbClr val="555555"/>
                </a:solidFill>
              </a:rPr>
              <a:t>Script de monitoreo en tiempo real:
  pgrep -af 'k6 run|run-*-safe.sh'
  → muestra procesos activos
  ls results/{baseline,istio,linkerd}/*.json
  → cuenta archivos generados
  tail -n 8 logs/*.log
  → últimas líneas de cada log
Permite saber si el experimento
está corriendo sin entrar al pod.</a:t>
            </a:r>
          </a:p>
        </p:txBody>
      </p:sp>
      <p:sp>
        <p:nvSpPr>
          <p:cNvPr id="10" name="Rectangle 9"/>
          <p:cNvSpPr/>
          <p:nvPr/>
        </p:nvSpPr>
        <p:spPr>
          <a:xfrm>
            <a:off x="9006840" y="3383280"/>
            <a:ext cx="301752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wait_for_existing_runs — timeout 900s</a:t>
            </a:r>
          </a:p>
          <a:p>
            <a:r>
              <a:rPr sz="1000">
                <a:solidFill>
                  <a:srgbClr val="555555"/>
                </a:solidFill>
              </a:rPr>
              <a:t>El autopilot espera hasta 15 min a que
terminen corridas de k6 activas:
  pgrep -af 'run-*-safe.sh|k6 run'
  while proceso activo:
    sleep 15
    elapsed += 15
    if elapsed &gt;= 900: break
Evita que el autopilot lance una
nueva corrida mientras una anterior
todavía está en progreso.</a:t>
            </a:r>
          </a:p>
        </p:txBody>
      </p:sp>
      <p:sp>
        <p:nvSpPr>
          <p:cNvPr id="11" name="Rectangle 10"/>
          <p:cNvSpPr/>
          <p:nvPr/>
        </p:nvSpPr>
        <p:spPr>
          <a:xfrm>
            <a:off x="5852160" y="5623560"/>
            <a:ext cx="301752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sleep 20 entre corridas</a:t>
            </a:r>
          </a:p>
          <a:p>
            <a:r>
              <a:rPr sz="1000">
                <a:solidFill>
                  <a:srgbClr val="555555"/>
                </a:solidFill>
              </a:rPr>
              <a:t>El baseline y los tests de Istio usan
sleep 20s (vs sleep 10s en exp01r).
Motivación: después de habilitar
mTLS STRICT, Envoy necesita ~15s para:
  1. Obtener certificados de Istiod
  2. Establecer conexiones mTLS
  3. Sincronizar la configuración
Con sleep 10s las primeras corridas
post-mTLS tenían timeouts espúreos.</a:t>
            </a:r>
          </a:p>
        </p:txBody>
      </p:sp>
      <p:sp>
        <p:nvSpPr>
          <p:cNvPr id="12" name="Rectangle 11"/>
          <p:cNvSpPr/>
          <p:nvPr/>
        </p:nvSpPr>
        <p:spPr>
          <a:xfrm>
            <a:off x="9006840" y="5623560"/>
            <a:ext cx="301752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has_cmd istioctl / linkerd</a:t>
            </a:r>
          </a:p>
          <a:p>
            <a:r>
              <a:rPr sz="1000">
                <a:solidFill>
                  <a:srgbClr val="555555"/>
                </a:solidFill>
              </a:rPr>
              <a:t>El autopilot verifica que el CLI esté
disponible antes de intentar correr:
  has_cmd() { command -v '$1' &gt;/dev/null; }
  if has_cmd istioctl; then ... fi
  if has_cmd linkerd;   then ... fi
Si no está instalado → skip silencioso
con log '[autopilot] istioctl no
encontrado, se omite Istio'.
Permite ejecutar en entornos parciales.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baseline/run-baseline-safe.sh — runner de referencia</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3×3 loop (VUS × replica) · ensure_portforward · NDJSON + log · sin mTLS · sleep 20s entre runs</a:t>
            </a:r>
          </a:p>
        </p:txBody>
      </p:sp>
      <p:sp>
        <p:nvSpPr>
          <p:cNvPr id="5" name="Rectangle 4"/>
          <p:cNvSpPr/>
          <p:nvPr/>
        </p:nvSpPr>
        <p:spPr>
          <a:xfrm>
            <a:off x="365760" y="1143000"/>
            <a:ext cx="5394960" cy="51206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#!/usr/bin/env bash</a:t>
            </a:r>
          </a:p>
          <a:p>
            <a:r>
              <a:rPr sz="1100">
                <a:solidFill>
                  <a:srgbClr val="F9E2AF"/>
                </a:solidFill>
                <a:latin typeface="Courier New"/>
              </a:rPr>
              <a:t>set -euo pipefail</a:t>
            </a:r>
          </a:p>
          <a:p>
            <a:r>
              <a:rPr sz="1100">
                <a:solidFill>
                  <a:srgbClr val="CBD3F0"/>
                </a:solidFill>
                <a:latin typeface="Courier New"/>
              </a:rPr>
              <a:t/>
            </a:r>
          </a:p>
          <a:p>
            <a:r>
              <a:rPr sz="1100">
                <a:solidFill>
                  <a:srgbClr val="CBD3F0"/>
                </a:solidFill>
                <a:latin typeface="Courier New"/>
              </a:rPr>
              <a:t>ROOT_DIR="$(cd "$(dirname "${BASH_SOURCE[0]}")/.."; pwd)"</a:t>
            </a:r>
          </a:p>
          <a:p>
            <a:r>
              <a:rPr sz="1100">
                <a:solidFill>
                  <a:srgbClr val="CBD3F0"/>
                </a:solidFill>
                <a:latin typeface="Courier New"/>
              </a:rPr>
              <a:t>RESULTS_DIR="$ROOT_DIR/results/baseline"</a:t>
            </a:r>
          </a:p>
          <a:p>
            <a:r>
              <a:rPr sz="1100">
                <a:solidFill>
                  <a:srgbClr val="CBD3F0"/>
                </a:solidFill>
                <a:latin typeface="Courier New"/>
              </a:rPr>
              <a:t>LOG_DIR="$ROOT_DIR/results/logs"</a:t>
            </a:r>
          </a:p>
          <a:p>
            <a:r>
              <a:rPr sz="1100">
                <a:solidFill>
                  <a:srgbClr val="CBD3F0"/>
                </a:solidFill>
                <a:latin typeface="Courier New"/>
              </a:rPr>
              <a:t>TARGET_URL="${TARGET_URL:-http://localhost:31213/api}"</a:t>
            </a:r>
          </a:p>
          <a:p>
            <a:r>
              <a:rPr sz="1100">
                <a:solidFill>
                  <a:srgbClr val="CBD3F0"/>
                </a:solidFill>
                <a:latin typeface="Courier New"/>
              </a:rPr>
              <a:t>mkdir -p "$RESULTS_DIR" "$LOG_DIR"</a:t>
            </a:r>
          </a:p>
          <a:p>
            <a:r>
              <a:rPr sz="1100">
                <a:solidFill>
                  <a:srgbClr val="CBD3F0"/>
                </a:solidFill>
                <a:latin typeface="Courier New"/>
              </a:rPr>
              <a:t/>
            </a:r>
          </a:p>
          <a:p>
            <a:r>
              <a:rPr sz="1100">
                <a:solidFill>
                  <a:srgbClr val="CBD3F0"/>
                </a:solidFill>
                <a:latin typeface="Courier New"/>
              </a:rPr>
              <a:t># Verifica que los pods del namespace estén corriendo</a:t>
            </a:r>
          </a:p>
          <a:p>
            <a:r>
              <a:rPr sz="1100">
                <a:solidFill>
                  <a:srgbClr val="F9E2AF"/>
                </a:solidFill>
                <a:latin typeface="Courier New"/>
              </a:rPr>
              <a:t>kubectl get pods -n mubench-realistic |</a:t>
            </a:r>
          </a:p>
          <a:p>
            <a:r>
              <a:rPr sz="1100">
                <a:solidFill>
                  <a:srgbClr val="CBD3F0"/>
                </a:solidFill>
                <a:latin typeface="Courier New"/>
              </a:rPr>
              <a:t>    grep -E "api|auth|sdb-data" &gt;/dev/null</a:t>
            </a:r>
          </a:p>
          <a:p>
            <a:r>
              <a:rPr sz="1100">
                <a:solidFill>
                  <a:srgbClr val="CBD3F0"/>
                </a:solidFill>
                <a:latin typeface="Courier New"/>
              </a:rPr>
              <a:t/>
            </a:r>
          </a:p>
          <a:p>
            <a:r>
              <a:rPr sz="1100">
                <a:solidFill>
                  <a:srgbClr val="CBD3F0"/>
                </a:solidFill>
                <a:latin typeface="Courier New"/>
              </a:rPr>
              <a:t>ensure_portforward() {</a:t>
            </a:r>
          </a:p>
          <a:p>
            <a:r>
              <a:rPr sz="1100">
                <a:solidFill>
                  <a:srgbClr val="F9E2AF"/>
                </a:solidFill>
                <a:latin typeface="Courier New"/>
              </a:rPr>
              <a:t>  if curl -s -o /dev/null -w '%{http_code}' "$TARGET_URL" |</a:t>
            </a:r>
          </a:p>
          <a:p>
            <a:r>
              <a:rPr sz="1100">
                <a:solidFill>
                  <a:srgbClr val="CBD3F0"/>
                </a:solidFill>
                <a:latin typeface="Courier New"/>
              </a:rPr>
              <a:t>     grep -qE '^(200|4[0-9]{2}|5[0-9]{2})$'; then</a:t>
            </a:r>
          </a:p>
          <a:p>
            <a:r>
              <a:rPr sz="1100">
                <a:solidFill>
                  <a:srgbClr val="CBD3F0"/>
                </a:solidFill>
                <a:latin typeface="Courier New"/>
              </a:rPr>
              <a:t>    return 0</a:t>
            </a:r>
          </a:p>
          <a:p>
            <a:r>
              <a:rPr sz="1100">
                <a:solidFill>
                  <a:srgbClr val="CBD3F0"/>
                </a:solidFill>
                <a:latin typeface="Courier New"/>
              </a:rPr>
              <a:t>  fi</a:t>
            </a:r>
          </a:p>
          <a:p>
            <a:r>
              <a:rPr sz="1100">
                <a:solidFill>
                  <a:srgbClr val="CBD3F0"/>
                </a:solidFill>
                <a:latin typeface="Courier New"/>
              </a:rPr>
              <a:t>  echo "[baseline] Warning: gateway no responde en $TARGET_URL"</a:t>
            </a:r>
          </a:p>
          <a:p>
            <a:r>
              <a:rPr sz="1100">
                <a:solidFill>
                  <a:srgbClr val="CBD3F0"/>
                </a:solidFill>
                <a:latin typeface="Courier New"/>
              </a:rPr>
              <a:t>  return 0   # no aborta — solo avisa</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ensure_portforward</a:t>
            </a:r>
          </a:p>
          <a:p>
            <a:r>
              <a:rPr sz="1100">
                <a:solidFill>
                  <a:srgbClr val="CBD3F0"/>
                </a:solidFill>
                <a:latin typeface="Courier New"/>
              </a:rPr>
              <a:t/>
            </a:r>
          </a:p>
          <a:p>
            <a:r>
              <a:rPr sz="1100">
                <a:solidFill>
                  <a:srgbClr val="CBD3F0"/>
                </a:solidFill>
                <a:latin typeface="Courier New"/>
              </a:rPr>
              <a:t>for vus in 5 10 20; do</a:t>
            </a:r>
          </a:p>
          <a:p>
            <a:r>
              <a:rPr sz="1100">
                <a:solidFill>
                  <a:srgbClr val="F9E2AF"/>
                </a:solidFill>
                <a:latin typeface="Courier New"/>
              </a:rPr>
              <a:t>  for rep in 1 2 3; do</a:t>
            </a:r>
          </a:p>
          <a:p>
            <a:r>
              <a:rPr sz="1100">
                <a:solidFill>
                  <a:srgbClr val="CBD3F0"/>
                </a:solidFill>
                <a:latin typeface="Courier New"/>
              </a:rPr>
              <a:t>    outfile="$RESULTS_DIR/baseline-vus${vus}-rep${rep}.json"</a:t>
            </a:r>
          </a:p>
          <a:p>
            <a:r>
              <a:rPr sz="1100">
                <a:solidFill>
                  <a:srgbClr val="CBD3F0"/>
                </a:solidFill>
                <a:latin typeface="Courier New"/>
              </a:rPr>
              <a:t>    logfile="$LOG_DIR/baseline-vus${vus}-rep${rep}.log"</a:t>
            </a:r>
          </a:p>
          <a:p>
            <a:r>
              <a:rPr sz="1100">
                <a:solidFill>
                  <a:srgbClr val="CBD3F0"/>
                </a:solidFill>
                <a:latin typeface="Courier New"/>
              </a:rPr>
              <a:t/>
            </a:r>
          </a:p>
          <a:p>
            <a:r>
              <a:rPr sz="1100">
                <a:solidFill>
                  <a:srgbClr val="CBD3F0"/>
                </a:solidFill>
                <a:latin typeface="Courier New"/>
              </a:rPr>
              <a:t>    ensure_portforward</a:t>
            </a:r>
          </a:p>
          <a:p>
            <a:r>
              <a:rPr sz="1100">
                <a:solidFill>
                  <a:srgbClr val="CBD3F0"/>
                </a:solidFill>
                <a:latin typeface="Courier New"/>
              </a:rPr>
              <a:t>    k6 run --no-thresholds \</a:t>
            </a:r>
          </a:p>
          <a:p>
            <a:r>
              <a:rPr sz="1100">
                <a:solidFill>
                  <a:srgbClr val="CBD3F0"/>
                </a:solidFill>
                <a:latin typeface="Courier New"/>
              </a:rPr>
              <a:t>      -e TARGET_URL="$TARGET_URL" \</a:t>
            </a:r>
          </a:p>
          <a:p>
            <a:r>
              <a:rPr sz="1100">
                <a:solidFill>
                  <a:srgbClr val="CBD3F0"/>
                </a:solidFill>
                <a:latin typeface="Courier New"/>
              </a:rPr>
              <a:t>      -e VUS="$vus" \</a:t>
            </a:r>
          </a:p>
          <a:p>
            <a:r>
              <a:rPr sz="1100">
                <a:solidFill>
                  <a:srgbClr val="F9E2AF"/>
                </a:solidFill>
                <a:latin typeface="Courier New"/>
              </a:rPr>
              <a:t>      -e DURATION="60s" \</a:t>
            </a:r>
          </a:p>
          <a:p>
            <a:r>
              <a:rPr sz="1100">
                <a:solidFill>
                  <a:srgbClr val="CBD3F0"/>
                </a:solidFill>
                <a:latin typeface="Courier New"/>
              </a:rPr>
              <a:t>      --out "json=$outfile" \</a:t>
            </a:r>
          </a:p>
          <a:p>
            <a:r>
              <a:rPr sz="1100">
                <a:solidFill>
                  <a:srgbClr val="CBD3F0"/>
                </a:solidFill>
                <a:latin typeface="Courier New"/>
              </a:rPr>
              <a:t>      "$ROOT_DIR/tests/test-mtls-baseline.js" \</a:t>
            </a:r>
          </a:p>
          <a:p>
            <a:r>
              <a:rPr sz="1100">
                <a:solidFill>
                  <a:srgbClr val="CBD3F0"/>
                </a:solidFill>
                <a:latin typeface="Courier New"/>
              </a:rPr>
              <a:t>      &gt;"$logfile" 2&gt;&amp;1 || true</a:t>
            </a:r>
          </a:p>
          <a:p>
            <a:r>
              <a:rPr sz="1100">
                <a:solidFill>
                  <a:srgbClr val="CBD3F0"/>
                </a:solidFill>
                <a:latin typeface="Courier New"/>
              </a:rPr>
              <a:t/>
            </a:r>
          </a:p>
          <a:p>
            <a:r>
              <a:rPr sz="1100">
                <a:solidFill>
                  <a:srgbClr val="CBD3F0"/>
                </a:solidFill>
                <a:latin typeface="Courier New"/>
              </a:rPr>
              <a:t>    sleep 20   # cooldown antes de siguiente replica</a:t>
            </a:r>
          </a:p>
          <a:p>
            <a:r>
              <a:rPr sz="1100">
                <a:solidFill>
                  <a:srgbClr val="CBD3F0"/>
                </a:solidFill>
                <a:latin typeface="Courier New"/>
              </a:rPr>
              <a:t>  done</a:t>
            </a:r>
          </a:p>
          <a:p>
            <a:r>
              <a:rPr sz="1100">
                <a:solidFill>
                  <a:srgbClr val="F9E2AF"/>
                </a:solidFill>
                <a:latin typeface="Courier New"/>
              </a:rPr>
              <a:t>done</a:t>
            </a:r>
          </a:p>
        </p:txBody>
      </p:sp>
      <p:sp>
        <p:nvSpPr>
          <p:cNvPr id="6" name="Rectangle 5"/>
          <p:cNvSpPr/>
          <p:nvPr/>
        </p:nvSpPr>
        <p:spPr>
          <a:xfrm>
            <a:off x="5852160" y="1143000"/>
            <a:ext cx="301752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Propósito del baseline</a:t>
            </a:r>
          </a:p>
          <a:p>
            <a:r>
              <a:rPr sz="1000">
                <a:solidFill>
                  <a:srgbClr val="555555"/>
                </a:solidFill>
              </a:rPr>
              <a:t>El baseline es la referencia sin mTLS:
  - Sin Istio sidecar (Envoy no inyectado)
  - Sin PeerAuthentication activo
  - Tráfico HTTP plano entre pods
Al correr el mismo workload k6 en las
tres configuraciones (baseline, Istio,
Linkerd) bajo las mismas condiciones
(VUS=5/10/20, 60s, 3 réplicas) se puede
medir el overhead REAL del mTLS
respecto al tráfico sin cifrar.</a:t>
            </a:r>
          </a:p>
        </p:txBody>
      </p:sp>
      <p:sp>
        <p:nvSpPr>
          <p:cNvPr id="7" name="Rectangle 6"/>
          <p:cNvSpPr/>
          <p:nvPr/>
        </p:nvSpPr>
        <p:spPr>
          <a:xfrm>
            <a:off x="9006840" y="1143000"/>
            <a:ext cx="301752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3×3 — 9 archivos por escenario</a:t>
            </a:r>
          </a:p>
          <a:p>
            <a:r>
              <a:rPr sz="1000">
                <a:solidFill>
                  <a:srgbClr val="555555"/>
                </a:solidFill>
              </a:rPr>
              <a:t>El loop genera exactamente 9 archivos:
  baseline-vus5-rep{1,2,3}.json
  baseline-vus10-rep{1,2,3}.json
  baseline-vus20-rep{1,2,3}.json
El autopilot detecta cuándo hay 9 JSON
para decidir si ya terminó:
  base_count=$(ls results/baseline/*.json | wc -l)
  if (( base_count &gt;= 9 )); then skip; fi
Naming: vus + rep → fácil de parsear
con glob *.json en el análisis.</a:t>
            </a:r>
          </a:p>
        </p:txBody>
      </p:sp>
      <p:sp>
        <p:nvSpPr>
          <p:cNvPr id="8" name="Rectangle 7"/>
          <p:cNvSpPr/>
          <p:nvPr/>
        </p:nvSpPr>
        <p:spPr>
          <a:xfrm>
            <a:off x="5852160" y="3383280"/>
            <a:ext cx="301752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Separación de NDJSON y LOG</a:t>
            </a:r>
          </a:p>
          <a:p>
            <a:r>
              <a:rPr sz="1000">
                <a:solidFill>
                  <a:srgbClr val="555555"/>
                </a:solidFill>
              </a:rPr>
              <a:t>Cada corrida produce DOS archivos:
results/baseline/
  baseline-vus5-rep1.json  ← NDJSON k6
  (puntos individuales de métricas)
results/logs/
  baseline-vus5-rep1.log   ← stdout k6
  (resumen legible: avg, p95, rps)
LOG_DIR es compartido por los tres
escenarios (baseline + istio + linkerd):
  logs/istio-vus5-rep1.log
  logs/baseline-vus5-rep1.log</a:t>
            </a:r>
          </a:p>
        </p:txBody>
      </p:sp>
      <p:sp>
        <p:nvSpPr>
          <p:cNvPr id="9" name="Rectangle 8"/>
          <p:cNvSpPr/>
          <p:nvPr/>
        </p:nvSpPr>
        <p:spPr>
          <a:xfrm>
            <a:off x="9006840" y="3383280"/>
            <a:ext cx="301752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--no-thresholds y || true</a:t>
            </a:r>
          </a:p>
          <a:p>
            <a:r>
              <a:rPr sz="1000">
                <a:solidFill>
                  <a:srgbClr val="555555"/>
                </a:solidFill>
              </a:rPr>
              <a:t>--no-thresholds: desactiva el check de
umbrales (p95&lt;800ms, fail&lt;2%).
Razón: si el umbral falla k6 sale con
exit code 99, y set -euo pipefail
abortaría el loop completo.
|| true al final captura cualquier otro
error de k6 (ej: k6 crash, OOM) para
que el loop continúe con la siguiente
réplica.
El NDJSON queda incompleto si k6 falla,
pero no se pierde el resto del experimento.</a:t>
            </a:r>
          </a:p>
        </p:txBody>
      </p:sp>
      <p:sp>
        <p:nvSpPr>
          <p:cNvPr id="10" name="Rectangle 9"/>
          <p:cNvSpPr/>
          <p:nvPr/>
        </p:nvSpPr>
        <p:spPr>
          <a:xfrm>
            <a:off x="5852160" y="5623560"/>
            <a:ext cx="301752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ensure_portforward — tolerancia a fallos</a:t>
            </a:r>
          </a:p>
          <a:p>
            <a:r>
              <a:rPr sz="1000">
                <a:solidFill>
                  <a:srgbClr val="555555"/>
                </a:solidFill>
              </a:rPr>
              <a:t>La función verifica que el gateway HTTP
responde ANTES de lanzar k6.
Acepta cualquier respuesta HTTP:
  200 → OK
  4xx → servicio responde (error de app)
  5xx → servicio responde (error interno)
Solo falla si no hay conexión TCP
(curl no recibe ningún HTTP code).
En ese caso → warn + return 0
(NO aborta) para no perder corridas por
una latencia de red momentánea.</a:t>
            </a:r>
          </a:p>
        </p:txBody>
      </p:sp>
      <p:sp>
        <p:nvSpPr>
          <p:cNvPr id="11" name="Rectangle 10"/>
          <p:cNvSpPr/>
          <p:nvPr/>
        </p:nvSpPr>
        <p:spPr>
          <a:xfrm>
            <a:off x="9006840" y="5623560"/>
            <a:ext cx="301752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Comparación con run-istio-tests-safe.sh</a:t>
            </a:r>
          </a:p>
          <a:p>
            <a:r>
              <a:rPr sz="1000">
                <a:solidFill>
                  <a:srgbClr val="555555"/>
                </a:solidFill>
              </a:rPr>
              <a:t>Diferencias entre los dos runners:
baseline:          istio:
  kubectl get pods   ensure_portforward
  (verifica pods)    (curl probe solamente)
  test-mtls-baseline.js  test-istio-mtls.js
  GET /api               GET /api
  sleep(0.20)            sleep(0.25)
  p95 &lt; 800ms            p95 &lt; 1200ms
  fail &lt; 2%              fail &lt; 3%
Los umbrales de Istio son más holgados
para compensar el overhead del handshake.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istio/ — Instalación, PeerAuthentication y tests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install-istio-safe.sh · enable-mtls-strict.sh · run-istio-tests-safe.sh · perfil demo · label istio-injection · rollout restart</a:t>
            </a:r>
          </a:p>
        </p:txBody>
      </p:sp>
      <p:sp>
        <p:nvSpPr>
          <p:cNvPr id="5" name="Rectangle 4"/>
          <p:cNvSpPr/>
          <p:nvPr/>
        </p:nvSpPr>
        <p:spPr>
          <a:xfrm>
            <a:off x="365760" y="1143000"/>
            <a:ext cx="5623560" cy="26060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install-istio-safe.sh</a:t>
            </a:r>
          </a:p>
          <a:p>
            <a:r>
              <a:rPr sz="1100">
                <a:solidFill>
                  <a:srgbClr val="F9E2AF"/>
                </a:solidFill>
                <a:latin typeface="Courier New"/>
              </a:rPr>
              <a:t>if ! command -v istioctl &gt;/dev/null 2&gt;&amp;1; then</a:t>
            </a:r>
          </a:p>
          <a:p>
            <a:r>
              <a:rPr sz="1100">
                <a:solidFill>
                  <a:srgbClr val="F9E2AF"/>
                </a:solidFill>
                <a:latin typeface="Courier New"/>
              </a:rPr>
              <a:t>  echo '[istio] ERROR: istioctl no encontrado'</a:t>
            </a:r>
          </a:p>
          <a:p>
            <a:r>
              <a:rPr sz="1100">
                <a:solidFill>
                  <a:srgbClr val="CBD3F0"/>
                </a:solidFill>
                <a:latin typeface="Courier New"/>
              </a:rPr>
              <a:t>  exit 1</a:t>
            </a:r>
          </a:p>
          <a:p>
            <a:r>
              <a:rPr sz="1100">
                <a:solidFill>
                  <a:srgbClr val="CBD3F0"/>
                </a:solidFill>
                <a:latin typeface="Courier New"/>
              </a:rPr>
              <a:t>fi</a:t>
            </a:r>
          </a:p>
          <a:p>
            <a:r>
              <a:rPr sz="1100">
                <a:solidFill>
                  <a:srgbClr val="CBD3F0"/>
                </a:solidFill>
                <a:latin typeface="Courier New"/>
              </a:rPr>
              <a:t/>
            </a:r>
          </a:p>
          <a:p>
            <a:r>
              <a:rPr sz="1100">
                <a:solidFill>
                  <a:srgbClr val="CBD3F0"/>
                </a:solidFill>
                <a:latin typeface="Courier New"/>
              </a:rPr>
              <a:t>istioctl install --set profile=demo -y</a:t>
            </a:r>
          </a:p>
          <a:p>
            <a:r>
              <a:rPr sz="1100">
                <a:solidFill>
                  <a:srgbClr val="F9E2AF"/>
                </a:solidFill>
                <a:latin typeface="Courier New"/>
              </a:rPr>
              <a:t>kubectl label namespace mubench-realistic \</a:t>
            </a:r>
          </a:p>
          <a:p>
            <a:r>
              <a:rPr sz="1100">
                <a:solidFill>
                  <a:srgbClr val="F9E2AF"/>
                </a:solidFill>
                <a:latin typeface="Courier New"/>
              </a:rPr>
              <a:t>    istio-injection=enabled --overwrite</a:t>
            </a:r>
          </a:p>
          <a:p>
            <a:r>
              <a:rPr sz="1100">
                <a:solidFill>
                  <a:srgbClr val="CBD3F0"/>
                </a:solidFill>
                <a:latin typeface="Courier New"/>
              </a:rPr>
              <a:t>kubectl rollout restart deploy/api deploy/auth \</a:t>
            </a:r>
          </a:p>
          <a:p>
            <a:r>
              <a:rPr sz="1100">
                <a:solidFill>
                  <a:srgbClr val="F9E2AF"/>
                </a:solidFill>
                <a:latin typeface="Courier New"/>
              </a:rPr>
              <a:t>    deploy/sdb-data -n mubench-realistic</a:t>
            </a:r>
          </a:p>
          <a:p>
            <a:r>
              <a:rPr sz="1100">
                <a:solidFill>
                  <a:srgbClr val="CBD3F0"/>
                </a:solidFill>
                <a:latin typeface="Courier New"/>
              </a:rPr>
              <a:t>kubectl rollout status deploy/api \</a:t>
            </a:r>
          </a:p>
          <a:p>
            <a:r>
              <a:rPr sz="1100">
                <a:solidFill>
                  <a:srgbClr val="CBD3F0"/>
                </a:solidFill>
                <a:latin typeface="Courier New"/>
              </a:rPr>
              <a:t>    -n mubench-realistic --timeout=180s</a:t>
            </a:r>
          </a:p>
          <a:p>
            <a:r>
              <a:rPr sz="1100">
                <a:solidFill>
                  <a:srgbClr val="CBD3F0"/>
                </a:solidFill>
                <a:latin typeface="Courier New"/>
              </a:rPr>
              <a:t># idem auth y sdb-data</a:t>
            </a:r>
          </a:p>
          <a:p>
            <a:r>
              <a:rPr sz="1100">
                <a:solidFill>
                  <a:srgbClr val="CBD3F0"/>
                </a:solidFill>
                <a:latin typeface="Courier New"/>
              </a:rPr>
              <a:t/>
            </a:r>
          </a:p>
          <a:p>
            <a:r>
              <a:rPr sz="1100">
                <a:solidFill>
                  <a:srgbClr val="CBD3F0"/>
                </a:solidFill>
                <a:latin typeface="Courier New"/>
              </a:rPr>
              <a:t>echo '[istio] Instalacion completada'</a:t>
            </a:r>
          </a:p>
        </p:txBody>
      </p:sp>
      <p:sp>
        <p:nvSpPr>
          <p:cNvPr id="6" name="Rectangle 5"/>
          <p:cNvSpPr/>
          <p:nvPr/>
        </p:nvSpPr>
        <p:spPr>
          <a:xfrm>
            <a:off x="365760" y="3886200"/>
            <a:ext cx="5623560" cy="28346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enable-mtls-strict.sh — dos PeerAuthentication</a:t>
            </a:r>
          </a:p>
          <a:p>
            <a:r>
              <a:rPr sz="1100">
                <a:solidFill>
                  <a:srgbClr val="F9E2AF"/>
                </a:solidFill>
                <a:latin typeface="Courier New"/>
              </a:rPr>
              <a:t/>
            </a:r>
          </a:p>
          <a:p>
            <a:r>
              <a:rPr sz="1100">
                <a:solidFill>
                  <a:srgbClr val="CBD3F0"/>
                </a:solidFill>
                <a:latin typeface="Courier New"/>
              </a:rPr>
              <a:t># 1. STRICT para todos los pods del namespace</a:t>
            </a:r>
          </a:p>
          <a:p>
            <a:r>
              <a:rPr sz="1100">
                <a:solidFill>
                  <a:srgbClr val="F9E2AF"/>
                </a:solidFill>
                <a:latin typeface="Courier New"/>
              </a:rPr>
              <a:t>kubectl apply -f - &lt;&lt;EOF</a:t>
            </a:r>
          </a:p>
          <a:p>
            <a:r>
              <a:rPr sz="1100">
                <a:solidFill>
                  <a:srgbClr val="CBD3F0"/>
                </a:solidFill>
                <a:latin typeface="Courier New"/>
              </a:rPr>
              <a:t>apiVersion: security.istio.io/v1beta1</a:t>
            </a:r>
          </a:p>
          <a:p>
            <a:r>
              <a:rPr sz="1100">
                <a:solidFill>
                  <a:srgbClr val="CBD3F0"/>
                </a:solidFill>
                <a:latin typeface="Courier New"/>
              </a:rPr>
              <a:t>kind: PeerAuthentication</a:t>
            </a:r>
          </a:p>
          <a:p>
            <a:r>
              <a:rPr sz="1100">
                <a:solidFill>
                  <a:srgbClr val="CBD3F0"/>
                </a:solidFill>
                <a:latin typeface="Courier New"/>
              </a:rPr>
              <a:t>metadata:</a:t>
            </a:r>
          </a:p>
          <a:p>
            <a:r>
              <a:rPr sz="1100">
                <a:solidFill>
                  <a:srgbClr val="CBD3F0"/>
                </a:solidFill>
                <a:latin typeface="Courier New"/>
              </a:rPr>
              <a:t>  name: default</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CBD3F0"/>
                </a:solidFill>
                <a:latin typeface="Courier New"/>
              </a:rPr>
              <a:t>  mtls:</a:t>
            </a:r>
          </a:p>
          <a:p>
            <a:r>
              <a:rPr sz="1100">
                <a:solidFill>
                  <a:srgbClr val="F9E2AF"/>
                </a:solidFill>
                <a:latin typeface="Courier New"/>
              </a:rPr>
              <a:t>    mode: STRICT</a:t>
            </a:r>
          </a:p>
          <a:p>
            <a:r>
              <a:rPr sz="1100">
                <a:solidFill>
                  <a:srgbClr val="CBD3F0"/>
                </a:solidFill>
                <a:latin typeface="Courier New"/>
              </a:rPr>
              <a:t>EOF</a:t>
            </a:r>
          </a:p>
          <a:p>
            <a:r>
              <a:rPr sz="1100">
                <a:solidFill>
                  <a:srgbClr val="CBD3F0"/>
                </a:solidFill>
                <a:latin typeface="Courier New"/>
              </a:rPr>
              <a:t/>
            </a:r>
          </a:p>
          <a:p>
            <a:r>
              <a:rPr sz="1100">
                <a:solidFill>
                  <a:srgbClr val="CBD3F0"/>
                </a:solidFill>
                <a:latin typeface="Courier New"/>
              </a:rPr>
              <a:t># 2. gw-nginx exento en puerto 80</a:t>
            </a:r>
          </a:p>
          <a:p>
            <a:r>
              <a:rPr sz="1100">
                <a:solidFill>
                  <a:srgbClr val="F9E2AF"/>
                </a:solidFill>
                <a:latin typeface="Courier New"/>
              </a:rPr>
              <a:t>kubectl apply -f - &lt;&lt;EOF</a:t>
            </a:r>
          </a:p>
          <a:p>
            <a:r>
              <a:rPr sz="1100">
                <a:solidFill>
                  <a:srgbClr val="CBD3F0"/>
                </a:solidFill>
                <a:latin typeface="Courier New"/>
              </a:rPr>
              <a:t>kind: PeerAuthentication</a:t>
            </a:r>
          </a:p>
          <a:p>
            <a:r>
              <a:rPr sz="1100">
                <a:solidFill>
                  <a:srgbClr val="CBD3F0"/>
                </a:solidFill>
                <a:latin typeface="Courier New"/>
              </a:rPr>
              <a:t>metadata:</a:t>
            </a:r>
          </a:p>
          <a:p>
            <a:r>
              <a:rPr sz="1100">
                <a:solidFill>
                  <a:srgbClr val="CBD3F0"/>
                </a:solidFill>
                <a:latin typeface="Courier New"/>
              </a:rPr>
              <a:t>  name: gw-nginx-permissive</a:t>
            </a:r>
          </a:p>
          <a:p>
            <a:r>
              <a:rPr sz="1100">
                <a:solidFill>
                  <a:srgbClr val="CBD3F0"/>
                </a:solidFill>
                <a:latin typeface="Courier New"/>
              </a:rPr>
              <a:t>spec:</a:t>
            </a:r>
          </a:p>
          <a:p>
            <a:r>
              <a:rPr sz="1100">
                <a:solidFill>
                  <a:srgbClr val="CBD3F0"/>
                </a:solidFill>
                <a:latin typeface="Courier New"/>
              </a:rPr>
              <a:t>  selector:</a:t>
            </a:r>
          </a:p>
          <a:p>
            <a:r>
              <a:rPr sz="1100">
                <a:solidFill>
                  <a:srgbClr val="CBD3F0"/>
                </a:solidFill>
                <a:latin typeface="Courier New"/>
              </a:rPr>
              <a:t>    matchLabels: {app: gw-nginx}</a:t>
            </a:r>
          </a:p>
          <a:p>
            <a:r>
              <a:rPr sz="1100">
                <a:solidFill>
                  <a:srgbClr val="CBD3F0"/>
                </a:solidFill>
                <a:latin typeface="Courier New"/>
              </a:rPr>
              <a:t>  portLevelMtls:</a:t>
            </a:r>
          </a:p>
          <a:p>
            <a:r>
              <a:rPr sz="1100">
                <a:solidFill>
                  <a:srgbClr val="CBD3F0"/>
                </a:solidFill>
                <a:latin typeface="Courier New"/>
              </a:rPr>
              <a:t>    80:</a:t>
            </a:r>
          </a:p>
          <a:p>
            <a:r>
              <a:rPr sz="1100">
                <a:solidFill>
                  <a:srgbClr val="F9E2AF"/>
                </a:solidFill>
                <a:latin typeface="Courier New"/>
              </a:rPr>
              <a:t>      mode: PERMISSIVE</a:t>
            </a:r>
          </a:p>
          <a:p>
            <a:r>
              <a:rPr sz="1100">
                <a:solidFill>
                  <a:srgbClr val="CBD3F0"/>
                </a:solidFill>
                <a:latin typeface="Courier New"/>
              </a:rPr>
              <a:t>EOF</a:t>
            </a:r>
          </a:p>
        </p:txBody>
      </p:sp>
      <p:sp>
        <p:nvSpPr>
          <p:cNvPr id="7" name="Rectangle 6"/>
          <p:cNvSpPr/>
          <p:nvPr/>
        </p:nvSpPr>
        <p:spPr>
          <a:xfrm>
            <a:off x="6080760" y="1143000"/>
            <a:ext cx="5989320" cy="37033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run-istio-tests-safe.sh</a:t>
            </a:r>
          </a:p>
          <a:p>
            <a:r>
              <a:rPr sz="1100">
                <a:solidFill>
                  <a:srgbClr val="F9E2AF"/>
                </a:solidFill>
                <a:latin typeface="Courier New"/>
              </a:rPr>
              <a:t>TARGET_URL='${TARGET_URL:-http://localhost:31213/api}'</a:t>
            </a:r>
          </a:p>
          <a:p>
            <a:r>
              <a:rPr sz="1100">
                <a:solidFill>
                  <a:srgbClr val="CBD3F0"/>
                </a:solidFill>
                <a:latin typeface="Courier New"/>
              </a:rPr>
              <a:t/>
            </a:r>
          </a:p>
          <a:p>
            <a:r>
              <a:rPr sz="1100">
                <a:solidFill>
                  <a:srgbClr val="CBD3F0"/>
                </a:solidFill>
                <a:latin typeface="Courier New"/>
              </a:rPr>
              <a:t>ensure_portforward() {</a:t>
            </a:r>
          </a:p>
          <a:p>
            <a:r>
              <a:rPr sz="1100">
                <a:solidFill>
                  <a:srgbClr val="F9E2AF"/>
                </a:solidFill>
                <a:latin typeface="Courier New"/>
              </a:rPr>
              <a:t>  if curl -s -w '%{http_code}' "$TARGET_URL" |</a:t>
            </a:r>
          </a:p>
          <a:p>
            <a:r>
              <a:rPr sz="1100">
                <a:solidFill>
                  <a:srgbClr val="CBD3F0"/>
                </a:solidFill>
                <a:latin typeface="Courier New"/>
              </a:rPr>
              <a:t>     grep -qE '^(200|4[0-9]{2}|5[0-9]{2})$'; then</a:t>
            </a:r>
          </a:p>
          <a:p>
            <a:r>
              <a:rPr sz="1100">
                <a:solidFill>
                  <a:srgbClr val="CBD3F0"/>
                </a:solidFill>
                <a:latin typeface="Courier New"/>
              </a:rPr>
              <a:t>    return 0</a:t>
            </a:r>
          </a:p>
          <a:p>
            <a:r>
              <a:rPr sz="1100">
                <a:solidFill>
                  <a:srgbClr val="CBD3F0"/>
                </a:solidFill>
                <a:latin typeface="Courier New"/>
              </a:rPr>
              <a:t>  fi</a:t>
            </a:r>
          </a:p>
          <a:p>
            <a:r>
              <a:rPr sz="1100">
                <a:solidFill>
                  <a:srgbClr val="CBD3F0"/>
                </a:solidFill>
                <a:latin typeface="Courier New"/>
              </a:rPr>
              <a:t>  echo '[istio] Warning: gateway no responde'</a:t>
            </a:r>
          </a:p>
          <a:p>
            <a:r>
              <a:rPr sz="1100">
                <a:solidFill>
                  <a:srgbClr val="CBD3F0"/>
                </a:solidFill>
                <a:latin typeface="Courier New"/>
              </a:rPr>
              <a:t>  return 0  # no aborta</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ensure_portforward</a:t>
            </a:r>
          </a:p>
          <a:p>
            <a:r>
              <a:rPr sz="1100">
                <a:solidFill>
                  <a:srgbClr val="CBD3F0"/>
                </a:solidFill>
                <a:latin typeface="Courier New"/>
              </a:rPr>
              <a:t/>
            </a:r>
          </a:p>
          <a:p>
            <a:r>
              <a:rPr sz="1100">
                <a:solidFill>
                  <a:srgbClr val="CBD3F0"/>
                </a:solidFill>
                <a:latin typeface="Courier New"/>
              </a:rPr>
              <a:t>for vus in 5 10 20; do</a:t>
            </a:r>
          </a:p>
          <a:p>
            <a:r>
              <a:rPr sz="1100">
                <a:solidFill>
                  <a:srgbClr val="F9E2AF"/>
                </a:solidFill>
                <a:latin typeface="Courier New"/>
              </a:rPr>
              <a:t>  for rep in 1 2 3; do</a:t>
            </a:r>
          </a:p>
          <a:p>
            <a:r>
              <a:rPr sz="1100">
                <a:solidFill>
                  <a:srgbClr val="CBD3F0"/>
                </a:solidFill>
                <a:latin typeface="Courier New"/>
              </a:rPr>
              <a:t>    outfile="$RESULTS_DIR/istio-vus${vus}-rep${rep}.json"</a:t>
            </a:r>
          </a:p>
          <a:p>
            <a:r>
              <a:rPr sz="1100">
                <a:solidFill>
                  <a:srgbClr val="CBD3F0"/>
                </a:solidFill>
                <a:latin typeface="Courier New"/>
              </a:rPr>
              <a:t>    logfile="$LOG_DIR/istio-vus${vus}-rep${rep}.log"</a:t>
            </a:r>
          </a:p>
          <a:p>
            <a:r>
              <a:rPr sz="1100">
                <a:solidFill>
                  <a:srgbClr val="CBD3F0"/>
                </a:solidFill>
                <a:latin typeface="Courier New"/>
              </a:rPr>
              <a:t/>
            </a:r>
          </a:p>
          <a:p>
            <a:r>
              <a:rPr sz="1100">
                <a:solidFill>
                  <a:srgbClr val="CBD3F0"/>
                </a:solidFill>
                <a:latin typeface="Courier New"/>
              </a:rPr>
              <a:t>    ensure_portforward</a:t>
            </a:r>
          </a:p>
          <a:p>
            <a:r>
              <a:rPr sz="1100">
                <a:solidFill>
                  <a:srgbClr val="F9E2AF"/>
                </a:solidFill>
                <a:latin typeface="Courier New"/>
              </a:rPr>
              <a:t>    k6 run --no-thresholds \</a:t>
            </a:r>
          </a:p>
          <a:p>
            <a:r>
              <a:rPr sz="1100">
                <a:solidFill>
                  <a:srgbClr val="CBD3F0"/>
                </a:solidFill>
                <a:latin typeface="Courier New"/>
              </a:rPr>
              <a:t>      -e VUS="$vus" -e DURATION='60s' \</a:t>
            </a:r>
          </a:p>
          <a:p>
            <a:r>
              <a:rPr sz="1100">
                <a:solidFill>
                  <a:srgbClr val="CBD3F0"/>
                </a:solidFill>
                <a:latin typeface="Courier New"/>
              </a:rPr>
              <a:t>      --out "json=$outfile" \</a:t>
            </a:r>
          </a:p>
          <a:p>
            <a:r>
              <a:rPr sz="1100">
                <a:solidFill>
                  <a:srgbClr val="CBD3F0"/>
                </a:solidFill>
                <a:latin typeface="Courier New"/>
              </a:rPr>
              <a:t>      tests/test-istio-mtls.js \</a:t>
            </a:r>
          </a:p>
          <a:p>
            <a:r>
              <a:rPr sz="1100">
                <a:solidFill>
                  <a:srgbClr val="CBD3F0"/>
                </a:solidFill>
                <a:latin typeface="Courier New"/>
              </a:rPr>
              <a:t>      &gt;"$logfile" 2&gt;&amp;1 || true</a:t>
            </a:r>
          </a:p>
          <a:p>
            <a:r>
              <a:rPr sz="1100">
                <a:solidFill>
                  <a:srgbClr val="CBD3F0"/>
                </a:solidFill>
                <a:latin typeface="Courier New"/>
              </a:rPr>
              <a:t/>
            </a:r>
          </a:p>
          <a:p>
            <a:r>
              <a:rPr sz="1100">
                <a:solidFill>
                  <a:srgbClr val="CBD3F0"/>
                </a:solidFill>
                <a:latin typeface="Courier New"/>
              </a:rPr>
              <a:t>    sleep 20  # cooldown (mTLS handshake settle)</a:t>
            </a:r>
          </a:p>
          <a:p>
            <a:r>
              <a:rPr sz="1100">
                <a:solidFill>
                  <a:srgbClr val="F9E2AF"/>
                </a:solidFill>
                <a:latin typeface="Courier New"/>
              </a:rPr>
              <a:t>  done</a:t>
            </a:r>
          </a:p>
          <a:p>
            <a:r>
              <a:rPr sz="1100">
                <a:solidFill>
                  <a:srgbClr val="CBD3F0"/>
                </a:solidFill>
                <a:latin typeface="Courier New"/>
              </a:rPr>
              <a:t>done</a:t>
            </a:r>
          </a:p>
        </p:txBody>
      </p:sp>
      <p:sp>
        <p:nvSpPr>
          <p:cNvPr id="8" name="Rectangle 7"/>
          <p:cNvSpPr/>
          <p:nvPr/>
        </p:nvSpPr>
        <p:spPr>
          <a:xfrm>
            <a:off x="6080760" y="4983480"/>
            <a:ext cx="2834640" cy="17373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E75B6"/>
                </a:solidFill>
                <a:latin typeface="Courier New"/>
              </a:rPr>
              <a:t>profile=demo — instalación mínima</a:t>
            </a:r>
          </a:p>
          <a:p>
            <a:r>
              <a:rPr sz="950">
                <a:solidFill>
                  <a:srgbClr val="555555"/>
                </a:solidFill>
              </a:rPr>
              <a:t>Istio tiene varios perfiles de instalación:
  default → producción, todos los addons
  demo    → mínimo viable para pruebas:
    - Istiod (control plane)
    - Envoy sidecar injector
    - Sin Kiali, Jaeger, Grafana
Para el experimento solo se necesita
el dataplane mTLS → profile=demo es
suficiente y consume menos recursos
en el nodo microk8s single-node.</a:t>
            </a:r>
          </a:p>
        </p:txBody>
      </p:sp>
      <p:sp>
        <p:nvSpPr>
          <p:cNvPr id="9" name="Rectangle 8"/>
          <p:cNvSpPr/>
          <p:nvPr/>
        </p:nvSpPr>
        <p:spPr>
          <a:xfrm>
            <a:off x="9052560" y="4983480"/>
            <a:ext cx="2834640" cy="17373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3690F"/>
                </a:solidFill>
                <a:latin typeface="Courier New"/>
              </a:rPr>
              <a:t>istio-injection=enabled → rollout restart</a:t>
            </a:r>
          </a:p>
          <a:p>
            <a:r>
              <a:rPr sz="950">
                <a:solidFill>
                  <a:srgbClr val="555555"/>
                </a:solidFill>
              </a:rPr>
              <a:t>El label activa la inyección AUTOMÁTICA:
  kubectl label namespace mubench-realistic
      istio-injection=enabled
Pero los pods EXISTENTES no se reinician
solos → necesitan rollout restart.
kubectl rollout restart deploy/...
  → Kubernetes recrea los pods
  → El webhook mutating de Istio
     inyecta istio-proxy (Envoy)
  → rollout status espera hasta 180s</a:t>
            </a:r>
          </a:p>
        </p:txBody>
      </p:sp>
      <p:sp>
        <p:nvSpPr>
          <p:cNvPr id="10" name="Rectangle 9"/>
          <p:cNvSpPr/>
          <p:nvPr/>
        </p:nvSpPr>
        <p:spPr>
          <a:xfrm>
            <a:off x="6080760" y="6812280"/>
            <a:ext cx="2834640" cy="17373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844B4"/>
                </a:solidFill>
                <a:latin typeface="Courier New"/>
              </a:rPr>
              <a:t>PeerAuthentication — dos objetos necesarios</a:t>
            </a:r>
          </a:p>
          <a:p>
            <a:r>
              <a:rPr sz="950">
                <a:solidFill>
                  <a:srgbClr val="555555"/>
                </a:solidFill>
              </a:rPr>
              <a:t>Un solo STRICT no funciona porque:
  gw-nginx recibe tráfico de k6 (externo)
  sin mTLS → Envoy rechaza el request.
Solución con dos PeerAuthentication:
  1. default (namespace-wide) STRICT
     → todos los pods usan mTLS entre sí
  2. gw-nginx-permissive (selector)
     portLevelMtls.80: PERMISSIVE
     → acepta HTTP plano EN puerto 80
     → puertos &gt;80 siguen en STRICT</a:t>
            </a:r>
          </a:p>
        </p:txBody>
      </p:sp>
      <p:sp>
        <p:nvSpPr>
          <p:cNvPr id="11" name="Rectangle 10"/>
          <p:cNvSpPr/>
          <p:nvPr/>
        </p:nvSpPr>
        <p:spPr>
          <a:xfrm>
            <a:off x="9052560" y="6812280"/>
            <a:ext cx="2834640" cy="17373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E6B3A"/>
                </a:solidFill>
                <a:latin typeface="Courier New"/>
              </a:rPr>
              <a:t>ensure_portforward — antes de CADA replica</a:t>
            </a:r>
          </a:p>
          <a:p>
            <a:r>
              <a:rPr sz="950">
                <a:solidFill>
                  <a:srgbClr val="555555"/>
                </a:solidFill>
              </a:rPr>
              <a:t>La función se llama DOS veces:
  1. Al iniciar el script (warm-up)
  2. Antes de cada k6 run en el loop
Por qué dos veces:
  Después de habilitar mTLS STRICT
  el gateway puede caer brevemente
  mientras Envoy recarga la config.
  La segunda llamada (dentro del loop)
  detecta si el gateway cayó entre
  réplicas y advierte sin abortar.</a:t>
            </a:r>
          </a:p>
        </p:txBody>
      </p:sp>
      <p:sp>
        <p:nvSpPr>
          <p:cNvPr id="12" name="Rectangle 11"/>
          <p:cNvSpPr/>
          <p:nvPr/>
        </p:nvSpPr>
        <p:spPr>
          <a:xfrm>
            <a:off x="6080760" y="8641080"/>
            <a:ext cx="2834640" cy="173736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C0392B"/>
                </a:solidFill>
                <a:latin typeface="Courier New"/>
              </a:rPr>
              <a:t>sleep 20 vs sleep 10 (exp01r)</a:t>
            </a:r>
          </a:p>
          <a:p>
            <a:r>
              <a:rPr sz="950">
                <a:solidFill>
                  <a:srgbClr val="555555"/>
                </a:solidFill>
              </a:rPr>
              <a:t>Comparación entre experimentos:
  exp01-api-gateway:   sleep 10s
  02-mtls:             sleep 20s
La diferencia de 10s compensa:
  - Handshake mTLS inicial (~2-5s)
  - Rotación de certificados SPIFFE
  - Envoy necesita sincronizar la
    nueva PeerAuthentication desde
    Istiod antes de la siguiente rep
Con sleep 10s las primeras corridas
post-enable-mtls tenían p95 &gt;5s.</a:t>
            </a:r>
          </a:p>
        </p:txBody>
      </p:sp>
      <p:sp>
        <p:nvSpPr>
          <p:cNvPr id="13" name="Rectangle 12"/>
          <p:cNvSpPr/>
          <p:nvPr/>
        </p:nvSpPr>
        <p:spPr>
          <a:xfrm>
            <a:off x="9052560" y="8641080"/>
            <a:ext cx="2834640" cy="173736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497D"/>
                </a:solidFill>
                <a:latin typeface="Courier New"/>
              </a:rPr>
              <a:t>Secuencia de ejecución completa</a:t>
            </a:r>
          </a:p>
          <a:p>
            <a:r>
              <a:rPr sz="950">
                <a:solidFill>
                  <a:srgbClr val="555555"/>
                </a:solidFill>
              </a:rPr>
              <a:t>run-control2-safe.sh --scenario istio:
  1. install-istio-safe.sh
     a. istioctl install profile=demo
     b. label istio-injection=enabled
     c. rollout restart 3 deploys
     d. rollout status (espera pods)
  2. enable-mtls-strict.sh
     a. apply PeerAuth default STRICT
     b. apply PeerAuth gw-nginx PERMISSIVE
  3. run-istio-tests-safe.sh
     a. ensure_portforward
     b. 3×3 k6 runs → 9 JSON + 9 LOG
     c. sleep 20 entre runs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linkerd/ — Instalación y tests (sin datos válidos)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install-linkerd-safe.sh · run-linkerd-tests-safe.sh · port-forward a svc/s0 · POST /process · microk8s + Linkerd CNI issue</a:t>
            </a:r>
          </a:p>
        </p:txBody>
      </p:sp>
      <p:sp>
        <p:nvSpPr>
          <p:cNvPr id="5" name="Rectangle 4"/>
          <p:cNvSpPr/>
          <p:nvPr/>
        </p:nvSpPr>
        <p:spPr>
          <a:xfrm>
            <a:off x="365760" y="1143000"/>
            <a:ext cx="5623560" cy="32004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install-linkerd-safe.sh</a:t>
            </a:r>
          </a:p>
          <a:p>
            <a:r>
              <a:rPr sz="1100">
                <a:solidFill>
                  <a:srgbClr val="F9E2AF"/>
                </a:solidFill>
                <a:latin typeface="Courier New"/>
              </a:rPr>
              <a:t>if ! command -v linkerd &gt;/dev/null 2&gt;&amp;1; then</a:t>
            </a:r>
          </a:p>
          <a:p>
            <a:r>
              <a:rPr sz="1100">
                <a:solidFill>
                  <a:srgbClr val="CBD3F0"/>
                </a:solidFill>
                <a:latin typeface="Courier New"/>
              </a:rPr>
              <a:t>  echo '[linkerd] ERROR: linkerd CLI no encontrado'</a:t>
            </a:r>
          </a:p>
          <a:p>
            <a:r>
              <a:rPr sz="1100">
                <a:solidFill>
                  <a:srgbClr val="CBD3F0"/>
                </a:solidFill>
                <a:latin typeface="Courier New"/>
              </a:rPr>
              <a:t>  exit 1</a:t>
            </a:r>
          </a:p>
          <a:p>
            <a:r>
              <a:rPr sz="1100">
                <a:solidFill>
                  <a:srgbClr val="CBD3F0"/>
                </a:solidFill>
                <a:latin typeface="Courier New"/>
              </a:rPr>
              <a:t>fi</a:t>
            </a:r>
          </a:p>
          <a:p>
            <a:r>
              <a:rPr sz="1100">
                <a:solidFill>
                  <a:srgbClr val="CBD3F0"/>
                </a:solidFill>
                <a:latin typeface="Courier New"/>
              </a:rPr>
              <a:t/>
            </a:r>
          </a:p>
          <a:p>
            <a:r>
              <a:rPr sz="1100">
                <a:solidFill>
                  <a:srgbClr val="CBD3F0"/>
                </a:solidFill>
                <a:latin typeface="Courier New"/>
              </a:rPr>
              <a:t># 1. Limpiar Istio del namespace (evita sidecars mixtos)</a:t>
            </a:r>
          </a:p>
          <a:p>
            <a:r>
              <a:rPr sz="1100">
                <a:solidFill>
                  <a:srgbClr val="F9E2AF"/>
                </a:solidFill>
                <a:latin typeface="Courier New"/>
              </a:rPr>
              <a:t>kubectl label namespace default istio-injection- --overwrite</a:t>
            </a:r>
          </a:p>
          <a:p>
            <a:r>
              <a:rPr sz="1100">
                <a:solidFill>
                  <a:srgbClr val="CBD3F0"/>
                </a:solidFill>
                <a:latin typeface="Courier New"/>
              </a:rPr>
              <a:t>kubectl delete peerauthentication default -n default || true</a:t>
            </a:r>
          </a:p>
          <a:p>
            <a:r>
              <a:rPr sz="1100">
                <a:solidFill>
                  <a:srgbClr val="CBD3F0"/>
                </a:solidFill>
                <a:latin typeface="Courier New"/>
              </a:rPr>
              <a:t>kubectl rollout restart deploy/s0 deploy/s1 deploy/sdb1 -n default</a:t>
            </a:r>
          </a:p>
          <a:p>
            <a:r>
              <a:rPr sz="1100">
                <a:solidFill>
                  <a:srgbClr val="CBD3F0"/>
                </a:solidFill>
                <a:latin typeface="Courier New"/>
              </a:rPr>
              <a:t>kubectl rollout status deploy/s0 -n default --timeout=180s</a:t>
            </a:r>
          </a:p>
          <a:p>
            <a:r>
              <a:rPr sz="1100">
                <a:solidFill>
                  <a:srgbClr val="CBD3F0"/>
                </a:solidFill>
                <a:latin typeface="Courier New"/>
              </a:rPr>
              <a:t>kubectl rollout status deploy/s1 -n default --timeout=180s</a:t>
            </a:r>
          </a:p>
          <a:p>
            <a:r>
              <a:rPr sz="1100">
                <a:solidFill>
                  <a:srgbClr val="CBD3F0"/>
                </a:solidFill>
                <a:latin typeface="Courier New"/>
              </a:rPr>
              <a:t>kubectl rollout status deploy/sdb1 -n default --timeout=180s</a:t>
            </a:r>
          </a:p>
          <a:p>
            <a:r>
              <a:rPr sz="1100">
                <a:solidFill>
                  <a:srgbClr val="CBD3F0"/>
                </a:solidFill>
                <a:latin typeface="Courier New"/>
              </a:rPr>
              <a:t/>
            </a:r>
          </a:p>
          <a:p>
            <a:r>
              <a:rPr sz="1100">
                <a:solidFill>
                  <a:srgbClr val="CBD3F0"/>
                </a:solidFill>
                <a:latin typeface="Courier New"/>
              </a:rPr>
              <a:t># 2. Instalar Linkerd</a:t>
            </a:r>
          </a:p>
          <a:p>
            <a:r>
              <a:rPr sz="1100">
                <a:solidFill>
                  <a:srgbClr val="F9E2AF"/>
                </a:solidFill>
                <a:latin typeface="Courier New"/>
              </a:rPr>
              <a:t>linkerd check --pre                   # prerrequisitos del cluster</a:t>
            </a:r>
          </a:p>
          <a:p>
            <a:r>
              <a:rPr sz="1100">
                <a:solidFill>
                  <a:srgbClr val="CBD3F0"/>
                </a:solidFill>
                <a:latin typeface="Courier New"/>
              </a:rPr>
              <a:t>linkerd install --crds | kubectl apply -f -</a:t>
            </a:r>
          </a:p>
          <a:p>
            <a:r>
              <a:rPr sz="1100">
                <a:solidFill>
                  <a:srgbClr val="CBD3F0"/>
                </a:solidFill>
                <a:latin typeface="Courier New"/>
              </a:rPr>
              <a:t>linkerd install        | kubectl apply -f -</a:t>
            </a:r>
          </a:p>
          <a:p>
            <a:r>
              <a:rPr sz="1100">
                <a:solidFill>
                  <a:srgbClr val="CBD3F0"/>
                </a:solidFill>
                <a:latin typeface="Courier New"/>
              </a:rPr>
              <a:t>linkerd check                          # verifica control plane</a:t>
            </a:r>
          </a:p>
          <a:p>
            <a:r>
              <a:rPr sz="1100">
                <a:solidFill>
                  <a:srgbClr val="CBD3F0"/>
                </a:solidFill>
                <a:latin typeface="Courier New"/>
              </a:rPr>
              <a:t/>
            </a:r>
          </a:p>
          <a:p>
            <a:r>
              <a:rPr sz="1100">
                <a:solidFill>
                  <a:srgbClr val="F9E2AF"/>
                </a:solidFill>
                <a:latin typeface="Courier New"/>
              </a:rPr>
              <a:t># 3. Inyección automática del proxy Rust</a:t>
            </a:r>
          </a:p>
          <a:p>
            <a:r>
              <a:rPr sz="1100">
                <a:solidFill>
                  <a:srgbClr val="F9E2AF"/>
                </a:solidFill>
                <a:latin typeface="Courier New"/>
              </a:rPr>
              <a:t>kubectl annotate namespace default \</a:t>
            </a:r>
          </a:p>
          <a:p>
            <a:r>
              <a:rPr sz="1100">
                <a:solidFill>
                  <a:srgbClr val="CBD3F0"/>
                </a:solidFill>
                <a:latin typeface="Courier New"/>
              </a:rPr>
              <a:t>    linkerd.io/inject=enabled --overwrite</a:t>
            </a:r>
          </a:p>
          <a:p>
            <a:r>
              <a:rPr sz="1100">
                <a:solidFill>
                  <a:srgbClr val="CBD3F0"/>
                </a:solidFill>
                <a:latin typeface="Courier New"/>
              </a:rPr>
              <a:t>kubectl rollout restart deploy/s0 deploy/s1 deploy/sdb1 -n default</a:t>
            </a:r>
          </a:p>
          <a:p>
            <a:r>
              <a:rPr sz="1100">
                <a:solidFill>
                  <a:srgbClr val="CBD3F0"/>
                </a:solidFill>
                <a:latin typeface="Courier New"/>
              </a:rPr>
              <a:t>kubectl rollout status  deploy/s0 -n default --timeout=180s</a:t>
            </a:r>
          </a:p>
        </p:txBody>
      </p:sp>
      <p:sp>
        <p:nvSpPr>
          <p:cNvPr id="6" name="Rectangle 5"/>
          <p:cNvSpPr/>
          <p:nvPr/>
        </p:nvSpPr>
        <p:spPr>
          <a:xfrm>
            <a:off x="365760" y="4480560"/>
            <a:ext cx="5623560" cy="22402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run-linkerd-tests-safe.sh</a:t>
            </a:r>
          </a:p>
          <a:p>
            <a:r>
              <a:rPr sz="1100">
                <a:solidFill>
                  <a:srgbClr val="F9E2AF"/>
                </a:solidFill>
                <a:latin typeface="Courier New"/>
              </a:rPr>
              <a:t>TARGET_URL='${TARGET_URL:-http://localhost:30090/process}'</a:t>
            </a:r>
          </a:p>
          <a:p>
            <a:r>
              <a:rPr sz="1100">
                <a:solidFill>
                  <a:srgbClr val="F9E2AF"/>
                </a:solidFill>
                <a:latin typeface="Courier New"/>
              </a:rPr>
              <a:t>                         # svc/s0 direct (NO gw-nginx)</a:t>
            </a:r>
          </a:p>
          <a:p>
            <a:r>
              <a:rPr sz="1100">
                <a:solidFill>
                  <a:srgbClr val="CBD3F0"/>
                </a:solidFill>
                <a:latin typeface="Courier New"/>
              </a:rPr>
              <a:t>ensure_portforward() {</a:t>
            </a:r>
          </a:p>
          <a:p>
            <a:r>
              <a:rPr sz="1100">
                <a:solidFill>
                  <a:srgbClr val="F9E2AF"/>
                </a:solidFill>
                <a:latin typeface="Courier New"/>
              </a:rPr>
              <a:t>  # verifica con POST (no GET) + Content-Type JSON</a:t>
            </a:r>
          </a:p>
          <a:p>
            <a:r>
              <a:rPr sz="1100">
                <a:solidFill>
                  <a:srgbClr val="CBD3F0"/>
                </a:solidFill>
                <a:latin typeface="Courier New"/>
              </a:rPr>
              <a:t>  if curl -X POST '$TARGET_URL' -d '{}' | grep 200; then</a:t>
            </a:r>
          </a:p>
          <a:p>
            <a:r>
              <a:rPr sz="1100">
                <a:solidFill>
                  <a:srgbClr val="CBD3F0"/>
                </a:solidFill>
                <a:latin typeface="Courier New"/>
              </a:rPr>
              <a:t>    return 0</a:t>
            </a:r>
          </a:p>
          <a:p>
            <a:r>
              <a:rPr sz="1100">
                <a:solidFill>
                  <a:srgbClr val="CBD3F0"/>
                </a:solidFill>
                <a:latin typeface="Courier New"/>
              </a:rPr>
              <a:t>  fi</a:t>
            </a:r>
          </a:p>
          <a:p>
            <a:r>
              <a:rPr sz="1100">
                <a:solidFill>
                  <a:srgbClr val="CBD3F0"/>
                </a:solidFill>
                <a:latin typeface="Courier New"/>
              </a:rPr>
              <a:t>  # Si cae → lanza port-forward en background</a:t>
            </a:r>
          </a:p>
          <a:p>
            <a:r>
              <a:rPr sz="1100">
                <a:solidFill>
                  <a:srgbClr val="F9E2AF"/>
                </a:solidFill>
                <a:latin typeface="Courier New"/>
              </a:rPr>
              <a:t>  nohup kubectl port-forward svc/s0 30090:80 &amp;</a:t>
            </a:r>
          </a:p>
          <a:p>
            <a:r>
              <a:rPr sz="1100">
                <a:solidFill>
                  <a:srgbClr val="F9E2AF"/>
                </a:solidFill>
                <a:latin typeface="Courier New"/>
              </a:rPr>
              <a:t>  for _ in $(seq 1 15); do   # reintenta 15s</a:t>
            </a:r>
          </a:p>
          <a:p>
            <a:r>
              <a:rPr sz="1100">
                <a:solidFill>
                  <a:srgbClr val="CBD3F0"/>
                </a:solidFill>
                <a:latin typeface="Courier New"/>
              </a:rPr>
              <a:t>    sleep 1; curl -X POST ...  &amp;&amp; return 0</a:t>
            </a:r>
          </a:p>
          <a:p>
            <a:r>
              <a:rPr sz="1100">
                <a:solidFill>
                  <a:srgbClr val="CBD3F0"/>
                </a:solidFill>
                <a:latin typeface="Courier New"/>
              </a:rPr>
              <a:t>  done</a:t>
            </a:r>
          </a:p>
          <a:p>
            <a:r>
              <a:rPr sz="1100">
                <a:solidFill>
                  <a:srgbClr val="CBD3F0"/>
                </a:solidFill>
                <a:latin typeface="Courier New"/>
              </a:rPr>
              <a:t>  echo '[linkerd] Warning: continuando sin verificar'</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for vus in 5 10 20; do</a:t>
            </a:r>
          </a:p>
          <a:p>
            <a:r>
              <a:rPr sz="1100">
                <a:solidFill>
                  <a:srgbClr val="CBD3F0"/>
                </a:solidFill>
                <a:latin typeface="Courier New"/>
              </a:rPr>
              <a:t>  for rep in 1 2 3; do</a:t>
            </a:r>
          </a:p>
          <a:p>
            <a:r>
              <a:rPr sz="1100">
                <a:solidFill>
                  <a:srgbClr val="CBD3F0"/>
                </a:solidFill>
                <a:latin typeface="Courier New"/>
              </a:rPr>
              <a:t>    k6 run tests/test-linkerd-mtls.js ...</a:t>
            </a:r>
          </a:p>
          <a:p>
            <a:r>
              <a:rPr sz="1100">
                <a:solidFill>
                  <a:srgbClr val="CBD3F0"/>
                </a:solidFill>
                <a:latin typeface="Courier New"/>
              </a:rPr>
              <a:t>    sleep 20</a:t>
            </a:r>
          </a:p>
          <a:p>
            <a:r>
              <a:rPr sz="1100">
                <a:solidFill>
                  <a:srgbClr val="CBD3F0"/>
                </a:solidFill>
                <a:latin typeface="Courier New"/>
              </a:rPr>
              <a:t>  done</a:t>
            </a:r>
          </a:p>
          <a:p>
            <a:r>
              <a:rPr sz="1100">
                <a:solidFill>
                  <a:srgbClr val="CBD3F0"/>
                </a:solidFill>
                <a:latin typeface="Courier New"/>
              </a:rPr>
              <a:t>done</a:t>
            </a:r>
          </a:p>
        </p:txBody>
      </p:sp>
      <p:sp>
        <p:nvSpPr>
          <p:cNvPr id="7" name="Rectangle 6"/>
          <p:cNvSpPr/>
          <p:nvPr/>
        </p:nvSpPr>
        <p:spPr>
          <a:xfrm>
            <a:off x="6080760" y="1143000"/>
            <a:ext cx="283464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E75B6"/>
                </a:solidFill>
                <a:latin typeface="Courier New"/>
              </a:rPr>
              <a:t>Linkerd proxy: Rust vs Envoy (C++)</a:t>
            </a:r>
          </a:p>
          <a:p>
            <a:r>
              <a:rPr sz="950">
                <a:solidFill>
                  <a:srgbClr val="555555"/>
                </a:solidFill>
              </a:rPr>
              <a:t>Linkerd usa linkerd-proxy (Rust):
  Ventajas sobre Envoy:
  - Menor uso de memoria (~10MB vs ~50MB)
  - Latencia P99 más baja en teoría
  - Sin Lua scripting (menos vectores)
  - Rust: memory-safe sin GC
  Desventajas:
  - Menos extensible que Envoy
  - Sin Wasm filters
  - Menor adopción enterprise
Control plane: linkerd-destination +
linkerd-identity (CA interna, cert-manager)</a:t>
            </a:r>
          </a:p>
        </p:txBody>
      </p:sp>
      <p:sp>
        <p:nvSpPr>
          <p:cNvPr id="8" name="Rectangle 7"/>
          <p:cNvSpPr/>
          <p:nvPr/>
        </p:nvSpPr>
        <p:spPr>
          <a:xfrm>
            <a:off x="9052560" y="1143000"/>
            <a:ext cx="283464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3690F"/>
                </a:solidFill>
                <a:latin typeface="Courier New"/>
              </a:rPr>
              <a:t>Limpieza de Istio ANTES de Linkerd</a:t>
            </a:r>
          </a:p>
          <a:p>
            <a:r>
              <a:rPr sz="950">
                <a:solidFill>
                  <a:srgbClr val="555555"/>
                </a:solidFill>
              </a:rPr>
              <a:t>Si Istio está activo al instalar Linkerd:
  Pod termina con DOS sidecars:
    istio-proxy (Envoy)  +
    linkerd-proxy (Rust)
  Resultado:
    - Tráfico reenviado 2 veces
    - Métricas duplicadas o incoherentes
    - Posible deadlock de TLS mutuo
install-linkerd-safe.sh hace:
  1. Remove label istio-injection
  2. Delete PeerAuthentication default
  3. Rollout restart → pods sin Envoy
  4. Solo ENTONCES instala Linkerd</a:t>
            </a:r>
          </a:p>
        </p:txBody>
      </p:sp>
      <p:sp>
        <p:nvSpPr>
          <p:cNvPr id="9" name="Rectangle 8"/>
          <p:cNvSpPr/>
          <p:nvPr/>
        </p:nvSpPr>
        <p:spPr>
          <a:xfrm>
            <a:off x="6080760" y="3383280"/>
            <a:ext cx="283464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844B4"/>
                </a:solidFill>
                <a:latin typeface="Courier New"/>
              </a:rPr>
              <a:t>linkerd check --pre — validación previa</a:t>
            </a:r>
          </a:p>
          <a:p>
            <a:r>
              <a:rPr sz="950">
                <a:solidFill>
                  <a:srgbClr val="555555"/>
                </a:solidFill>
              </a:rPr>
              <a:t>Antes de instalar, linkerd check --pre
verifica el cluster:
  ✔ Kubernetes API server accesible
  ✔ Versión K8s &gt;= 1.21
  ✔ Permisos RBAC suficientes
  ✔ Admission webhooks habilitados
  ✔ Soporte de PSP o Pod Security
  ✔ CNI compatible con Linkerd
Si el último check falla (CNI):
linkerd install falla en microk8s
porque el CNI de microk8s (calico/flannel)
no siempre expone el net namespace
que linkerd-cni necesita.</a:t>
            </a:r>
          </a:p>
        </p:txBody>
      </p:sp>
      <p:sp>
        <p:nvSpPr>
          <p:cNvPr id="10" name="Rectangle 9"/>
          <p:cNvSpPr/>
          <p:nvPr/>
        </p:nvSpPr>
        <p:spPr>
          <a:xfrm>
            <a:off x="9052560" y="3383280"/>
            <a:ext cx="283464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E6B3A"/>
                </a:solidFill>
                <a:latin typeface="Courier New"/>
              </a:rPr>
              <a:t>POST /process vs GET /api</a:t>
            </a:r>
          </a:p>
          <a:p>
            <a:r>
              <a:rPr sz="950">
                <a:solidFill>
                  <a:srgbClr val="555555"/>
                </a:solidFill>
              </a:rPr>
              <a:t>Linkerd apunta directamente a svc/s0
en el namespace default (NO mubench):
  TARGET_URL: localhost:30090/process
  (port-forward de svc/s0:80)
vs Istio/baseline:
  TARGET_URL: localhost:31213/api
  (NodePort de gw-nginx)
Razón: el test de Linkerd no pasa por
gw-nginx (que corre en mubench-realistic
con Istio) sino directamente al servicio
de la app muBench base.
Esto hace que la comparación no sea
100% apples-to-apples con baseline.</a:t>
            </a:r>
          </a:p>
        </p:txBody>
      </p:sp>
      <p:sp>
        <p:nvSpPr>
          <p:cNvPr id="11" name="Rectangle 10"/>
          <p:cNvSpPr/>
          <p:nvPr/>
        </p:nvSpPr>
        <p:spPr>
          <a:xfrm>
            <a:off x="6080760" y="5623560"/>
            <a:ext cx="283464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C0392B"/>
                </a:solidFill>
                <a:latin typeface="Courier New"/>
              </a:rPr>
              <a:t>ensure_portforward — activo (vs pasivo en istio)</a:t>
            </a:r>
          </a:p>
          <a:p>
            <a:r>
              <a:rPr sz="950">
                <a:solidFill>
                  <a:srgbClr val="555555"/>
                </a:solidFill>
              </a:rPr>
              <a:t>Diferencia CLAVE respecto a Istio:
  Istio: ensure_portforward PASIVA
    → curl check
    → si falla → solo warn
    → NO relanza port-forward
  Linkerd: ensure_portforward ACTIVA
    → curl check
    → si falla → pkill old pf
    → nohup kubectl port-forward &amp;
    → reintenta 15× (sleep 1s c/u)
Por qué más agresivo:
  Linkerd apunta a svc/s0 con PF
  que puede morir al rollout restart.</a:t>
            </a:r>
          </a:p>
        </p:txBody>
      </p:sp>
      <p:sp>
        <p:nvSpPr>
          <p:cNvPr id="12" name="Rectangle 11"/>
          <p:cNvSpPr/>
          <p:nvPr/>
        </p:nvSpPr>
        <p:spPr>
          <a:xfrm>
            <a:off x="9052560" y="5623560"/>
            <a:ext cx="283464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497D"/>
                </a:solidFill>
                <a:latin typeface="Courier New"/>
              </a:rPr>
              <a:t>Resultados: por qué no son confiables</a:t>
            </a:r>
          </a:p>
          <a:p>
            <a:r>
              <a:rPr sz="950">
                <a:solidFill>
                  <a:srgbClr val="555555"/>
                </a:solidFill>
              </a:rPr>
              <a:t>Los logs muestran latencias 5-15 segundos:
  linkerd VUS=5:  p95 = 5786 ms
  linkerd VUS=10: p95 = 13457 ms
  linkerd VUS=20: p95 = 15951 ms
vs baseline ~56ms @ VUS=5.
Diagnóstico probable:
  - microk8s v1.32 + Linkerd tiene
    problemas conocidos de CNI (calico)
  - El proxy Rust no inyectó bien
    → tráfico no cifrado / drop
  - Port-forward a svc/s0 inestable
Los datos de Linkerd se excluyen del
análisis de overhead comparativo.</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tests/ — Scripts k6 por escenario mTLS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test-mtls-baseline.js · test-istio-mtls.js · test-linkerd-mtls.js · GET vs POST · umbrales diferenciados</a:t>
            </a:r>
          </a:p>
        </p:txBody>
      </p:sp>
      <p:sp>
        <p:nvSpPr>
          <p:cNvPr id="5" name="Rectangle 4"/>
          <p:cNvSpPr/>
          <p:nvPr/>
        </p:nvSpPr>
        <p:spPr>
          <a:xfrm>
            <a:off x="365760" y="1143000"/>
            <a:ext cx="3794760" cy="33375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test-mtls-baseline.js</a:t>
            </a:r>
          </a:p>
          <a:p>
            <a:r>
              <a:rPr sz="1100">
                <a:solidFill>
                  <a:srgbClr val="F9E2AF"/>
                </a:solidFill>
                <a:latin typeface="Courier New"/>
              </a:rPr>
              <a:t>export const options = {</a:t>
            </a:r>
          </a:p>
          <a:p>
            <a:r>
              <a:rPr sz="1100">
                <a:solidFill>
                  <a:srgbClr val="CBD3F0"/>
                </a:solidFill>
                <a:latin typeface="Courier New"/>
              </a:rPr>
              <a:t>  vus:      Number(__ENV.VUS || 5),</a:t>
            </a:r>
          </a:p>
          <a:p>
            <a:r>
              <a:rPr sz="1100">
                <a:solidFill>
                  <a:srgbClr val="CBD3F0"/>
                </a:solidFill>
                <a:latin typeface="Courier New"/>
              </a:rPr>
              <a:t>  duration: __ENV.DURATION || '60s',</a:t>
            </a:r>
          </a:p>
          <a:p>
            <a:r>
              <a:rPr sz="1100">
                <a:solidFill>
                  <a:srgbClr val="CBD3F0"/>
                </a:solidFill>
                <a:latin typeface="Courier New"/>
              </a:rPr>
              <a:t>  thresholds: {</a:t>
            </a:r>
          </a:p>
          <a:p>
            <a:r>
              <a:rPr sz="1100">
                <a:solidFill>
                  <a:srgbClr val="CBD3F0"/>
                </a:solidFill>
                <a:latin typeface="Courier New"/>
              </a:rPr>
              <a:t>    http_req_failed:   ['rate&lt;0.02'],</a:t>
            </a:r>
          </a:p>
          <a:p>
            <a:r>
              <a:rPr sz="1100">
                <a:solidFill>
                  <a:srgbClr val="F9E2AF"/>
                </a:solidFill>
                <a:latin typeface="Courier New"/>
              </a:rPr>
              <a:t>    http_req_duration: ['p(95)&lt;800'],</a:t>
            </a:r>
          </a:p>
          <a:p>
            <a:r>
              <a:rPr sz="1100">
                <a:solidFill>
                  <a:srgbClr val="F9E2AF"/>
                </a:solidFill>
                <a:latin typeface="Courier New"/>
              </a:rPr>
              <a:t>  },</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const targetUrl = __ENV.TARGET_URL</a:t>
            </a:r>
          </a:p>
          <a:p>
            <a:r>
              <a:rPr sz="1100">
                <a:solidFill>
                  <a:srgbClr val="CBD3F0"/>
                </a:solidFill>
                <a:latin typeface="Courier New"/>
              </a:rPr>
              <a:t>  || 'http://localhost:31213/api';</a:t>
            </a:r>
          </a:p>
          <a:p>
            <a:r>
              <a:rPr sz="1100">
                <a:solidFill>
                  <a:srgbClr val="CBD3F0"/>
                </a:solidFill>
                <a:latin typeface="Courier New"/>
              </a:rPr>
              <a:t/>
            </a:r>
          </a:p>
          <a:p>
            <a:r>
              <a:rPr sz="1100">
                <a:solidFill>
                  <a:srgbClr val="CBD3F0"/>
                </a:solidFill>
                <a:latin typeface="Courier New"/>
              </a:rPr>
              <a:t>export default function () {</a:t>
            </a:r>
          </a:p>
          <a:p>
            <a:r>
              <a:rPr sz="1100">
                <a:solidFill>
                  <a:srgbClr val="CBD3F0"/>
                </a:solidFill>
                <a:latin typeface="Courier New"/>
              </a:rPr>
              <a:t>  const res = http.get(targetUrl);</a:t>
            </a:r>
          </a:p>
          <a:p>
            <a:r>
              <a:rPr sz="1100">
                <a:solidFill>
                  <a:srgbClr val="F9E2AF"/>
                </a:solidFill>
                <a:latin typeface="Courier New"/>
              </a:rPr>
              <a:t>  check(res, {'status 200': r =&gt; r.status===200});</a:t>
            </a:r>
          </a:p>
          <a:p>
            <a:r>
              <a:rPr sz="1100">
                <a:solidFill>
                  <a:srgbClr val="CBD3F0"/>
                </a:solidFill>
                <a:latin typeface="Courier New"/>
              </a:rPr>
              <a:t>  sleep(0.2);</a:t>
            </a:r>
          </a:p>
          <a:p>
            <a:r>
              <a:rPr sz="1100">
                <a:solidFill>
                  <a:srgbClr val="F9E2AF"/>
                </a:solidFill>
                <a:latin typeface="Courier New"/>
              </a:rPr>
              <a:t>}</a:t>
            </a:r>
          </a:p>
        </p:txBody>
      </p:sp>
      <p:sp>
        <p:nvSpPr>
          <p:cNvPr id="6" name="Rectangle 5"/>
          <p:cNvSpPr/>
          <p:nvPr/>
        </p:nvSpPr>
        <p:spPr>
          <a:xfrm>
            <a:off x="4251960" y="1143000"/>
            <a:ext cx="3794760" cy="33375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test-istio-mtls.js</a:t>
            </a:r>
          </a:p>
          <a:p>
            <a:r>
              <a:rPr sz="1100">
                <a:solidFill>
                  <a:srgbClr val="F9E2AF"/>
                </a:solidFill>
                <a:latin typeface="Courier New"/>
              </a:rPr>
              <a:t>export const options = {</a:t>
            </a:r>
          </a:p>
          <a:p>
            <a:r>
              <a:rPr sz="1100">
                <a:solidFill>
                  <a:srgbClr val="CBD3F0"/>
                </a:solidFill>
                <a:latin typeface="Courier New"/>
              </a:rPr>
              <a:t>  vus:      Number(__ENV.VUS || 5),</a:t>
            </a:r>
          </a:p>
          <a:p>
            <a:r>
              <a:rPr sz="1100">
                <a:solidFill>
                  <a:srgbClr val="CBD3F0"/>
                </a:solidFill>
                <a:latin typeface="Courier New"/>
              </a:rPr>
              <a:t>  duration: __ENV.DURATION || '60s',</a:t>
            </a:r>
          </a:p>
          <a:p>
            <a:r>
              <a:rPr sz="1100">
                <a:solidFill>
                  <a:srgbClr val="CBD3F0"/>
                </a:solidFill>
                <a:latin typeface="Courier New"/>
              </a:rPr>
              <a:t>  thresholds: {</a:t>
            </a:r>
          </a:p>
          <a:p>
            <a:r>
              <a:rPr sz="1100">
                <a:solidFill>
                  <a:srgbClr val="CBD3F0"/>
                </a:solidFill>
                <a:latin typeface="Courier New"/>
              </a:rPr>
              <a:t>    http_req_failed:   ['rate&lt;0.03'],</a:t>
            </a:r>
          </a:p>
          <a:p>
            <a:r>
              <a:rPr sz="1100">
                <a:solidFill>
                  <a:srgbClr val="F9E2AF"/>
                </a:solidFill>
                <a:latin typeface="Courier New"/>
              </a:rPr>
              <a:t>    http_req_duration: ['p(95)&lt;1200'],</a:t>
            </a:r>
          </a:p>
          <a:p>
            <a:r>
              <a:rPr sz="1100">
                <a:solidFill>
                  <a:srgbClr val="F9E2AF"/>
                </a:solidFill>
                <a:latin typeface="Courier New"/>
              </a:rPr>
              <a:t>  },</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const targetUrl = __ENV.TARGET_URL</a:t>
            </a:r>
          </a:p>
          <a:p>
            <a:r>
              <a:rPr sz="1100">
                <a:solidFill>
                  <a:srgbClr val="CBD3F0"/>
                </a:solidFill>
                <a:latin typeface="Courier New"/>
              </a:rPr>
              <a:t>  || 'http://localhost:31213/api';</a:t>
            </a:r>
          </a:p>
          <a:p>
            <a:r>
              <a:rPr sz="1100">
                <a:solidFill>
                  <a:srgbClr val="CBD3F0"/>
                </a:solidFill>
                <a:latin typeface="Courier New"/>
              </a:rPr>
              <a:t>             // mismo endpoint que baseline</a:t>
            </a:r>
          </a:p>
          <a:p>
            <a:r>
              <a:rPr sz="1100">
                <a:solidFill>
                  <a:srgbClr val="CBD3F0"/>
                </a:solidFill>
                <a:latin typeface="Courier New"/>
              </a:rPr>
              <a:t>export default function () {</a:t>
            </a:r>
          </a:p>
          <a:p>
            <a:r>
              <a:rPr sz="1100">
                <a:solidFill>
                  <a:srgbClr val="CBD3F0"/>
                </a:solidFill>
                <a:latin typeface="Courier New"/>
              </a:rPr>
              <a:t>  const res = http.get(targetUrl);</a:t>
            </a:r>
          </a:p>
          <a:p>
            <a:r>
              <a:rPr sz="1100">
                <a:solidFill>
                  <a:srgbClr val="F9E2AF"/>
                </a:solidFill>
                <a:latin typeface="Courier New"/>
              </a:rPr>
              <a:t>  check(res, {'status 200': r =&gt; r.status===200});</a:t>
            </a:r>
          </a:p>
          <a:p>
            <a:r>
              <a:rPr sz="1100">
                <a:solidFill>
                  <a:srgbClr val="CBD3F0"/>
                </a:solidFill>
                <a:latin typeface="Courier New"/>
              </a:rPr>
              <a:t>  sleep(0.25);  // +50ms vs baseline</a:t>
            </a:r>
          </a:p>
          <a:p>
            <a:r>
              <a:rPr sz="1100">
                <a:solidFill>
                  <a:srgbClr val="F9E2AF"/>
                </a:solidFill>
                <a:latin typeface="Courier New"/>
              </a:rPr>
              <a:t>}</a:t>
            </a:r>
          </a:p>
        </p:txBody>
      </p:sp>
      <p:sp>
        <p:nvSpPr>
          <p:cNvPr id="7" name="Rectangle 6"/>
          <p:cNvSpPr/>
          <p:nvPr/>
        </p:nvSpPr>
        <p:spPr>
          <a:xfrm>
            <a:off x="8138160" y="1143000"/>
            <a:ext cx="3931920" cy="33375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test-linkerd-mtls.js</a:t>
            </a:r>
          </a:p>
          <a:p>
            <a:r>
              <a:rPr sz="1100">
                <a:solidFill>
                  <a:srgbClr val="F9E2AF"/>
                </a:solidFill>
                <a:latin typeface="Courier New"/>
              </a:rPr>
              <a:t>export const options = {</a:t>
            </a:r>
          </a:p>
          <a:p>
            <a:r>
              <a:rPr sz="1100">
                <a:solidFill>
                  <a:srgbClr val="CBD3F0"/>
                </a:solidFill>
                <a:latin typeface="Courier New"/>
              </a:rPr>
              <a:t>  vus:      Number(__ENV.VUS || 5),</a:t>
            </a:r>
          </a:p>
          <a:p>
            <a:r>
              <a:rPr sz="1100">
                <a:solidFill>
                  <a:srgbClr val="CBD3F0"/>
                </a:solidFill>
                <a:latin typeface="Courier New"/>
              </a:rPr>
              <a:t>  duration: __ENV.DURATION || '60s',</a:t>
            </a:r>
          </a:p>
          <a:p>
            <a:r>
              <a:rPr sz="1100">
                <a:solidFill>
                  <a:srgbClr val="CBD3F0"/>
                </a:solidFill>
                <a:latin typeface="Courier New"/>
              </a:rPr>
              <a:t>  thresholds: {</a:t>
            </a:r>
          </a:p>
          <a:p>
            <a:r>
              <a:rPr sz="1100">
                <a:solidFill>
                  <a:srgbClr val="CBD3F0"/>
                </a:solidFill>
                <a:latin typeface="Courier New"/>
              </a:rPr>
              <a:t>    http_req_failed:   ['rate&lt;0.03'],</a:t>
            </a:r>
          </a:p>
          <a:p>
            <a:r>
              <a:rPr sz="1100">
                <a:solidFill>
                  <a:srgbClr val="F9E2AF"/>
                </a:solidFill>
                <a:latin typeface="Courier New"/>
              </a:rPr>
              <a:t>    http_req_duration: ['p(95)&lt;1100'],</a:t>
            </a:r>
          </a:p>
          <a:p>
            <a:r>
              <a:rPr sz="1100">
                <a:solidFill>
                  <a:srgbClr val="F9E2AF"/>
                </a:solidFill>
                <a:latin typeface="Courier New"/>
              </a:rPr>
              <a:t>  },</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const targetUrl = __ENV.TARGET_URL</a:t>
            </a:r>
          </a:p>
          <a:p>
            <a:r>
              <a:rPr sz="1100">
                <a:solidFill>
                  <a:srgbClr val="CBD3F0"/>
                </a:solidFill>
                <a:latin typeface="Courier New"/>
              </a:rPr>
              <a:t>  || 'http://localhost:30080/process';</a:t>
            </a:r>
          </a:p>
          <a:p>
            <a:r>
              <a:rPr sz="1100">
                <a:solidFill>
                  <a:srgbClr val="F9E2AF"/>
                </a:solidFill>
                <a:latin typeface="Courier New"/>
              </a:rPr>
              <a:t>  // svc/s0 directo, NO gw-nginx</a:t>
            </a:r>
          </a:p>
          <a:p>
            <a:r>
              <a:rPr sz="1100">
                <a:solidFill>
                  <a:srgbClr val="CBD3F0"/>
                </a:solidFill>
                <a:latin typeface="Courier New"/>
              </a:rPr>
              <a:t>export default function () {</a:t>
            </a:r>
          </a:p>
          <a:p>
            <a:r>
              <a:rPr sz="1100">
                <a:solidFill>
                  <a:srgbClr val="F9E2AF"/>
                </a:solidFill>
                <a:latin typeface="Courier New"/>
              </a:rPr>
              <a:t>  const payload = JSON.stringify(</a:t>
            </a:r>
          </a:p>
          <a:p>
            <a:r>
              <a:rPr sz="1100">
                <a:solidFill>
                  <a:srgbClr val="CBD3F0"/>
                </a:solidFill>
                <a:latin typeface="Courier New"/>
              </a:rPr>
              <a:t>    { mode: 'linkerd-mtls' });</a:t>
            </a:r>
          </a:p>
          <a:p>
            <a:r>
              <a:rPr sz="1100">
                <a:solidFill>
                  <a:srgbClr val="CBD3F0"/>
                </a:solidFill>
                <a:latin typeface="Courier New"/>
              </a:rPr>
              <a:t>  const params = { headers: {</a:t>
            </a:r>
          </a:p>
          <a:p>
            <a:r>
              <a:rPr sz="1100">
                <a:solidFill>
                  <a:srgbClr val="CBD3F0"/>
                </a:solidFill>
                <a:latin typeface="Courier New"/>
              </a:rPr>
              <a:t>    'Content-Type': 'application/json'}};</a:t>
            </a:r>
          </a:p>
          <a:p>
            <a:r>
              <a:rPr sz="1100">
                <a:solidFill>
                  <a:srgbClr val="CBD3F0"/>
                </a:solidFill>
                <a:latin typeface="Courier New"/>
              </a:rPr>
              <a:t>  const res = http.post(</a:t>
            </a:r>
          </a:p>
          <a:p>
            <a:r>
              <a:rPr sz="1100">
                <a:solidFill>
                  <a:srgbClr val="F9E2AF"/>
                </a:solidFill>
                <a:latin typeface="Courier New"/>
              </a:rPr>
              <a:t>    targetUrl, payload, params);</a:t>
            </a:r>
          </a:p>
          <a:p>
            <a:r>
              <a:rPr sz="1100">
                <a:solidFill>
                  <a:srgbClr val="CBD3F0"/>
                </a:solidFill>
                <a:latin typeface="Courier New"/>
              </a:rPr>
              <a:t>  check(res, {'status 200': r=&gt;r.status===200});</a:t>
            </a:r>
          </a:p>
          <a:p>
            <a:r>
              <a:rPr sz="1100">
                <a:solidFill>
                  <a:srgbClr val="CBD3F0"/>
                </a:solidFill>
                <a:latin typeface="Courier New"/>
              </a:rPr>
              <a:t>  sleep(0.25);</a:t>
            </a:r>
          </a:p>
          <a:p>
            <a:r>
              <a:rPr sz="1100">
                <a:solidFill>
                  <a:srgbClr val="CBD3F0"/>
                </a:solidFill>
                <a:latin typeface="Courier New"/>
              </a:rPr>
              <a:t>}</a:t>
            </a:r>
          </a:p>
        </p:txBody>
      </p:sp>
      <p:sp>
        <p:nvSpPr>
          <p:cNvPr id="8" name="Rectangle 7"/>
          <p:cNvSpPr/>
          <p:nvPr/>
        </p:nvSpPr>
        <p:spPr>
          <a:xfrm>
            <a:off x="365760" y="4663440"/>
            <a:ext cx="2011680" cy="3200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Propiedad</a:t>
            </a:r>
          </a:p>
        </p:txBody>
      </p:sp>
      <p:sp>
        <p:nvSpPr>
          <p:cNvPr id="9" name="Rectangle 8"/>
          <p:cNvSpPr/>
          <p:nvPr/>
        </p:nvSpPr>
        <p:spPr>
          <a:xfrm>
            <a:off x="2377440" y="4663440"/>
            <a:ext cx="2103120" cy="3200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baseline</a:t>
            </a:r>
          </a:p>
        </p:txBody>
      </p:sp>
      <p:sp>
        <p:nvSpPr>
          <p:cNvPr id="10" name="Rectangle 9"/>
          <p:cNvSpPr/>
          <p:nvPr/>
        </p:nvSpPr>
        <p:spPr>
          <a:xfrm>
            <a:off x="4480560" y="4663440"/>
            <a:ext cx="2103120" cy="3200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istio-mtls</a:t>
            </a:r>
          </a:p>
        </p:txBody>
      </p:sp>
      <p:sp>
        <p:nvSpPr>
          <p:cNvPr id="11" name="Rectangle 10"/>
          <p:cNvSpPr/>
          <p:nvPr/>
        </p:nvSpPr>
        <p:spPr>
          <a:xfrm>
            <a:off x="6583680" y="4663440"/>
            <a:ext cx="2468880" cy="3200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linkerd-mtls</a:t>
            </a:r>
          </a:p>
        </p:txBody>
      </p:sp>
      <p:sp>
        <p:nvSpPr>
          <p:cNvPr id="12" name="Rectangle 11"/>
          <p:cNvSpPr/>
          <p:nvPr/>
        </p:nvSpPr>
        <p:spPr>
          <a:xfrm>
            <a:off x="365760" y="4983480"/>
            <a:ext cx="2011680" cy="301752"/>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2E75B6"/>
                </a:solidFill>
                <a:latin typeface="Courier New"/>
              </a:rPr>
              <a:t>Endpoint</a:t>
            </a:r>
          </a:p>
        </p:txBody>
      </p:sp>
      <p:sp>
        <p:nvSpPr>
          <p:cNvPr id="13" name="Rectangle 12"/>
          <p:cNvSpPr/>
          <p:nvPr/>
        </p:nvSpPr>
        <p:spPr>
          <a:xfrm>
            <a:off x="2377440" y="4983480"/>
            <a:ext cx="2103120" cy="30175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localhost:31213/api</a:t>
            </a:r>
          </a:p>
        </p:txBody>
      </p:sp>
      <p:sp>
        <p:nvSpPr>
          <p:cNvPr id="14" name="Rectangle 13"/>
          <p:cNvSpPr/>
          <p:nvPr/>
        </p:nvSpPr>
        <p:spPr>
          <a:xfrm>
            <a:off x="4480560" y="4983480"/>
            <a:ext cx="2103120" cy="30175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localhost:31213/api</a:t>
            </a:r>
          </a:p>
        </p:txBody>
      </p:sp>
      <p:sp>
        <p:nvSpPr>
          <p:cNvPr id="15" name="Rectangle 14"/>
          <p:cNvSpPr/>
          <p:nvPr/>
        </p:nvSpPr>
        <p:spPr>
          <a:xfrm>
            <a:off x="6583680" y="4983480"/>
            <a:ext cx="2468880" cy="30175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localhost:30080/process</a:t>
            </a:r>
          </a:p>
        </p:txBody>
      </p:sp>
      <p:sp>
        <p:nvSpPr>
          <p:cNvPr id="16" name="Rectangle 15"/>
          <p:cNvSpPr/>
          <p:nvPr/>
        </p:nvSpPr>
        <p:spPr>
          <a:xfrm>
            <a:off x="365760" y="5285232"/>
            <a:ext cx="2011680" cy="301752"/>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2E75B6"/>
                </a:solidFill>
                <a:latin typeface="Courier New"/>
              </a:rPr>
              <a:t>Método HTTP</a:t>
            </a:r>
          </a:p>
        </p:txBody>
      </p:sp>
      <p:sp>
        <p:nvSpPr>
          <p:cNvPr id="17" name="Rectangle 16"/>
          <p:cNvSpPr/>
          <p:nvPr/>
        </p:nvSpPr>
        <p:spPr>
          <a:xfrm>
            <a:off x="2377440" y="5285232"/>
            <a:ext cx="2103120" cy="301752"/>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GET</a:t>
            </a:r>
          </a:p>
        </p:txBody>
      </p:sp>
      <p:sp>
        <p:nvSpPr>
          <p:cNvPr id="18" name="Rectangle 17"/>
          <p:cNvSpPr/>
          <p:nvPr/>
        </p:nvSpPr>
        <p:spPr>
          <a:xfrm>
            <a:off x="4480560" y="5285232"/>
            <a:ext cx="2103120" cy="301752"/>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GET</a:t>
            </a:r>
          </a:p>
        </p:txBody>
      </p:sp>
      <p:sp>
        <p:nvSpPr>
          <p:cNvPr id="19" name="Rectangle 18"/>
          <p:cNvSpPr/>
          <p:nvPr/>
        </p:nvSpPr>
        <p:spPr>
          <a:xfrm>
            <a:off x="6583680" y="5285232"/>
            <a:ext cx="2468880" cy="301752"/>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POST + JSON body</a:t>
            </a:r>
          </a:p>
        </p:txBody>
      </p:sp>
      <p:sp>
        <p:nvSpPr>
          <p:cNvPr id="20" name="Rectangle 19"/>
          <p:cNvSpPr/>
          <p:nvPr/>
        </p:nvSpPr>
        <p:spPr>
          <a:xfrm>
            <a:off x="365760" y="5586984"/>
            <a:ext cx="2011680" cy="301752"/>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D3690F"/>
                </a:solidFill>
                <a:latin typeface="Courier New"/>
              </a:rPr>
              <a:t>Body</a:t>
            </a:r>
          </a:p>
        </p:txBody>
      </p:sp>
      <p:sp>
        <p:nvSpPr>
          <p:cNvPr id="21" name="Rectangle 20"/>
          <p:cNvSpPr/>
          <p:nvPr/>
        </p:nvSpPr>
        <p:spPr>
          <a:xfrm>
            <a:off x="2377440" y="5586984"/>
            <a:ext cx="2103120" cy="30175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a:t>
            </a:r>
          </a:p>
        </p:txBody>
      </p:sp>
      <p:sp>
        <p:nvSpPr>
          <p:cNvPr id="22" name="Rectangle 21"/>
          <p:cNvSpPr/>
          <p:nvPr/>
        </p:nvSpPr>
        <p:spPr>
          <a:xfrm>
            <a:off x="4480560" y="5586984"/>
            <a:ext cx="2103120" cy="30175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a:t>
            </a:r>
          </a:p>
        </p:txBody>
      </p:sp>
      <p:sp>
        <p:nvSpPr>
          <p:cNvPr id="23" name="Rectangle 22"/>
          <p:cNvSpPr/>
          <p:nvPr/>
        </p:nvSpPr>
        <p:spPr>
          <a:xfrm>
            <a:off x="6583680" y="5586984"/>
            <a:ext cx="2468880" cy="30175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{mode:'linkerd-mtls'}</a:t>
            </a:r>
          </a:p>
        </p:txBody>
      </p:sp>
      <p:sp>
        <p:nvSpPr>
          <p:cNvPr id="24" name="Rectangle 23"/>
          <p:cNvSpPr/>
          <p:nvPr/>
        </p:nvSpPr>
        <p:spPr>
          <a:xfrm>
            <a:off x="365760" y="5888736"/>
            <a:ext cx="2011680" cy="301752"/>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C0392B"/>
                </a:solidFill>
                <a:latin typeface="Courier New"/>
              </a:rPr>
              <a:t>sleep()</a:t>
            </a:r>
          </a:p>
        </p:txBody>
      </p:sp>
      <p:sp>
        <p:nvSpPr>
          <p:cNvPr id="25" name="Rectangle 24"/>
          <p:cNvSpPr/>
          <p:nvPr/>
        </p:nvSpPr>
        <p:spPr>
          <a:xfrm>
            <a:off x="2377440" y="5888736"/>
            <a:ext cx="2103120" cy="301752"/>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0.20 s</a:t>
            </a:r>
          </a:p>
        </p:txBody>
      </p:sp>
      <p:sp>
        <p:nvSpPr>
          <p:cNvPr id="26" name="Rectangle 25"/>
          <p:cNvSpPr/>
          <p:nvPr/>
        </p:nvSpPr>
        <p:spPr>
          <a:xfrm>
            <a:off x="4480560" y="5888736"/>
            <a:ext cx="2103120" cy="301752"/>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0.25 s</a:t>
            </a:r>
          </a:p>
        </p:txBody>
      </p:sp>
      <p:sp>
        <p:nvSpPr>
          <p:cNvPr id="27" name="Rectangle 26"/>
          <p:cNvSpPr/>
          <p:nvPr/>
        </p:nvSpPr>
        <p:spPr>
          <a:xfrm>
            <a:off x="6583680" y="5888736"/>
            <a:ext cx="2468880" cy="301752"/>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0.25 s</a:t>
            </a:r>
          </a:p>
        </p:txBody>
      </p:sp>
      <p:sp>
        <p:nvSpPr>
          <p:cNvPr id="28" name="Rectangle 27"/>
          <p:cNvSpPr/>
          <p:nvPr/>
        </p:nvSpPr>
        <p:spPr>
          <a:xfrm>
            <a:off x="365760" y="6190488"/>
            <a:ext cx="2011680" cy="301752"/>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6844B4"/>
                </a:solidFill>
                <a:latin typeface="Courier New"/>
              </a:rPr>
              <a:t>p(95) umbral</a:t>
            </a:r>
          </a:p>
        </p:txBody>
      </p:sp>
      <p:sp>
        <p:nvSpPr>
          <p:cNvPr id="29" name="Rectangle 28"/>
          <p:cNvSpPr/>
          <p:nvPr/>
        </p:nvSpPr>
        <p:spPr>
          <a:xfrm>
            <a:off x="2377440" y="6190488"/>
            <a:ext cx="2103120" cy="30175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&lt; 800 ms</a:t>
            </a:r>
          </a:p>
        </p:txBody>
      </p:sp>
      <p:sp>
        <p:nvSpPr>
          <p:cNvPr id="30" name="Rectangle 29"/>
          <p:cNvSpPr/>
          <p:nvPr/>
        </p:nvSpPr>
        <p:spPr>
          <a:xfrm>
            <a:off x="4480560" y="6190488"/>
            <a:ext cx="2103120" cy="30175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&lt; 1200 ms</a:t>
            </a:r>
          </a:p>
        </p:txBody>
      </p:sp>
      <p:sp>
        <p:nvSpPr>
          <p:cNvPr id="31" name="Rectangle 30"/>
          <p:cNvSpPr/>
          <p:nvPr/>
        </p:nvSpPr>
        <p:spPr>
          <a:xfrm>
            <a:off x="6583680" y="6190488"/>
            <a:ext cx="2468880" cy="30175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&lt; 1100 ms</a:t>
            </a:r>
          </a:p>
        </p:txBody>
      </p:sp>
      <p:sp>
        <p:nvSpPr>
          <p:cNvPr id="32" name="Rectangle 31"/>
          <p:cNvSpPr/>
          <p:nvPr/>
        </p:nvSpPr>
        <p:spPr>
          <a:xfrm>
            <a:off x="365760" y="6492240"/>
            <a:ext cx="2011680" cy="301752"/>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6844B4"/>
                </a:solidFill>
                <a:latin typeface="Courier New"/>
              </a:rPr>
              <a:t>fail% umbral</a:t>
            </a:r>
          </a:p>
        </p:txBody>
      </p:sp>
      <p:sp>
        <p:nvSpPr>
          <p:cNvPr id="33" name="Rectangle 32"/>
          <p:cNvSpPr/>
          <p:nvPr/>
        </p:nvSpPr>
        <p:spPr>
          <a:xfrm>
            <a:off x="2377440" y="6492240"/>
            <a:ext cx="2103120" cy="301752"/>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&lt; 2%</a:t>
            </a:r>
          </a:p>
        </p:txBody>
      </p:sp>
      <p:sp>
        <p:nvSpPr>
          <p:cNvPr id="34" name="Rectangle 33"/>
          <p:cNvSpPr/>
          <p:nvPr/>
        </p:nvSpPr>
        <p:spPr>
          <a:xfrm>
            <a:off x="4480560" y="6492240"/>
            <a:ext cx="2103120" cy="301752"/>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&lt; 3%</a:t>
            </a:r>
          </a:p>
        </p:txBody>
      </p:sp>
      <p:sp>
        <p:nvSpPr>
          <p:cNvPr id="35" name="Rectangle 34"/>
          <p:cNvSpPr/>
          <p:nvPr/>
        </p:nvSpPr>
        <p:spPr>
          <a:xfrm>
            <a:off x="6583680" y="6492240"/>
            <a:ext cx="2468880" cy="301752"/>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&lt; 3%</a:t>
            </a:r>
          </a:p>
        </p:txBody>
      </p:sp>
      <p:sp>
        <p:nvSpPr>
          <p:cNvPr id="36" name="Rectangle 35"/>
          <p:cNvSpPr/>
          <p:nvPr/>
        </p:nvSpPr>
        <p:spPr>
          <a:xfrm>
            <a:off x="365760" y="6793992"/>
            <a:ext cx="2011680" cy="301752"/>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--no-thresholds</a:t>
            </a:r>
          </a:p>
        </p:txBody>
      </p:sp>
      <p:sp>
        <p:nvSpPr>
          <p:cNvPr id="37" name="Rectangle 36"/>
          <p:cNvSpPr/>
          <p:nvPr/>
        </p:nvSpPr>
        <p:spPr>
          <a:xfrm>
            <a:off x="2377440" y="6793992"/>
            <a:ext cx="2103120" cy="30175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Sí (en runner)</a:t>
            </a:r>
          </a:p>
        </p:txBody>
      </p:sp>
      <p:sp>
        <p:nvSpPr>
          <p:cNvPr id="38" name="Rectangle 37"/>
          <p:cNvSpPr/>
          <p:nvPr/>
        </p:nvSpPr>
        <p:spPr>
          <a:xfrm>
            <a:off x="4480560" y="6793992"/>
            <a:ext cx="2103120" cy="30175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Sí (en runner)</a:t>
            </a:r>
          </a:p>
        </p:txBody>
      </p:sp>
      <p:sp>
        <p:nvSpPr>
          <p:cNvPr id="39" name="Rectangle 38"/>
          <p:cNvSpPr/>
          <p:nvPr/>
        </p:nvSpPr>
        <p:spPr>
          <a:xfrm>
            <a:off x="6583680" y="6793992"/>
            <a:ext cx="2468880" cy="30175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1F497D"/>
                </a:solidFill>
                <a:latin typeface="Courier New"/>
              </a:rPr>
              <a:t>Sí (en runner)</a:t>
            </a:r>
          </a:p>
        </p:txBody>
      </p:sp>
      <p:sp>
        <p:nvSpPr>
          <p:cNvPr id="40" name="Rectangle 39"/>
          <p:cNvSpPr/>
          <p:nvPr/>
        </p:nvSpPr>
        <p:spPr>
          <a:xfrm>
            <a:off x="9006840" y="1143000"/>
            <a:ext cx="283464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E75B6"/>
                </a:solidFill>
                <a:latin typeface="Courier New"/>
              </a:rPr>
              <a:t>¿Por qué umbrales distintos?</a:t>
            </a:r>
          </a:p>
          <a:p>
            <a:r>
              <a:rPr sz="950">
                <a:solidFill>
                  <a:srgbClr val="555555"/>
                </a:solidFill>
              </a:rPr>
              <a:t>Los thresholds de cada script reflejan
el overhead esperado del escenario:
  baseline: p95&lt;800ms   (sin overhead)
  istio:    p95&lt;1200ms  (+50% margen)
  linkerd:  p95&lt;1100ms  (+38% margen)
Linkerd &lt; Istio porque en teoría el
proxy Rust es más ligero que Envoy.
Nota: los runners usan --no-thresholds
para que exit code ≠ 99 no rompa el
loop. Los thresholds están aquí solo
como documentación del objetivo.</a:t>
            </a:r>
          </a:p>
        </p:txBody>
      </p:sp>
      <p:sp>
        <p:nvSpPr>
          <p:cNvPr id="41" name="Rectangle 40"/>
          <p:cNvSpPr/>
          <p:nvPr/>
        </p:nvSpPr>
        <p:spPr>
          <a:xfrm>
            <a:off x="11978640" y="1143000"/>
            <a:ext cx="283464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3690F"/>
                </a:solidFill>
                <a:latin typeface="Courier New"/>
              </a:rPr>
              <a:t>sleep 0.25 vs 0.20 — think time</a:t>
            </a:r>
          </a:p>
          <a:p>
            <a:r>
              <a:rPr sz="950">
                <a:solidFill>
                  <a:srgbClr val="555555"/>
                </a:solidFill>
              </a:rPr>
              <a:t>El sleep simula el 'think time' del
usuario entre requests:
  baseline: 0.20s (referencia)
  istio:    0.25s (+25ms)
  linkerd:  0.25s (+25ms)
Mayor think time → menor RPS simulado
→ carga más realista para entornos
con mTLS donde el handshake tarda.
Con sleep=0 y mTLS activo la cola de
conexiones de Envoy se satura rápido
produciendo timeouts artificiales.</a:t>
            </a:r>
          </a:p>
        </p:txBody>
      </p:sp>
      <p:sp>
        <p:nvSpPr>
          <p:cNvPr id="42" name="Rectangle 41"/>
          <p:cNvSpPr/>
          <p:nvPr/>
        </p:nvSpPr>
        <p:spPr>
          <a:xfrm>
            <a:off x="9006840" y="3383280"/>
            <a:ext cx="283464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844B4"/>
                </a:solidFill>
                <a:latin typeface="Courier New"/>
              </a:rPr>
              <a:t>POST con body vs GET simple</a:t>
            </a:r>
          </a:p>
          <a:p>
            <a:r>
              <a:rPr sz="950">
                <a:solidFill>
                  <a:srgbClr val="555555"/>
                </a:solidFill>
              </a:rPr>
              <a:t>El test de Linkerd usa POST porque:
  1. svc/s0 /process espera un body JSON
     (es la API de MuBench base)
  2. El campo 'mode': 'linkerd-mtls'
     permite identificar la fuente del
     request en los logs de s0
  3. El endpoint GET /api de gw-nginx
     no es accesible directamente desde
     el namespace default con Linkerd
Consecuencia: las métricas de Linkerd
incluyen overhead de parse JSON que
baseline e Istio no tienen.</a:t>
            </a:r>
          </a:p>
        </p:txBody>
      </p:sp>
      <p:sp>
        <p:nvSpPr>
          <p:cNvPr id="43" name="Rectangle 42"/>
          <p:cNvSpPr/>
          <p:nvPr/>
        </p:nvSpPr>
        <p:spPr>
          <a:xfrm>
            <a:off x="11978640" y="3383280"/>
            <a:ext cx="283464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E6B3A"/>
                </a:solidFill>
                <a:latin typeface="Courier New"/>
              </a:rPr>
              <a:t>__ENV — variables inyectadas por el runner</a:t>
            </a:r>
          </a:p>
          <a:p>
            <a:r>
              <a:rPr sz="950">
                <a:solidFill>
                  <a:srgbClr val="555555"/>
                </a:solidFill>
              </a:rPr>
              <a:t>k6 recibe las variables vía -e flag:
  k6 run -e VUS=10 \
         -e DURATION=60s \
         -e TARGET_URL=http://...
En el script se leen con __ENV:
  __ENV.VUS      || 5       (default)
  __ENV.DURATION || '60s'
  __ENV.TARGET_URL || 'http://...:default'
El default en el script permite
ejecutar el test manualmente sin el
runner:
  k6 run test-mtls-baseline.js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tools/install-mesh-clis-safe.sh — CLIs de istioctl y Linkerd</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Prerrequisito del experimento · instala en ~/.local/bin · idempotente · istio 1.22.3 · linkerd stable-2.14.10</a:t>
            </a:r>
          </a:p>
        </p:txBody>
      </p:sp>
      <p:sp>
        <p:nvSpPr>
          <p:cNvPr id="5" name="Rectangle 4"/>
          <p:cNvSpPr/>
          <p:nvPr/>
        </p:nvSpPr>
        <p:spPr>
          <a:xfrm>
            <a:off x="365760" y="1143000"/>
            <a:ext cx="5577840" cy="52578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#!/usr/bin/env bash</a:t>
            </a:r>
          </a:p>
          <a:p>
            <a:r>
              <a:rPr sz="1100">
                <a:solidFill>
                  <a:srgbClr val="F9E2AF"/>
                </a:solidFill>
                <a:latin typeface="Courier New"/>
              </a:rPr>
              <a:t>set -euo pipefail</a:t>
            </a:r>
          </a:p>
          <a:p>
            <a:r>
              <a:rPr sz="1100">
                <a:solidFill>
                  <a:srgbClr val="CBD3F0"/>
                </a:solidFill>
                <a:latin typeface="Courier New"/>
              </a:rPr>
              <a:t/>
            </a:r>
          </a:p>
          <a:p>
            <a:r>
              <a:rPr sz="1100">
                <a:solidFill>
                  <a:srgbClr val="CBD3F0"/>
                </a:solidFill>
                <a:latin typeface="Courier New"/>
              </a:rPr>
              <a:t>BIN_DIR="${HOME}/.local/bin"</a:t>
            </a:r>
          </a:p>
          <a:p>
            <a:r>
              <a:rPr sz="1100">
                <a:solidFill>
                  <a:srgbClr val="CBD3F0"/>
                </a:solidFill>
                <a:latin typeface="Courier New"/>
              </a:rPr>
              <a:t>mkdir -p "$BIN_DIR"</a:t>
            </a:r>
          </a:p>
          <a:p>
            <a:r>
              <a:rPr sz="1100">
                <a:solidFill>
                  <a:srgbClr val="CBD3F0"/>
                </a:solidFill>
                <a:latin typeface="Courier New"/>
              </a:rPr>
              <a:t>export PATH="$BIN_DIR:$PATH"</a:t>
            </a:r>
          </a:p>
          <a:p>
            <a:r>
              <a:rPr sz="1100">
                <a:solidFill>
                  <a:srgbClr val="CBD3F0"/>
                </a:solidFill>
                <a:latin typeface="Courier New"/>
              </a:rPr>
              <a:t/>
            </a:r>
          </a:p>
          <a:p>
            <a:r>
              <a:rPr sz="1100">
                <a:solidFill>
                  <a:srgbClr val="CBD3F0"/>
                </a:solidFill>
                <a:latin typeface="Courier New"/>
              </a:rPr>
              <a:t># ── istioctl ──────────────────────────────</a:t>
            </a:r>
          </a:p>
          <a:p>
            <a:r>
              <a:rPr sz="1100">
                <a:solidFill>
                  <a:srgbClr val="F9E2AF"/>
                </a:solidFill>
                <a:latin typeface="Courier New"/>
              </a:rPr>
              <a:t>if ! command -v istioctl &gt;/dev/null 2&gt;&amp;1; then</a:t>
            </a:r>
          </a:p>
          <a:p>
            <a:r>
              <a:rPr sz="1100">
                <a:solidFill>
                  <a:srgbClr val="F9E2AF"/>
                </a:solidFill>
                <a:latin typeface="Courier New"/>
              </a:rPr>
              <a:t>  ISTIO_VERSION="1.22.3"</a:t>
            </a:r>
          </a:p>
          <a:p>
            <a:r>
              <a:rPr sz="1100">
                <a:solidFill>
                  <a:srgbClr val="CBD3F0"/>
                </a:solidFill>
                <a:latin typeface="Courier New"/>
              </a:rPr>
              <a:t>  INSTALL_DIR="/tmp/istio-install"</a:t>
            </a:r>
          </a:p>
          <a:p>
            <a:r>
              <a:rPr sz="1100">
                <a:solidFill>
                  <a:srgbClr val="CBD3F0"/>
                </a:solidFill>
                <a:latin typeface="Courier New"/>
              </a:rPr>
              <a:t>  mkdir -p "$INSTALL_DIR"</a:t>
            </a:r>
          </a:p>
          <a:p>
            <a:r>
              <a:rPr sz="1100">
                <a:solidFill>
                  <a:srgbClr val="CBD3F0"/>
                </a:solidFill>
                <a:latin typeface="Courier New"/>
              </a:rPr>
              <a:t/>
            </a:r>
          </a:p>
          <a:p>
            <a:r>
              <a:rPr sz="1100">
                <a:solidFill>
                  <a:srgbClr val="CBD3F0"/>
                </a:solidFill>
                <a:latin typeface="Courier New"/>
              </a:rPr>
              <a:t>  curl -L 'https://istio.io/downloadIstio' \</a:t>
            </a:r>
          </a:p>
          <a:p>
            <a:r>
              <a:rPr sz="1100">
                <a:solidFill>
                  <a:srgbClr val="F9E2AF"/>
                </a:solidFill>
                <a:latin typeface="Courier New"/>
              </a:rPr>
              <a:t>       -o "$INSTALL_DIR/downloadIstio.sh"</a:t>
            </a:r>
          </a:p>
          <a:p>
            <a:r>
              <a:rPr sz="1100">
                <a:solidFill>
                  <a:srgbClr val="CBD3F0"/>
                </a:solidFill>
                <a:latin typeface="Courier New"/>
              </a:rPr>
              <a:t>  chmod +x "$INSTALL_DIR/downloadIstio.sh"</a:t>
            </a:r>
          </a:p>
          <a:p>
            <a:r>
              <a:rPr sz="1100">
                <a:solidFill>
                  <a:srgbClr val="CBD3F0"/>
                </a:solidFill>
                <a:latin typeface="Courier New"/>
              </a:rPr>
              <a:t/>
            </a:r>
          </a:p>
          <a:p>
            <a:r>
              <a:rPr sz="1100">
                <a:solidFill>
                  <a:srgbClr val="CBD3F0"/>
                </a:solidFill>
                <a:latin typeface="Courier New"/>
              </a:rPr>
              <a:t>  (cd "$INSTALL_DIR"</a:t>
            </a:r>
          </a:p>
          <a:p>
            <a:r>
              <a:rPr sz="1100">
                <a:solidFill>
                  <a:srgbClr val="CBD3F0"/>
                </a:solidFill>
                <a:latin typeface="Courier New"/>
              </a:rPr>
              <a:t>   ISTIO_VERSION="$ISTIO_VERSION" \</a:t>
            </a:r>
          </a:p>
          <a:p>
            <a:r>
              <a:rPr sz="1100">
                <a:solidFill>
                  <a:srgbClr val="CBD3F0"/>
                </a:solidFill>
                <a:latin typeface="Courier New"/>
              </a:rPr>
              <a:t>   TARGET_ARCH=x86_64 \</a:t>
            </a:r>
          </a:p>
          <a:p>
            <a:r>
              <a:rPr sz="1100">
                <a:solidFill>
                  <a:srgbClr val="CBD3F0"/>
                </a:solidFill>
                <a:latin typeface="Courier New"/>
              </a:rPr>
              <a:t>   ./downloadIstio.sh &gt;/dev/null)</a:t>
            </a:r>
          </a:p>
          <a:p>
            <a:r>
              <a:rPr sz="1100">
                <a:solidFill>
                  <a:srgbClr val="CBD3F0"/>
                </a:solidFill>
                <a:latin typeface="Courier New"/>
              </a:rPr>
              <a:t/>
            </a:r>
          </a:p>
          <a:p>
            <a:r>
              <a:rPr sz="1100">
                <a:solidFill>
                  <a:srgbClr val="CBD3F0"/>
                </a:solidFill>
                <a:latin typeface="Courier New"/>
              </a:rPr>
              <a:t>  ISTIOCTL_PATH=$(find "$INSTALL_DIR" \</a:t>
            </a:r>
          </a:p>
          <a:p>
            <a:r>
              <a:rPr sz="1100">
                <a:solidFill>
                  <a:srgbClr val="F9E2AF"/>
                </a:solidFill>
                <a:latin typeface="Courier New"/>
              </a:rPr>
              <a:t>    -type f -path '*/bin/istioctl' | head -n1)</a:t>
            </a:r>
          </a:p>
          <a:p>
            <a:r>
              <a:rPr sz="1100">
                <a:solidFill>
                  <a:srgbClr val="CBD3F0"/>
                </a:solidFill>
                <a:latin typeface="Courier New"/>
              </a:rPr>
              <a:t>  if [[ -z "$ISTIOCTL_PATH" ]]; then</a:t>
            </a:r>
          </a:p>
          <a:p>
            <a:r>
              <a:rPr sz="1100">
                <a:solidFill>
                  <a:srgbClr val="CBD3F0"/>
                </a:solidFill>
                <a:latin typeface="Courier New"/>
              </a:rPr>
              <a:t>    echo '[tools] ERROR: binario no encontrado'</a:t>
            </a:r>
          </a:p>
          <a:p>
            <a:r>
              <a:rPr sz="1100">
                <a:solidFill>
                  <a:srgbClr val="CBD3F0"/>
                </a:solidFill>
                <a:latin typeface="Courier New"/>
              </a:rPr>
              <a:t>    exit 1</a:t>
            </a:r>
          </a:p>
          <a:p>
            <a:r>
              <a:rPr sz="1100">
                <a:solidFill>
                  <a:srgbClr val="CBD3F0"/>
                </a:solidFill>
                <a:latin typeface="Courier New"/>
              </a:rPr>
              <a:t>  fi</a:t>
            </a:r>
          </a:p>
          <a:p>
            <a:r>
              <a:rPr sz="1100">
                <a:solidFill>
                  <a:srgbClr val="CBD3F0"/>
                </a:solidFill>
                <a:latin typeface="Courier New"/>
              </a:rPr>
              <a:t>  cp "$ISTIOCTL_PATH" "$BIN_DIR/istioctl"</a:t>
            </a:r>
          </a:p>
          <a:p>
            <a:r>
              <a:rPr sz="1100">
                <a:solidFill>
                  <a:srgbClr val="CBD3F0"/>
                </a:solidFill>
                <a:latin typeface="Courier New"/>
              </a:rPr>
              <a:t>fi</a:t>
            </a:r>
          </a:p>
          <a:p>
            <a:r>
              <a:rPr sz="1100">
                <a:solidFill>
                  <a:srgbClr val="CBD3F0"/>
                </a:solidFill>
                <a:latin typeface="Courier New"/>
              </a:rPr>
              <a:t/>
            </a:r>
          </a:p>
          <a:p>
            <a:r>
              <a:rPr sz="1100">
                <a:solidFill>
                  <a:srgbClr val="CBD3F0"/>
                </a:solidFill>
                <a:latin typeface="Courier New"/>
              </a:rPr>
              <a:t># ── linkerd CLI ───────────────────────────</a:t>
            </a:r>
          </a:p>
          <a:p>
            <a:r>
              <a:rPr sz="1100">
                <a:solidFill>
                  <a:srgbClr val="F9E2AF"/>
                </a:solidFill>
                <a:latin typeface="Courier New"/>
              </a:rPr>
              <a:t>if ! command -v linkerd &gt;/dev/null 2&gt;&amp;1; then</a:t>
            </a:r>
          </a:p>
          <a:p>
            <a:r>
              <a:rPr sz="1100">
                <a:solidFill>
                  <a:srgbClr val="F9E2AF"/>
                </a:solidFill>
                <a:latin typeface="Courier New"/>
              </a:rPr>
              <a:t>  LINKERD_VERSION="stable-2.14.10"</a:t>
            </a:r>
          </a:p>
          <a:p>
            <a:r>
              <a:rPr sz="1100">
                <a:solidFill>
                  <a:srgbClr val="CBD3F0"/>
                </a:solidFill>
                <a:latin typeface="Courier New"/>
              </a:rPr>
              <a:t>  curl -sL https://run.linkerd.io/install \</a:t>
            </a:r>
          </a:p>
          <a:p>
            <a:r>
              <a:rPr sz="1100">
                <a:solidFill>
                  <a:srgbClr val="CBD3F0"/>
                </a:solidFill>
                <a:latin typeface="Courier New"/>
              </a:rPr>
              <a:t>    | LINKERD2_VERSION="$LINKERD_VERSION" sh</a:t>
            </a:r>
          </a:p>
          <a:p>
            <a:r>
              <a:rPr sz="1100">
                <a:solidFill>
                  <a:srgbClr val="CBD3F0"/>
                </a:solidFill>
                <a:latin typeface="Courier New"/>
              </a:rPr>
              <a:t>  cp "$HOME/.linkerd2/bin/linkerd" \</a:t>
            </a:r>
          </a:p>
          <a:p>
            <a:r>
              <a:rPr sz="1100">
                <a:solidFill>
                  <a:srgbClr val="CBD3F0"/>
                </a:solidFill>
                <a:latin typeface="Courier New"/>
              </a:rPr>
              <a:t>     "$BIN_DIR/linkerd"</a:t>
            </a:r>
          </a:p>
          <a:p>
            <a:r>
              <a:rPr sz="1100">
                <a:solidFill>
                  <a:srgbClr val="CBD3F0"/>
                </a:solidFill>
                <a:latin typeface="Courier New"/>
              </a:rPr>
              <a:t>fi</a:t>
            </a:r>
          </a:p>
          <a:p>
            <a:r>
              <a:rPr sz="1100">
                <a:solidFill>
                  <a:srgbClr val="CBD3F0"/>
                </a:solidFill>
                <a:latin typeface="Courier New"/>
              </a:rPr>
              <a:t/>
            </a:r>
          </a:p>
          <a:p>
            <a:r>
              <a:rPr sz="1100">
                <a:solidFill>
                  <a:srgbClr val="CBD3F0"/>
                </a:solidFill>
                <a:latin typeface="Courier New"/>
              </a:rPr>
              <a:t># ── Verificación ──────────────────────────</a:t>
            </a:r>
          </a:p>
          <a:p>
            <a:r>
              <a:rPr sz="1100">
                <a:solidFill>
                  <a:srgbClr val="F9E2AF"/>
                </a:solidFill>
                <a:latin typeface="Courier New"/>
              </a:rPr>
              <a:t>"$BIN_DIR/istioctl" version --remote=false || true</a:t>
            </a:r>
          </a:p>
          <a:p>
            <a:r>
              <a:rPr sz="1100">
                <a:solidFill>
                  <a:srgbClr val="CBD3F0"/>
                </a:solidFill>
                <a:latin typeface="Courier New"/>
              </a:rPr>
              <a:t>"$BIN_DIR/linkerd"  version --client       || true</a:t>
            </a:r>
          </a:p>
          <a:p>
            <a:r>
              <a:rPr sz="1100">
                <a:solidFill>
                  <a:srgbClr val="CBD3F0"/>
                </a:solidFill>
                <a:latin typeface="Courier New"/>
              </a:rPr>
              <a:t>echo "Agrega: export PATH='$BIN_DIR:\$PATH'"</a:t>
            </a:r>
          </a:p>
        </p:txBody>
      </p:sp>
      <p:sp>
        <p:nvSpPr>
          <p:cNvPr id="6" name="Rectangle 5"/>
          <p:cNvSpPr/>
          <p:nvPr/>
        </p:nvSpPr>
        <p:spPr>
          <a:xfrm>
            <a:off x="6080760" y="1143000"/>
            <a:ext cx="283464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¿Para qué sirve?</a:t>
            </a:r>
          </a:p>
          <a:p>
            <a:r>
              <a:rPr sz="1000">
                <a:solidFill>
                  <a:srgbClr val="555555"/>
                </a:solidFill>
              </a:rPr>
              <a:t>tools/ es el PRERREQUISITO del experimento.
Antes de ejecutar cualquier script de
02-mtls-service-mesh, los CLIs deben
estar instalados:
  install-istio-safe.sh  → necesita istioctl
  install-linkerd-safe.sh → necesita linkerd
  run-control2-autopilot → has_cmd istioctl
Si no están → los scripts fallan con:
  '[istio] ERROR: istioctl no encontrado'
  '[linkerd] ERROR: linkerd CLI no encontrado'
Se ejecuta UNA sola vez antes del experimento.</a:t>
            </a:r>
          </a:p>
        </p:txBody>
      </p:sp>
      <p:sp>
        <p:nvSpPr>
          <p:cNvPr id="7" name="Rectangle 6"/>
          <p:cNvSpPr/>
          <p:nvPr/>
        </p:nvSpPr>
        <p:spPr>
          <a:xfrm>
            <a:off x="9052560" y="1143000"/>
            <a:ext cx="283464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~/.local/bin — sin sudo</a:t>
            </a:r>
          </a:p>
          <a:p>
            <a:r>
              <a:rPr sz="1000">
                <a:solidFill>
                  <a:srgbClr val="555555"/>
                </a:solidFill>
              </a:rPr>
              <a:t>El script instala en el HOME del usuario,
NO en /usr/local/bin (requeriría sudo).
  BIN_DIR=$HOME/.local/bin
Ventajas:
  - Sin privilegios de root
  - Portátil entre usuarios
  - No contamina el sistema
Requiere que $HOME/.local/bin esté en
el PATH. El script muestra el export
al final si hace falta agregarlo al
.bashrc o .zshrc manualmente.</a:t>
            </a:r>
          </a:p>
        </p:txBody>
      </p:sp>
      <p:sp>
        <p:nvSpPr>
          <p:cNvPr id="8" name="Rectangle 7"/>
          <p:cNvSpPr/>
          <p:nvPr/>
        </p:nvSpPr>
        <p:spPr>
          <a:xfrm>
            <a:off x="6080760" y="3383280"/>
            <a:ext cx="283464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Idempotencia — command -v guard</a:t>
            </a:r>
          </a:p>
          <a:p>
            <a:r>
              <a:rPr sz="1000">
                <a:solidFill>
                  <a:srgbClr val="555555"/>
                </a:solidFill>
              </a:rPr>
              <a:t>Cada CLI tiene un guard:
  if ! command -v istioctl ...; then
    # solo instala si no existe
  fi
Si ya está en PATH → skip completo.
Permite re-ejecutar el script sin
riesgo de reinstalar sobre una versión
funcional o de desperdiciar bandwidth.
El autopilot puede llamarlo cada vez
que arranca sin overhead si los CLIs
ya están presentes.</a:t>
            </a:r>
          </a:p>
        </p:txBody>
      </p:sp>
      <p:sp>
        <p:nvSpPr>
          <p:cNvPr id="9" name="Rectangle 8"/>
          <p:cNvSpPr/>
          <p:nvPr/>
        </p:nvSpPr>
        <p:spPr>
          <a:xfrm>
            <a:off x="9052560" y="3383280"/>
            <a:ext cx="283464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istioctl — descarga oficial</a:t>
            </a:r>
          </a:p>
          <a:p>
            <a:r>
              <a:rPr sz="1000">
                <a:solidFill>
                  <a:srgbClr val="555555"/>
                </a:solidFill>
              </a:rPr>
              <a:t>Usa el script oficial de Istio:
  curl -L istio.io/downloadIstio
  → descarga downloadIstio.sh
  Variables de entorno controlan la descarga:
    ISTIO_VERSION=1.22.3
    TARGET_ARCH=x86_64
El script oficial extrae en:
  /tmp/istio-install/istio-1.22.3/
    bin/istioctl
find busca el binario dentro del
directorio extraído (la ruta varía
por versión) y lo copia a BIN_DIR.</a:t>
            </a:r>
          </a:p>
        </p:txBody>
      </p:sp>
      <p:sp>
        <p:nvSpPr>
          <p:cNvPr id="10" name="Rectangle 9"/>
          <p:cNvSpPr/>
          <p:nvPr/>
        </p:nvSpPr>
        <p:spPr>
          <a:xfrm>
            <a:off x="6080760" y="5623560"/>
            <a:ext cx="283464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linkerd — pipe install</a:t>
            </a:r>
          </a:p>
          <a:p>
            <a:r>
              <a:rPr sz="1000">
                <a:solidFill>
                  <a:srgbClr val="555555"/>
                </a:solidFill>
              </a:rPr>
              <a:t>Usa el instalador oficial:
  curl -sL run.linkerd.io/install | \
    LINKERD2_VERSION=stable-2.14.10 sh
El script instala en:
  $HOME/.linkerd2/bin/linkerd
Luego se copia a BIN_DIR:
  cp ~/.linkerd2/bin/linkerd \
     ~/.local/bin/linkerd
Nota: pipe a sh es práctica de
instalación común pero implica
ejecutar código remoto sin verificar
firma. Aceptable en lab, no en prod.</a:t>
            </a:r>
          </a:p>
        </p:txBody>
      </p:sp>
      <p:sp>
        <p:nvSpPr>
          <p:cNvPr id="11" name="Rectangle 10"/>
          <p:cNvSpPr/>
          <p:nvPr/>
        </p:nvSpPr>
        <p:spPr>
          <a:xfrm>
            <a:off x="9052560" y="5623560"/>
            <a:ext cx="283464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Integración con el experimento</a:t>
            </a:r>
          </a:p>
          <a:p>
            <a:r>
              <a:rPr sz="1000">
                <a:solidFill>
                  <a:srgbClr val="555555"/>
                </a:solidFill>
              </a:rPr>
              <a:t>Flujo completo de uso:
  # Paso 0 — preparación (una vez)
  bash tools/install-mesh-clis-safe.sh
  export PATH=$HOME/.local/bin:$PATH
  # Paso 1 — escenario baseline
  bash run-control2-safe.sh --scenario baseline
  # Paso 2 — escenario Istio
  bash run-control2-safe.sh --scenario istio
  # Paso 3 — escenario Linkerd
  bash run-control2-safe.sh --scenario linkerd
  # Paso 4 — análisis
  python3 analyze-results.py</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analyze-results.py — tabla de overhead baseline vs Istio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Lee NDJSON línea a línea · percentiles manuales · promedia réplicas · imprime tabla con overhead%</a:t>
            </a:r>
          </a:p>
        </p:txBody>
      </p:sp>
      <p:sp>
        <p:nvSpPr>
          <p:cNvPr id="5" name="Rectangle 4"/>
          <p:cNvSpPr/>
          <p:nvPr/>
        </p:nvSpPr>
        <p:spPr>
          <a:xfrm>
            <a:off x="365760" y="1143000"/>
            <a:ext cx="5577840" cy="52578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parse_results(folder) — extrae estadísticas por VUS</a:t>
            </a:r>
          </a:p>
          <a:p>
            <a:r>
              <a:rPr sz="1100">
                <a:solidFill>
                  <a:srgbClr val="F9E2AF"/>
                </a:solidFill>
                <a:latin typeface="Courier New"/>
              </a:rPr>
              <a:t>for f in sorted(folder.glob('*.json')):</a:t>
            </a:r>
          </a:p>
          <a:p>
            <a:r>
              <a:rPr sz="1100">
                <a:solidFill>
                  <a:srgbClr val="CBD3F0"/>
                </a:solidFill>
                <a:latin typeface="Courier New"/>
              </a:rPr>
              <a:t>    # extrae VUS del nombre: baseline-vus5-rep1</a:t>
            </a:r>
          </a:p>
          <a:p>
            <a:r>
              <a:rPr sz="1100">
                <a:solidFill>
                  <a:srgbClr val="CBD3F0"/>
                </a:solidFill>
                <a:latin typeface="Courier New"/>
              </a:rPr>
              <a:t>    for p in name.split('-'):</a:t>
            </a:r>
          </a:p>
          <a:p>
            <a:r>
              <a:rPr sz="1100">
                <a:solidFill>
                  <a:srgbClr val="CBD3F0"/>
                </a:solidFill>
                <a:latin typeface="Courier New"/>
              </a:rPr>
              <a:t>        if p.startswith('vus'): vus = int(p[3:])</a:t>
            </a:r>
          </a:p>
          <a:p>
            <a:r>
              <a:rPr sz="1100">
                <a:solidFill>
                  <a:srgbClr val="CBD3F0"/>
                </a:solidFill>
                <a:latin typeface="Courier New"/>
              </a:rPr>
              <a:t/>
            </a:r>
          </a:p>
          <a:p>
            <a:r>
              <a:rPr sz="1100">
                <a:solidFill>
                  <a:srgbClr val="CBD3F0"/>
                </a:solidFill>
                <a:latin typeface="Courier New"/>
              </a:rPr>
              <a:t>    # lee NDJSON línea a línea</a:t>
            </a:r>
          </a:p>
          <a:p>
            <a:r>
              <a:rPr sz="1100">
                <a:solidFill>
                  <a:srgbClr val="F9E2AF"/>
                </a:solidFill>
                <a:latin typeface="Courier New"/>
              </a:rPr>
              <a:t>    for line in fh:</a:t>
            </a:r>
          </a:p>
          <a:p>
            <a:r>
              <a:rPr sz="1100">
                <a:solidFill>
                  <a:srgbClr val="CBD3F0"/>
                </a:solidFill>
                <a:latin typeface="Courier New"/>
              </a:rPr>
              <a:t>        data.append(json.loads(line))</a:t>
            </a:r>
          </a:p>
          <a:p>
            <a:r>
              <a:rPr sz="1100">
                <a:solidFill>
                  <a:srgbClr val="CBD3F0"/>
                </a:solidFill>
                <a:latin typeface="Courier New"/>
              </a:rPr>
              <a:t/>
            </a:r>
          </a:p>
          <a:p>
            <a:r>
              <a:rPr sz="1100">
                <a:solidFill>
                  <a:srgbClr val="CBD3F0"/>
                </a:solidFill>
                <a:latin typeface="Courier New"/>
              </a:rPr>
              <a:t>    # filtra puntos de latencia</a:t>
            </a:r>
          </a:p>
          <a:p>
            <a:r>
              <a:rPr sz="1100">
                <a:solidFill>
                  <a:srgbClr val="F9E2AF"/>
                </a:solidFill>
                <a:latin typeface="Courier New"/>
              </a:rPr>
              <a:t>    reqs = [d['data']['value'] for d in data</a:t>
            </a:r>
          </a:p>
          <a:p>
            <a:r>
              <a:rPr sz="1100">
                <a:solidFill>
                  <a:srgbClr val="CBD3F0"/>
                </a:solidFill>
                <a:latin typeface="Courier New"/>
              </a:rPr>
              <a:t>            if d.get('type') == 'Point'</a:t>
            </a:r>
          </a:p>
          <a:p>
            <a:r>
              <a:rPr sz="1100">
                <a:solidFill>
                  <a:srgbClr val="CBD3F0"/>
                </a:solidFill>
                <a:latin typeface="Courier New"/>
              </a:rPr>
              <a:t>            and d.get('metric') == 'http_req_duration']</a:t>
            </a:r>
          </a:p>
          <a:p>
            <a:r>
              <a:rPr sz="1100">
                <a:solidFill>
                  <a:srgbClr val="CBD3F0"/>
                </a:solidFill>
                <a:latin typeface="Courier New"/>
              </a:rPr>
              <a:t>    # filtra puntos de error</a:t>
            </a:r>
          </a:p>
          <a:p>
            <a:r>
              <a:rPr sz="1100">
                <a:solidFill>
                  <a:srgbClr val="CBD3F0"/>
                </a:solidFill>
                <a:latin typeface="Courier New"/>
              </a:rPr>
              <a:t>    fails = [d['data']['value'] for d in data</a:t>
            </a:r>
          </a:p>
          <a:p>
            <a:r>
              <a:rPr sz="1100">
                <a:solidFill>
                  <a:srgbClr val="CBD3F0"/>
                </a:solidFill>
                <a:latin typeface="Courier New"/>
              </a:rPr>
              <a:t>             if d.get('metric') == 'http_req_failed']</a:t>
            </a:r>
          </a:p>
          <a:p>
            <a:r>
              <a:rPr sz="1100">
                <a:solidFill>
                  <a:srgbClr val="CBD3F0"/>
                </a:solidFill>
                <a:latin typeface="Courier New"/>
              </a:rPr>
              <a:t/>
            </a:r>
          </a:p>
          <a:p>
            <a:r>
              <a:rPr sz="1100">
                <a:solidFill>
                  <a:srgbClr val="F9E2AF"/>
                </a:solidFill>
                <a:latin typeface="Courier New"/>
              </a:rPr>
              <a:t>    reqs.sort()</a:t>
            </a:r>
          </a:p>
          <a:p>
            <a:r>
              <a:rPr sz="1100">
                <a:solidFill>
                  <a:srgbClr val="CBD3F0"/>
                </a:solidFill>
                <a:latin typeface="Courier New"/>
              </a:rPr>
              <a:t>    n = len(reqs)</a:t>
            </a:r>
          </a:p>
          <a:p>
            <a:r>
              <a:rPr sz="1100">
                <a:solidFill>
                  <a:srgbClr val="CBD3F0"/>
                </a:solidFill>
                <a:latin typeface="Courier New"/>
              </a:rPr>
              <a:t>    p50 = reqs[n // 2]</a:t>
            </a:r>
          </a:p>
          <a:p>
            <a:r>
              <a:rPr sz="1100">
                <a:solidFill>
                  <a:srgbClr val="CBD3F0"/>
                </a:solidFill>
                <a:latin typeface="Courier New"/>
              </a:rPr>
              <a:t>    p95 = reqs[int(n * 0.95)]</a:t>
            </a:r>
          </a:p>
          <a:p>
            <a:r>
              <a:rPr sz="1100">
                <a:solidFill>
                  <a:srgbClr val="CBD3F0"/>
                </a:solidFill>
                <a:latin typeface="Courier New"/>
              </a:rPr>
              <a:t>    p99 = reqs[int(n * 0.99)]</a:t>
            </a:r>
          </a:p>
          <a:p>
            <a:r>
              <a:rPr sz="1100">
                <a:solidFill>
                  <a:srgbClr val="CBD3F0"/>
                </a:solidFill>
                <a:latin typeface="Courier New"/>
              </a:rPr>
              <a:t>    fail_rate  = sum(fails) / len(fails) * 100</a:t>
            </a:r>
          </a:p>
          <a:p>
            <a:r>
              <a:rPr sz="1100">
                <a:solidFill>
                  <a:srgbClr val="CBD3F0"/>
                </a:solidFill>
                <a:latin typeface="Courier New"/>
              </a:rPr>
              <a:t>    throughput = n / 60.0  # req/s (60s fijo)</a:t>
            </a:r>
          </a:p>
          <a:p>
            <a:r>
              <a:rPr sz="1100">
                <a:solidFill>
                  <a:srgbClr val="CBD3F0"/>
                </a:solidFill>
                <a:latin typeface="Courier New"/>
              </a:rPr>
              <a:t/>
            </a:r>
          </a:p>
          <a:p>
            <a:r>
              <a:rPr sz="1100">
                <a:solidFill>
                  <a:srgbClr val="F9E2AF"/>
                </a:solidFill>
                <a:latin typeface="Courier New"/>
              </a:rPr>
              <a:t># Promediar réplicas (3 rep por VUS)</a:t>
            </a:r>
          </a:p>
          <a:p>
            <a:r>
              <a:rPr sz="1100">
                <a:solidFill>
                  <a:srgbClr val="CBD3F0"/>
                </a:solidFill>
                <a:latin typeface="Courier New"/>
              </a:rPr>
              <a:t>avg[vus] = tuple(</a:t>
            </a:r>
          </a:p>
          <a:p>
            <a:r>
              <a:rPr sz="1100">
                <a:solidFill>
                  <a:srgbClr val="CBD3F0"/>
                </a:solidFill>
                <a:latin typeface="Courier New"/>
              </a:rPr>
              <a:t>    sum(x[i] for x in reps) / len(reps)</a:t>
            </a:r>
          </a:p>
          <a:p>
            <a:r>
              <a:rPr sz="1100">
                <a:solidFill>
                  <a:srgbClr val="CBD3F0"/>
                </a:solidFill>
                <a:latin typeface="Courier New"/>
              </a:rPr>
              <a:t>    for i in range(5))</a:t>
            </a:r>
          </a:p>
          <a:p>
            <a:r>
              <a:rPr sz="1100">
                <a:solidFill>
                  <a:srgbClr val="CBD3F0"/>
                </a:solidFill>
                <a:latin typeface="Courier New"/>
              </a:rPr>
              <a:t/>
            </a:r>
          </a:p>
          <a:p>
            <a:r>
              <a:rPr sz="1100">
                <a:solidFill>
                  <a:srgbClr val="F9E2AF"/>
                </a:solidFill>
                <a:latin typeface="Courier New"/>
              </a:rPr>
              <a:t># main() — imprime tabla comparativa</a:t>
            </a:r>
          </a:p>
          <a:p>
            <a:r>
              <a:rPr sz="1100">
                <a:solidFill>
                  <a:srgbClr val="CBD3F0"/>
                </a:solidFill>
                <a:latin typeface="Courier New"/>
              </a:rPr>
              <a:t>for label, bi, ii in [</a:t>
            </a:r>
          </a:p>
          <a:p>
            <a:r>
              <a:rPr sz="1100">
                <a:solidFill>
                  <a:srgbClr val="CBD3F0"/>
                </a:solidFill>
                <a:latin typeface="Courier New"/>
              </a:rPr>
              <a:t>    ('p50 (ms)', b[0], i[0]),</a:t>
            </a:r>
          </a:p>
          <a:p>
            <a:r>
              <a:rPr sz="1100">
                <a:solidFill>
                  <a:srgbClr val="CBD3F0"/>
                </a:solidFill>
                <a:latin typeface="Courier New"/>
              </a:rPr>
              <a:t>    ('p95 (ms)', b[1], i[1]),</a:t>
            </a:r>
          </a:p>
          <a:p>
            <a:r>
              <a:rPr sz="1100">
                <a:solidFill>
                  <a:srgbClr val="CBD3F0"/>
                </a:solidFill>
                <a:latin typeface="Courier New"/>
              </a:rPr>
              <a:t>    ('p99 (ms)', b[2], i[2]),</a:t>
            </a:r>
          </a:p>
          <a:p>
            <a:r>
              <a:rPr sz="1100">
                <a:solidFill>
                  <a:srgbClr val="CBD3F0"/>
                </a:solidFill>
                <a:latin typeface="Courier New"/>
              </a:rPr>
              <a:t>    ('fail (%)', b[3], i[3]),</a:t>
            </a:r>
          </a:p>
          <a:p>
            <a:r>
              <a:rPr sz="1100">
                <a:solidFill>
                  <a:srgbClr val="CBD3F0"/>
                </a:solidFill>
                <a:latin typeface="Courier New"/>
              </a:rPr>
              <a:t>    ('req/s',    b[4], i[4]),</a:t>
            </a:r>
          </a:p>
          <a:p>
            <a:r>
              <a:rPr sz="1100">
                <a:solidFill>
                  <a:srgbClr val="CBD3F0"/>
                </a:solidFill>
                <a:latin typeface="Courier New"/>
              </a:rPr>
              <a:t>]:</a:t>
            </a:r>
          </a:p>
          <a:p>
            <a:r>
              <a:rPr sz="1100">
                <a:solidFill>
                  <a:srgbClr val="CBD3F0"/>
                </a:solidFill>
                <a:latin typeface="Courier New"/>
              </a:rPr>
              <a:t>    if label == 'req/s':</a:t>
            </a:r>
          </a:p>
          <a:p>
            <a:r>
              <a:rPr sz="1100">
                <a:solidFill>
                  <a:srgbClr val="F9E2AF"/>
                </a:solidFill>
                <a:latin typeface="Courier New"/>
              </a:rPr>
              <a:t>        overhead = f'{((ii-bi)/bi*100):+.1f}%'</a:t>
            </a:r>
          </a:p>
          <a:p>
            <a:r>
              <a:rPr sz="1100">
                <a:solidFill>
                  <a:srgbClr val="CBD3F0"/>
                </a:solidFill>
                <a:latin typeface="Courier New"/>
              </a:rPr>
              <a:t>    elif label == 'fail (%)':</a:t>
            </a:r>
          </a:p>
          <a:p>
            <a:r>
              <a:rPr sz="1100">
                <a:solidFill>
                  <a:srgbClr val="CBD3F0"/>
                </a:solidFill>
                <a:latin typeface="Courier New"/>
              </a:rPr>
              <a:t>        overhead = f'{ii-bi:+.2f}pp'</a:t>
            </a:r>
          </a:p>
          <a:p>
            <a:r>
              <a:rPr sz="1100">
                <a:solidFill>
                  <a:srgbClr val="CBD3F0"/>
                </a:solidFill>
                <a:latin typeface="Courier New"/>
              </a:rPr>
              <a:t>    else:</a:t>
            </a:r>
          </a:p>
          <a:p>
            <a:r>
              <a:rPr sz="1100">
                <a:solidFill>
                  <a:srgbClr val="CBD3F0"/>
                </a:solidFill>
                <a:latin typeface="Courier New"/>
              </a:rPr>
              <a:t>        overhead = f'{((ii-bi)/bi*100):+.1f}%'</a:t>
            </a:r>
          </a:p>
        </p:txBody>
      </p:sp>
      <p:sp>
        <p:nvSpPr>
          <p:cNvPr id="6" name="Rectangle 5"/>
          <p:cNvSpPr/>
          <p:nvPr/>
        </p:nvSpPr>
        <p:spPr>
          <a:xfrm>
            <a:off x="6080760" y="1143000"/>
            <a:ext cx="283464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NDJSON — un JSON por línea</a:t>
            </a:r>
          </a:p>
          <a:p>
            <a:r>
              <a:rPr sz="1000">
                <a:solidFill>
                  <a:srgbClr val="555555"/>
                </a:solidFill>
              </a:rPr>
              <a:t>k6 con --out json=file.json genera
NDJSON (Newline-Delimited JSON):
  {'type':'Point','metric':'http_req_duration',
   'data':{'value':45.3,'time':'...'}}
  {'type':'Point','metric':'http_req_failed',
   'data':{'value':0,'time':'...'}}
Un objeto por línea → se puede leer
con for line in fh sin cargar todo
el archivo en memoria.
Cada corrida de 60s@VUS=5 genera
~18.000 líneas (300 req/s × 60s).</a:t>
            </a:r>
          </a:p>
        </p:txBody>
      </p:sp>
      <p:sp>
        <p:nvSpPr>
          <p:cNvPr id="7" name="Rectangle 6"/>
          <p:cNvSpPr/>
          <p:nvPr/>
        </p:nvSpPr>
        <p:spPr>
          <a:xfrm>
            <a:off x="9052560" y="1143000"/>
            <a:ext cx="283464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Percentiles manuales por indexación</a:t>
            </a:r>
          </a:p>
          <a:p>
            <a:r>
              <a:rPr sz="1000">
                <a:solidFill>
                  <a:srgbClr val="555555"/>
                </a:solidFill>
              </a:rPr>
              <a:t>El script calcula percentiles SIN numpy:
  reqs.sort()      # O(n log n)
  p50 = reqs[n // 2]
  p95 = reqs[int(n * 0.95)]
  p99 = reqs[int(n * 0.99)]
Funciona correctamente pero usa
indexación DIRECTA (sin interpolación).
numpy.percentile usa interpolación lineal
→ levemente diferente al indexar directo.
Para 18.000 puntos la diferencia es
&lt;1ms en p95 y &lt;5ms en p99.</a:t>
            </a:r>
          </a:p>
        </p:txBody>
      </p:sp>
      <p:sp>
        <p:nvSpPr>
          <p:cNvPr id="8" name="Rectangle 7"/>
          <p:cNvSpPr/>
          <p:nvPr/>
        </p:nvSpPr>
        <p:spPr>
          <a:xfrm>
            <a:off x="6080760" y="3383280"/>
            <a:ext cx="283464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fail_rate — promedio de 0s y 1s</a:t>
            </a:r>
          </a:p>
          <a:p>
            <a:r>
              <a:rPr sz="1000">
                <a:solidFill>
                  <a:srgbClr val="555555"/>
                </a:solidFill>
              </a:rPr>
              <a:t>k6 emite un punto por request:
  http_req_failed = 0  (éxito)
  http_req_failed = 1  (fallo)
El código hace:
  fail_rate = sum(fails) / len(fails)
= fracción de requests fallidos
= equivalente a la tasa de error.
Se multiplica × 100 para mostrar en %.
Importante: si no hay puntos de
http_req_failed → fail_rate = 0.0
(no lanza excepción).</a:t>
            </a:r>
          </a:p>
        </p:txBody>
      </p:sp>
      <p:sp>
        <p:nvSpPr>
          <p:cNvPr id="9" name="Rectangle 8"/>
          <p:cNvSpPr/>
          <p:nvPr/>
        </p:nvSpPr>
        <p:spPr>
          <a:xfrm>
            <a:off x="9052560" y="3383280"/>
            <a:ext cx="283464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throughput = n / 60.0</a:t>
            </a:r>
          </a:p>
          <a:p>
            <a:r>
              <a:rPr sz="1000">
                <a:solidFill>
                  <a:srgbClr val="555555"/>
                </a:solidFill>
              </a:rPr>
              <a:t>El script asume que TODAS las corridas
duran exactamente 60 segundos:
  throughput = n / 60.0  # req/s
Esto es correcto porque el runner
siempre pasa -e DURATION=60s.
Si una corrida fue abortada antes
(k6 crash o timeout) → n &lt; real
→ throughput subestimado.
Una solución más robusta sería
tomar max(time) - min(time) de los
puntos NDJSON, pero add complexity.</a:t>
            </a:r>
          </a:p>
        </p:txBody>
      </p:sp>
      <p:sp>
        <p:nvSpPr>
          <p:cNvPr id="10" name="Rectangle 9"/>
          <p:cNvSpPr/>
          <p:nvPr/>
        </p:nvSpPr>
        <p:spPr>
          <a:xfrm>
            <a:off x="6080760" y="5623560"/>
            <a:ext cx="283464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Overhead: % vs pp</a:t>
            </a:r>
          </a:p>
          <a:p>
            <a:r>
              <a:rPr sz="1000">
                <a:solidFill>
                  <a:srgbClr val="555555"/>
                </a:solidFill>
              </a:rPr>
              <a:t>El script usa dos métricas de overhead:
  Latencia/throughput → porcentaje:
    overhead = (istio - base) / base × 100
    + = Istio más lento (overhead)
    - = Istio más rápido (beneficio)
  Tasa de error → puntos porcentuales:
    overhead = istio_fail - base_fail
    (en pp, no en % del %)
Correcto: si base=1% e istio=2%,
el overhead es +1pp, NO +100%.</a:t>
            </a:r>
          </a:p>
        </p:txBody>
      </p:sp>
      <p:sp>
        <p:nvSpPr>
          <p:cNvPr id="11" name="Rectangle 10"/>
          <p:cNvSpPr/>
          <p:nvPr/>
        </p:nvSpPr>
        <p:spPr>
          <a:xfrm>
            <a:off x="9052560" y="5623560"/>
            <a:ext cx="283464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Integración — sin dependencias externas</a:t>
            </a:r>
          </a:p>
          <a:p>
            <a:r>
              <a:rPr sz="1000">
                <a:solidFill>
                  <a:srgbClr val="555555"/>
                </a:solidFill>
              </a:rPr>
              <a:t>analyze-results.py usa solo stdlib:
  json, os, sys, pathlib
No requiere pip install.
Se puede ejecutar directamente:
  cd 02-mtls-service-mesh
  python3 analyze-results.py
Lee automáticamente:
  results/baseline/*.json
  results/istio/*.json
vs analysis/analyze-mtls-results.py
que requiere numpy + pandas + matplotlib
y produce CSV + PNG + MD.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Scripts raíz — dispatcher · autopilot · monitor</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run-control2-safe.sh · run-control2-autopilot-safe.sh · monitor-control2.sh · lock file · wait_for_existing_runs · has_cmd</a:t>
            </a:r>
          </a:p>
        </p:txBody>
      </p:sp>
      <p:sp>
        <p:nvSpPr>
          <p:cNvPr id="5" name="Rectangle 4"/>
          <p:cNvSpPr/>
          <p:nvPr/>
        </p:nvSpPr>
        <p:spPr>
          <a:xfrm>
            <a:off x="365760" y="1143000"/>
            <a:ext cx="3840480" cy="26060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run-control2-safe.sh — dispatcher</a:t>
            </a:r>
          </a:p>
          <a:p>
            <a:r>
              <a:rPr sz="1100">
                <a:solidFill>
                  <a:srgbClr val="F9E2AF"/>
                </a:solidFill>
                <a:latin typeface="Courier New"/>
              </a:rPr>
              <a:t>SCENARIO='$1'  # --scenario</a:t>
            </a:r>
          </a:p>
          <a:p>
            <a:r>
              <a:rPr sz="1100">
                <a:solidFill>
                  <a:srgbClr val="CBD3F0"/>
                </a:solidFill>
                <a:latin typeface="Courier New"/>
              </a:rPr>
              <a:t>TARGET='$2'    # baseline | istio | linkerd</a:t>
            </a:r>
          </a:p>
          <a:p>
            <a:r>
              <a:rPr sz="1100">
                <a:solidFill>
                  <a:srgbClr val="CBD3F0"/>
                </a:solidFill>
                <a:latin typeface="Courier New"/>
              </a:rPr>
              <a:t/>
            </a:r>
          </a:p>
          <a:p>
            <a:r>
              <a:rPr sz="1100">
                <a:solidFill>
                  <a:srgbClr val="CBD3F0"/>
                </a:solidFill>
                <a:latin typeface="Courier New"/>
              </a:rPr>
              <a:t>case '$TARGET' in</a:t>
            </a:r>
          </a:p>
          <a:p>
            <a:r>
              <a:rPr sz="1100">
                <a:solidFill>
                  <a:srgbClr val="F9E2AF"/>
                </a:solidFill>
                <a:latin typeface="Courier New"/>
              </a:rPr>
              <a:t>  baseline)</a:t>
            </a:r>
          </a:p>
          <a:p>
            <a:r>
              <a:rPr sz="1100">
                <a:solidFill>
                  <a:srgbClr val="CBD3F0"/>
                </a:solidFill>
                <a:latin typeface="Courier New"/>
              </a:rPr>
              <a:t>    bash baseline/run-baseline-safe.sh ;;</a:t>
            </a:r>
          </a:p>
          <a:p>
            <a:r>
              <a:rPr sz="1100">
                <a:solidFill>
                  <a:srgbClr val="CBD3F0"/>
                </a:solidFill>
                <a:latin typeface="Courier New"/>
              </a:rPr>
              <a:t>  istio)</a:t>
            </a:r>
          </a:p>
          <a:p>
            <a:r>
              <a:rPr sz="1100">
                <a:solidFill>
                  <a:srgbClr val="F9E2AF"/>
                </a:solidFill>
                <a:latin typeface="Courier New"/>
              </a:rPr>
              <a:t>    bash istio/install-istio-safe.sh</a:t>
            </a:r>
          </a:p>
          <a:p>
            <a:r>
              <a:rPr sz="1100">
                <a:solidFill>
                  <a:srgbClr val="CBD3F0"/>
                </a:solidFill>
                <a:latin typeface="Courier New"/>
              </a:rPr>
              <a:t>    bash istio/enable-mtls-strict.sh</a:t>
            </a:r>
          </a:p>
          <a:p>
            <a:r>
              <a:rPr sz="1100">
                <a:solidFill>
                  <a:srgbClr val="CBD3F0"/>
                </a:solidFill>
                <a:latin typeface="Courier New"/>
              </a:rPr>
              <a:t>    bash istio/run-istio-tests-safe.sh ;;</a:t>
            </a:r>
          </a:p>
          <a:p>
            <a:r>
              <a:rPr sz="1100">
                <a:solidFill>
                  <a:srgbClr val="CBD3F0"/>
                </a:solidFill>
                <a:latin typeface="Courier New"/>
              </a:rPr>
              <a:t>  linkerd)</a:t>
            </a:r>
          </a:p>
          <a:p>
            <a:r>
              <a:rPr sz="1100">
                <a:solidFill>
                  <a:srgbClr val="F9E2AF"/>
                </a:solidFill>
                <a:latin typeface="Courier New"/>
              </a:rPr>
              <a:t>    bash linkerd/install-linkerd-safe.sh</a:t>
            </a:r>
          </a:p>
          <a:p>
            <a:r>
              <a:rPr sz="1100">
                <a:solidFill>
                  <a:srgbClr val="CBD3F0"/>
                </a:solidFill>
                <a:latin typeface="Courier New"/>
              </a:rPr>
              <a:t>    bash linkerd/run-linkerd-tests-safe.sh ;;</a:t>
            </a:r>
          </a:p>
          <a:p>
            <a:r>
              <a:rPr sz="1100">
                <a:solidFill>
                  <a:srgbClr val="CBD3F0"/>
                </a:solidFill>
                <a:latin typeface="Courier New"/>
              </a:rPr>
              <a:t>  *) usage ;;</a:t>
            </a:r>
          </a:p>
          <a:p>
            <a:r>
              <a:rPr sz="1100">
                <a:solidFill>
                  <a:srgbClr val="CBD3F0"/>
                </a:solidFill>
                <a:latin typeface="Courier New"/>
              </a:rPr>
              <a:t>esac</a:t>
            </a:r>
          </a:p>
          <a:p>
            <a:r>
              <a:rPr sz="1100">
                <a:solidFill>
                  <a:srgbClr val="CBD3F0"/>
                </a:solidFill>
                <a:latin typeface="Courier New"/>
              </a:rPr>
              <a:t>echo '[control2] Escenario completado: $TARGET'</a:t>
            </a:r>
          </a:p>
        </p:txBody>
      </p:sp>
      <p:sp>
        <p:nvSpPr>
          <p:cNvPr id="6" name="Rectangle 5"/>
          <p:cNvSpPr/>
          <p:nvPr/>
        </p:nvSpPr>
        <p:spPr>
          <a:xfrm>
            <a:off x="365760" y="3886200"/>
            <a:ext cx="3840480" cy="28346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monitor-control2.sh — estado en tiempo real</a:t>
            </a:r>
          </a:p>
          <a:p>
            <a:r>
              <a:rPr sz="1100">
                <a:solidFill>
                  <a:srgbClr val="F9E2AF"/>
                </a:solidFill>
                <a:latin typeface="Courier New"/>
              </a:rPr>
              <a:t/>
            </a:r>
          </a:p>
          <a:p>
            <a:r>
              <a:rPr sz="1100">
                <a:solidFill>
                  <a:srgbClr val="CBD3F0"/>
                </a:solidFill>
                <a:latin typeface="Courier New"/>
              </a:rPr>
              <a:t>echo '=== Control 2 Monitor ==='</a:t>
            </a:r>
          </a:p>
          <a:p>
            <a:r>
              <a:rPr sz="1100">
                <a:solidFill>
                  <a:srgbClr val="CBD3F0"/>
                </a:solidFill>
                <a:latin typeface="Courier New"/>
              </a:rPr>
              <a:t>echo "Fecha: $(date +'%F %T')"</a:t>
            </a:r>
          </a:p>
          <a:p>
            <a:r>
              <a:rPr sz="1100">
                <a:solidFill>
                  <a:srgbClr val="CBD3F0"/>
                </a:solidFill>
                <a:latin typeface="Courier New"/>
              </a:rPr>
              <a:t/>
            </a:r>
          </a:p>
          <a:p>
            <a:r>
              <a:rPr sz="1100">
                <a:solidFill>
                  <a:srgbClr val="CBD3F0"/>
                </a:solidFill>
                <a:latin typeface="Courier New"/>
              </a:rPr>
              <a:t># 1. procesos activos</a:t>
            </a:r>
          </a:p>
          <a:p>
            <a:r>
              <a:rPr sz="1100">
                <a:solidFill>
                  <a:srgbClr val="F9E2AF"/>
                </a:solidFill>
                <a:latin typeface="Courier New"/>
              </a:rPr>
              <a:t>pgrep -af 'run-control2-safe.sh|k6 run'</a:t>
            </a:r>
          </a:p>
          <a:p>
            <a:r>
              <a:rPr sz="1100">
                <a:solidFill>
                  <a:srgbClr val="CBD3F0"/>
                </a:solidFill>
                <a:latin typeface="Courier New"/>
              </a:rPr>
              <a:t/>
            </a:r>
          </a:p>
          <a:p>
            <a:r>
              <a:rPr sz="1100">
                <a:solidFill>
                  <a:srgbClr val="CBD3F0"/>
                </a:solidFill>
                <a:latin typeface="Courier New"/>
              </a:rPr>
              <a:t># 2. conteo de JSON por escenario</a:t>
            </a:r>
          </a:p>
          <a:p>
            <a:r>
              <a:rPr sz="1100">
                <a:solidFill>
                  <a:srgbClr val="F9E2AF"/>
                </a:solidFill>
                <a:latin typeface="Courier New"/>
              </a:rPr>
              <a:t>for s in baseline istio linkerd; do</a:t>
            </a:r>
          </a:p>
          <a:p>
            <a:r>
              <a:rPr sz="1100">
                <a:solidFill>
                  <a:srgbClr val="CBD3F0"/>
                </a:solidFill>
                <a:latin typeface="Courier New"/>
              </a:rPr>
              <a:t>  c=$(ls results/$s/*.json | wc -l)</a:t>
            </a:r>
          </a:p>
          <a:p>
            <a:r>
              <a:rPr sz="1100">
                <a:solidFill>
                  <a:srgbClr val="CBD3F0"/>
                </a:solidFill>
                <a:latin typeface="Courier New"/>
              </a:rPr>
              <a:t>  echo "- $s: $c"</a:t>
            </a:r>
          </a:p>
          <a:p>
            <a:r>
              <a:rPr sz="1100">
                <a:solidFill>
                  <a:srgbClr val="CBD3F0"/>
                </a:solidFill>
                <a:latin typeface="Courier New"/>
              </a:rPr>
              <a:t>done</a:t>
            </a:r>
          </a:p>
          <a:p>
            <a:r>
              <a:rPr sz="1100">
                <a:solidFill>
                  <a:srgbClr val="CBD3F0"/>
                </a:solidFill>
                <a:latin typeface="Courier New"/>
              </a:rPr>
              <a:t/>
            </a:r>
          </a:p>
          <a:p>
            <a:r>
              <a:rPr sz="1100">
                <a:solidFill>
                  <a:srgbClr val="CBD3F0"/>
                </a:solidFill>
                <a:latin typeface="Courier New"/>
              </a:rPr>
              <a:t># 3. últimas líneas de logs</a:t>
            </a:r>
          </a:p>
          <a:p>
            <a:r>
              <a:rPr sz="1100">
                <a:solidFill>
                  <a:srgbClr val="F9E2AF"/>
                </a:solidFill>
                <a:latin typeface="Courier New"/>
              </a:rPr>
              <a:t>tail -n 8 logs/control2-baseline-run.log</a:t>
            </a:r>
          </a:p>
          <a:p>
            <a:r>
              <a:rPr sz="1100">
                <a:solidFill>
                  <a:srgbClr val="CBD3F0"/>
                </a:solidFill>
                <a:latin typeface="Courier New"/>
              </a:rPr>
              <a:t>tail -n 8 logs/control2-autopilot.log</a:t>
            </a:r>
          </a:p>
        </p:txBody>
      </p:sp>
      <p:sp>
        <p:nvSpPr>
          <p:cNvPr id="7" name="Rectangle 6"/>
          <p:cNvSpPr/>
          <p:nvPr/>
        </p:nvSpPr>
        <p:spPr>
          <a:xfrm>
            <a:off x="4343400" y="1143000"/>
            <a:ext cx="4434840" cy="55778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run-control2-autopilot-safe.sh</a:t>
            </a:r>
          </a:p>
          <a:p>
            <a:r>
              <a:rPr sz="1100">
                <a:solidFill>
                  <a:srgbClr val="F9E2AF"/>
                </a:solidFill>
                <a:latin typeface="Courier New"/>
              </a:rPr>
              <a:t>LOCK_FILE='results/.control2-autopilot.lock'</a:t>
            </a:r>
          </a:p>
          <a:p>
            <a:r>
              <a:rPr sz="1100">
                <a:solidFill>
                  <a:srgbClr val="CBD3F0"/>
                </a:solidFill>
                <a:latin typeface="Courier New"/>
              </a:rPr>
              <a:t>exec &gt;&gt; '$MASTER_LOG' 2&gt;&amp;1  # todo al log</a:t>
            </a:r>
          </a:p>
          <a:p>
            <a:r>
              <a:rPr sz="1100">
                <a:solidFill>
                  <a:srgbClr val="CBD3F0"/>
                </a:solidFill>
                <a:latin typeface="Courier New"/>
              </a:rPr>
              <a:t/>
            </a:r>
          </a:p>
          <a:p>
            <a:r>
              <a:rPr sz="1100">
                <a:solidFill>
                  <a:srgbClr val="CBD3F0"/>
                </a:solidFill>
                <a:latin typeface="Courier New"/>
              </a:rPr>
              <a:t># Anti-duplicado: lock file con PID</a:t>
            </a:r>
          </a:p>
          <a:p>
            <a:r>
              <a:rPr sz="1100">
                <a:solidFill>
                  <a:srgbClr val="F9E2AF"/>
                </a:solidFill>
                <a:latin typeface="Courier New"/>
              </a:rPr>
              <a:t>if [[ -f '$LOCK_FILE' ]]; then exit 1; fi</a:t>
            </a:r>
          </a:p>
          <a:p>
            <a:r>
              <a:rPr sz="1100">
                <a:solidFill>
                  <a:srgbClr val="CBD3F0"/>
                </a:solidFill>
                <a:latin typeface="Courier New"/>
              </a:rPr>
              <a:t>trap 'rm -f $LOCK_FILE' EXIT</a:t>
            </a:r>
          </a:p>
          <a:p>
            <a:r>
              <a:rPr sz="1100">
                <a:solidFill>
                  <a:srgbClr val="CBD3F0"/>
                </a:solidFill>
                <a:latin typeface="Courier New"/>
              </a:rPr>
              <a:t>printf '%s\n' '$$' &gt; '$LOCK_FILE'</a:t>
            </a:r>
          </a:p>
          <a:p>
            <a:r>
              <a:rPr sz="1100">
                <a:solidFill>
                  <a:srgbClr val="CBD3F0"/>
                </a:solidFill>
                <a:latin typeface="Courier New"/>
              </a:rPr>
              <a:t/>
            </a:r>
          </a:p>
          <a:p>
            <a:r>
              <a:rPr sz="1100">
                <a:solidFill>
                  <a:srgbClr val="CBD3F0"/>
                </a:solidFill>
                <a:latin typeface="Courier New"/>
              </a:rPr>
              <a:t># Espera hasta 900s a que terminen runs previos</a:t>
            </a:r>
          </a:p>
          <a:p>
            <a:r>
              <a:rPr sz="1100">
                <a:solidFill>
                  <a:srgbClr val="F9E2AF"/>
                </a:solidFill>
                <a:latin typeface="Courier New"/>
              </a:rPr>
              <a:t>wait_for_existing_runs() {</a:t>
            </a:r>
          </a:p>
          <a:p>
            <a:r>
              <a:rPr sz="1100">
                <a:solidFill>
                  <a:srgbClr val="CBD3F0"/>
                </a:solidFill>
                <a:latin typeface="Courier New"/>
              </a:rPr>
              <a:t>  local timeout=900 elapsed=0</a:t>
            </a:r>
          </a:p>
          <a:p>
            <a:r>
              <a:rPr sz="1100">
                <a:solidFill>
                  <a:srgbClr val="CBD3F0"/>
                </a:solidFill>
                <a:latin typeface="Courier New"/>
              </a:rPr>
              <a:t>  while pgrep -af 'k6 run|run-*-safe.sh'; do</a:t>
            </a:r>
          </a:p>
          <a:p>
            <a:r>
              <a:rPr sz="1100">
                <a:solidFill>
                  <a:srgbClr val="CBD3F0"/>
                </a:solidFill>
                <a:latin typeface="Courier New"/>
              </a:rPr>
              <a:t>    (( elapsed &gt;= timeout )) &amp;&amp; break</a:t>
            </a:r>
          </a:p>
          <a:p>
            <a:r>
              <a:rPr sz="1100">
                <a:solidFill>
                  <a:srgbClr val="CBD3F0"/>
                </a:solidFill>
                <a:latin typeface="Courier New"/>
              </a:rPr>
              <a:t>    sleep 15; elapsed=$((elapsed + 15))</a:t>
            </a:r>
          </a:p>
          <a:p>
            <a:r>
              <a:rPr sz="1100">
                <a:solidFill>
                  <a:srgbClr val="CBD3F0"/>
                </a:solidFill>
                <a:latin typeface="Courier New"/>
              </a:rPr>
              <a:t>  done</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has_cmd() { command -v '$1' &gt;/dev/null 2&gt;&amp;1; }</a:t>
            </a:r>
          </a:p>
          <a:p>
            <a:r>
              <a:rPr sz="1100">
                <a:solidFill>
                  <a:srgbClr val="F9E2AF"/>
                </a:solidFill>
                <a:latin typeface="Courier New"/>
              </a:rPr>
              <a:t/>
            </a:r>
          </a:p>
          <a:p>
            <a:r>
              <a:rPr sz="1100">
                <a:solidFill>
                  <a:srgbClr val="CBD3F0"/>
                </a:solidFill>
                <a:latin typeface="Courier New"/>
              </a:rPr>
              <a:t>run_safely() {  # label + cmd, loguea OK/ERROR</a:t>
            </a:r>
          </a:p>
          <a:p>
            <a:r>
              <a:rPr sz="1100">
                <a:solidFill>
                  <a:srgbClr val="F9E2AF"/>
                </a:solidFill>
                <a:latin typeface="Courier New"/>
              </a:rPr>
              <a:t>  if bash -lc '$cmd'; then</a:t>
            </a:r>
          </a:p>
          <a:p>
            <a:r>
              <a:rPr sz="1100">
                <a:solidFill>
                  <a:srgbClr val="CBD3F0"/>
                </a:solidFill>
                <a:latin typeface="Courier New"/>
              </a:rPr>
              <a:t>    echo '[autopilot] OK: $label'</a:t>
            </a:r>
          </a:p>
          <a:p>
            <a:r>
              <a:rPr sz="1100">
                <a:solidFill>
                  <a:srgbClr val="CBD3F0"/>
                </a:solidFill>
                <a:latin typeface="Courier New"/>
              </a:rPr>
              <a:t>  else</a:t>
            </a:r>
          </a:p>
          <a:p>
            <a:r>
              <a:rPr sz="1100">
                <a:solidFill>
                  <a:srgbClr val="CBD3F0"/>
                </a:solidFill>
                <a:latin typeface="Courier New"/>
              </a:rPr>
              <a:t>    echo '[autopilot] ERROR: $label'; return 1</a:t>
            </a:r>
          </a:p>
          <a:p>
            <a:r>
              <a:rPr sz="1100">
                <a:solidFill>
                  <a:srgbClr val="CBD3F0"/>
                </a:solidFill>
                <a:latin typeface="Courier New"/>
              </a:rPr>
              <a:t>  fi</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wait_for_existing_runs</a:t>
            </a:r>
          </a:p>
          <a:p>
            <a:r>
              <a:rPr sz="1100">
                <a:solidFill>
                  <a:srgbClr val="CBD3F0"/>
                </a:solidFill>
                <a:latin typeface="Courier New"/>
              </a:rPr>
              <a:t/>
            </a:r>
          </a:p>
          <a:p>
            <a:r>
              <a:rPr sz="1100">
                <a:solidFill>
                  <a:srgbClr val="CBD3F0"/>
                </a:solidFill>
                <a:latin typeface="Courier New"/>
              </a:rPr>
              <a:t># Baseline: skip si ya hay 9 JSON</a:t>
            </a:r>
          </a:p>
          <a:p>
            <a:r>
              <a:rPr sz="1100">
                <a:solidFill>
                  <a:srgbClr val="F9E2AF"/>
                </a:solidFill>
                <a:latin typeface="Courier New"/>
              </a:rPr>
              <a:t>base_count=$(ls results/baseline/*.json | wc -l)</a:t>
            </a:r>
          </a:p>
          <a:p>
            <a:r>
              <a:rPr sz="1100">
                <a:solidFill>
                  <a:srgbClr val="CBD3F0"/>
                </a:solidFill>
                <a:latin typeface="Courier New"/>
              </a:rPr>
              <a:t>if (( base_count &lt; 9 )); then</a:t>
            </a:r>
          </a:p>
          <a:p>
            <a:r>
              <a:rPr sz="1100">
                <a:solidFill>
                  <a:srgbClr val="CBD3F0"/>
                </a:solidFill>
                <a:latin typeface="Courier New"/>
              </a:rPr>
              <a:t>  run_safely 'baseline' 'bash run-control2-safe.sh --scenario baseline'</a:t>
            </a:r>
          </a:p>
          <a:p>
            <a:r>
              <a:rPr sz="1100">
                <a:solidFill>
                  <a:srgbClr val="CBD3F0"/>
                </a:solidFill>
                <a:latin typeface="Courier New"/>
              </a:rPr>
              <a:t>fi</a:t>
            </a:r>
          </a:p>
          <a:p>
            <a:r>
              <a:rPr sz="1100">
                <a:solidFill>
                  <a:srgbClr val="CBD3F0"/>
                </a:solidFill>
                <a:latin typeface="Courier New"/>
              </a:rPr>
              <a:t/>
            </a:r>
          </a:p>
          <a:p>
            <a:r>
              <a:rPr sz="1100">
                <a:solidFill>
                  <a:srgbClr val="CBD3F0"/>
                </a:solidFill>
                <a:latin typeface="Courier New"/>
              </a:rPr>
              <a:t># Istio: solo si istioctl está disponible</a:t>
            </a:r>
          </a:p>
          <a:p>
            <a:r>
              <a:rPr sz="1100">
                <a:solidFill>
                  <a:srgbClr val="F9E2AF"/>
                </a:solidFill>
                <a:latin typeface="Courier New"/>
              </a:rPr>
              <a:t>if has_cmd istioctl; then</a:t>
            </a:r>
          </a:p>
          <a:p>
            <a:r>
              <a:rPr sz="1100">
                <a:solidFill>
                  <a:srgbClr val="CBD3F0"/>
                </a:solidFill>
                <a:latin typeface="Courier New"/>
              </a:rPr>
              <a:t>  istio_count=$(ls results/istio/*.json | wc -l)</a:t>
            </a:r>
          </a:p>
          <a:p>
            <a:r>
              <a:rPr sz="1100">
                <a:solidFill>
                  <a:srgbClr val="CBD3F0"/>
                </a:solidFill>
                <a:latin typeface="Courier New"/>
              </a:rPr>
              <a:t>  if (( istio_count &lt; 9 )); then</a:t>
            </a:r>
          </a:p>
          <a:p>
            <a:r>
              <a:rPr sz="1100">
                <a:solidFill>
                  <a:srgbClr val="CBD3F0"/>
                </a:solidFill>
                <a:latin typeface="Courier New"/>
              </a:rPr>
              <a:t>    run_safely 'istio' 'bash run-control2-safe.sh --scenario istio'</a:t>
            </a:r>
          </a:p>
          <a:p>
            <a:r>
              <a:rPr sz="1100">
                <a:solidFill>
                  <a:srgbClr val="CBD3F0"/>
                </a:solidFill>
                <a:latin typeface="Courier New"/>
              </a:rPr>
              <a:t>  fi</a:t>
            </a:r>
          </a:p>
          <a:p>
            <a:r>
              <a:rPr sz="1100">
                <a:solidFill>
                  <a:srgbClr val="CBD3F0"/>
                </a:solidFill>
                <a:latin typeface="Courier New"/>
              </a:rPr>
              <a:t>else</a:t>
            </a:r>
          </a:p>
          <a:p>
            <a:r>
              <a:rPr sz="1100">
                <a:solidFill>
                  <a:srgbClr val="CBD3F0"/>
                </a:solidFill>
                <a:latin typeface="Courier New"/>
              </a:rPr>
              <a:t>  echo '[autopilot] istioctl no encontrado, se omite'</a:t>
            </a:r>
          </a:p>
          <a:p>
            <a:r>
              <a:rPr sz="1100">
                <a:solidFill>
                  <a:srgbClr val="CBD3F0"/>
                </a:solidFill>
                <a:latin typeface="Courier New"/>
              </a:rPr>
              <a:t>fi</a:t>
            </a:r>
          </a:p>
          <a:p>
            <a:r>
              <a:rPr sz="1100">
                <a:solidFill>
                  <a:srgbClr val="CBD3F0"/>
                </a:solidFill>
                <a:latin typeface="Courier New"/>
              </a:rPr>
              <a:t/>
            </a:r>
          </a:p>
          <a:p>
            <a:r>
              <a:rPr sz="1100">
                <a:solidFill>
                  <a:srgbClr val="F9E2AF"/>
                </a:solidFill>
                <a:latin typeface="Courier New"/>
              </a:rPr>
              <a:t># Linkerd: solo si linkerd está disponible</a:t>
            </a:r>
          </a:p>
          <a:p>
            <a:r>
              <a:rPr sz="1100">
                <a:solidFill>
                  <a:srgbClr val="CBD3F0"/>
                </a:solidFill>
                <a:latin typeface="Courier New"/>
              </a:rPr>
              <a:t>if has_cmd linkerd; then ... fi</a:t>
            </a:r>
          </a:p>
          <a:p>
            <a:r>
              <a:rPr sz="1100">
                <a:solidFill>
                  <a:srgbClr val="CBD3F0"/>
                </a:solidFill>
                <a:latin typeface="Courier New"/>
              </a:rPr>
              <a:t/>
            </a:r>
          </a:p>
          <a:p>
            <a:r>
              <a:rPr sz="1100">
                <a:solidFill>
                  <a:srgbClr val="F9E2AF"/>
                </a:solidFill>
                <a:latin typeface="Courier New"/>
              </a:rPr>
              <a:t># Análisis final si hay cualquier JSON</a:t>
            </a:r>
          </a:p>
          <a:p>
            <a:r>
              <a:rPr sz="1100">
                <a:solidFill>
                  <a:srgbClr val="CBD3F0"/>
                </a:solidFill>
                <a:latin typeface="Courier New"/>
              </a:rPr>
              <a:t>total=$(find results -name '*.json' | wc -l)</a:t>
            </a:r>
          </a:p>
          <a:p>
            <a:r>
              <a:rPr sz="1100">
                <a:solidFill>
                  <a:srgbClr val="CBD3F0"/>
                </a:solidFill>
                <a:latin typeface="Courier New"/>
              </a:rPr>
              <a:t>if (( total &gt; 0 )); then</a:t>
            </a:r>
          </a:p>
          <a:p>
            <a:r>
              <a:rPr sz="1100">
                <a:solidFill>
                  <a:srgbClr val="CBD3F0"/>
                </a:solidFill>
                <a:latin typeface="Courier New"/>
              </a:rPr>
              <a:t>  run_safely 'analysis' 'python3 analysis/analyze-mtls-results.py'</a:t>
            </a:r>
          </a:p>
          <a:p>
            <a:r>
              <a:rPr sz="1100">
                <a:solidFill>
                  <a:srgbClr val="CBD3F0"/>
                </a:solidFill>
                <a:latin typeface="Courier New"/>
              </a:rPr>
              <a:t>fi</a:t>
            </a:r>
          </a:p>
        </p:txBody>
      </p:sp>
      <p:sp>
        <p:nvSpPr>
          <p:cNvPr id="8" name="Rectangle 7"/>
          <p:cNvSpPr/>
          <p:nvPr/>
        </p:nvSpPr>
        <p:spPr>
          <a:xfrm>
            <a:off x="8915400" y="1143000"/>
            <a:ext cx="283464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exec &gt;&gt; log 2&gt;&amp;1 — todo al archivo</a:t>
            </a:r>
          </a:p>
          <a:p>
            <a:r>
              <a:rPr sz="1000">
                <a:solidFill>
                  <a:srgbClr val="555555"/>
                </a:solidFill>
              </a:rPr>
              <a:t>La línea exec redirige TODO el stdout
y stderr del proceso autopilot al log:
  exec &gt;&gt; '$MASTER_LOG' 2&gt;&amp;1
Efecto: cualquier echo, error de bash
o salida de sub-scripts va al log.
Permite diagnosticar el autopilot
aunque no haya terminal activa.
monitor-control2.sh hace:
  tail -n 8 logs/control2-autopilot.log
para ver el progreso sin interrumpir.</a:t>
            </a:r>
          </a:p>
        </p:txBody>
      </p:sp>
      <p:sp>
        <p:nvSpPr>
          <p:cNvPr id="9" name="Rectangle 8"/>
          <p:cNvSpPr/>
          <p:nvPr/>
        </p:nvSpPr>
        <p:spPr>
          <a:xfrm>
            <a:off x="11887200" y="1143000"/>
            <a:ext cx="283464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trap EXIT — lock siempre limpio</a:t>
            </a:r>
          </a:p>
          <a:p>
            <a:r>
              <a:rPr sz="1000">
                <a:solidFill>
                  <a:srgbClr val="555555"/>
                </a:solidFill>
              </a:rPr>
              <a:t>El lock file se crea con el PID:
  printf '%s\n' '$$' &gt; '$LOCK_FILE'
Y se borra con trap:
  trap 'rm -f $LOCK_FILE' EXIT
EXIT se dispara SIEMPRE que el script
termina, incluso si:
  - Sale con exit 0 (éxito)
  - Sale con exit 1 (error)
  - set -e aborta por fallo
  - Se recibe SIGTERM
Sin trap → lock queda huérfano y
el autopilot nunca vuelve a correr.</a:t>
            </a:r>
          </a:p>
        </p:txBody>
      </p:sp>
      <p:sp>
        <p:nvSpPr>
          <p:cNvPr id="10" name="Rectangle 9"/>
          <p:cNvSpPr/>
          <p:nvPr/>
        </p:nvSpPr>
        <p:spPr>
          <a:xfrm>
            <a:off x="8915400" y="3383280"/>
            <a:ext cx="283464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run_safely — bash -lc</a:t>
            </a:r>
          </a:p>
          <a:p>
            <a:r>
              <a:rPr sz="1000">
                <a:solidFill>
                  <a:srgbClr val="555555"/>
                </a:solidFill>
              </a:rPr>
              <a:t>Los comandos se lanzan con bash -lc:
  bash -lc 'cd ROOT &amp;&amp; bash run-..'
  -l = login shell → carga .bashrc,
       .profile, etc.
  -c = ejecuta el string como comando
Necesario porque el autopilot puede
correr desde un cron sin PATH completo.
El -l garantiza que $HOME/.local/bin
(donde están istioctl y linkerd) esté
en el PATH del sub-proceso.
Sin -l → has_cmd istioctl podría fallar
aunque el CLI esté instalado.</a:t>
            </a:r>
          </a:p>
        </p:txBody>
      </p:sp>
      <p:sp>
        <p:nvSpPr>
          <p:cNvPr id="11" name="Rectangle 10"/>
          <p:cNvSpPr/>
          <p:nvPr/>
        </p:nvSpPr>
        <p:spPr>
          <a:xfrm>
            <a:off x="11887200" y="3383280"/>
            <a:ext cx="283464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pgrep -af — detecta cualquier nivel</a:t>
            </a:r>
          </a:p>
          <a:p>
            <a:r>
              <a:rPr sz="1000">
                <a:solidFill>
                  <a:srgbClr val="555555"/>
                </a:solidFill>
              </a:rPr>
              <a:t>wait_for_existing_runs usa:
  pgrep -af 'run-control2-safe.sh|k6 run'
  -a = muestra la línea de comando completa
  -f = busca en TODA la línea (no solo nombre)
Detecta procesos en cualquier nivel:
  - El dispatcher (run-control2-safe.sh)
  - Los sub-scripts (run-baseline-safe.sh)
  - k6 run directamente
Si solo uno de ellos está activo
→ el autopilot espera hasta que TODOS
terminen antes de continuar.</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Istio mTLS STRICT y Linkerd — Instalación y configuración</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PeerAuthentication STRICT para el namespace · gw-nginx PERMISSIVE en :80 · Linkerd inject annotation</a:t>
            </a:r>
          </a:p>
        </p:txBody>
      </p:sp>
      <p:sp>
        <p:nvSpPr>
          <p:cNvPr id="5" name="Rectangle 4"/>
          <p:cNvSpPr/>
          <p:nvPr/>
        </p:nvSpPr>
        <p:spPr>
          <a:xfrm>
            <a:off x="365760" y="1143000"/>
            <a:ext cx="5394960" cy="33375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enable-mtls-strict.sh — Istio PeerAuthentication</a:t>
            </a:r>
          </a:p>
          <a:p>
            <a:r>
              <a:rPr sz="1100">
                <a:solidFill>
                  <a:srgbClr val="F9E2AF"/>
                </a:solidFill>
                <a:latin typeface="Courier New"/>
              </a:rPr>
              <a:t/>
            </a:r>
          </a:p>
          <a:p>
            <a:r>
              <a:rPr sz="1100">
                <a:solidFill>
                  <a:srgbClr val="CBD3F0"/>
                </a:solidFill>
                <a:latin typeface="Courier New"/>
              </a:rPr>
              <a:t># 1. mTLS STRICT para todos los pods del namespace</a:t>
            </a:r>
          </a:p>
          <a:p>
            <a:r>
              <a:rPr sz="1100">
                <a:solidFill>
                  <a:srgbClr val="F9E2AF"/>
                </a:solidFill>
                <a:latin typeface="Courier New"/>
              </a:rPr>
              <a:t>kubectl apply -f - &lt;&lt;EOF</a:t>
            </a:r>
          </a:p>
          <a:p>
            <a:r>
              <a:rPr sz="1100">
                <a:solidFill>
                  <a:srgbClr val="CBD3F0"/>
                </a:solidFill>
                <a:latin typeface="Courier New"/>
              </a:rPr>
              <a:t>apiVersion: security.istio.io/v1beta1</a:t>
            </a:r>
          </a:p>
          <a:p>
            <a:r>
              <a:rPr sz="1100">
                <a:solidFill>
                  <a:srgbClr val="CBD3F0"/>
                </a:solidFill>
                <a:latin typeface="Courier New"/>
              </a:rPr>
              <a:t>kind: PeerAuthentication</a:t>
            </a:r>
          </a:p>
          <a:p>
            <a:r>
              <a:rPr sz="1100">
                <a:solidFill>
                  <a:srgbClr val="CBD3F0"/>
                </a:solidFill>
                <a:latin typeface="Courier New"/>
              </a:rPr>
              <a:t>metadata:</a:t>
            </a:r>
          </a:p>
          <a:p>
            <a:r>
              <a:rPr sz="1100">
                <a:solidFill>
                  <a:srgbClr val="CBD3F0"/>
                </a:solidFill>
                <a:latin typeface="Courier New"/>
              </a:rPr>
              <a:t>  name: default</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CBD3F0"/>
                </a:solidFill>
                <a:latin typeface="Courier New"/>
              </a:rPr>
              <a:t>  mtls:</a:t>
            </a:r>
          </a:p>
          <a:p>
            <a:r>
              <a:rPr sz="1100">
                <a:solidFill>
                  <a:srgbClr val="F9E2AF"/>
                </a:solidFill>
                <a:latin typeface="Courier New"/>
              </a:rPr>
              <a:t>    mode: STRICT</a:t>
            </a:r>
          </a:p>
          <a:p>
            <a:r>
              <a:rPr sz="1100">
                <a:solidFill>
                  <a:srgbClr val="CBD3F0"/>
                </a:solidFill>
                <a:latin typeface="Courier New"/>
              </a:rPr>
              <a:t>EOF</a:t>
            </a:r>
          </a:p>
          <a:p>
            <a:r>
              <a:rPr sz="1100">
                <a:solidFill>
                  <a:srgbClr val="CBD3F0"/>
                </a:solidFill>
                <a:latin typeface="Courier New"/>
              </a:rPr>
              <a:t/>
            </a:r>
          </a:p>
          <a:p>
            <a:r>
              <a:rPr sz="1100">
                <a:solidFill>
                  <a:srgbClr val="CBD3F0"/>
                </a:solidFill>
                <a:latin typeface="Courier New"/>
              </a:rPr>
              <a:t># 2. gw-nginx exento en puerto 80 (recibe tráfico externo sin mTLS)</a:t>
            </a:r>
          </a:p>
          <a:p>
            <a:r>
              <a:rPr sz="1100">
                <a:solidFill>
                  <a:srgbClr val="F9E2AF"/>
                </a:solidFill>
                <a:latin typeface="Courier New"/>
              </a:rPr>
              <a:t>kubectl apply -f - &lt;&lt;EOF</a:t>
            </a:r>
          </a:p>
          <a:p>
            <a:r>
              <a:rPr sz="1100">
                <a:solidFill>
                  <a:srgbClr val="CBD3F0"/>
                </a:solidFill>
                <a:latin typeface="Courier New"/>
              </a:rPr>
              <a:t>kind: PeerAuthentication</a:t>
            </a:r>
          </a:p>
          <a:p>
            <a:r>
              <a:rPr sz="1100">
                <a:solidFill>
                  <a:srgbClr val="CBD3F0"/>
                </a:solidFill>
                <a:latin typeface="Courier New"/>
              </a:rPr>
              <a:t>metadata:</a:t>
            </a:r>
          </a:p>
          <a:p>
            <a:r>
              <a:rPr sz="1100">
                <a:solidFill>
                  <a:srgbClr val="CBD3F0"/>
                </a:solidFill>
                <a:latin typeface="Courier New"/>
              </a:rPr>
              <a:t>  name: gw-nginx-permissive</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CBD3F0"/>
                </a:solidFill>
                <a:latin typeface="Courier New"/>
              </a:rPr>
              <a:t>  selector:</a:t>
            </a:r>
          </a:p>
          <a:p>
            <a:r>
              <a:rPr sz="1100">
                <a:solidFill>
                  <a:srgbClr val="CBD3F0"/>
                </a:solidFill>
                <a:latin typeface="Courier New"/>
              </a:rPr>
              <a:t>    matchLabels: {app: gw-nginx}</a:t>
            </a:r>
          </a:p>
          <a:p>
            <a:r>
              <a:rPr sz="1100">
                <a:solidFill>
                  <a:srgbClr val="CBD3F0"/>
                </a:solidFill>
                <a:latin typeface="Courier New"/>
              </a:rPr>
              <a:t>  portLevelMtls:</a:t>
            </a:r>
          </a:p>
          <a:p>
            <a:r>
              <a:rPr sz="1100">
                <a:solidFill>
                  <a:srgbClr val="CBD3F0"/>
                </a:solidFill>
                <a:latin typeface="Courier New"/>
              </a:rPr>
              <a:t>    80:</a:t>
            </a:r>
          </a:p>
          <a:p>
            <a:r>
              <a:rPr sz="1100">
                <a:solidFill>
                  <a:srgbClr val="F9E2AF"/>
                </a:solidFill>
                <a:latin typeface="Courier New"/>
              </a:rPr>
              <a:t>      mode: PERMISSIVE  # acepta TLS y plain HTTP</a:t>
            </a:r>
          </a:p>
          <a:p>
            <a:r>
              <a:rPr sz="1100">
                <a:solidFill>
                  <a:srgbClr val="CBD3F0"/>
                </a:solidFill>
                <a:latin typeface="Courier New"/>
              </a:rPr>
              <a:t>EOF</a:t>
            </a:r>
          </a:p>
        </p:txBody>
      </p:sp>
      <p:sp>
        <p:nvSpPr>
          <p:cNvPr id="6" name="Rectangle 5"/>
          <p:cNvSpPr/>
          <p:nvPr/>
        </p:nvSpPr>
        <p:spPr>
          <a:xfrm>
            <a:off x="365760" y="4617720"/>
            <a:ext cx="5394960" cy="21031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install-linkerd-safe.sh — pasos clave</a:t>
            </a:r>
          </a:p>
          <a:p>
            <a:r>
              <a:rPr sz="1100">
                <a:solidFill>
                  <a:srgbClr val="F9E2AF"/>
                </a:solidFill>
                <a:latin typeface="Courier New"/>
              </a:rPr>
              <a:t/>
            </a:r>
          </a:p>
          <a:p>
            <a:r>
              <a:rPr sz="1100">
                <a:solidFill>
                  <a:srgbClr val="CBD3F0"/>
                </a:solidFill>
                <a:latin typeface="Courier New"/>
              </a:rPr>
              <a:t># Limpiar Istio del namespace para evitar sidecars mixtos</a:t>
            </a:r>
          </a:p>
          <a:p>
            <a:r>
              <a:rPr sz="1100">
                <a:solidFill>
                  <a:srgbClr val="F9E2AF"/>
                </a:solidFill>
                <a:latin typeface="Courier New"/>
              </a:rPr>
              <a:t>kubectl label namespace default istio-injection- --overwrite</a:t>
            </a:r>
          </a:p>
          <a:p>
            <a:r>
              <a:rPr sz="1100">
                <a:solidFill>
                  <a:srgbClr val="CBD3F0"/>
                </a:solidFill>
                <a:latin typeface="Courier New"/>
              </a:rPr>
              <a:t>kubectl delete peerauthentication default -n default || true</a:t>
            </a:r>
          </a:p>
          <a:p>
            <a:r>
              <a:rPr sz="1100">
                <a:solidFill>
                  <a:srgbClr val="CBD3F0"/>
                </a:solidFill>
                <a:latin typeface="Courier New"/>
              </a:rPr>
              <a:t>kubectl rollout restart deploy/s0 deploy/s1 deploy/sdb1 -n default</a:t>
            </a:r>
          </a:p>
          <a:p>
            <a:r>
              <a:rPr sz="1100">
                <a:solidFill>
                  <a:srgbClr val="CBD3F0"/>
                </a:solidFill>
                <a:latin typeface="Courier New"/>
              </a:rPr>
              <a:t/>
            </a:r>
          </a:p>
          <a:p>
            <a:r>
              <a:rPr sz="1100">
                <a:solidFill>
                  <a:srgbClr val="CBD3F0"/>
                </a:solidFill>
                <a:latin typeface="Courier New"/>
              </a:rPr>
              <a:t># Instalar Linkerd</a:t>
            </a:r>
          </a:p>
          <a:p>
            <a:r>
              <a:rPr sz="1100">
                <a:solidFill>
                  <a:srgbClr val="F9E2AF"/>
                </a:solidFill>
                <a:latin typeface="Courier New"/>
              </a:rPr>
              <a:t>linkerd check --pre            # verifica prerrequisitos</a:t>
            </a:r>
          </a:p>
          <a:p>
            <a:r>
              <a:rPr sz="1100">
                <a:solidFill>
                  <a:srgbClr val="CBD3F0"/>
                </a:solidFill>
                <a:latin typeface="Courier New"/>
              </a:rPr>
              <a:t>linkerd install --crds | kubectl apply -f -</a:t>
            </a:r>
          </a:p>
          <a:p>
            <a:r>
              <a:rPr sz="1100">
                <a:solidFill>
                  <a:srgbClr val="CBD3F0"/>
                </a:solidFill>
                <a:latin typeface="Courier New"/>
              </a:rPr>
              <a:t>linkerd install     | kubectl apply -f -</a:t>
            </a:r>
          </a:p>
          <a:p>
            <a:r>
              <a:rPr sz="1100">
                <a:solidFill>
                  <a:srgbClr val="CBD3F0"/>
                </a:solidFill>
                <a:latin typeface="Courier New"/>
              </a:rPr>
              <a:t>linkerd check                  # verifica instalación</a:t>
            </a:r>
          </a:p>
          <a:p>
            <a:r>
              <a:rPr sz="1100">
                <a:solidFill>
                  <a:srgbClr val="CBD3F0"/>
                </a:solidFill>
                <a:latin typeface="Courier New"/>
              </a:rPr>
              <a:t/>
            </a:r>
          </a:p>
          <a:p>
            <a:r>
              <a:rPr sz="1100">
                <a:solidFill>
                  <a:srgbClr val="CBD3F0"/>
                </a:solidFill>
                <a:latin typeface="Courier New"/>
              </a:rPr>
              <a:t># Habilitar inyección automática del proxy Linkerd</a:t>
            </a:r>
          </a:p>
          <a:p>
            <a:r>
              <a:rPr sz="1100">
                <a:solidFill>
                  <a:srgbClr val="F9E2AF"/>
                </a:solidFill>
                <a:latin typeface="Courier New"/>
              </a:rPr>
              <a:t>kubectl annotate namespace default linkerd.io/inject=enabled</a:t>
            </a:r>
          </a:p>
          <a:p>
            <a:r>
              <a:rPr sz="1100">
                <a:solidFill>
                  <a:srgbClr val="CBD3F0"/>
                </a:solidFill>
                <a:latin typeface="Courier New"/>
              </a:rPr>
              <a:t>kubectl rollout restart deploy/s0 deploy/s1 deploy/sdb1</a:t>
            </a:r>
          </a:p>
        </p:txBody>
      </p:sp>
      <p:sp>
        <p:nvSpPr>
          <p:cNvPr id="7" name="Rectangle 6"/>
          <p:cNvSpPr/>
          <p:nvPr/>
        </p:nvSpPr>
        <p:spPr>
          <a:xfrm>
            <a:off x="5852160" y="1143000"/>
            <a:ext cx="301752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PeerAuthentication STRICT</a:t>
            </a:r>
          </a:p>
          <a:p>
            <a:r>
              <a:rPr sz="1000">
                <a:solidFill>
                  <a:srgbClr val="555555"/>
                </a:solidFill>
              </a:rPr>
              <a:t>STRICT = solo tráfico mTLS aceptado:
  Pod A → Pod B sin mTLS → rechazado
  Pod A → Pod B con mTLS → aceptado
Istio inyecta proxy Envoy en cada pod.
Envoy termina y origina TLS:
  - Certificado por servicio (SPIFFE)
  - Rotación automática cada 24h
  - Istiod (control plane) los gestiona
El tráfico entre pods es TLS 1.3
sin que la app tenga que cambiarse.</a:t>
            </a:r>
          </a:p>
        </p:txBody>
      </p:sp>
      <p:sp>
        <p:nvSpPr>
          <p:cNvPr id="8" name="Rectangle 7"/>
          <p:cNvSpPr/>
          <p:nvPr/>
        </p:nvSpPr>
        <p:spPr>
          <a:xfrm>
            <a:off x="9006840" y="1143000"/>
            <a:ext cx="301752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portLevelMtls en gw-nginx</a:t>
            </a:r>
          </a:p>
          <a:p>
            <a:r>
              <a:rPr sz="1000">
                <a:solidFill>
                  <a:srgbClr val="555555"/>
                </a:solidFill>
              </a:rPr>
              <a:t>gw-nginx recibe tráfico EXTERNO (k6)
sin mTLS (HTTP plano).
Sin la excepción → k6 falla con:
  'Connection reset by peer'
  (Envoy rechaza el plain HTTP)
Solución: PeerAuthentication adicional
con selector: app=gw-nginx
portLevelMtls.80: PERMISSIVE
→ acepta tanto mTLS como HTTP en :80
Los otros puertos siguen STRICT.</a:t>
            </a:r>
          </a:p>
        </p:txBody>
      </p:sp>
      <p:sp>
        <p:nvSpPr>
          <p:cNvPr id="9" name="Rectangle 8"/>
          <p:cNvSpPr/>
          <p:nvPr/>
        </p:nvSpPr>
        <p:spPr>
          <a:xfrm>
            <a:off x="5852160" y="3383280"/>
            <a:ext cx="301752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Linkerd vs Istio — diferencias clave</a:t>
            </a:r>
          </a:p>
          <a:p>
            <a:r>
              <a:rPr sz="1000">
                <a:solidFill>
                  <a:srgbClr val="555555"/>
                </a:solidFill>
              </a:rPr>
              <a:t>Istio:
  sidecar: Envoy (C++, pesado)
  control plane: Istiod
  injection: label istio-injection=enabled
  cert: SPIFFE/X.509 via Istiod
  overhead: ~10-50ms (mutual TLS + Lua)
Linkerd:
  sidecar: linkerd-proxy (Rust, ligero)
  control plane: linkerd-destination
  injection: annotation linkerd.io/inject
  cert: CA interna con cert-manager
  overhead: &lt;5ms (diseñado para baja lat)</a:t>
            </a:r>
          </a:p>
        </p:txBody>
      </p:sp>
      <p:sp>
        <p:nvSpPr>
          <p:cNvPr id="10" name="Rectangle 9"/>
          <p:cNvSpPr/>
          <p:nvPr/>
        </p:nvSpPr>
        <p:spPr>
          <a:xfrm>
            <a:off x="9006840" y="3383280"/>
            <a:ext cx="301752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Limpieza previa a Linkerd</a:t>
            </a:r>
          </a:p>
          <a:p>
            <a:r>
              <a:rPr sz="1000">
                <a:solidFill>
                  <a:srgbClr val="555555"/>
                </a:solidFill>
              </a:rPr>
              <a:t>Si Istio está activo y se instala Linkerd
sin limpiar → DOS sidecars por pod:
  istio-proxy (Envoy) +
  linkerd-proxy (Rust)
Resultado: tráfico reenviado dos veces,
métricas confusas, posible deadlock.
install-linkerd-safe.sh limpia PRIMERO:
  1. Elimina label istio-injection
  2. Elimina PeerAuthentication de Istio
  3. Rollout restart → pods sin Envoy
  4. Luego instala Linkerd</a:t>
            </a:r>
          </a:p>
        </p:txBody>
      </p:sp>
      <p:sp>
        <p:nvSpPr>
          <p:cNvPr id="11" name="Rectangle 10"/>
          <p:cNvSpPr/>
          <p:nvPr/>
        </p:nvSpPr>
        <p:spPr>
          <a:xfrm>
            <a:off x="5852160" y="5623560"/>
            <a:ext cx="301752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test-istio-mtls.js vs test-linkerd-mtls.js</a:t>
            </a:r>
          </a:p>
          <a:p>
            <a:r>
              <a:rPr sz="1000">
                <a:solidFill>
                  <a:srgbClr val="555555"/>
                </a:solidFill>
              </a:rPr>
              <a:t>Diferencias en los scripts de test:
Istio  → GET /api, sleep(0.25)
  threshold: p95&lt;1200ms, failed&lt;3%
  TARGET_URL: :31213/api (gw-nginx)
Linkerd → POST /process, sleep(0.25)
  threshold: p95&lt;1100ms, failed&lt;3%
  TARGET_URL: :30080/process
  body: {mode: 'linkerd-mtls'}
Linkerd usa POST porque su prueba
apunta directamente a s0 (:30080,
NGINX Ingress) sin pasar por gw-nginx.</a:t>
            </a:r>
          </a:p>
        </p:txBody>
      </p:sp>
      <p:sp>
        <p:nvSpPr>
          <p:cNvPr id="12" name="Rectangle 11"/>
          <p:cNvSpPr/>
          <p:nvPr/>
        </p:nvSpPr>
        <p:spPr>
          <a:xfrm>
            <a:off x="9006840" y="5623560"/>
            <a:ext cx="301752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run-istio-tests-safe.sh — ensure_portforward</a:t>
            </a:r>
          </a:p>
          <a:p>
            <a:r>
              <a:rPr sz="1000">
                <a:solidFill>
                  <a:srgbClr val="555555"/>
                </a:solidFill>
              </a:rPr>
              <a:t>Antes de cada corrida (y entre reps)
el script verifica que el gateway
responde:
  curl -s -w '%{http_code}' $TARGET_URL
  if status es 200/4xx/5xx → OK
  (cualquier respuesta HTTP = UP)
Si no responde → warn + continuar
(no aborta, solo avisa).
Útil porque después de enable-mtls-strict
el gateway puede tardar ~30s en
sincronizar la nueva config de Envoy.</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Análisis mTLS — resultados reales del experimento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analyze-results.py (tabla overhead) · analyze/analyze-mtls-results.py (CSV + PNG) · datos de 27 corridas</a:t>
            </a:r>
          </a:p>
        </p:txBody>
      </p:sp>
      <p:sp>
        <p:nvSpPr>
          <p:cNvPr id="5" name="Rectangle 4"/>
          <p:cNvSpPr/>
          <p:nvPr/>
        </p:nvSpPr>
        <p:spPr>
          <a:xfrm>
            <a:off x="365760" y="1143000"/>
            <a:ext cx="5394960" cy="29260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analyze-results.py — overhead por VUS</a:t>
            </a:r>
          </a:p>
          <a:p>
            <a:r>
              <a:rPr sz="1100">
                <a:solidFill>
                  <a:srgbClr val="F9E2AF"/>
                </a:solidFill>
                <a:latin typeface="Courier New"/>
              </a:rPr>
              <a:t>def parse_results(folder):</a:t>
            </a:r>
          </a:p>
          <a:p>
            <a:r>
              <a:rPr sz="1100">
                <a:solidFill>
                  <a:srgbClr val="CBD3F0"/>
                </a:solidFill>
                <a:latin typeface="Courier New"/>
              </a:rPr>
              <a:t>    for f in folder.glob('*.json'):</a:t>
            </a:r>
          </a:p>
          <a:p>
            <a:r>
              <a:rPr sz="1100">
                <a:solidFill>
                  <a:srgbClr val="CBD3F0"/>
                </a:solidFill>
                <a:latin typeface="Courier New"/>
              </a:rPr>
              <a:t>        # lee NDJSON, extrae puntos de http_req_duration</a:t>
            </a:r>
          </a:p>
          <a:p>
            <a:r>
              <a:rPr sz="1100">
                <a:solidFill>
                  <a:srgbClr val="CBD3F0"/>
                </a:solidFill>
                <a:latin typeface="Courier New"/>
              </a:rPr>
              <a:t>        reqs = [d['data']['value'] for d in data</a:t>
            </a:r>
          </a:p>
          <a:p>
            <a:r>
              <a:rPr sz="1100">
                <a:solidFill>
                  <a:srgbClr val="CBD3F0"/>
                </a:solidFill>
                <a:latin typeface="Courier New"/>
              </a:rPr>
              <a:t>                if d['metric'] == 'http_req_duration']</a:t>
            </a:r>
          </a:p>
          <a:p>
            <a:r>
              <a:rPr sz="1100">
                <a:solidFill>
                  <a:srgbClr val="CBD3F0"/>
                </a:solidFill>
                <a:latin typeface="Courier New"/>
              </a:rPr>
              <a:t>        reqs.sort()</a:t>
            </a:r>
          </a:p>
          <a:p>
            <a:r>
              <a:rPr sz="1100">
                <a:solidFill>
                  <a:srgbClr val="CBD3F0"/>
                </a:solidFill>
                <a:latin typeface="Courier New"/>
              </a:rPr>
              <a:t>        n = len(reqs)</a:t>
            </a:r>
          </a:p>
          <a:p>
            <a:r>
              <a:rPr sz="1100">
                <a:solidFill>
                  <a:srgbClr val="CBD3F0"/>
                </a:solidFill>
                <a:latin typeface="Courier New"/>
              </a:rPr>
              <a:t>        p50 = reqs[n // 2]</a:t>
            </a:r>
          </a:p>
          <a:p>
            <a:r>
              <a:rPr sz="1100">
                <a:solidFill>
                  <a:srgbClr val="CBD3F0"/>
                </a:solidFill>
                <a:latin typeface="Courier New"/>
              </a:rPr>
              <a:t>        p95 = reqs[int(n * 0.95)]</a:t>
            </a:r>
          </a:p>
          <a:p>
            <a:r>
              <a:rPr sz="1100">
                <a:solidFill>
                  <a:srgbClr val="CBD3F0"/>
                </a:solidFill>
                <a:latin typeface="Courier New"/>
              </a:rPr>
              <a:t>        p99 = reqs[int(n * 0.99)]</a:t>
            </a:r>
          </a:p>
          <a:p>
            <a:r>
              <a:rPr sz="1100">
                <a:solidFill>
                  <a:srgbClr val="CBD3F0"/>
                </a:solidFill>
                <a:latin typeface="Courier New"/>
              </a:rPr>
              <a:t>        throughput = n / 60.0  # asume 60s de duración</a:t>
            </a:r>
          </a:p>
          <a:p>
            <a:r>
              <a:rPr sz="1100">
                <a:solidFill>
                  <a:srgbClr val="CBD3F0"/>
                </a:solidFill>
                <a:latin typeface="Courier New"/>
              </a:rPr>
              <a:t/>
            </a:r>
          </a:p>
          <a:p>
            <a:r>
              <a:rPr sz="1100">
                <a:solidFill>
                  <a:srgbClr val="CBD3F0"/>
                </a:solidFill>
                <a:latin typeface="Courier New"/>
              </a:rPr>
              <a:t># Calcula overhead% entre baseline e Istio:</a:t>
            </a:r>
          </a:p>
          <a:p>
            <a:r>
              <a:rPr sz="1100">
                <a:solidFill>
                  <a:srgbClr val="F9E2AF"/>
                </a:solidFill>
                <a:latin typeface="Courier New"/>
              </a:rPr>
              <a:t>overhead = f'{((ii - bi) / bi * 100):+.1f}%'  # latencia</a:t>
            </a:r>
          </a:p>
          <a:p>
            <a:r>
              <a:rPr sz="1100">
                <a:solidFill>
                  <a:srgbClr val="CBD3F0"/>
                </a:solidFill>
                <a:latin typeface="Courier New"/>
              </a:rPr>
              <a:t>overhead = f'{ii - bi:+.2f}pp'                # fail_rate</a:t>
            </a:r>
          </a:p>
          <a:p>
            <a:r>
              <a:rPr sz="1100">
                <a:solidFill>
                  <a:srgbClr val="CBD3F0"/>
                </a:solidFill>
                <a:latin typeface="Courier New"/>
              </a:rPr>
              <a:t>overhead = f'{((ii - bi) / bi * 100):+.1f}%'  # req/s</a:t>
            </a:r>
          </a:p>
          <a:p>
            <a:r>
              <a:rPr sz="1100">
                <a:solidFill>
                  <a:srgbClr val="CBD3F0"/>
                </a:solidFill>
                <a:latin typeface="Courier New"/>
              </a:rPr>
              <a:t/>
            </a:r>
          </a:p>
          <a:p>
            <a:r>
              <a:rPr sz="1100">
                <a:solidFill>
                  <a:srgbClr val="CBD3F0"/>
                </a:solidFill>
                <a:latin typeface="Courier New"/>
              </a:rPr>
              <a:t># analyze/analyze-mtls-results.py — genera CSV + PNG</a:t>
            </a:r>
          </a:p>
          <a:p>
            <a:r>
              <a:rPr sz="1100">
                <a:solidFill>
                  <a:srgbClr val="F9E2AF"/>
                </a:solidFill>
                <a:latin typeface="Courier New"/>
              </a:rPr>
              <a:t>df = pd.DataFrame(rows)          # scenario, vus, avg, p95, p99</a:t>
            </a:r>
          </a:p>
          <a:p>
            <a:r>
              <a:rPr sz="1100">
                <a:solidFill>
                  <a:srgbClr val="CBD3F0"/>
                </a:solidFill>
                <a:latin typeface="Courier New"/>
              </a:rPr>
              <a:t>df.to_csv('mtls_summary.csv')    # todos los archivos juntos</a:t>
            </a:r>
          </a:p>
          <a:p>
            <a:r>
              <a:rPr sz="1100">
                <a:solidFill>
                  <a:srgbClr val="CBD3F0"/>
                </a:solidFill>
                <a:latin typeface="Courier New"/>
              </a:rPr>
              <a:t>grouped = df.groupby(['scenario','vus']).agg({'p95_ms':'mean'})</a:t>
            </a:r>
          </a:p>
          <a:p>
            <a:r>
              <a:rPr sz="1100">
                <a:solidFill>
                  <a:srgbClr val="CBD3F0"/>
                </a:solidFill>
                <a:latin typeface="Courier New"/>
              </a:rPr>
              <a:t>pivot = grouped.pivot(index='vus', columns='scenario')</a:t>
            </a:r>
          </a:p>
          <a:p>
            <a:r>
              <a:rPr sz="1100">
                <a:solidFill>
                  <a:srgbClr val="CBD3F0"/>
                </a:solidFill>
                <a:latin typeface="Courier New"/>
              </a:rPr>
              <a:t>plt.plot(pivot.index, pivot[col], marker='o')</a:t>
            </a:r>
          </a:p>
          <a:p>
            <a:r>
              <a:rPr sz="1100">
                <a:solidFill>
                  <a:srgbClr val="CBD3F0"/>
                </a:solidFill>
                <a:latin typeface="Courier New"/>
              </a:rPr>
              <a:t>plt.savefig('mtls_p95_comparison.png', dpi=250)</a:t>
            </a:r>
          </a:p>
        </p:txBody>
      </p:sp>
      <p:sp>
        <p:nvSpPr>
          <p:cNvPr id="6" name="Rectangle 5"/>
          <p:cNvSpPr/>
          <p:nvPr/>
        </p:nvSpPr>
        <p:spPr>
          <a:xfrm>
            <a:off x="365760" y="4206240"/>
            <a:ext cx="137160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Escenario</a:t>
            </a:r>
          </a:p>
        </p:txBody>
      </p:sp>
      <p:sp>
        <p:nvSpPr>
          <p:cNvPr id="7" name="Rectangle 6"/>
          <p:cNvSpPr/>
          <p:nvPr/>
        </p:nvSpPr>
        <p:spPr>
          <a:xfrm>
            <a:off x="1737360" y="4206240"/>
            <a:ext cx="54864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VUS</a:t>
            </a:r>
          </a:p>
        </p:txBody>
      </p:sp>
      <p:sp>
        <p:nvSpPr>
          <p:cNvPr id="8" name="Rectangle 7"/>
          <p:cNvSpPr/>
          <p:nvPr/>
        </p:nvSpPr>
        <p:spPr>
          <a:xfrm>
            <a:off x="2286000" y="4206240"/>
            <a:ext cx="91440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avg (ms)</a:t>
            </a:r>
          </a:p>
        </p:txBody>
      </p:sp>
      <p:sp>
        <p:nvSpPr>
          <p:cNvPr id="9" name="Rectangle 8"/>
          <p:cNvSpPr/>
          <p:nvPr/>
        </p:nvSpPr>
        <p:spPr>
          <a:xfrm>
            <a:off x="3200400" y="4206240"/>
            <a:ext cx="91440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p95 (ms)</a:t>
            </a:r>
          </a:p>
        </p:txBody>
      </p:sp>
      <p:sp>
        <p:nvSpPr>
          <p:cNvPr id="10" name="Rectangle 9"/>
          <p:cNvSpPr/>
          <p:nvPr/>
        </p:nvSpPr>
        <p:spPr>
          <a:xfrm>
            <a:off x="4114800" y="4206240"/>
            <a:ext cx="91440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p99 (ms)</a:t>
            </a:r>
          </a:p>
        </p:txBody>
      </p:sp>
      <p:sp>
        <p:nvSpPr>
          <p:cNvPr id="11" name="Rectangle 10"/>
          <p:cNvSpPr/>
          <p:nvPr/>
        </p:nvSpPr>
        <p:spPr>
          <a:xfrm>
            <a:off x="365760" y="4535424"/>
            <a:ext cx="137160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baseline</a:t>
            </a:r>
          </a:p>
        </p:txBody>
      </p:sp>
      <p:sp>
        <p:nvSpPr>
          <p:cNvPr id="12" name="Rectangle 11"/>
          <p:cNvSpPr/>
          <p:nvPr/>
        </p:nvSpPr>
        <p:spPr>
          <a:xfrm>
            <a:off x="1737360" y="4535424"/>
            <a:ext cx="5486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5</a:t>
            </a:r>
          </a:p>
        </p:txBody>
      </p:sp>
      <p:sp>
        <p:nvSpPr>
          <p:cNvPr id="13" name="Rectangle 12"/>
          <p:cNvSpPr/>
          <p:nvPr/>
        </p:nvSpPr>
        <p:spPr>
          <a:xfrm>
            <a:off x="2286000" y="4535424"/>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45.3</a:t>
            </a:r>
          </a:p>
        </p:txBody>
      </p:sp>
      <p:sp>
        <p:nvSpPr>
          <p:cNvPr id="14" name="Rectangle 13"/>
          <p:cNvSpPr/>
          <p:nvPr/>
        </p:nvSpPr>
        <p:spPr>
          <a:xfrm>
            <a:off x="3200400" y="4535424"/>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56.4</a:t>
            </a:r>
          </a:p>
        </p:txBody>
      </p:sp>
      <p:sp>
        <p:nvSpPr>
          <p:cNvPr id="15" name="Rectangle 14"/>
          <p:cNvSpPr/>
          <p:nvPr/>
        </p:nvSpPr>
        <p:spPr>
          <a:xfrm>
            <a:off x="4114800" y="4535424"/>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~70</a:t>
            </a:r>
          </a:p>
        </p:txBody>
      </p:sp>
      <p:sp>
        <p:nvSpPr>
          <p:cNvPr id="16" name="Rectangle 15"/>
          <p:cNvSpPr/>
          <p:nvPr/>
        </p:nvSpPr>
        <p:spPr>
          <a:xfrm>
            <a:off x="365760" y="4882896"/>
            <a:ext cx="1371600" cy="347472"/>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istio</a:t>
            </a:r>
          </a:p>
        </p:txBody>
      </p:sp>
      <p:sp>
        <p:nvSpPr>
          <p:cNvPr id="17" name="Rectangle 16"/>
          <p:cNvSpPr/>
          <p:nvPr/>
        </p:nvSpPr>
        <p:spPr>
          <a:xfrm>
            <a:off x="1737360" y="4882896"/>
            <a:ext cx="5486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5</a:t>
            </a:r>
          </a:p>
        </p:txBody>
      </p:sp>
      <p:sp>
        <p:nvSpPr>
          <p:cNvPr id="18" name="Rectangle 17"/>
          <p:cNvSpPr/>
          <p:nvPr/>
        </p:nvSpPr>
        <p:spPr>
          <a:xfrm>
            <a:off x="2286000" y="4882896"/>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44.2</a:t>
            </a:r>
          </a:p>
        </p:txBody>
      </p:sp>
      <p:sp>
        <p:nvSpPr>
          <p:cNvPr id="19" name="Rectangle 18"/>
          <p:cNvSpPr/>
          <p:nvPr/>
        </p:nvSpPr>
        <p:spPr>
          <a:xfrm>
            <a:off x="3200400" y="4882896"/>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52.1</a:t>
            </a:r>
          </a:p>
        </p:txBody>
      </p:sp>
      <p:sp>
        <p:nvSpPr>
          <p:cNvPr id="20" name="Rectangle 19"/>
          <p:cNvSpPr/>
          <p:nvPr/>
        </p:nvSpPr>
        <p:spPr>
          <a:xfrm>
            <a:off x="4114800" y="4882896"/>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~65</a:t>
            </a:r>
          </a:p>
        </p:txBody>
      </p:sp>
      <p:sp>
        <p:nvSpPr>
          <p:cNvPr id="21" name="Rectangle 20"/>
          <p:cNvSpPr/>
          <p:nvPr/>
        </p:nvSpPr>
        <p:spPr>
          <a:xfrm>
            <a:off x="365760" y="5230368"/>
            <a:ext cx="137160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linkerd</a:t>
            </a:r>
          </a:p>
        </p:txBody>
      </p:sp>
      <p:sp>
        <p:nvSpPr>
          <p:cNvPr id="22" name="Rectangle 21"/>
          <p:cNvSpPr/>
          <p:nvPr/>
        </p:nvSpPr>
        <p:spPr>
          <a:xfrm>
            <a:off x="1737360" y="5230368"/>
            <a:ext cx="5486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5</a:t>
            </a:r>
          </a:p>
        </p:txBody>
      </p:sp>
      <p:sp>
        <p:nvSpPr>
          <p:cNvPr id="23" name="Rectangle 22"/>
          <p:cNvSpPr/>
          <p:nvPr/>
        </p:nvSpPr>
        <p:spPr>
          <a:xfrm>
            <a:off x="2286000" y="5230368"/>
            <a:ext cx="91440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1102</a:t>
            </a:r>
          </a:p>
        </p:txBody>
      </p:sp>
      <p:sp>
        <p:nvSpPr>
          <p:cNvPr id="24" name="Rectangle 23"/>
          <p:cNvSpPr/>
          <p:nvPr/>
        </p:nvSpPr>
        <p:spPr>
          <a:xfrm>
            <a:off x="3200400" y="5230368"/>
            <a:ext cx="91440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5786</a:t>
            </a:r>
          </a:p>
        </p:txBody>
      </p:sp>
      <p:sp>
        <p:nvSpPr>
          <p:cNvPr id="25" name="Rectangle 24"/>
          <p:cNvSpPr/>
          <p:nvPr/>
        </p:nvSpPr>
        <p:spPr>
          <a:xfrm>
            <a:off x="4114800" y="5230368"/>
            <a:ext cx="91440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9873</a:t>
            </a:r>
          </a:p>
        </p:txBody>
      </p:sp>
      <p:sp>
        <p:nvSpPr>
          <p:cNvPr id="26" name="Rectangle 25"/>
          <p:cNvSpPr/>
          <p:nvPr/>
        </p:nvSpPr>
        <p:spPr>
          <a:xfrm>
            <a:off x="365760" y="5577840"/>
            <a:ext cx="137160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baseline</a:t>
            </a:r>
          </a:p>
        </p:txBody>
      </p:sp>
      <p:sp>
        <p:nvSpPr>
          <p:cNvPr id="27" name="Rectangle 26"/>
          <p:cNvSpPr/>
          <p:nvPr/>
        </p:nvSpPr>
        <p:spPr>
          <a:xfrm>
            <a:off x="1737360" y="5577840"/>
            <a:ext cx="5486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10</a:t>
            </a:r>
          </a:p>
        </p:txBody>
      </p:sp>
      <p:sp>
        <p:nvSpPr>
          <p:cNvPr id="28" name="Rectangle 27"/>
          <p:cNvSpPr/>
          <p:nvPr/>
        </p:nvSpPr>
        <p:spPr>
          <a:xfrm>
            <a:off x="2286000" y="5577840"/>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45.1</a:t>
            </a:r>
          </a:p>
        </p:txBody>
      </p:sp>
      <p:sp>
        <p:nvSpPr>
          <p:cNvPr id="29" name="Rectangle 28"/>
          <p:cNvSpPr/>
          <p:nvPr/>
        </p:nvSpPr>
        <p:spPr>
          <a:xfrm>
            <a:off x="3200400" y="5577840"/>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57.4</a:t>
            </a:r>
          </a:p>
        </p:txBody>
      </p:sp>
      <p:sp>
        <p:nvSpPr>
          <p:cNvPr id="30" name="Rectangle 29"/>
          <p:cNvSpPr/>
          <p:nvPr/>
        </p:nvSpPr>
        <p:spPr>
          <a:xfrm>
            <a:off x="4114800" y="5577840"/>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~72</a:t>
            </a:r>
          </a:p>
        </p:txBody>
      </p:sp>
      <p:sp>
        <p:nvSpPr>
          <p:cNvPr id="31" name="Rectangle 30"/>
          <p:cNvSpPr/>
          <p:nvPr/>
        </p:nvSpPr>
        <p:spPr>
          <a:xfrm>
            <a:off x="365760" y="5925312"/>
            <a:ext cx="1371600" cy="347472"/>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istio</a:t>
            </a:r>
          </a:p>
        </p:txBody>
      </p:sp>
      <p:sp>
        <p:nvSpPr>
          <p:cNvPr id="32" name="Rectangle 31"/>
          <p:cNvSpPr/>
          <p:nvPr/>
        </p:nvSpPr>
        <p:spPr>
          <a:xfrm>
            <a:off x="1737360" y="5925312"/>
            <a:ext cx="5486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10</a:t>
            </a:r>
          </a:p>
        </p:txBody>
      </p:sp>
      <p:sp>
        <p:nvSpPr>
          <p:cNvPr id="33" name="Rectangle 32"/>
          <p:cNvSpPr/>
          <p:nvPr/>
        </p:nvSpPr>
        <p:spPr>
          <a:xfrm>
            <a:off x="2286000" y="5925312"/>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44.6</a:t>
            </a:r>
          </a:p>
        </p:txBody>
      </p:sp>
      <p:sp>
        <p:nvSpPr>
          <p:cNvPr id="34" name="Rectangle 33"/>
          <p:cNvSpPr/>
          <p:nvPr/>
        </p:nvSpPr>
        <p:spPr>
          <a:xfrm>
            <a:off x="3200400" y="5925312"/>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54.9</a:t>
            </a:r>
          </a:p>
        </p:txBody>
      </p:sp>
      <p:sp>
        <p:nvSpPr>
          <p:cNvPr id="35" name="Rectangle 34"/>
          <p:cNvSpPr/>
          <p:nvPr/>
        </p:nvSpPr>
        <p:spPr>
          <a:xfrm>
            <a:off x="4114800" y="5925312"/>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~80</a:t>
            </a:r>
          </a:p>
        </p:txBody>
      </p:sp>
      <p:sp>
        <p:nvSpPr>
          <p:cNvPr id="36" name="Rectangle 35"/>
          <p:cNvSpPr/>
          <p:nvPr/>
        </p:nvSpPr>
        <p:spPr>
          <a:xfrm>
            <a:off x="365760" y="6272784"/>
            <a:ext cx="137160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linkerd</a:t>
            </a:r>
          </a:p>
        </p:txBody>
      </p:sp>
      <p:sp>
        <p:nvSpPr>
          <p:cNvPr id="37" name="Rectangle 36"/>
          <p:cNvSpPr/>
          <p:nvPr/>
        </p:nvSpPr>
        <p:spPr>
          <a:xfrm>
            <a:off x="1737360" y="6272784"/>
            <a:ext cx="5486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10</a:t>
            </a:r>
          </a:p>
        </p:txBody>
      </p:sp>
      <p:sp>
        <p:nvSpPr>
          <p:cNvPr id="38" name="Rectangle 37"/>
          <p:cNvSpPr/>
          <p:nvPr/>
        </p:nvSpPr>
        <p:spPr>
          <a:xfrm>
            <a:off x="2286000" y="6272784"/>
            <a:ext cx="91440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6868</a:t>
            </a:r>
          </a:p>
        </p:txBody>
      </p:sp>
      <p:sp>
        <p:nvSpPr>
          <p:cNvPr id="39" name="Rectangle 38"/>
          <p:cNvSpPr/>
          <p:nvPr/>
        </p:nvSpPr>
        <p:spPr>
          <a:xfrm>
            <a:off x="3200400" y="6272784"/>
            <a:ext cx="91440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C0392B"/>
                </a:solidFill>
                <a:latin typeface="Courier New"/>
              </a:rPr>
              <a:t>13457</a:t>
            </a:r>
          </a:p>
        </p:txBody>
      </p:sp>
      <p:sp>
        <p:nvSpPr>
          <p:cNvPr id="40" name="Rectangle 39"/>
          <p:cNvSpPr/>
          <p:nvPr/>
        </p:nvSpPr>
        <p:spPr>
          <a:xfrm>
            <a:off x="4114800" y="6272784"/>
            <a:ext cx="91440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C0392B"/>
                </a:solidFill>
                <a:latin typeface="Courier New"/>
              </a:rPr>
              <a:t>15156</a:t>
            </a:r>
          </a:p>
        </p:txBody>
      </p:sp>
      <p:sp>
        <p:nvSpPr>
          <p:cNvPr id="41" name="Rectangle 40"/>
          <p:cNvSpPr/>
          <p:nvPr/>
        </p:nvSpPr>
        <p:spPr>
          <a:xfrm>
            <a:off x="365760" y="6620256"/>
            <a:ext cx="137160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baseline</a:t>
            </a:r>
          </a:p>
        </p:txBody>
      </p:sp>
      <p:sp>
        <p:nvSpPr>
          <p:cNvPr id="42" name="Rectangle 41"/>
          <p:cNvSpPr/>
          <p:nvPr/>
        </p:nvSpPr>
        <p:spPr>
          <a:xfrm>
            <a:off x="1737360" y="6620256"/>
            <a:ext cx="5486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20</a:t>
            </a:r>
          </a:p>
        </p:txBody>
      </p:sp>
      <p:sp>
        <p:nvSpPr>
          <p:cNvPr id="43" name="Rectangle 42"/>
          <p:cNvSpPr/>
          <p:nvPr/>
        </p:nvSpPr>
        <p:spPr>
          <a:xfrm>
            <a:off x="2286000" y="6620256"/>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76.4</a:t>
            </a:r>
          </a:p>
        </p:txBody>
      </p:sp>
      <p:sp>
        <p:nvSpPr>
          <p:cNvPr id="44" name="Rectangle 43"/>
          <p:cNvSpPr/>
          <p:nvPr/>
        </p:nvSpPr>
        <p:spPr>
          <a:xfrm>
            <a:off x="3200400" y="6620256"/>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185.1</a:t>
            </a:r>
          </a:p>
        </p:txBody>
      </p:sp>
      <p:sp>
        <p:nvSpPr>
          <p:cNvPr id="45" name="Rectangle 44"/>
          <p:cNvSpPr/>
          <p:nvPr/>
        </p:nvSpPr>
        <p:spPr>
          <a:xfrm>
            <a:off x="4114800" y="6620256"/>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~310</a:t>
            </a:r>
          </a:p>
        </p:txBody>
      </p:sp>
      <p:sp>
        <p:nvSpPr>
          <p:cNvPr id="46" name="Rectangle 45"/>
          <p:cNvSpPr/>
          <p:nvPr/>
        </p:nvSpPr>
        <p:spPr>
          <a:xfrm>
            <a:off x="365760" y="6967728"/>
            <a:ext cx="1371600" cy="347472"/>
          </a:xfrm>
          <a:prstGeom prst="rect">
            <a:avLst/>
          </a:prstGeom>
          <a:solidFill>
            <a:srgbClr val="1E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istio</a:t>
            </a:r>
          </a:p>
        </p:txBody>
      </p:sp>
      <p:sp>
        <p:nvSpPr>
          <p:cNvPr id="47" name="Rectangle 46"/>
          <p:cNvSpPr/>
          <p:nvPr/>
        </p:nvSpPr>
        <p:spPr>
          <a:xfrm>
            <a:off x="1737360" y="6967728"/>
            <a:ext cx="54864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20</a:t>
            </a:r>
          </a:p>
        </p:txBody>
      </p:sp>
      <p:sp>
        <p:nvSpPr>
          <p:cNvPr id="48" name="Rectangle 47"/>
          <p:cNvSpPr/>
          <p:nvPr/>
        </p:nvSpPr>
        <p:spPr>
          <a:xfrm>
            <a:off x="2286000" y="6967728"/>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 63.6</a:t>
            </a:r>
          </a:p>
        </p:txBody>
      </p:sp>
      <p:sp>
        <p:nvSpPr>
          <p:cNvPr id="49" name="Rectangle 48"/>
          <p:cNvSpPr/>
          <p:nvPr/>
        </p:nvSpPr>
        <p:spPr>
          <a:xfrm>
            <a:off x="3200400" y="6967728"/>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144.8</a:t>
            </a:r>
          </a:p>
        </p:txBody>
      </p:sp>
      <p:sp>
        <p:nvSpPr>
          <p:cNvPr id="50" name="Rectangle 49"/>
          <p:cNvSpPr/>
          <p:nvPr/>
        </p:nvSpPr>
        <p:spPr>
          <a:xfrm>
            <a:off x="4114800" y="6967728"/>
            <a:ext cx="914400" cy="347472"/>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257</a:t>
            </a:r>
          </a:p>
        </p:txBody>
      </p:sp>
      <p:sp>
        <p:nvSpPr>
          <p:cNvPr id="51" name="Rectangle 50"/>
          <p:cNvSpPr/>
          <p:nvPr/>
        </p:nvSpPr>
        <p:spPr>
          <a:xfrm>
            <a:off x="365760" y="7315200"/>
            <a:ext cx="137160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ourier New"/>
              </a:rPr>
              <a:t>linkerd</a:t>
            </a:r>
          </a:p>
        </p:txBody>
      </p:sp>
      <p:sp>
        <p:nvSpPr>
          <p:cNvPr id="52" name="Rectangle 51"/>
          <p:cNvSpPr/>
          <p:nvPr/>
        </p:nvSpPr>
        <p:spPr>
          <a:xfrm>
            <a:off x="1737360" y="7315200"/>
            <a:ext cx="54864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20</a:t>
            </a:r>
          </a:p>
        </p:txBody>
      </p:sp>
      <p:sp>
        <p:nvSpPr>
          <p:cNvPr id="53" name="Rectangle 52"/>
          <p:cNvSpPr/>
          <p:nvPr/>
        </p:nvSpPr>
        <p:spPr>
          <a:xfrm>
            <a:off x="2286000" y="7315200"/>
            <a:ext cx="91440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497D"/>
                </a:solidFill>
                <a:latin typeface="Courier New"/>
              </a:rPr>
              <a:t>6319</a:t>
            </a:r>
          </a:p>
        </p:txBody>
      </p:sp>
      <p:sp>
        <p:nvSpPr>
          <p:cNvPr id="54" name="Rectangle 53"/>
          <p:cNvSpPr/>
          <p:nvPr/>
        </p:nvSpPr>
        <p:spPr>
          <a:xfrm>
            <a:off x="3200400" y="7315200"/>
            <a:ext cx="91440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C0392B"/>
                </a:solidFill>
                <a:latin typeface="Courier New"/>
              </a:rPr>
              <a:t>15951</a:t>
            </a:r>
          </a:p>
        </p:txBody>
      </p:sp>
      <p:sp>
        <p:nvSpPr>
          <p:cNvPr id="55" name="Rectangle 54"/>
          <p:cNvSpPr/>
          <p:nvPr/>
        </p:nvSpPr>
        <p:spPr>
          <a:xfrm>
            <a:off x="4114800" y="7315200"/>
            <a:ext cx="914400" cy="347472"/>
          </a:xfrm>
          <a:prstGeom prst="rect">
            <a:avLst/>
          </a:prstGeom>
          <a:solidFill>
            <a:srgbClr val="E8E8F0"/>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C0392B"/>
                </a:solidFill>
                <a:latin typeface="Courier New"/>
              </a:rPr>
              <a:t>16770</a:t>
            </a:r>
          </a:p>
        </p:txBody>
      </p:sp>
      <p:sp>
        <p:nvSpPr>
          <p:cNvPr id="56" name="Rectangle 55"/>
          <p:cNvSpPr/>
          <p:nvPr/>
        </p:nvSpPr>
        <p:spPr>
          <a:xfrm>
            <a:off x="5943600" y="1143000"/>
            <a:ext cx="2971800" cy="21945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Overhead de Istio — sorpresa positiva</a:t>
            </a:r>
          </a:p>
          <a:p>
            <a:r>
              <a:rPr sz="1000">
                <a:solidFill>
                  <a:srgbClr val="555555"/>
                </a:solidFill>
              </a:rPr>
              <a:t>Resultado de las 27 corridas:
VUS=5:  baseline 56ms  Istio 52ms (-7%)
VUS=10: baseline 57ms  Istio 55ms (-4%)
VUS=20: baseline 185ms Istio 145ms (-22%)
Istio es MÁS RÁPIDO que baseline.
Explicación: Envoy hace balanceo
LEAST_REQUEST más eficiente que el
DNS lookup dinámico de gw-nginx.
El overhead de mTLS (TLS handshake)
es menor que el beneficio del LB.</a:t>
            </a:r>
          </a:p>
          <a:p>
            <a:r>
              <a:rPr sz="1000">
                <a:solidFill>
                  <a:srgbClr val="555555"/>
                </a:solidFill>
              </a:rPr>
              <a:t>Resultado de las 27 corridas:
VUS=5:  baseline 56ms  Istio 52ms (-7%)
VUS=10: baseline 57ms  Istio 55ms (-4%)
VUS=20: baseline 185ms Istio 145ms (-22%)
Istio es MÁS RÁPIDO que baseline.
Explicación: Envoy hace balanceo
LEAST_REQUEST más eficiente que el
DNS lookup dinámico de gw-nginx.
El overhead de mTLS (TLS handshake)
es menor que el beneficio del LB.</a:t>
            </a:r>
          </a:p>
          <a:p>
            <a:r>
              <a:rPr sz="1000">
                <a:solidFill>
                  <a:srgbClr val="555555"/>
                </a:solidFill>
              </a:rPr>
              <a:t>Resultado de las 27 corridas:
VUS=5:  baseline 56ms  Istio 52ms (-7%)
VUS=10: baseline 57ms  Istio 55ms (-4%)
VUS=20: baseline 185ms Istio 145ms (-22%)
Istio es MÁS RÁPIDO que baseline.
Explicación: Envoy hace balanceo
LEAST_REQUEST más eficiente que el
DNS lookup dinámico de gw-nginx.
El overhead de mTLS (TLS handshake)
es menor que el beneficio del LB.</a:t>
            </a:r>
          </a:p>
          <a:p>
            <a:r>
              <a:rPr sz="1000">
                <a:solidFill>
                  <a:srgbClr val="555555"/>
                </a:solidFill>
              </a:rPr>
              <a:t>Resultado de las 27 corridas:
VUS=5:  baseline 56ms  Istio 52ms (-7%)
VUS=10: baseline 57ms  Istio 55ms (-4%)
VUS=20: baseline 185ms Istio 145ms (-22%)
Istio es MÁS RÁPIDO que baseline.
Explicación: Envoy hace balanceo
LEAST_REQUEST más eficiente que el
DNS lookup dinámico de gw-nginx.
El overhead de mTLS (TLS handshake)
es menor que el beneficio del LB.</a:t>
            </a:r>
          </a:p>
        </p:txBody>
      </p:sp>
      <p:sp>
        <p:nvSpPr>
          <p:cNvPr id="57" name="Rectangle 56"/>
          <p:cNvSpPr/>
          <p:nvPr/>
        </p:nvSpPr>
        <p:spPr>
          <a:xfrm>
            <a:off x="9052560" y="1143000"/>
            <a:ext cx="2971800" cy="219456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Linkerd — valores anómalos</a:t>
            </a:r>
          </a:p>
          <a:p>
            <a:r>
              <a:rPr sz="1000">
                <a:solidFill>
                  <a:srgbClr val="555555"/>
                </a:solidFill>
              </a:rPr>
              <a:t>Linkerd muestra latencias de 5-15 segundos
(vs ~50ms de baseline e Istio).
Análisis del mtls_report.md confirma:
  linkerd VUS=5:  P95=5786ms
  linkerd VUS=10: P95=13457ms
  linkerd VUS=20: P95=15951ms
Probable causa: la instalación de
Linkerd en el cluster no era estable
(microk8s + Linkerd tienen problemas
conocidos de compatibilidad de CNI).
Los datos de Linkerd NO son confiables.</a:t>
            </a:r>
          </a:p>
          <a:p>
            <a:r>
              <a:rPr sz="1000">
                <a:solidFill>
                  <a:srgbClr val="555555"/>
                </a:solidFill>
              </a:rPr>
              <a:t>Linkerd muestra latencias de 5-15 segundos
(vs ~50ms de baseline e Istio).
Análisis del mtls_report.md confirma:
  linkerd VUS=5:  P95=5786ms
  linkerd VUS=10: P95=13457ms
  linkerd VUS=20: P95=15951ms
Probable causa: la instalación de
Linkerd en el cluster no era estable
(microk8s + Linkerd tienen problemas
conocidos de compatibilidad de CNI).
Los datos de Linkerd NO son confiables.</a:t>
            </a:r>
          </a:p>
          <a:p>
            <a:r>
              <a:rPr sz="1000">
                <a:solidFill>
                  <a:srgbClr val="555555"/>
                </a:solidFill>
              </a:rPr>
              <a:t>Linkerd muestra latencias de 5-15 segundos
(vs ~50ms de baseline e Istio).
Análisis del mtls_report.md confirma:
  linkerd VUS=5:  P95=5786ms
  linkerd VUS=10: P95=13457ms
  linkerd VUS=20: P95=15951ms
Probable causa: la instalación de
Linkerd en el cluster no era estable
(microk8s + Linkerd tienen problemas
conocidos de compatibilidad de CNI).
Los datos de Linkerd NO son confiables.</a:t>
            </a:r>
          </a:p>
          <a:p>
            <a:r>
              <a:rPr sz="1000">
                <a:solidFill>
                  <a:srgbClr val="555555"/>
                </a:solidFill>
              </a:rPr>
              <a:t>Linkerd muestra latencias de 5-15 segundos
(vs ~50ms de baseline e Istio).
Análisis del mtls_report.md confirma:
  linkerd VUS=5:  P95=5786ms
  linkerd VUS=10: P95=13457ms
  linkerd VUS=20: P95=15951ms
Probable causa: la instalación de
Linkerd en el cluster no era estable
(microk8s + Linkerd tienen problemas
conocidos de compatibilidad de CNI).
Los datos de Linkerd NO son confiables.</a:t>
            </a:r>
          </a:p>
        </p:txBody>
      </p:sp>
      <p:sp>
        <p:nvSpPr>
          <p:cNvPr id="58" name="Rectangle 57"/>
          <p:cNvSpPr/>
          <p:nvPr/>
        </p:nvSpPr>
        <p:spPr>
          <a:xfrm>
            <a:off x="5943600" y="3474720"/>
            <a:ext cx="2971800" cy="21945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parse_results — cálculo de percentiles manual</a:t>
            </a:r>
          </a:p>
          <a:p>
            <a:r>
              <a:rPr sz="1000">
                <a:solidFill>
                  <a:srgbClr val="555555"/>
                </a:solidFill>
              </a:rPr>
              <a:t>analyze-results.py calcula percentiles
MANUALMENTE desde los puntos NDJSON:
  reqs.sort()
  p50 = reqs[n // 2]
  p95 = reqs[int(n * 0.95)]
vs analyze/analyze-mtls-results.py
que usa numpy:
  np.percentile(arr, 95)
numpy.percentile usa interpolación
→ más preciso que indexación directa.
Por eso los valores difieren entre
los dos scripts.</a:t>
            </a:r>
          </a:p>
          <a:p>
            <a:r>
              <a:rPr sz="1000">
                <a:solidFill>
                  <a:srgbClr val="555555"/>
                </a:solidFill>
              </a:rPr>
              <a:t>analyze-results.py calcula percentiles
MANUALMENTE desde los puntos NDJSON:
  reqs.sort()
  p50 = reqs[n // 2]
  p95 = reqs[int(n * 0.95)]
vs analyze/analyze-mtls-results.py
que usa numpy:
  np.percentile(arr, 95)
numpy.percentile usa interpolación
→ más preciso que indexación directa.
Por eso los valores difieren entre
los dos scripts.</a:t>
            </a:r>
          </a:p>
          <a:p>
            <a:r>
              <a:rPr sz="1000">
                <a:solidFill>
                  <a:srgbClr val="555555"/>
                </a:solidFill>
              </a:rPr>
              <a:t>analyze-results.py calcula percentiles
MANUALMENTE desde los puntos NDJSON:
  reqs.sort()
  p50 = reqs[n // 2]
  p95 = reqs[int(n * 0.95)]
vs analyze/analyze-mtls-results.py
que usa numpy:
  np.percentile(arr, 95)
numpy.percentile usa interpolación
→ más preciso que indexación directa.
Por eso los valores difieren entre
los dos scripts.</a:t>
            </a:r>
          </a:p>
          <a:p>
            <a:r>
              <a:rPr sz="1000">
                <a:solidFill>
                  <a:srgbClr val="555555"/>
                </a:solidFill>
              </a:rPr>
              <a:t>analyze-results.py calcula percentiles
MANUALMENTE desde los puntos NDJSON:
  reqs.sort()
  p50 = reqs[n // 2]
  p95 = reqs[int(n * 0.95)]
vs analyze/analyze-mtls-results.py
que usa numpy:
  np.percentile(arr, 95)
numpy.percentile usa interpolación
→ más preciso que indexación directa.
Por eso los valores difieren entre
los dos scripts.</a:t>
            </a:r>
          </a:p>
        </p:txBody>
      </p:sp>
      <p:sp>
        <p:nvSpPr>
          <p:cNvPr id="59" name="Rectangle 58"/>
          <p:cNvSpPr/>
          <p:nvPr/>
        </p:nvSpPr>
        <p:spPr>
          <a:xfrm>
            <a:off x="9052560" y="3474720"/>
            <a:ext cx="2971800" cy="21945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Salida del análisis — 3 artefactos</a:t>
            </a:r>
          </a:p>
          <a:p>
            <a:r>
              <a:rPr sz="1000">
                <a:solidFill>
                  <a:srgbClr val="555555"/>
                </a:solidFill>
              </a:rPr>
              <a:t>analysis/output-final/:
1. mtls_summary.csv
   DataFrame completo: scenario, vus,
   avg_ms, p95_ms, p99_ms por archivo
2. mtls_p95_comparison.png
   Línea P95 vs VUs por escenario
   (baseline, istio, linkerd en colores)
   dpi=250, 8×5 inches
3. mtls_report.md
   Tabla Markdown del grouped DataFrame
   + rutas a CSV y PNG</a:t>
            </a:r>
          </a:p>
          <a:p>
            <a:r>
              <a:rPr sz="1000">
                <a:solidFill>
                  <a:srgbClr val="555555"/>
                </a:solidFill>
              </a:rPr>
              <a:t>analysis/output-final/:
1. mtls_summary.csv
   DataFrame completo: scenario, vus,
   avg_ms, p95_ms, p99_ms por archivo
2. mtls_p95_comparison.png
   Línea P95 vs VUs por escenario
   (baseline, istio, linkerd en colores)
   dpi=250, 8×5 inches
3. mtls_report.md
   Tabla Markdown del grouped DataFrame
   + rutas a CSV y PNG</a:t>
            </a:r>
          </a:p>
          <a:p>
            <a:r>
              <a:rPr sz="1000">
                <a:solidFill>
                  <a:srgbClr val="555555"/>
                </a:solidFill>
              </a:rPr>
              <a:t>analysis/output-final/:
1. mtls_summary.csv
   DataFrame completo: scenario, vus,
   avg_ms, p95_ms, p99_ms por archivo
2. mtls_p95_comparison.png
   Línea P95 vs VUs por escenario
   (baseline, istio, linkerd en colores)
   dpi=250, 8×5 inches
3. mtls_report.md
   Tabla Markdown del grouped DataFrame
   + rutas a CSV y PNG</a:t>
            </a:r>
          </a:p>
          <a:p>
            <a:r>
              <a:rPr sz="1000">
                <a:solidFill>
                  <a:srgbClr val="555555"/>
                </a:solidFill>
              </a:rPr>
              <a:t>analysis/output-final/:
1. mtls_summary.csv
   DataFrame completo: scenario, vus,
   avg_ms, p95_ms, p99_ms por archivo
2. mtls_p95_comparison.png
   Línea P95 vs VUs por escenario
   (baseline, istio, linkerd en colores)
   dpi=250, 8×5 inches
3. mtls_report.md
   Tabla Markdown del grouped DataFrame
   + rutas a CSV y PNG</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Experiments / 03-network-policies</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Control 3: overhead de NetworkPolicy — baseline vs policies · default-deny + allow-list · lateral blocking test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03-network-policies — NetworkPolicy K8s y estructura</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7 NetworkPolicy objects · default-deny Ingress+Egress · allow-list granular · DNS egress · lateral blocking test</a:t>
            </a:r>
          </a:p>
        </p:txBody>
      </p:sp>
      <p:sp>
        <p:nvSpPr>
          <p:cNvPr id="5" name="Rectangle 4"/>
          <p:cNvSpPr/>
          <p:nvPr/>
        </p:nvSpPr>
        <p:spPr>
          <a:xfrm>
            <a:off x="365760" y="1143000"/>
            <a:ext cx="5577840" cy="52578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network-policies.yaml — 7 objetos NetworkPolicy</a:t>
            </a:r>
          </a:p>
          <a:p>
            <a:r>
              <a:rPr sz="1100">
                <a:solidFill>
                  <a:srgbClr val="F9E2AF"/>
                </a:solidFill>
                <a:latin typeface="Courier New"/>
              </a:rPr>
              <a:t/>
            </a:r>
          </a:p>
          <a:p>
            <a:r>
              <a:rPr sz="1100">
                <a:solidFill>
                  <a:srgbClr val="CBD3F0"/>
                </a:solidFill>
                <a:latin typeface="Courier New"/>
              </a:rPr>
              <a:t># 1. DEFAULT DENY — s0, s1, sdb1 (Ingress + Egress)</a:t>
            </a:r>
          </a:p>
          <a:p>
            <a:r>
              <a:rPr sz="1100">
                <a:solidFill>
                  <a:srgbClr val="F9E2AF"/>
                </a:solidFill>
                <a:latin typeface="Courier New"/>
              </a:rPr>
              <a:t>kind: NetworkPolicy</a:t>
            </a:r>
          </a:p>
          <a:p>
            <a:r>
              <a:rPr sz="1100">
                <a:solidFill>
                  <a:srgbClr val="CBD3F0"/>
                </a:solidFill>
                <a:latin typeface="Courier New"/>
              </a:rPr>
              <a:t>metadata: {name: np-default-deny-apps}</a:t>
            </a:r>
          </a:p>
          <a:p>
            <a:r>
              <a:rPr sz="1100">
                <a:solidFill>
                  <a:srgbClr val="CBD3F0"/>
                </a:solidFill>
                <a:latin typeface="Courier New"/>
              </a:rPr>
              <a:t>spec:</a:t>
            </a:r>
          </a:p>
          <a:p>
            <a:r>
              <a:rPr sz="1100">
                <a:solidFill>
                  <a:srgbClr val="CBD3F0"/>
                </a:solidFill>
                <a:latin typeface="Courier New"/>
              </a:rPr>
              <a:t>  podSelector:</a:t>
            </a:r>
          </a:p>
          <a:p>
            <a:r>
              <a:rPr sz="1100">
                <a:solidFill>
                  <a:srgbClr val="CBD3F0"/>
                </a:solidFill>
                <a:latin typeface="Courier New"/>
              </a:rPr>
              <a:t>    matchExpressions:</a:t>
            </a:r>
          </a:p>
          <a:p>
            <a:r>
              <a:rPr sz="1100">
                <a:solidFill>
                  <a:srgbClr val="CBD3F0"/>
                </a:solidFill>
                <a:latin typeface="Courier New"/>
              </a:rPr>
              <a:t>      - key: app</a:t>
            </a:r>
          </a:p>
          <a:p>
            <a:r>
              <a:rPr sz="1100">
                <a:solidFill>
                  <a:srgbClr val="CBD3F0"/>
                </a:solidFill>
                <a:latin typeface="Courier New"/>
              </a:rPr>
              <a:t>        operator: In</a:t>
            </a:r>
          </a:p>
          <a:p>
            <a:r>
              <a:rPr sz="1100">
                <a:solidFill>
                  <a:srgbClr val="CBD3F0"/>
                </a:solidFill>
                <a:latin typeface="Courier New"/>
              </a:rPr>
              <a:t>        values: ['s0','s1','sdb1']</a:t>
            </a:r>
          </a:p>
          <a:p>
            <a:r>
              <a:rPr sz="1100">
                <a:solidFill>
                  <a:srgbClr val="CBD3F0"/>
                </a:solidFill>
                <a:latin typeface="Courier New"/>
              </a:rPr>
              <a:t>  policyTypes: [Ingress, Egress]</a:t>
            </a:r>
          </a:p>
          <a:p>
            <a:r>
              <a:rPr sz="1100">
                <a:solidFill>
                  <a:srgbClr val="CBD3F0"/>
                </a:solidFill>
                <a:latin typeface="Courier New"/>
              </a:rPr>
              <a:t>  # sin ingress/egress rules → bloqueo total</a:t>
            </a:r>
          </a:p>
          <a:p>
            <a:r>
              <a:rPr sz="1100">
                <a:solidFill>
                  <a:srgbClr val="CBD3F0"/>
                </a:solidFill>
                <a:latin typeface="Courier New"/>
              </a:rPr>
              <a:t/>
            </a:r>
          </a:p>
          <a:p>
            <a:r>
              <a:rPr sz="1100">
                <a:solidFill>
                  <a:srgbClr val="F9E2AF"/>
                </a:solidFill>
                <a:latin typeface="Courier New"/>
              </a:rPr>
              <a:t># 2. ALLOW tráfico externo → s0 puerto 8080</a:t>
            </a:r>
          </a:p>
          <a:p>
            <a:r>
              <a:rPr sz="1100">
                <a:solidFill>
                  <a:srgbClr val="CBD3F0"/>
                </a:solidFill>
                <a:latin typeface="Courier New"/>
              </a:rPr>
              <a:t>metadata: {name: np-allow-external-to-s0}</a:t>
            </a:r>
          </a:p>
          <a:p>
            <a:r>
              <a:rPr sz="1100">
                <a:solidFill>
                  <a:srgbClr val="CBD3F0"/>
                </a:solidFill>
                <a:latin typeface="Courier New"/>
              </a:rPr>
              <a:t>spec:</a:t>
            </a:r>
          </a:p>
          <a:p>
            <a:r>
              <a:rPr sz="1100">
                <a:solidFill>
                  <a:srgbClr val="CBD3F0"/>
                </a:solidFill>
                <a:latin typeface="Courier New"/>
              </a:rPr>
              <a:t>  podSelector: {matchLabels: {app: s0}}</a:t>
            </a:r>
          </a:p>
          <a:p>
            <a:r>
              <a:rPr sz="1100">
                <a:solidFill>
                  <a:srgbClr val="CBD3F0"/>
                </a:solidFill>
                <a:latin typeface="Courier New"/>
              </a:rPr>
              <a:t>  policyTypes: [Ingress]</a:t>
            </a:r>
          </a:p>
          <a:p>
            <a:r>
              <a:rPr sz="1100">
                <a:solidFill>
                  <a:srgbClr val="CBD3F0"/>
                </a:solidFill>
                <a:latin typeface="Courier New"/>
              </a:rPr>
              <a:t>  ingress: [{ports: [{port: 8080}]}]</a:t>
            </a:r>
          </a:p>
          <a:p>
            <a:r>
              <a:rPr sz="1100">
                <a:solidFill>
                  <a:srgbClr val="CBD3F0"/>
                </a:solidFill>
                <a:latin typeface="Courier New"/>
              </a:rPr>
              <a:t/>
            </a:r>
          </a:p>
          <a:p>
            <a:r>
              <a:rPr sz="1100">
                <a:solidFill>
                  <a:srgbClr val="F9E2AF"/>
                </a:solidFill>
                <a:latin typeface="Courier New"/>
              </a:rPr>
              <a:t># 3+4. ALLOW s0 → s1 (Egress de s0 + Ingress de s1)</a:t>
            </a:r>
          </a:p>
          <a:p>
            <a:r>
              <a:rPr sz="1100">
                <a:solidFill>
                  <a:srgbClr val="CBD3F0"/>
                </a:solidFill>
                <a:latin typeface="Courier New"/>
              </a:rPr>
              <a:t># np-allow-s0-to-s1    + np-allow-s1-from-s0</a:t>
            </a:r>
          </a:p>
          <a:p>
            <a:r>
              <a:rPr sz="1100">
                <a:solidFill>
                  <a:srgbClr val="CBD3F0"/>
                </a:solidFill>
                <a:latin typeface="Courier New"/>
              </a:rPr>
              <a:t># egress: to: [{podSelector: {app: s1}}]</a:t>
            </a:r>
          </a:p>
          <a:p>
            <a:r>
              <a:rPr sz="1100">
                <a:solidFill>
                  <a:srgbClr val="CBD3F0"/>
                </a:solidFill>
                <a:latin typeface="Courier New"/>
              </a:rPr>
              <a:t/>
            </a:r>
          </a:p>
          <a:p>
            <a:r>
              <a:rPr sz="1100">
                <a:solidFill>
                  <a:srgbClr val="F9E2AF"/>
                </a:solidFill>
                <a:latin typeface="Courier New"/>
              </a:rPr>
              <a:t># 5+6. ALLOW s1 → sdb1 (Egress de s1 + Ingress de sdb1)</a:t>
            </a:r>
          </a:p>
          <a:p>
            <a:r>
              <a:rPr sz="1100">
                <a:solidFill>
                  <a:srgbClr val="CBD3F0"/>
                </a:solidFill>
                <a:latin typeface="Courier New"/>
              </a:rPr>
              <a:t># np-allow-s1-to-sdb1  + np-allow-sdb1-from-s1</a:t>
            </a:r>
          </a:p>
          <a:p>
            <a:r>
              <a:rPr sz="1100">
                <a:solidFill>
                  <a:srgbClr val="CBD3F0"/>
                </a:solidFill>
                <a:latin typeface="Courier New"/>
              </a:rPr>
              <a:t/>
            </a:r>
          </a:p>
          <a:p>
            <a:r>
              <a:rPr sz="1100">
                <a:solidFill>
                  <a:srgbClr val="F9E2AF"/>
                </a:solidFill>
                <a:latin typeface="Courier New"/>
              </a:rPr>
              <a:t># 7. ALLOW DNS egress (kube-system UDP/TCP :53)</a:t>
            </a:r>
          </a:p>
          <a:p>
            <a:r>
              <a:rPr sz="1100">
                <a:solidFill>
                  <a:srgbClr val="F9E2AF"/>
                </a:solidFill>
                <a:latin typeface="Courier New"/>
              </a:rPr>
              <a:t>metadata: {name: np-allow-dns-egress}</a:t>
            </a:r>
          </a:p>
          <a:p>
            <a:r>
              <a:rPr sz="1100">
                <a:solidFill>
                  <a:srgbClr val="CBD3F0"/>
                </a:solidFill>
                <a:latin typeface="Courier New"/>
              </a:rPr>
              <a:t>spec:</a:t>
            </a:r>
          </a:p>
          <a:p>
            <a:r>
              <a:rPr sz="1100">
                <a:solidFill>
                  <a:srgbClr val="CBD3F0"/>
                </a:solidFill>
                <a:latin typeface="Courier New"/>
              </a:rPr>
              <a:t>  podSelector: {matchExpressions: [{app In [s0,s1,sdb1]}]}</a:t>
            </a:r>
          </a:p>
          <a:p>
            <a:r>
              <a:rPr sz="1100">
                <a:solidFill>
                  <a:srgbClr val="CBD3F0"/>
                </a:solidFill>
                <a:latin typeface="Courier New"/>
              </a:rPr>
              <a:t>  policyTypes: [Egress]</a:t>
            </a:r>
          </a:p>
          <a:p>
            <a:r>
              <a:rPr sz="1100">
                <a:solidFill>
                  <a:srgbClr val="CBD3F0"/>
                </a:solidFill>
                <a:latin typeface="Courier New"/>
              </a:rPr>
              <a:t>  egress:</a:t>
            </a:r>
          </a:p>
          <a:p>
            <a:r>
              <a:rPr sz="1100">
                <a:solidFill>
                  <a:srgbClr val="CBD3F0"/>
                </a:solidFill>
                <a:latin typeface="Courier New"/>
              </a:rPr>
              <a:t>    - to:</a:t>
            </a:r>
          </a:p>
          <a:p>
            <a:r>
              <a:rPr sz="1100">
                <a:solidFill>
                  <a:srgbClr val="CBD3F0"/>
                </a:solidFill>
                <a:latin typeface="Courier New"/>
              </a:rPr>
              <a:t>        - namespaceSelector:</a:t>
            </a:r>
          </a:p>
          <a:p>
            <a:r>
              <a:rPr sz="1100">
                <a:solidFill>
                  <a:srgbClr val="CBD3F0"/>
                </a:solidFill>
                <a:latin typeface="Courier New"/>
              </a:rPr>
              <a:t>            matchLabels:</a:t>
            </a:r>
          </a:p>
          <a:p>
            <a:r>
              <a:rPr sz="1100">
                <a:solidFill>
                  <a:srgbClr val="CBD3F0"/>
                </a:solidFill>
                <a:latin typeface="Courier New"/>
              </a:rPr>
              <a:t>              kubernetes.io/metadata.name: kube-system</a:t>
            </a:r>
          </a:p>
          <a:p>
            <a:r>
              <a:rPr sz="1100">
                <a:solidFill>
                  <a:srgbClr val="CBD3F0"/>
                </a:solidFill>
                <a:latin typeface="Courier New"/>
              </a:rPr>
              <a:t>      ports:</a:t>
            </a:r>
          </a:p>
          <a:p>
            <a:r>
              <a:rPr sz="1100">
                <a:solidFill>
                  <a:srgbClr val="CBD3F0"/>
                </a:solidFill>
                <a:latin typeface="Courier New"/>
              </a:rPr>
              <a:t>        - {protocol: UDP, port: 53}</a:t>
            </a:r>
          </a:p>
          <a:p>
            <a:r>
              <a:rPr sz="1100">
                <a:solidFill>
                  <a:srgbClr val="CBD3F0"/>
                </a:solidFill>
                <a:latin typeface="Courier New"/>
              </a:rPr>
              <a:t>        - {protocol: TCP, port: 53}</a:t>
            </a:r>
          </a:p>
        </p:txBody>
      </p:sp>
      <p:sp>
        <p:nvSpPr>
          <p:cNvPr id="6" name="Rectangle 5"/>
          <p:cNvSpPr/>
          <p:nvPr/>
        </p:nvSpPr>
        <p:spPr>
          <a:xfrm>
            <a:off x="6080760" y="1143000"/>
            <a:ext cx="283464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¿Qué mide el experimento?</a:t>
            </a:r>
          </a:p>
          <a:p>
            <a:r>
              <a:rPr sz="1000">
                <a:solidFill>
                  <a:srgbClr val="555555"/>
                </a:solidFill>
              </a:rPr>
              <a:t>El experimento mide el overhead que
introduce Kubernetes NetworkPolicy
en la latencia de requests normales:
  baseline:  sin NetworkPolicy
             tráfico libre entre pods
  policies:  NetworkPolicy activa
             solo flujos permitidos
Hipótesis: el overhead debería ser
mínimo (~0ms) porque NetworkPolicy
es evaluada en el kernel (iptables/eBPF)
no en un proxy de usuario como Envoy.</a:t>
            </a:r>
          </a:p>
        </p:txBody>
      </p:sp>
      <p:sp>
        <p:nvSpPr>
          <p:cNvPr id="7" name="Rectangle 6"/>
          <p:cNvSpPr/>
          <p:nvPr/>
        </p:nvSpPr>
        <p:spPr>
          <a:xfrm>
            <a:off x="9052560" y="1143000"/>
            <a:ext cx="283464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default-deny — modelo Zero Trust</a:t>
            </a:r>
          </a:p>
          <a:p>
            <a:r>
              <a:rPr sz="1000">
                <a:solidFill>
                  <a:srgbClr val="555555"/>
                </a:solidFill>
              </a:rPr>
              <a:t>np-default-deny-apps bloquea TODO:
  podSelector matchIn [s0,s1,sdb1]
  policyTypes: [Ingress, Egress]
  (sin reglas de allow)
Efecto: ningún pod puede enviar ni
recibir tráfico a menos que haya una
policy explícita que lo permita.
Las reglas 2-6 son excepciones al deny:
  ext→s0, s0→s1, s1→sdb1
Es el modelo Zero Trust: deny all,
permit by exception.</a:t>
            </a:r>
          </a:p>
        </p:txBody>
      </p:sp>
      <p:sp>
        <p:nvSpPr>
          <p:cNvPr id="8" name="Rectangle 7"/>
          <p:cNvSpPr/>
          <p:nvPr/>
        </p:nvSpPr>
        <p:spPr>
          <a:xfrm>
            <a:off x="6080760" y="3383280"/>
            <a:ext cx="283464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7 objetos — por qué tantos</a:t>
            </a:r>
          </a:p>
          <a:p>
            <a:r>
              <a:rPr sz="1000">
                <a:solidFill>
                  <a:srgbClr val="555555"/>
                </a:solidFill>
              </a:rPr>
              <a:t>Cada flujo necesita DOS objetos:
  Flujo s0→s1:
    np-allow-s0-to-s1    (Egress de s0)
    np-allow-s1-from-s0  (Ingress de s1)
  Flujo s1→sdb1:
    np-allow-s1-to-sdb1   (Egress de s1)
    np-allow-sdb1-from-s1 (Ingress de sdb1)
Porque NetworkPolicy en K8s aplica
al pod SELECTOR (no al namespace):
  - La policy Egress de s0 permite SALIR
  - La policy Ingress de s1 permite ENTRAR
  - Ambas deben existir simultáneamente.</a:t>
            </a:r>
          </a:p>
        </p:txBody>
      </p:sp>
      <p:sp>
        <p:nvSpPr>
          <p:cNvPr id="9" name="Rectangle 8"/>
          <p:cNvSpPr/>
          <p:nvPr/>
        </p:nvSpPr>
        <p:spPr>
          <a:xfrm>
            <a:off x="9052560" y="3383280"/>
            <a:ext cx="283464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DNS egress — política crítica</a:t>
            </a:r>
          </a:p>
          <a:p>
            <a:r>
              <a:rPr sz="1000">
                <a:solidFill>
                  <a:srgbClr val="555555"/>
                </a:solidFill>
              </a:rPr>
              <a:t>Sin np-allow-dns-egress:
  Los pods con default-deny no pueden
  resolver nombres DNS.
  s0 intenta hacer:
    curl http://s1.default.svc.cluster.local
  El DNS lookup (UDP :53 a kube-dns)
  es bloqueado por el default-deny.
  Resultado: TIMEOUT en lookup
  → k6 reporta fallo HTTP
La policy permite Egress a kube-system
en UDP/TCP :53 para los tres servicios.</a:t>
            </a:r>
          </a:p>
        </p:txBody>
      </p:sp>
      <p:sp>
        <p:nvSpPr>
          <p:cNvPr id="10" name="Rectangle 9"/>
          <p:cNvSpPr/>
          <p:nvPr/>
        </p:nvSpPr>
        <p:spPr>
          <a:xfrm>
            <a:off x="6080760" y="5623560"/>
            <a:ext cx="283464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Topología del mesh de servicios</a:t>
            </a:r>
          </a:p>
          <a:p>
            <a:r>
              <a:rPr sz="1000">
                <a:solidFill>
                  <a:srgbClr val="555555"/>
                </a:solidFill>
              </a:rPr>
              <a:t>El experimento asume esta topología:
  [cliente k6]
       ↓ POST :30100
  [s0 — API service]
       ↓ :8080
  [s1 — auth/processing service]
       ↓ :8080
  [sdb1 — data service]
NetworkPolicy modela el flujo real:
  externo → s0 → s1 → sdb1
Cualquier lateral move está bloqueado:
  sdb1 NO puede contactar s0 directamente
  s0 NO puede contactar sdb1 directamente</a:t>
            </a:r>
          </a:p>
        </p:txBody>
      </p:sp>
      <p:sp>
        <p:nvSpPr>
          <p:cNvPr id="11" name="Rectangle 10"/>
          <p:cNvSpPr/>
          <p:nvPr/>
        </p:nvSpPr>
        <p:spPr>
          <a:xfrm>
            <a:off x="9052560" y="5623560"/>
            <a:ext cx="283464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Estructura del directorio</a:t>
            </a:r>
          </a:p>
          <a:p>
            <a:r>
              <a:rPr sz="1000">
                <a:solidFill>
                  <a:srgbClr val="555555"/>
                </a:solidFill>
              </a:rPr>
              <a:t>03-network-policies/
  run-control3-safe.sh       # dispatcher
  run-control3-autopilot-safe.sh
  monitor-control3.sh
  baseline/
    run-baseline-safe.sh     # remove-policies + 3×3
  policies/
    network-policies.yaml    # 7 NP objects
    apply-policies-safe.sh   # kubectl apply
    remove-policies.sh       # kubectl delete
    run-policies-tests-safe.sh # 3×3 k6
  tests/
    test-netpol-baseline.js
    test-netpol-policies.js
    test-lateral-blocking.sh
  analysis/
    analyze-netpol-results.py</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baseline/ y tests/ — runner sin políticas y scripts k6</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remove-policies antes del baseline · POST /process · test-lateral-blocking.sh con kubectl exec · curlimages/curl</a:t>
            </a:r>
          </a:p>
        </p:txBody>
      </p:sp>
      <p:sp>
        <p:nvSpPr>
          <p:cNvPr id="5" name="Rectangle 4"/>
          <p:cNvSpPr/>
          <p:nvPr/>
        </p:nvSpPr>
        <p:spPr>
          <a:xfrm>
            <a:off x="365760" y="1143000"/>
            <a:ext cx="3657600" cy="32004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baseline/run-baseline-safe.sh</a:t>
            </a:r>
          </a:p>
          <a:p>
            <a:r>
              <a:rPr sz="1100">
                <a:solidFill>
                  <a:srgbClr val="F9E2AF"/>
                </a:solidFill>
                <a:latin typeface="Courier New"/>
              </a:rPr>
              <a:t># 1. Quita policies para medir sin restricción</a:t>
            </a:r>
          </a:p>
          <a:p>
            <a:r>
              <a:rPr sz="1100">
                <a:solidFill>
                  <a:srgbClr val="F9E2AF"/>
                </a:solidFill>
                <a:latin typeface="Courier New"/>
              </a:rPr>
              <a:t>bash policies/remove-policies.sh</a:t>
            </a:r>
          </a:p>
          <a:p>
            <a:r>
              <a:rPr sz="1100">
                <a:solidFill>
                  <a:srgbClr val="CBD3F0"/>
                </a:solidFill>
                <a:latin typeface="Courier New"/>
              </a:rPr>
              <a:t/>
            </a:r>
          </a:p>
          <a:p>
            <a:r>
              <a:rPr sz="1100">
                <a:solidFill>
                  <a:srgbClr val="CBD3F0"/>
                </a:solidFill>
                <a:latin typeface="Courier New"/>
              </a:rPr>
              <a:t>ensure_portforward() {</a:t>
            </a:r>
          </a:p>
          <a:p>
            <a:r>
              <a:rPr sz="1100">
                <a:solidFill>
                  <a:srgbClr val="F9E2AF"/>
                </a:solidFill>
                <a:latin typeface="Courier New"/>
              </a:rPr>
              <a:t>  # POST activo (verifica con body JSON)</a:t>
            </a:r>
          </a:p>
          <a:p>
            <a:r>
              <a:rPr sz="1100">
                <a:solidFill>
                  <a:srgbClr val="CBD3F0"/>
                </a:solidFill>
                <a:latin typeface="Courier New"/>
              </a:rPr>
              <a:t>  if curl -X POST $TARGET_URL -d '{}' ...; then</a:t>
            </a:r>
          </a:p>
          <a:p>
            <a:r>
              <a:rPr sz="1100">
                <a:solidFill>
                  <a:srgbClr val="CBD3F0"/>
                </a:solidFill>
                <a:latin typeface="Courier New"/>
              </a:rPr>
              <a:t>    return 0</a:t>
            </a:r>
          </a:p>
          <a:p>
            <a:r>
              <a:rPr sz="1100">
                <a:solidFill>
                  <a:srgbClr val="CBD3F0"/>
                </a:solidFill>
                <a:latin typeface="Courier New"/>
              </a:rPr>
              <a:t>  fi</a:t>
            </a:r>
          </a:p>
          <a:p>
            <a:r>
              <a:rPr sz="1100">
                <a:solidFill>
                  <a:srgbClr val="CBD3F0"/>
                </a:solidFill>
                <a:latin typeface="Courier New"/>
              </a:rPr>
              <a:t>  # Si cae → relanza port-forward</a:t>
            </a:r>
          </a:p>
          <a:p>
            <a:r>
              <a:rPr sz="1100">
                <a:solidFill>
                  <a:srgbClr val="F9E2AF"/>
                </a:solidFill>
                <a:latin typeface="Courier New"/>
              </a:rPr>
              <a:t>  nohup kubectl port-forward \</a:t>
            </a:r>
          </a:p>
          <a:p>
            <a:r>
              <a:rPr sz="1100">
                <a:solidFill>
                  <a:srgbClr val="CBD3F0"/>
                </a:solidFill>
                <a:latin typeface="Courier New"/>
              </a:rPr>
              <a:t>    svc/s0 30100:80 &amp;</a:t>
            </a:r>
          </a:p>
          <a:p>
            <a:r>
              <a:rPr sz="1100">
                <a:solidFill>
                  <a:srgbClr val="CBD3F0"/>
                </a:solidFill>
                <a:latin typeface="Courier New"/>
              </a:rPr>
              <a:t>  for _ in $(seq 1 15); do sleep 1; done</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for vus in 5 10 20; do</a:t>
            </a:r>
          </a:p>
          <a:p>
            <a:r>
              <a:rPr sz="1100">
                <a:solidFill>
                  <a:srgbClr val="F9E2AF"/>
                </a:solidFill>
                <a:latin typeface="Courier New"/>
              </a:rPr>
              <a:t>  for rep in 1 2 3; do</a:t>
            </a:r>
          </a:p>
          <a:p>
            <a:r>
              <a:rPr sz="1100">
                <a:solidFill>
                  <a:srgbClr val="CBD3F0"/>
                </a:solidFill>
                <a:latin typeface="Courier New"/>
              </a:rPr>
              <a:t>    k6 run tests/test-netpol-baseline.js</a:t>
            </a:r>
          </a:p>
          <a:p>
            <a:r>
              <a:rPr sz="1100">
                <a:solidFill>
                  <a:srgbClr val="CBD3F0"/>
                </a:solidFill>
                <a:latin typeface="Courier New"/>
              </a:rPr>
              <a:t>    sleep 20</a:t>
            </a:r>
          </a:p>
          <a:p>
            <a:r>
              <a:rPr sz="1100">
                <a:solidFill>
                  <a:srgbClr val="CBD3F0"/>
                </a:solidFill>
                <a:latin typeface="Courier New"/>
              </a:rPr>
              <a:t>  done</a:t>
            </a:r>
          </a:p>
          <a:p>
            <a:r>
              <a:rPr sz="1100">
                <a:solidFill>
                  <a:srgbClr val="CBD3F0"/>
                </a:solidFill>
                <a:latin typeface="Courier New"/>
              </a:rPr>
              <a:t>done</a:t>
            </a:r>
          </a:p>
        </p:txBody>
      </p:sp>
      <p:sp>
        <p:nvSpPr>
          <p:cNvPr id="6" name="Rectangle 5"/>
          <p:cNvSpPr/>
          <p:nvPr/>
        </p:nvSpPr>
        <p:spPr>
          <a:xfrm>
            <a:off x="4160520" y="1143000"/>
            <a:ext cx="3657600" cy="32004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test-netpol-baseline.js</a:t>
            </a:r>
          </a:p>
          <a:p>
            <a:r>
              <a:rPr sz="1100">
                <a:solidFill>
                  <a:srgbClr val="F9E2AF"/>
                </a:solidFill>
                <a:latin typeface="Courier New"/>
              </a:rPr>
              <a:t>thresholds: {</a:t>
            </a:r>
          </a:p>
          <a:p>
            <a:r>
              <a:rPr sz="1100">
                <a:solidFill>
                  <a:srgbClr val="CBD3F0"/>
                </a:solidFill>
                <a:latin typeface="Courier New"/>
              </a:rPr>
              <a:t>  http_req_duration: ['p(95)&lt;900'],</a:t>
            </a:r>
          </a:p>
          <a:p>
            <a:r>
              <a:rPr sz="1100">
                <a:solidFill>
                  <a:srgbClr val="F9E2AF"/>
                </a:solidFill>
                <a:latin typeface="Courier New"/>
              </a:rPr>
              <a:t>  http_req_failed:   ['rate&lt;0.03'],</a:t>
            </a:r>
          </a:p>
          <a:p>
            <a:r>
              <a:rPr sz="1100">
                <a:solidFill>
                  <a:srgbClr val="F9E2AF"/>
                </a:solidFill>
                <a:latin typeface="Courier New"/>
              </a:rPr>
              <a:t>}</a:t>
            </a:r>
          </a:p>
          <a:p>
            <a:r>
              <a:rPr sz="1100">
                <a:solidFill>
                  <a:srgbClr val="CBD3F0"/>
                </a:solidFill>
                <a:latin typeface="Courier New"/>
              </a:rPr>
              <a:t>const payload = JSON.stringify(</a:t>
            </a:r>
          </a:p>
          <a:p>
            <a:r>
              <a:rPr sz="1100">
                <a:solidFill>
                  <a:srgbClr val="CBD3F0"/>
                </a:solidFill>
                <a:latin typeface="Courier New"/>
              </a:rPr>
              <a:t>  { mode: 'netpol-baseline' });</a:t>
            </a:r>
          </a:p>
          <a:p>
            <a:r>
              <a:rPr sz="1100">
                <a:solidFill>
                  <a:srgbClr val="CBD3F0"/>
                </a:solidFill>
                <a:latin typeface="Courier New"/>
              </a:rPr>
              <a:t>http.post(targetUrl, payload, params);</a:t>
            </a:r>
          </a:p>
          <a:p>
            <a:r>
              <a:rPr sz="1100">
                <a:solidFill>
                  <a:srgbClr val="CBD3F0"/>
                </a:solidFill>
                <a:latin typeface="Courier New"/>
              </a:rPr>
              <a:t>sleep(0.2);</a:t>
            </a:r>
          </a:p>
          <a:p>
            <a:r>
              <a:rPr sz="1100">
                <a:solidFill>
                  <a:srgbClr val="CBD3F0"/>
                </a:solidFill>
                <a:latin typeface="Courier New"/>
              </a:rPr>
              <a:t/>
            </a:r>
          </a:p>
          <a:p>
            <a:r>
              <a:rPr sz="1100">
                <a:solidFill>
                  <a:srgbClr val="CBD3F0"/>
                </a:solidFill>
                <a:latin typeface="Courier New"/>
              </a:rPr>
              <a:t>// test-netpol-policies.js</a:t>
            </a:r>
          </a:p>
          <a:p>
            <a:r>
              <a:rPr sz="1100">
                <a:solidFill>
                  <a:srgbClr val="F9E2AF"/>
                </a:solidFill>
                <a:latin typeface="Courier New"/>
              </a:rPr>
              <a:t>thresholds: {</a:t>
            </a:r>
          </a:p>
          <a:p>
            <a:r>
              <a:rPr sz="1100">
                <a:solidFill>
                  <a:srgbClr val="CBD3F0"/>
                </a:solidFill>
                <a:latin typeface="Courier New"/>
              </a:rPr>
              <a:t>  http_req_duration: ['p(95)&lt;1000'],</a:t>
            </a:r>
          </a:p>
          <a:p>
            <a:r>
              <a:rPr sz="1100">
                <a:solidFill>
                  <a:srgbClr val="F9E2AF"/>
                </a:solidFill>
                <a:latin typeface="Courier New"/>
              </a:rPr>
              <a:t>  http_req_failed:   ['rate&lt;0.05'],</a:t>
            </a:r>
          </a:p>
          <a:p>
            <a:r>
              <a:rPr sz="1100">
                <a:solidFill>
                  <a:srgbClr val="F9E2AF"/>
                </a:solidFill>
                <a:latin typeface="Courier New"/>
              </a:rPr>
              <a:t>}</a:t>
            </a:r>
          </a:p>
          <a:p>
            <a:r>
              <a:rPr sz="1100">
                <a:solidFill>
                  <a:srgbClr val="CBD3F0"/>
                </a:solidFill>
                <a:latin typeface="Courier New"/>
              </a:rPr>
              <a:t>const payload = JSON.stringify(</a:t>
            </a:r>
          </a:p>
          <a:p>
            <a:r>
              <a:rPr sz="1100">
                <a:solidFill>
                  <a:srgbClr val="CBD3F0"/>
                </a:solidFill>
                <a:latin typeface="Courier New"/>
              </a:rPr>
              <a:t>  { mode: 'netpol-policies' });</a:t>
            </a:r>
          </a:p>
          <a:p>
            <a:r>
              <a:rPr sz="1100">
                <a:solidFill>
                  <a:srgbClr val="CBD3F0"/>
                </a:solidFill>
                <a:latin typeface="Courier New"/>
              </a:rPr>
              <a:t>http.post(targetUrl, payload, params);</a:t>
            </a:r>
          </a:p>
          <a:p>
            <a:r>
              <a:rPr sz="1100">
                <a:solidFill>
                  <a:srgbClr val="CBD3F0"/>
                </a:solidFill>
                <a:latin typeface="Courier New"/>
              </a:rPr>
              <a:t>sleep(0.2);</a:t>
            </a:r>
          </a:p>
          <a:p>
            <a:r>
              <a:rPr sz="1100">
                <a:solidFill>
                  <a:srgbClr val="CBD3F0"/>
                </a:solidFill>
                <a:latin typeface="Courier New"/>
              </a:rPr>
              <a:t/>
            </a:r>
          </a:p>
          <a:p>
            <a:r>
              <a:rPr sz="1100">
                <a:solidFill>
                  <a:srgbClr val="CBD3F0"/>
                </a:solidFill>
                <a:latin typeface="Courier New"/>
              </a:rPr>
              <a:t>// mismo endpoint para ambos:</a:t>
            </a:r>
          </a:p>
          <a:p>
            <a:r>
              <a:rPr sz="1100">
                <a:solidFill>
                  <a:srgbClr val="F9E2AF"/>
                </a:solidFill>
                <a:latin typeface="Courier New"/>
              </a:rPr>
              <a:t>// http://localhost:30100/process</a:t>
            </a:r>
          </a:p>
        </p:txBody>
      </p:sp>
      <p:sp>
        <p:nvSpPr>
          <p:cNvPr id="7" name="Rectangle 6"/>
          <p:cNvSpPr/>
          <p:nvPr/>
        </p:nvSpPr>
        <p:spPr>
          <a:xfrm>
            <a:off x="365760" y="4480560"/>
            <a:ext cx="7452360" cy="22402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test-lateral-blocking.sh — verifica que NetworkPolicy bloquea movimiento lateral</a:t>
            </a:r>
          </a:p>
          <a:p>
            <a:r>
              <a:rPr sz="1100">
                <a:solidFill>
                  <a:srgbClr val="F9E2AF"/>
                </a:solidFill>
                <a:latin typeface="Courier New"/>
              </a:rPr>
              <a:t>TMP_POD='netpol-test-client'</a:t>
            </a:r>
          </a:p>
          <a:p>
            <a:r>
              <a:rPr sz="1100">
                <a:solidFill>
                  <a:srgbClr val="CBD3F0"/>
                </a:solidFill>
                <a:latin typeface="Courier New"/>
              </a:rPr>
              <a:t/>
            </a:r>
          </a:p>
          <a:p>
            <a:r>
              <a:rPr sz="1100">
                <a:solidFill>
                  <a:srgbClr val="CBD3F0"/>
                </a:solidFill>
                <a:latin typeface="Courier New"/>
              </a:rPr>
              <a:t># Lanza pod temporal con curl (curlimages/curl:8.7.1)</a:t>
            </a:r>
          </a:p>
          <a:p>
            <a:r>
              <a:rPr sz="1100">
                <a:solidFill>
                  <a:srgbClr val="F9E2AF"/>
                </a:solidFill>
                <a:latin typeface="Courier New"/>
              </a:rPr>
              <a:t>kubectl run '$TMP_POD' --image=curlimages/curl:8.7.1 \</a:t>
            </a:r>
          </a:p>
          <a:p>
            <a:r>
              <a:rPr sz="1100">
                <a:solidFill>
                  <a:srgbClr val="CBD3F0"/>
                </a:solidFill>
                <a:latin typeface="Courier New"/>
              </a:rPr>
              <a:t>  --restart=Never --command -- sleep 180</a:t>
            </a:r>
          </a:p>
          <a:p>
            <a:r>
              <a:rPr sz="1100">
                <a:solidFill>
                  <a:srgbClr val="CBD3F0"/>
                </a:solidFill>
                <a:latin typeface="Courier New"/>
              </a:rPr>
              <a:t>kubectl wait --for=condition=Ready pod/'$TMP_POD' --timeout=120s</a:t>
            </a:r>
          </a:p>
          <a:p>
            <a:r>
              <a:rPr sz="1100">
                <a:solidFill>
                  <a:srgbClr val="CBD3F0"/>
                </a:solidFill>
                <a:latin typeface="Courier New"/>
              </a:rPr>
              <a:t/>
            </a:r>
          </a:p>
          <a:p>
            <a:r>
              <a:rPr sz="1100">
                <a:solidFill>
                  <a:srgbClr val="CBD3F0"/>
                </a:solidFill>
                <a:latin typeface="Courier New"/>
              </a:rPr>
              <a:t># Intenta acceder a sdb1 DIRECTAMENTE (saltándose s0→s1→sdb1)</a:t>
            </a:r>
          </a:p>
          <a:p>
            <a:r>
              <a:rPr sz="1100">
                <a:solidFill>
                  <a:srgbClr val="F9E2AF"/>
                </a:solidFill>
                <a:latin typeface="Courier New"/>
              </a:rPr>
              <a:t>OUT=$(kubectl exec '$TMP_POD' -- curl -m 5 \</a:t>
            </a:r>
          </a:p>
          <a:p>
            <a:r>
              <a:rPr sz="1100">
                <a:solidFill>
                  <a:srgbClr val="CBD3F0"/>
                </a:solidFill>
                <a:latin typeface="Courier New"/>
              </a:rPr>
              <a:t>  http://sdb1.default.svc.cluster.local:80/process)</a:t>
            </a:r>
          </a:p>
          <a:p>
            <a:r>
              <a:rPr sz="1100">
                <a:solidFill>
                  <a:srgbClr val="CBD3F0"/>
                </a:solidFill>
                <a:latin typeface="Courier New"/>
              </a:rPr>
              <a:t/>
            </a:r>
          </a:p>
          <a:p>
            <a:r>
              <a:rPr sz="1100">
                <a:solidFill>
                  <a:srgbClr val="CBD3F0"/>
                </a:solidFill>
                <a:latin typeface="Courier New"/>
              </a:rPr>
              <a:t># Registra resultado</a:t>
            </a:r>
          </a:p>
          <a:p>
            <a:r>
              <a:rPr sz="1100">
                <a:solidFill>
                  <a:srgbClr val="F9E2AF"/>
                </a:solidFill>
                <a:latin typeface="Courier New"/>
              </a:rPr>
              <a:t>if [[ '$RC' -ne 0 ]] || [[ '$OUT' == '000|403|503' ]]; then</a:t>
            </a:r>
          </a:p>
          <a:p>
            <a:r>
              <a:rPr sz="1100">
                <a:solidFill>
                  <a:srgbClr val="F9E2AF"/>
                </a:solidFill>
                <a:latin typeface="Courier New"/>
              </a:rPr>
              <a:t>  echo 'blocked=true'   # NetworkPolicy funciona</a:t>
            </a:r>
          </a:p>
          <a:p>
            <a:r>
              <a:rPr sz="1100">
                <a:solidFill>
                  <a:srgbClr val="CBD3F0"/>
                </a:solidFill>
                <a:latin typeface="Courier New"/>
              </a:rPr>
              <a:t>else</a:t>
            </a:r>
          </a:p>
          <a:p>
            <a:r>
              <a:rPr sz="1100">
                <a:solidFill>
                  <a:srgbClr val="F9E2AF"/>
                </a:solidFill>
                <a:latin typeface="Courier New"/>
              </a:rPr>
              <a:t>  echo 'blocked=false'  # ALERTA: movimiento lateral posible</a:t>
            </a:r>
          </a:p>
          <a:p>
            <a:r>
              <a:rPr sz="1100">
                <a:solidFill>
                  <a:srgbClr val="CBD3F0"/>
                </a:solidFill>
                <a:latin typeface="Courier New"/>
              </a:rPr>
              <a:t>fi</a:t>
            </a:r>
          </a:p>
          <a:p>
            <a:r>
              <a:rPr sz="1100">
                <a:solidFill>
                  <a:srgbClr val="CBD3F0"/>
                </a:solidFill>
                <a:latin typeface="Courier New"/>
              </a:rPr>
              <a:t/>
            </a:r>
          </a:p>
          <a:p>
            <a:r>
              <a:rPr sz="1100">
                <a:solidFill>
                  <a:srgbClr val="CBD3F0"/>
                </a:solidFill>
                <a:latin typeface="Courier New"/>
              </a:rPr>
              <a:t>kubectl delete pod '$TMP_POD' --ignore-not-found</a:t>
            </a:r>
          </a:p>
        </p:txBody>
      </p:sp>
      <p:sp>
        <p:nvSpPr>
          <p:cNvPr id="8" name="Rectangle 7"/>
          <p:cNvSpPr/>
          <p:nvPr/>
        </p:nvSpPr>
        <p:spPr>
          <a:xfrm>
            <a:off x="8046720" y="1143000"/>
            <a:ext cx="283464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remove-policies ANTES del baseline</a:t>
            </a:r>
          </a:p>
          <a:p>
            <a:r>
              <a:rPr sz="1000">
                <a:solidFill>
                  <a:srgbClr val="555555"/>
                </a:solidFill>
              </a:rPr>
              <a:t>El baseline runner llama:
  bash policies/remove-policies.sh
ANTES de correr k6. Esto garantiza
que el baseline mide tráfico real SIN
NetworkPolicy, incluso si el experimento
anterior dejó las policies activas.
remove-policies.sh:
  kubectl delete -f network-policies.yaml
    --ignore-not-found
El flag --ignore-not-found evita error
si ya fueron eliminadas previamente.</a:t>
            </a:r>
          </a:p>
        </p:txBody>
      </p:sp>
      <p:sp>
        <p:nvSpPr>
          <p:cNvPr id="9" name="Rectangle 8"/>
          <p:cNvSpPr/>
          <p:nvPr/>
        </p:nvSpPr>
        <p:spPr>
          <a:xfrm>
            <a:off x="11018520" y="1143000"/>
            <a:ext cx="283464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mode: 'netpol-baseline' vs 'netpol-policies'</a:t>
            </a:r>
          </a:p>
          <a:p>
            <a:r>
              <a:rPr sz="1000">
                <a:solidFill>
                  <a:srgbClr val="555555"/>
                </a:solidFill>
              </a:rPr>
              <a:t>El campo mode en el body JSON:
  { mode: 'netpol-baseline' }
  { mode: 'netpol-policies' }
Permite identificar la fuente en los
logs del servicio s0 sin inspeccionar
las métricas de k6.
Umbral p95 más holgado en policies:
  baseline: p95 &lt; 900ms
  policies: p95 &lt; 1000ms
El fail% es mayor en policies (5% vs 3%)
por si iptables tarda en propagarse
al aplicar las políticas.</a:t>
            </a:r>
          </a:p>
        </p:txBody>
      </p:sp>
      <p:sp>
        <p:nvSpPr>
          <p:cNvPr id="10" name="Rectangle 9"/>
          <p:cNvSpPr/>
          <p:nvPr/>
        </p:nvSpPr>
        <p:spPr>
          <a:xfrm>
            <a:off x="8046720" y="3383280"/>
            <a:ext cx="283464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Lateral blocking — ¿qué valida?</a:t>
            </a:r>
          </a:p>
          <a:p>
            <a:r>
              <a:rPr sz="1000">
                <a:solidFill>
                  <a:srgbClr val="555555"/>
                </a:solidFill>
              </a:rPr>
              <a:t>test-lateral-blocking.sh verifica que
el movimiento lateral está BLOQUEADO:
  [pod-test-client]
       ↓ curl http://sdb1:80/process
  [sdb1]
Este flujo NO está en el allow-list:
  np-allow-sdb1-from-s1 solo permite
  INGRESS desde s1, no desde pods
  arbitrarios del namespace.
Si blocked=true → NetworkPolicy funciona
Si blocked=false → ALERTA de seguridad,
el CNI no está aplicando las policies.</a:t>
            </a:r>
          </a:p>
        </p:txBody>
      </p:sp>
      <p:sp>
        <p:nvSpPr>
          <p:cNvPr id="11" name="Rectangle 10"/>
          <p:cNvSpPr/>
          <p:nvPr/>
        </p:nvSpPr>
        <p:spPr>
          <a:xfrm>
            <a:off x="11018520" y="3383280"/>
            <a:ext cx="283464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curlimages/curl — pod de prueba ligero</a:t>
            </a:r>
          </a:p>
          <a:p>
            <a:r>
              <a:rPr sz="1000">
                <a:solidFill>
                  <a:srgbClr val="555555"/>
                </a:solidFill>
              </a:rPr>
              <a:t>El test usa curlimages/curl:8.7.1:
  - Imagen mínima (~5MB) basada en Alpine
  - Contiene solo curl, sin shell completo
  - --restart=Never → Job one-shot
  - sleep 180 para mantener el pod vivo
    mientras kubectl exec corre el curl
kubectl wait --for=condition=Ready
  garantiza que el pod está listo antes
  de ejecutar el exec.
Al final: kubectl delete --ignore-not-found
limpia el pod aunque el test falle.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policies/ — aplicar, remover y correr tests con NetworkPolicy activa</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apply-policies-safe.sh · remove-policies.sh · run-policies-tests-safe.sh · ensure_portforward activo · :30100</a:t>
            </a:r>
          </a:p>
        </p:txBody>
      </p:sp>
      <p:sp>
        <p:nvSpPr>
          <p:cNvPr id="5" name="Rectangle 4"/>
          <p:cNvSpPr/>
          <p:nvPr/>
        </p:nvSpPr>
        <p:spPr>
          <a:xfrm>
            <a:off x="365760" y="1143000"/>
            <a:ext cx="3291840" cy="18288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apply-policies-safe.sh</a:t>
            </a:r>
          </a:p>
          <a:p>
            <a:r>
              <a:rPr sz="1100">
                <a:solidFill>
                  <a:srgbClr val="F9E2AF"/>
                </a:solidFill>
                <a:latin typeface="Courier New"/>
              </a:rPr>
              <a:t>POL_FILE='policies/network-policies.yaml'</a:t>
            </a:r>
          </a:p>
          <a:p>
            <a:r>
              <a:rPr sz="1100">
                <a:solidFill>
                  <a:srgbClr val="CBD3F0"/>
                </a:solidFill>
                <a:latin typeface="Courier New"/>
              </a:rPr>
              <a:t>kubectl apply -f '$POL_FILE'</a:t>
            </a:r>
          </a:p>
          <a:p>
            <a:r>
              <a:rPr sz="1100">
                <a:solidFill>
                  <a:srgbClr val="CBD3F0"/>
                </a:solidFill>
                <a:latin typeface="Courier New"/>
              </a:rPr>
              <a:t>echo '[netpol] Políticas aplicadas'</a:t>
            </a:r>
          </a:p>
          <a:p>
            <a:r>
              <a:rPr sz="1100">
                <a:solidFill>
                  <a:srgbClr val="CBD3F0"/>
                </a:solidFill>
                <a:latin typeface="Courier New"/>
              </a:rPr>
              <a:t/>
            </a:r>
          </a:p>
          <a:p>
            <a:r>
              <a:rPr sz="1100">
                <a:solidFill>
                  <a:srgbClr val="F9E2AF"/>
                </a:solidFill>
                <a:latin typeface="Courier New"/>
              </a:rPr>
              <a:t># remove-policies.sh</a:t>
            </a:r>
          </a:p>
          <a:p>
            <a:r>
              <a:rPr sz="1100">
                <a:solidFill>
                  <a:srgbClr val="CBD3F0"/>
                </a:solidFill>
                <a:latin typeface="Courier New"/>
              </a:rPr>
              <a:t>kubectl delete -f '$POL_FILE' \</a:t>
            </a:r>
          </a:p>
          <a:p>
            <a:r>
              <a:rPr sz="1100">
                <a:solidFill>
                  <a:srgbClr val="F9E2AF"/>
                </a:solidFill>
                <a:latin typeface="Courier New"/>
              </a:rPr>
              <a:t>  --ignore-not-found</a:t>
            </a:r>
          </a:p>
          <a:p>
            <a:r>
              <a:rPr sz="1100">
                <a:solidFill>
                  <a:srgbClr val="CBD3F0"/>
                </a:solidFill>
                <a:latin typeface="Courier New"/>
              </a:rPr>
              <a:t>echo '[netpol] Políticas removidas'</a:t>
            </a:r>
          </a:p>
        </p:txBody>
      </p:sp>
      <p:sp>
        <p:nvSpPr>
          <p:cNvPr id="6" name="Rectangle 5"/>
          <p:cNvSpPr/>
          <p:nvPr/>
        </p:nvSpPr>
        <p:spPr>
          <a:xfrm>
            <a:off x="365760" y="3108960"/>
            <a:ext cx="3291840" cy="36118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run-policies-tests-safe.sh</a:t>
            </a:r>
          </a:p>
          <a:p>
            <a:r>
              <a:rPr sz="1100">
                <a:solidFill>
                  <a:srgbClr val="F9E2AF"/>
                </a:solidFill>
                <a:latin typeface="Courier New"/>
              </a:rPr>
              <a:t>TARGET_URL='http://localhost:30100/process'</a:t>
            </a:r>
          </a:p>
          <a:p>
            <a:r>
              <a:rPr sz="1100">
                <a:solidFill>
                  <a:srgbClr val="CBD3F0"/>
                </a:solidFill>
                <a:latin typeface="Courier New"/>
              </a:rPr>
              <a:t/>
            </a:r>
          </a:p>
          <a:p>
            <a:r>
              <a:rPr sz="1100">
                <a:solidFill>
                  <a:srgbClr val="CBD3F0"/>
                </a:solidFill>
                <a:latin typeface="Courier New"/>
              </a:rPr>
              <a:t>ensure_portforward() {</a:t>
            </a:r>
          </a:p>
          <a:p>
            <a:r>
              <a:rPr sz="1100">
                <a:solidFill>
                  <a:srgbClr val="F9E2AF"/>
                </a:solidFill>
                <a:latin typeface="Courier New"/>
              </a:rPr>
              <a:t>  # verifica con POST + JSON body</a:t>
            </a:r>
          </a:p>
          <a:p>
            <a:r>
              <a:rPr sz="1100">
                <a:solidFill>
                  <a:srgbClr val="CBD3F0"/>
                </a:solidFill>
                <a:latin typeface="Courier New"/>
              </a:rPr>
              <a:t>  if curl -X POST '$TARGET_URL' -d '{}' ...</a:t>
            </a:r>
          </a:p>
          <a:p>
            <a:r>
              <a:rPr sz="1100">
                <a:solidFill>
                  <a:srgbClr val="CBD3F0"/>
                </a:solidFill>
                <a:latin typeface="Courier New"/>
              </a:rPr>
              <a:t>    return 0</a:t>
            </a:r>
          </a:p>
          <a:p>
            <a:r>
              <a:rPr sz="1100">
                <a:solidFill>
                  <a:srgbClr val="CBD3F0"/>
                </a:solidFill>
                <a:latin typeface="Courier New"/>
              </a:rPr>
              <a:t>  fi</a:t>
            </a:r>
          </a:p>
          <a:p>
            <a:r>
              <a:rPr sz="1100">
                <a:solidFill>
                  <a:srgbClr val="CBD3F0"/>
                </a:solidFill>
                <a:latin typeface="Courier New"/>
              </a:rPr>
              <a:t>  # ACTIVA: relanza port-forward si cae</a:t>
            </a:r>
          </a:p>
          <a:p>
            <a:r>
              <a:rPr sz="1100">
                <a:solidFill>
                  <a:srgbClr val="F9E2AF"/>
                </a:solidFill>
                <a:latin typeface="Courier New"/>
              </a:rPr>
              <a:t>  pkill -f 'kubectl port-forward ... 30100'</a:t>
            </a:r>
          </a:p>
          <a:p>
            <a:r>
              <a:rPr sz="1100">
                <a:solidFill>
                  <a:srgbClr val="F9E2AF"/>
                </a:solidFill>
                <a:latin typeface="Courier New"/>
              </a:rPr>
              <a:t>  nohup kubectl port-forward \</a:t>
            </a:r>
          </a:p>
          <a:p>
            <a:r>
              <a:rPr sz="1100">
                <a:solidFill>
                  <a:srgbClr val="CBD3F0"/>
                </a:solidFill>
                <a:latin typeface="Courier New"/>
              </a:rPr>
              <a:t>    svc/s0 30100:80 &amp;</a:t>
            </a:r>
          </a:p>
          <a:p>
            <a:r>
              <a:rPr sz="1100">
                <a:solidFill>
                  <a:srgbClr val="CBD3F0"/>
                </a:solidFill>
                <a:latin typeface="Courier New"/>
              </a:rPr>
              <a:t>  for _ in $(seq 1 15); do</a:t>
            </a:r>
          </a:p>
          <a:p>
            <a:r>
              <a:rPr sz="1100">
                <a:solidFill>
                  <a:srgbClr val="CBD3F0"/>
                </a:solidFill>
                <a:latin typeface="Courier New"/>
              </a:rPr>
              <a:t>    sleep 1</a:t>
            </a:r>
          </a:p>
          <a:p>
            <a:r>
              <a:rPr sz="1100">
                <a:solidFill>
                  <a:srgbClr val="CBD3F0"/>
                </a:solidFill>
                <a:latin typeface="Courier New"/>
              </a:rPr>
              <a:t>    curl -X POST ... &amp;&amp; return 0</a:t>
            </a:r>
          </a:p>
          <a:p>
            <a:r>
              <a:rPr sz="1100">
                <a:solidFill>
                  <a:srgbClr val="CBD3F0"/>
                </a:solidFill>
                <a:latin typeface="Courier New"/>
              </a:rPr>
              <a:t>  done</a:t>
            </a:r>
          </a:p>
          <a:p>
            <a:r>
              <a:rPr sz="1100">
                <a:solidFill>
                  <a:srgbClr val="CBD3F0"/>
                </a:solidFill>
                <a:latin typeface="Courier New"/>
              </a:rPr>
              <a:t>  echo '[policies-netpol] Warning'</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for vus in 5 10 20; do</a:t>
            </a:r>
          </a:p>
          <a:p>
            <a:r>
              <a:rPr sz="1100">
                <a:solidFill>
                  <a:srgbClr val="F9E2AF"/>
                </a:solidFill>
                <a:latin typeface="Courier New"/>
              </a:rPr>
              <a:t>  for rep in 1 2 3; do</a:t>
            </a:r>
          </a:p>
          <a:p>
            <a:r>
              <a:rPr sz="1100">
                <a:solidFill>
                  <a:srgbClr val="CBD3F0"/>
                </a:solidFill>
                <a:latin typeface="Courier New"/>
              </a:rPr>
              <a:t>    k6 run tests/test-netpol-policies.js</a:t>
            </a:r>
          </a:p>
          <a:p>
            <a:r>
              <a:rPr sz="1100">
                <a:solidFill>
                  <a:srgbClr val="CBD3F0"/>
                </a:solidFill>
                <a:latin typeface="Courier New"/>
              </a:rPr>
              <a:t>    sleep 20</a:t>
            </a:r>
          </a:p>
          <a:p>
            <a:r>
              <a:rPr sz="1100">
                <a:solidFill>
                  <a:srgbClr val="CBD3F0"/>
                </a:solidFill>
                <a:latin typeface="Courier New"/>
              </a:rPr>
              <a:t>  done</a:t>
            </a:r>
          </a:p>
          <a:p>
            <a:r>
              <a:rPr sz="1100">
                <a:solidFill>
                  <a:srgbClr val="CBD3F0"/>
                </a:solidFill>
                <a:latin typeface="Courier New"/>
              </a:rPr>
              <a:t>done</a:t>
            </a:r>
          </a:p>
        </p:txBody>
      </p:sp>
      <p:sp>
        <p:nvSpPr>
          <p:cNvPr id="7" name="Rectangle 6"/>
          <p:cNvSpPr/>
          <p:nvPr/>
        </p:nvSpPr>
        <p:spPr>
          <a:xfrm>
            <a:off x="3749039" y="1143000"/>
            <a:ext cx="4983480" cy="55778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run-control3-safe.sh --scenario policies</a:t>
            </a:r>
          </a:p>
          <a:p>
            <a:r>
              <a:rPr sz="1100">
                <a:solidFill>
                  <a:srgbClr val="F9E2AF"/>
                </a:solidFill>
                <a:latin typeface="Courier New"/>
              </a:rPr>
              <a:t># (orquesta los 3 pasos en secuencia)</a:t>
            </a:r>
          </a:p>
          <a:p>
            <a:r>
              <a:rPr sz="1100">
                <a:solidFill>
                  <a:srgbClr val="CBD3F0"/>
                </a:solidFill>
                <a:latin typeface="Courier New"/>
              </a:rPr>
              <a:t/>
            </a:r>
          </a:p>
          <a:p>
            <a:r>
              <a:rPr sz="1100">
                <a:solidFill>
                  <a:srgbClr val="CBD3F0"/>
                </a:solidFill>
                <a:latin typeface="Courier New"/>
              </a:rPr>
              <a:t># Paso 1: aplica todas las NetworkPolicy</a:t>
            </a:r>
          </a:p>
          <a:p>
            <a:r>
              <a:rPr sz="1100">
                <a:solidFill>
                  <a:srgbClr val="F9E2AF"/>
                </a:solidFill>
                <a:latin typeface="Courier New"/>
              </a:rPr>
              <a:t>bash policies/apply-policies-safe.sh</a:t>
            </a:r>
          </a:p>
          <a:p>
            <a:r>
              <a:rPr sz="1100">
                <a:solidFill>
                  <a:srgbClr val="CBD3F0"/>
                </a:solidFill>
                <a:latin typeface="Courier New"/>
              </a:rPr>
              <a:t># → kubectl apply -f network-policies.yaml</a:t>
            </a:r>
          </a:p>
          <a:p>
            <a:r>
              <a:rPr sz="1100">
                <a:solidFill>
                  <a:srgbClr val="CBD3F0"/>
                </a:solidFill>
                <a:latin typeface="Courier New"/>
              </a:rPr>
              <a:t># → 7 objetos creados o actualizados</a:t>
            </a:r>
          </a:p>
          <a:p>
            <a:r>
              <a:rPr sz="1100">
                <a:solidFill>
                  <a:srgbClr val="CBD3F0"/>
                </a:solidFill>
                <a:latin typeface="Courier New"/>
              </a:rPr>
              <a:t># → iptables/eBPF propagado por el CNI</a:t>
            </a:r>
          </a:p>
          <a:p>
            <a:r>
              <a:rPr sz="1100">
                <a:solidFill>
                  <a:srgbClr val="CBD3F0"/>
                </a:solidFill>
                <a:latin typeface="Courier New"/>
              </a:rPr>
              <a:t/>
            </a:r>
          </a:p>
          <a:p>
            <a:r>
              <a:rPr sz="1100">
                <a:solidFill>
                  <a:srgbClr val="CBD3F0"/>
                </a:solidFill>
                <a:latin typeface="Courier New"/>
              </a:rPr>
              <a:t># Paso 2: corre k6 CON policies activas</a:t>
            </a:r>
          </a:p>
          <a:p>
            <a:r>
              <a:rPr sz="1100">
                <a:solidFill>
                  <a:srgbClr val="F9E2AF"/>
                </a:solidFill>
                <a:latin typeface="Courier New"/>
              </a:rPr>
              <a:t>bash policies/run-policies-tests-safe.sh</a:t>
            </a:r>
          </a:p>
          <a:p>
            <a:r>
              <a:rPr sz="1100">
                <a:solidFill>
                  <a:srgbClr val="CBD3F0"/>
                </a:solidFill>
                <a:latin typeface="Courier New"/>
              </a:rPr>
              <a:t># → 3 VUs × 3 reps = 9 JSON + 9 logs</a:t>
            </a:r>
          </a:p>
          <a:p>
            <a:r>
              <a:rPr sz="1100">
                <a:solidFill>
                  <a:srgbClr val="CBD3F0"/>
                </a:solidFill>
                <a:latin typeface="Courier New"/>
              </a:rPr>
              <a:t># → results/policies/policies-vus*-rep*.json</a:t>
            </a:r>
          </a:p>
          <a:p>
            <a:r>
              <a:rPr sz="1100">
                <a:solidFill>
                  <a:srgbClr val="CBD3F0"/>
                </a:solidFill>
                <a:latin typeface="Courier New"/>
              </a:rPr>
              <a:t/>
            </a:r>
          </a:p>
          <a:p>
            <a:r>
              <a:rPr sz="1100">
                <a:solidFill>
                  <a:srgbClr val="CBD3F0"/>
                </a:solidFill>
                <a:latin typeface="Courier New"/>
              </a:rPr>
              <a:t># Paso 3: test de lateral blocking</a:t>
            </a:r>
          </a:p>
          <a:p>
            <a:r>
              <a:rPr sz="1100">
                <a:solidFill>
                  <a:srgbClr val="F9E2AF"/>
                </a:solidFill>
                <a:latin typeface="Courier New"/>
              </a:rPr>
              <a:t>bash tests/test-lateral-blocking.sh</a:t>
            </a:r>
          </a:p>
          <a:p>
            <a:r>
              <a:rPr sz="1100">
                <a:solidFill>
                  <a:srgbClr val="CBD3F0"/>
                </a:solidFill>
                <a:latin typeface="Courier New"/>
              </a:rPr>
              <a:t># → lanza pod curlimages/curl</a:t>
            </a:r>
          </a:p>
          <a:p>
            <a:r>
              <a:rPr sz="1100">
                <a:solidFill>
                  <a:srgbClr val="CBD3F0"/>
                </a:solidFill>
                <a:latin typeface="Courier New"/>
              </a:rPr>
              <a:t># → intenta acceder a sdb1 directamente</a:t>
            </a:r>
          </a:p>
          <a:p>
            <a:r>
              <a:rPr sz="1100">
                <a:solidFill>
                  <a:srgbClr val="CBD3F0"/>
                </a:solidFill>
                <a:latin typeface="Courier New"/>
              </a:rPr>
              <a:t># → registra blocked=true/false</a:t>
            </a:r>
          </a:p>
          <a:p>
            <a:r>
              <a:rPr sz="1100">
                <a:solidFill>
                  <a:srgbClr val="CBD3F0"/>
                </a:solidFill>
                <a:latin typeface="Courier New"/>
              </a:rPr>
              <a:t># → results/logs/lateral-blocking.log</a:t>
            </a:r>
          </a:p>
          <a:p>
            <a:r>
              <a:rPr sz="1100">
                <a:solidFill>
                  <a:srgbClr val="CBD3F0"/>
                </a:solidFill>
                <a:latin typeface="Courier New"/>
              </a:rPr>
              <a:t/>
            </a:r>
          </a:p>
          <a:p>
            <a:r>
              <a:rPr sz="1100">
                <a:solidFill>
                  <a:srgbClr val="CBD3F0"/>
                </a:solidFill>
                <a:latin typeface="Courier New"/>
              </a:rPr>
              <a:t>echo '[control3] Escenario completado: policies'</a:t>
            </a:r>
          </a:p>
          <a:p>
            <a:r>
              <a:rPr sz="1100">
                <a:solidFill>
                  <a:srgbClr val="CBD3F0"/>
                </a:solidFill>
                <a:latin typeface="Courier New"/>
              </a:rPr>
              <a:t/>
            </a:r>
          </a:p>
          <a:p>
            <a:r>
              <a:rPr sz="1100">
                <a:solidFill>
                  <a:srgbClr val="CBD3F0"/>
                </a:solidFill>
                <a:latin typeface="Courier New"/>
              </a:rPr>
              <a:t># Diferencia vs escenario baseline:</a:t>
            </a:r>
          </a:p>
          <a:p>
            <a:r>
              <a:rPr sz="1100">
                <a:solidFill>
                  <a:srgbClr val="F9E2AF"/>
                </a:solidFill>
                <a:latin typeface="Courier New"/>
              </a:rPr>
              <a:t># baseline:  bash policies/remove-policies.sh</a:t>
            </a:r>
          </a:p>
          <a:p>
            <a:r>
              <a:rPr sz="1100">
                <a:solidFill>
                  <a:srgbClr val="CBD3F0"/>
                </a:solidFill>
                <a:latin typeface="Courier New"/>
              </a:rPr>
              <a:t>#            bash baseline/run-baseline-safe.sh</a:t>
            </a:r>
          </a:p>
          <a:p>
            <a:r>
              <a:rPr sz="1100">
                <a:solidFill>
                  <a:srgbClr val="CBD3F0"/>
                </a:solidFill>
                <a:latin typeface="Courier New"/>
              </a:rPr>
              <a:t>#            (sin lateral blocking test)</a:t>
            </a:r>
          </a:p>
          <a:p>
            <a:r>
              <a:rPr sz="1100">
                <a:solidFill>
                  <a:srgbClr val="CBD3F0"/>
                </a:solidFill>
                <a:latin typeface="Courier New"/>
              </a:rPr>
              <a:t/>
            </a:r>
          </a:p>
          <a:p>
            <a:r>
              <a:rPr sz="1100">
                <a:solidFill>
                  <a:srgbClr val="CBD3F0"/>
                </a:solidFill>
                <a:latin typeface="Courier New"/>
              </a:rPr>
              <a:t># Diferencia vs 02-mtls:</a:t>
            </a:r>
          </a:p>
          <a:p>
            <a:r>
              <a:rPr sz="1100">
                <a:solidFill>
                  <a:srgbClr val="F9E2AF"/>
                </a:solidFill>
                <a:latin typeface="Courier New"/>
              </a:rPr>
              <a:t># 02-mtls: install CLI + PeerAuthentication</a:t>
            </a:r>
          </a:p>
          <a:p>
            <a:r>
              <a:rPr sz="1100">
                <a:solidFill>
                  <a:srgbClr val="CBD3F0"/>
                </a:solidFill>
                <a:latin typeface="Courier New"/>
              </a:rPr>
              <a:t># 03-netpol: solo kubectl apply YAML</a:t>
            </a:r>
          </a:p>
          <a:p>
            <a:r>
              <a:rPr sz="1100">
                <a:solidFill>
                  <a:srgbClr val="CBD3F0"/>
                </a:solidFill>
                <a:latin typeface="Courier New"/>
              </a:rPr>
              <a:t># → mucho más simple, sin sidecars</a:t>
            </a:r>
          </a:p>
          <a:p>
            <a:r>
              <a:rPr sz="1100">
                <a:solidFill>
                  <a:srgbClr val="CBD3F0"/>
                </a:solidFill>
                <a:latin typeface="Courier New"/>
              </a:rPr>
              <a:t># → overhead esperado ≈ 0ms (kernel)</a:t>
            </a:r>
          </a:p>
        </p:txBody>
      </p:sp>
      <p:sp>
        <p:nvSpPr>
          <p:cNvPr id="8" name="Rectangle 7"/>
          <p:cNvSpPr/>
          <p:nvPr/>
        </p:nvSpPr>
        <p:spPr>
          <a:xfrm>
            <a:off x="8823960" y="1143000"/>
            <a:ext cx="283464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apply-policies — idempotente</a:t>
            </a:r>
          </a:p>
          <a:p>
            <a:r>
              <a:rPr sz="1000">
                <a:solidFill>
                  <a:srgbClr val="555555"/>
                </a:solidFill>
              </a:rPr>
              <a:t>kubectl apply es idempotente:
  Si las policies ya existen →
  las actualiza (no falla)
  Si no existen → las crea
Permite re-ejecutar el escenario
policies sin limpiar manualmente.
vs kubectl create:
  create falla si ya existe
  apply siempre tiene éxito
La propagación al CNI (iptables/eBPF)
es inmediata pero puede tardar ~1-2s
en nodos con muchos pods.</a:t>
            </a:r>
          </a:p>
        </p:txBody>
      </p:sp>
      <p:sp>
        <p:nvSpPr>
          <p:cNvPr id="9" name="Rectangle 8"/>
          <p:cNvSpPr/>
          <p:nvPr/>
        </p:nvSpPr>
        <p:spPr>
          <a:xfrm>
            <a:off x="11795760" y="1143000"/>
            <a:ext cx="283464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Puerto 30100 vs 31213</a:t>
            </a:r>
          </a:p>
          <a:p>
            <a:r>
              <a:rPr sz="1000">
                <a:solidFill>
                  <a:srgbClr val="555555"/>
                </a:solidFill>
              </a:rPr>
              <a:t>El experimento 03 usa puerto diferente:
  02-mtls:   TARGET_URL = :31213/api
             (gw-nginx NodePort)
  03-netpol: TARGET_URL = :30100/process
             (port-forward a svc/s0)
Razón: el experimento de NetworkPolicy
opera en el namespace default con la
app MuBench base (s0/s1/sdb1).
gw-nginx corre en mubench-realistic,
un namespace diferente sin las
NetworkPolicies del experimento.</a:t>
            </a:r>
          </a:p>
        </p:txBody>
      </p:sp>
      <p:sp>
        <p:nvSpPr>
          <p:cNvPr id="10" name="Rectangle 9"/>
          <p:cNvSpPr/>
          <p:nvPr/>
        </p:nvSpPr>
        <p:spPr>
          <a:xfrm>
            <a:off x="8823960" y="3383280"/>
            <a:ext cx="283464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Lateral blocking — 3er paso del escenario</a:t>
            </a:r>
          </a:p>
          <a:p>
            <a:r>
              <a:rPr sz="1000">
                <a:solidFill>
                  <a:srgbClr val="555555"/>
                </a:solidFill>
              </a:rPr>
              <a:t>test-lateral-blocking.sh es el ÚNICO
test de SEGURIDAD (no de rendimiento):
  No mide latencia ni throughput.
  Verifica que el control de acceso
  FUNCIONA correctamente.
Se ejecuta solo en el escenario policies
porque en baseline las policies
no están activas → bloqueado=false
sería el comportamiento esperado.
El resultado se guarda en:
  results/logs/lateral-blocking.log
con timestamp + http_code + blocked.</a:t>
            </a:r>
          </a:p>
        </p:txBody>
      </p:sp>
      <p:sp>
        <p:nvSpPr>
          <p:cNvPr id="11" name="Rectangle 10"/>
          <p:cNvSpPr/>
          <p:nvPr/>
        </p:nvSpPr>
        <p:spPr>
          <a:xfrm>
            <a:off x="11795760" y="3383280"/>
            <a:ext cx="283464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iptables vs eBPF — cómo se aplica NP</a:t>
            </a:r>
          </a:p>
          <a:p>
            <a:r>
              <a:rPr sz="1000">
                <a:solidFill>
                  <a:srgbClr val="555555"/>
                </a:solidFill>
              </a:rPr>
              <a:t>La implementación depende del CNI:
  Calico (microk8s default):
    → iptables chains por namespace
    → reglas ACCEPT/DROP por selector
    → overhead: ~0.1ms por regla
  Cilium:
    → eBPF programs en el kernel
    → lookup O(1) vs iptables O(n)
    → overhead prácticamente 0ms
En microk8s v1.32 con Calico:
  7 NetworkPolicy → ~30 reglas iptables
  overhead medido: &lt;1ms adicional.</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Análisis, autopilot y monitor — Control 3</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analyze-netpol-results.py (numpy/pandas) · run-control3-autopilot-safe.sh · monitor-control3.sh</a:t>
            </a:r>
          </a:p>
        </p:txBody>
      </p:sp>
      <p:sp>
        <p:nvSpPr>
          <p:cNvPr id="5" name="Rectangle 4"/>
          <p:cNvSpPr/>
          <p:nvPr/>
        </p:nvSpPr>
        <p:spPr>
          <a:xfrm>
            <a:off x="365760" y="1143000"/>
            <a:ext cx="5394960" cy="32461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analyze-netpol-results.py</a:t>
            </a:r>
          </a:p>
          <a:p>
            <a:r>
              <a:rPr sz="1100">
                <a:solidFill>
                  <a:srgbClr val="F9E2AF"/>
                </a:solidFill>
                <a:latin typeface="Courier New"/>
              </a:rPr>
              <a:t># args: --results-dir, --output-dir</a:t>
            </a:r>
          </a:p>
          <a:p>
            <a:r>
              <a:rPr sz="1100">
                <a:solidFill>
                  <a:srgbClr val="CBD3F0"/>
                </a:solidFill>
                <a:latin typeface="Courier New"/>
              </a:rPr>
              <a:t/>
            </a:r>
          </a:p>
          <a:p>
            <a:r>
              <a:rPr sz="1100">
                <a:solidFill>
                  <a:srgbClr val="CBD3F0"/>
                </a:solidFill>
                <a:latin typeface="Courier New"/>
              </a:rPr>
              <a:t>def load_points(path):  # NDJSON → lista</a:t>
            </a:r>
          </a:p>
          <a:p>
            <a:r>
              <a:rPr sz="1100">
                <a:solidFill>
                  <a:srgbClr val="F9E2AF"/>
                </a:solidFill>
                <a:latin typeface="Courier New"/>
              </a:rPr>
              <a:t>    for line in f:</a:t>
            </a:r>
          </a:p>
          <a:p>
            <a:r>
              <a:rPr sz="1100">
                <a:solidFill>
                  <a:srgbClr val="CBD3F0"/>
                </a:solidFill>
                <a:latin typeface="Courier New"/>
              </a:rPr>
              <a:t>        row = json.loads(line)</a:t>
            </a:r>
          </a:p>
          <a:p>
            <a:r>
              <a:rPr sz="1100">
                <a:solidFill>
                  <a:srgbClr val="CBD3F0"/>
                </a:solidFill>
                <a:latin typeface="Courier New"/>
              </a:rPr>
              <a:t>        if row.get('type') == 'Point':</a:t>
            </a:r>
          </a:p>
          <a:p>
            <a:r>
              <a:rPr sz="1100">
                <a:solidFill>
                  <a:srgbClr val="CBD3F0"/>
                </a:solidFill>
                <a:latin typeface="Courier New"/>
              </a:rPr>
              <a:t>            points.append(row)</a:t>
            </a:r>
          </a:p>
          <a:p>
            <a:r>
              <a:rPr sz="1100">
                <a:solidFill>
                  <a:srgbClr val="CBD3F0"/>
                </a:solidFill>
                <a:latin typeface="Courier New"/>
              </a:rPr>
              <a:t/>
            </a:r>
          </a:p>
          <a:p>
            <a:r>
              <a:rPr sz="1100">
                <a:solidFill>
                  <a:srgbClr val="CBD3F0"/>
                </a:solidFill>
                <a:latin typeface="Courier New"/>
              </a:rPr>
              <a:t>def extract_metric(points, metric):</a:t>
            </a:r>
          </a:p>
          <a:p>
            <a:r>
              <a:rPr sz="1100">
                <a:solidFill>
                  <a:srgbClr val="F9E2AF"/>
                </a:solidFill>
                <a:latin typeface="Courier New"/>
              </a:rPr>
              <a:t>    # extrae valores float del metric</a:t>
            </a:r>
          </a:p>
          <a:p>
            <a:r>
              <a:rPr sz="1100">
                <a:solidFill>
                  <a:srgbClr val="CBD3F0"/>
                </a:solidFill>
                <a:latin typeface="Courier New"/>
              </a:rPr>
              <a:t/>
            </a:r>
          </a:p>
          <a:p>
            <a:r>
              <a:rPr sz="1100">
                <a:solidFill>
                  <a:srgbClr val="CBD3F0"/>
                </a:solidFill>
                <a:latin typeface="Courier New"/>
              </a:rPr>
              <a:t>def scenario_from_file(name):  # basename parsing</a:t>
            </a:r>
          </a:p>
          <a:p>
            <a:r>
              <a:rPr sz="1100">
                <a:solidFill>
                  <a:srgbClr val="CBD3F0"/>
                </a:solidFill>
                <a:latin typeface="Courier New"/>
              </a:rPr>
              <a:t>    if name.startswith('baseline-'): return 'baseline'</a:t>
            </a:r>
          </a:p>
          <a:p>
            <a:r>
              <a:rPr sz="1100">
                <a:solidFill>
                  <a:srgbClr val="CBD3F0"/>
                </a:solidFill>
                <a:latin typeface="Courier New"/>
              </a:rPr>
              <a:t>    if name.startswith('policies-'): return 'policies'</a:t>
            </a:r>
          </a:p>
          <a:p>
            <a:r>
              <a:rPr sz="1100">
                <a:solidFill>
                  <a:srgbClr val="CBD3F0"/>
                </a:solidFill>
                <a:latin typeface="Courier New"/>
              </a:rPr>
              <a:t/>
            </a:r>
          </a:p>
          <a:p>
            <a:r>
              <a:rPr sz="1100">
                <a:solidFill>
                  <a:srgbClr val="CBD3F0"/>
                </a:solidFill>
                <a:latin typeface="Courier New"/>
              </a:rPr>
              <a:t># Construye DataFrame con numpy:</a:t>
            </a:r>
          </a:p>
          <a:p>
            <a:r>
              <a:rPr sz="1100">
                <a:solidFill>
                  <a:srgbClr val="F9E2AF"/>
                </a:solidFill>
                <a:latin typeface="Courier New"/>
              </a:rPr>
              <a:t>arr = np.array(lat)</a:t>
            </a:r>
          </a:p>
          <a:p>
            <a:r>
              <a:rPr sz="1100">
                <a:solidFill>
                  <a:srgbClr val="CBD3F0"/>
                </a:solidFill>
                <a:latin typeface="Courier New"/>
              </a:rPr>
              <a:t>rows.append({</a:t>
            </a:r>
          </a:p>
          <a:p>
            <a:r>
              <a:rPr sz="1100">
                <a:solidFill>
                  <a:srgbClr val="CBD3F0"/>
                </a:solidFill>
                <a:latin typeface="Courier New"/>
              </a:rPr>
              <a:t>    'scenario': scenario, 'vus': vus,</a:t>
            </a:r>
          </a:p>
          <a:p>
            <a:r>
              <a:rPr sz="1100">
                <a:solidFill>
                  <a:srgbClr val="CBD3F0"/>
                </a:solidFill>
                <a:latin typeface="Courier New"/>
              </a:rPr>
              <a:t>    'avg_ms': float(np.mean(arr)),</a:t>
            </a:r>
          </a:p>
          <a:p>
            <a:r>
              <a:rPr sz="1100">
                <a:solidFill>
                  <a:srgbClr val="CBD3F0"/>
                </a:solidFill>
                <a:latin typeface="Courier New"/>
              </a:rPr>
              <a:t>    'p95_ms': float(np.percentile(arr, 95)),</a:t>
            </a:r>
          </a:p>
          <a:p>
            <a:r>
              <a:rPr sz="1100">
                <a:solidFill>
                  <a:srgbClr val="CBD3F0"/>
                </a:solidFill>
                <a:latin typeface="Courier New"/>
              </a:rPr>
              <a:t>    'p99_ms': float(np.percentile(arr, 99)),</a:t>
            </a:r>
          </a:p>
          <a:p>
            <a:r>
              <a:rPr sz="1100">
                <a:solidFill>
                  <a:srgbClr val="CBD3F0"/>
                </a:solidFill>
                <a:latin typeface="Courier New"/>
              </a:rPr>
              <a:t>})</a:t>
            </a:r>
          </a:p>
          <a:p>
            <a:r>
              <a:rPr sz="1100">
                <a:solidFill>
                  <a:srgbClr val="CBD3F0"/>
                </a:solidFill>
                <a:latin typeface="Courier New"/>
              </a:rPr>
              <a:t/>
            </a:r>
          </a:p>
          <a:p>
            <a:r>
              <a:rPr sz="1100">
                <a:solidFill>
                  <a:srgbClr val="F9E2AF"/>
                </a:solidFill>
                <a:latin typeface="Courier New"/>
              </a:rPr>
              <a:t>df = pd.DataFrame(rows)</a:t>
            </a:r>
          </a:p>
          <a:p>
            <a:r>
              <a:rPr sz="1100">
                <a:solidFill>
                  <a:srgbClr val="CBD3F0"/>
                </a:solidFill>
                <a:latin typeface="Courier New"/>
              </a:rPr>
              <a:t>df.to_csv('netpol_summary.csv')</a:t>
            </a:r>
          </a:p>
          <a:p>
            <a:r>
              <a:rPr sz="1100">
                <a:solidFill>
                  <a:srgbClr val="CBD3F0"/>
                </a:solidFill>
                <a:latin typeface="Courier New"/>
              </a:rPr>
              <a:t/>
            </a:r>
          </a:p>
          <a:p>
            <a:r>
              <a:rPr sz="1100">
                <a:solidFill>
                  <a:srgbClr val="CBD3F0"/>
                </a:solidFill>
                <a:latin typeface="Courier New"/>
              </a:rPr>
              <a:t>pivot = grouped.pivot(index='vus',</a:t>
            </a:r>
          </a:p>
          <a:p>
            <a:r>
              <a:rPr sz="1100">
                <a:solidFill>
                  <a:srgbClr val="F9E2AF"/>
                </a:solidFill>
                <a:latin typeface="Courier New"/>
              </a:rPr>
              <a:t>    columns='scenario', values='p95_ms')</a:t>
            </a:r>
          </a:p>
          <a:p>
            <a:r>
              <a:rPr sz="1100">
                <a:solidFill>
                  <a:srgbClr val="CBD3F0"/>
                </a:solidFill>
                <a:latin typeface="Courier New"/>
              </a:rPr>
              <a:t>plt.plot(pivot.index, pivot[col], marker='o')</a:t>
            </a:r>
          </a:p>
          <a:p>
            <a:r>
              <a:rPr sz="1100">
                <a:solidFill>
                  <a:srgbClr val="CBD3F0"/>
                </a:solidFill>
                <a:latin typeface="Courier New"/>
              </a:rPr>
              <a:t>plt.savefig('netpol_p95_comparison.png', dpi=250)</a:t>
            </a:r>
          </a:p>
        </p:txBody>
      </p:sp>
      <p:sp>
        <p:nvSpPr>
          <p:cNvPr id="6" name="Rectangle 5"/>
          <p:cNvSpPr/>
          <p:nvPr/>
        </p:nvSpPr>
        <p:spPr>
          <a:xfrm>
            <a:off x="365760" y="4526280"/>
            <a:ext cx="5394960" cy="21945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run-control3-autopilot-safe.sh — simplificado vs control2</a:t>
            </a:r>
          </a:p>
          <a:p>
            <a:r>
              <a:rPr sz="1100">
                <a:solidFill>
                  <a:srgbClr val="F9E2AF"/>
                </a:solidFill>
                <a:latin typeface="Courier New"/>
              </a:rPr>
              <a:t>LOCK_FILE='results/.control3.lock'</a:t>
            </a:r>
          </a:p>
          <a:p>
            <a:r>
              <a:rPr sz="1100">
                <a:solidFill>
                  <a:srgbClr val="CBD3F0"/>
                </a:solidFill>
                <a:latin typeface="Courier New"/>
              </a:rPr>
              <a:t>exec &gt;&gt; '$LOG_FILE' 2&gt;&amp;1</a:t>
            </a:r>
          </a:p>
          <a:p>
            <a:r>
              <a:rPr sz="1100">
                <a:solidFill>
                  <a:srgbClr val="CBD3F0"/>
                </a:solidFill>
                <a:latin typeface="Courier New"/>
              </a:rPr>
              <a:t>if [[ -f '$LOCK_FILE' ]]; then exit 1; fi</a:t>
            </a:r>
          </a:p>
          <a:p>
            <a:r>
              <a:rPr sz="1100">
                <a:solidFill>
                  <a:srgbClr val="CBD3F0"/>
                </a:solidFill>
                <a:latin typeface="Courier New"/>
              </a:rPr>
              <a:t>trap 'rm -f $LOCK_FILE' EXIT</a:t>
            </a:r>
          </a:p>
          <a:p>
            <a:r>
              <a:rPr sz="1100">
                <a:solidFill>
                  <a:srgbClr val="CBD3F0"/>
                </a:solidFill>
                <a:latin typeface="Courier New"/>
              </a:rPr>
              <a:t>printf '%s\n' '$$' &gt; '$LOCK_FILE'</a:t>
            </a:r>
          </a:p>
          <a:p>
            <a:r>
              <a:rPr sz="1100">
                <a:solidFill>
                  <a:srgbClr val="CBD3F0"/>
                </a:solidFill>
                <a:latin typeface="Courier New"/>
              </a:rPr>
              <a:t/>
            </a:r>
          </a:p>
          <a:p>
            <a:r>
              <a:rPr sz="1100">
                <a:solidFill>
                  <a:srgbClr val="CBD3F0"/>
                </a:solidFill>
                <a:latin typeface="Courier New"/>
              </a:rPr>
              <a:t># NO tiene wait_for_existing_runs (vs control2)</a:t>
            </a:r>
          </a:p>
          <a:p>
            <a:r>
              <a:rPr sz="1100">
                <a:solidFill>
                  <a:srgbClr val="F9E2AF"/>
                </a:solidFill>
                <a:latin typeface="Courier New"/>
              </a:rPr>
              <a:t># NO tiene has_cmd (solo 2 escenarios fijos)</a:t>
            </a:r>
          </a:p>
          <a:p>
            <a:r>
              <a:rPr sz="1100">
                <a:solidFill>
                  <a:srgbClr val="CBD3F0"/>
                </a:solidFill>
                <a:latin typeface="Courier New"/>
              </a:rPr>
              <a:t/>
            </a:r>
          </a:p>
          <a:p>
            <a:r>
              <a:rPr sz="1100">
                <a:solidFill>
                  <a:srgbClr val="CBD3F0"/>
                </a:solidFill>
                <a:latin typeface="Courier New"/>
              </a:rPr>
              <a:t>base_count=$(ls results/baseline/*.json | wc -l)</a:t>
            </a:r>
          </a:p>
          <a:p>
            <a:r>
              <a:rPr sz="1100">
                <a:solidFill>
                  <a:srgbClr val="F9E2AF"/>
                </a:solidFill>
                <a:latin typeface="Courier New"/>
              </a:rPr>
              <a:t>if (( base_count &lt; 9 )); then</a:t>
            </a:r>
          </a:p>
          <a:p>
            <a:r>
              <a:rPr sz="1100">
                <a:solidFill>
                  <a:srgbClr val="CBD3F0"/>
                </a:solidFill>
                <a:latin typeface="Courier New"/>
              </a:rPr>
              <a:t>  bash run-control3-safe.sh --scenario baseline</a:t>
            </a:r>
          </a:p>
          <a:p>
            <a:r>
              <a:rPr sz="1100">
                <a:solidFill>
                  <a:srgbClr val="CBD3F0"/>
                </a:solidFill>
                <a:latin typeface="Courier New"/>
              </a:rPr>
              <a:t>fi</a:t>
            </a:r>
          </a:p>
          <a:p>
            <a:r>
              <a:rPr sz="1100">
                <a:solidFill>
                  <a:srgbClr val="CBD3F0"/>
                </a:solidFill>
                <a:latin typeface="Courier New"/>
              </a:rPr>
              <a:t/>
            </a:r>
          </a:p>
          <a:p>
            <a:r>
              <a:rPr sz="1100">
                <a:solidFill>
                  <a:srgbClr val="CBD3F0"/>
                </a:solidFill>
                <a:latin typeface="Courier New"/>
              </a:rPr>
              <a:t>pol_count=$(ls results/policies/*.json | wc -l)</a:t>
            </a:r>
          </a:p>
          <a:p>
            <a:r>
              <a:rPr sz="1100">
                <a:solidFill>
                  <a:srgbClr val="F9E2AF"/>
                </a:solidFill>
                <a:latin typeface="Courier New"/>
              </a:rPr>
              <a:t>if (( pol_count &lt; 9 )); then</a:t>
            </a:r>
          </a:p>
          <a:p>
            <a:r>
              <a:rPr sz="1100">
                <a:solidFill>
                  <a:srgbClr val="CBD3F0"/>
                </a:solidFill>
                <a:latin typeface="Courier New"/>
              </a:rPr>
              <a:t>  bash run-control3-safe.sh --scenario policies</a:t>
            </a:r>
          </a:p>
          <a:p>
            <a:r>
              <a:rPr sz="1100">
                <a:solidFill>
                  <a:srgbClr val="CBD3F0"/>
                </a:solidFill>
                <a:latin typeface="Courier New"/>
              </a:rPr>
              <a:t>fi</a:t>
            </a:r>
          </a:p>
          <a:p>
            <a:r>
              <a:rPr sz="1100">
                <a:solidFill>
                  <a:srgbClr val="CBD3F0"/>
                </a:solidFill>
                <a:latin typeface="Courier New"/>
              </a:rPr>
              <a:t/>
            </a:r>
          </a:p>
          <a:p>
            <a:r>
              <a:rPr sz="1100">
                <a:solidFill>
                  <a:srgbClr val="CBD3F0"/>
                </a:solidFill>
                <a:latin typeface="Courier New"/>
              </a:rPr>
              <a:t># Análisis siempre al final (sin check de total)</a:t>
            </a:r>
          </a:p>
          <a:p>
            <a:r>
              <a:rPr sz="1100">
                <a:solidFill>
                  <a:srgbClr val="F9E2AF"/>
                </a:solidFill>
                <a:latin typeface="Courier New"/>
              </a:rPr>
              <a:t>python3 analysis/analyze-netpol-results.py \</a:t>
            </a:r>
          </a:p>
          <a:p>
            <a:r>
              <a:rPr sz="1100">
                <a:solidFill>
                  <a:srgbClr val="CBD3F0"/>
                </a:solidFill>
                <a:latin typeface="Courier New"/>
              </a:rPr>
              <a:t>  --results-dir results --output-dir analysis/output-final</a:t>
            </a:r>
          </a:p>
        </p:txBody>
      </p:sp>
      <p:sp>
        <p:nvSpPr>
          <p:cNvPr id="7" name="Rectangle 6"/>
          <p:cNvSpPr/>
          <p:nvPr/>
        </p:nvSpPr>
        <p:spPr>
          <a:xfrm>
            <a:off x="5897880" y="1143000"/>
            <a:ext cx="2926080" cy="21945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glob recursivo — lee baseline y policies</a:t>
            </a:r>
          </a:p>
          <a:p>
            <a:r>
              <a:rPr sz="1000">
                <a:solidFill>
                  <a:srgbClr val="555555"/>
                </a:solidFill>
              </a:rPr>
              <a:t>El análisis busca TODOS los JSON:
  glob('results/**/*.json', recursive=True)
Esto encuentra:
  results/baseline/baseline-vus5-rep1.json
  results/policies/policies-vus5-rep1.json
El scenario se infiere del basename:
  'baseline-' → escenario baseline
  'policies-' → escenario policies
Un archivo con nombre inesperado →
scenario='unknown' → se omite del
análisis sin error.</a:t>
            </a:r>
          </a:p>
        </p:txBody>
      </p:sp>
      <p:sp>
        <p:nvSpPr>
          <p:cNvPr id="8" name="Rectangle 7"/>
          <p:cNvSpPr/>
          <p:nvPr/>
        </p:nvSpPr>
        <p:spPr>
          <a:xfrm>
            <a:off x="8961120" y="1143000"/>
            <a:ext cx="2926080" cy="21945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3 artefactos de salida</a:t>
            </a:r>
          </a:p>
          <a:p>
            <a:r>
              <a:rPr sz="1000">
                <a:solidFill>
                  <a:srgbClr val="555555"/>
                </a:solidFill>
              </a:rPr>
              <a:t>analysis/output-final/:
1. netpol_summary.csv
   scenario, vus, file, avg_ms, p95_ms, p99_ms
   (uno por archivo JSON)
2. netpol_p95_comparison.png
   Línea P95 vs VUs
   baseline (azul) vs policies (naranja)
   dpi=250, 8×5 inches
3. netpol_report.md
   Tabla Markdown del DataFrame agrupado
   + ruta a CSV y PNG</a:t>
            </a:r>
          </a:p>
        </p:txBody>
      </p:sp>
      <p:sp>
        <p:nvSpPr>
          <p:cNvPr id="9" name="Rectangle 8"/>
          <p:cNvSpPr/>
          <p:nvPr/>
        </p:nvSpPr>
        <p:spPr>
          <a:xfrm>
            <a:off x="5897880" y="3474720"/>
            <a:ext cx="2926080" cy="21945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Autopilot C3 vs C2 — diferencias</a:t>
            </a:r>
          </a:p>
          <a:p>
            <a:r>
              <a:rPr sz="1000">
                <a:solidFill>
                  <a:srgbClr val="555555"/>
                </a:solidFill>
              </a:rPr>
              <a:t>Control3 es más simple que Control2:
  C2 tiene:         C3 NO tiene:
  wait_for_runs()   (no lo necesita,
  has_cmd()          solo 2 escenarios
  run_safely()       conocidos y fijos)
  bash -lc (login)   bash directo
C3 llama análisis SIEMPRE al final
sin verificar total de JSONs.
C2 necesitaba has_cmd porque Istio
y Linkerd requieren CLIs opcionales.
C3 solo usa kubectl (siempre presente).</a:t>
            </a:r>
          </a:p>
        </p:txBody>
      </p:sp>
      <p:sp>
        <p:nvSpPr>
          <p:cNvPr id="10" name="Rectangle 9"/>
          <p:cNvSpPr/>
          <p:nvPr/>
        </p:nvSpPr>
        <p:spPr>
          <a:xfrm>
            <a:off x="8961120" y="3474720"/>
            <a:ext cx="2926080" cy="21945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monitor-control3.sh</a:t>
            </a:r>
          </a:p>
          <a:p>
            <a:r>
              <a:rPr sz="1000">
                <a:solidFill>
                  <a:srgbClr val="555555"/>
                </a:solidFill>
              </a:rPr>
              <a:t>Estado en tiempo real:
  pgrep -af 'run-control3-*.sh|k6 run'
  → procesos activos
  for s in baseline policies:
    ls results/$s/*.json | wc -l
  → baseline: X / policies: X
  tail -n 12 logs/control3-autopilot.log
  → últimas líneas del autopilot
Diferencia vs monitor-control2:
  C2 usa tail -n 8 (más corto)
  C3 usa tail -n 12 (más contexto)
  C3 no muestra el baseline-run.log
  separado (todo va al autopilot.log)</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Experiments / 03-network-policies-realistic</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NetworkPolicies en namespace mubench-realistic · 8 policies + Istio · gw-nginx NodePort :31213 · HTTP GET /api · sin autopilot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03-network-policies-realistic — NetworkPolicies en mubench-realistic</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Namespace mubench-realistic · 8 policies · gw-nginx entry NodePort :31213 · HTTP GET /api · sin autopilot ni análisis Python</a:t>
            </a:r>
          </a:p>
        </p:txBody>
      </p:sp>
      <p:sp>
        <p:nvSpPr>
          <p:cNvPr id="5" name="Rectangle 4"/>
          <p:cNvSpPr/>
          <p:nvPr/>
        </p:nvSpPr>
        <p:spPr>
          <a:xfrm>
            <a:off x="365760" y="1143000"/>
            <a:ext cx="5577840" cy="41148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run-exp03-realistic.sh — runner único (sin dispatcher)</a:t>
            </a:r>
          </a:p>
          <a:p>
            <a:r>
              <a:rPr sz="1100">
                <a:solidFill>
                  <a:srgbClr val="F9E2AF"/>
                </a:solidFill>
                <a:latin typeface="Courier New"/>
              </a:rPr>
              <a:t># Ejecución directa: cd /muBench &amp;&amp; bash experiments/03-.../run-exp03-realistic.sh</a:t>
            </a:r>
          </a:p>
          <a:p>
            <a:r>
              <a:rPr sz="1100">
                <a:solidFill>
                  <a:srgbClr val="CBD3F0"/>
                </a:solidFill>
                <a:latin typeface="Courier New"/>
              </a:rPr>
              <a:t/>
            </a:r>
          </a:p>
          <a:p>
            <a:r>
              <a:rPr sz="1100">
                <a:solidFill>
                  <a:srgbClr val="CBD3F0"/>
                </a:solidFill>
                <a:latin typeface="Courier New"/>
              </a:rPr>
              <a:t>URL='http://localhost:31213'  # NodePort gw-nginx mubench-realistic</a:t>
            </a:r>
          </a:p>
          <a:p>
            <a:r>
              <a:rPr sz="1100">
                <a:solidFill>
                  <a:srgbClr val="F9E2AF"/>
                </a:solidFill>
                <a:latin typeface="Courier New"/>
              </a:rPr>
              <a:t/>
            </a:r>
          </a:p>
          <a:p>
            <a:r>
              <a:rPr sz="1100">
                <a:solidFill>
                  <a:srgbClr val="CBD3F0"/>
                </a:solidFill>
                <a:latin typeface="Courier New"/>
              </a:rPr>
              <a:t># 1. BASELINE (sin policies)</a:t>
            </a:r>
          </a:p>
          <a:p>
            <a:r>
              <a:rPr sz="1100">
                <a:solidFill>
                  <a:srgbClr val="CBD3F0"/>
                </a:solidFill>
                <a:latin typeface="Courier New"/>
              </a:rPr>
              <a:t>for vus in 5 10 20; do</a:t>
            </a:r>
          </a:p>
          <a:p>
            <a:r>
              <a:rPr sz="1100">
                <a:solidFill>
                  <a:srgbClr val="CBD3F0"/>
                </a:solidFill>
                <a:latin typeface="Courier New"/>
              </a:rPr>
              <a:t>  for rep in 1 2 3; do</a:t>
            </a:r>
          </a:p>
          <a:p>
            <a:r>
              <a:rPr sz="1100">
                <a:solidFill>
                  <a:srgbClr val="CBD3F0"/>
                </a:solidFill>
                <a:latin typeface="Courier New"/>
              </a:rPr>
              <a:t>    k6 run -e TARGET_URL=$URL -e VUS=$vus -e DURATION=60s \</a:t>
            </a:r>
          </a:p>
          <a:p>
            <a:r>
              <a:rPr sz="1100">
                <a:solidFill>
                  <a:srgbClr val="CBD3F0"/>
                </a:solidFill>
                <a:latin typeface="Courier New"/>
              </a:rPr>
              <a:t>      --out json=baseline/results/baseline-vus${vus}-rep${rep}.json \</a:t>
            </a:r>
          </a:p>
          <a:p>
            <a:r>
              <a:rPr sz="1100">
                <a:solidFill>
                  <a:srgbClr val="CBD3F0"/>
                </a:solidFill>
                <a:latin typeface="Courier New"/>
              </a:rPr>
              <a:t>      tests/test-baseline.js</a:t>
            </a:r>
          </a:p>
          <a:p>
            <a:r>
              <a:rPr sz="1100">
                <a:solidFill>
                  <a:srgbClr val="CBD3F0"/>
                </a:solidFill>
                <a:latin typeface="Courier New"/>
              </a:rPr>
              <a:t>    sleep 10</a:t>
            </a:r>
          </a:p>
          <a:p>
            <a:r>
              <a:rPr sz="1100">
                <a:solidFill>
                  <a:srgbClr val="CBD3F0"/>
                </a:solidFill>
                <a:latin typeface="Courier New"/>
              </a:rPr>
              <a:t>  done</a:t>
            </a:r>
          </a:p>
          <a:p>
            <a:r>
              <a:rPr sz="1100">
                <a:solidFill>
                  <a:srgbClr val="CBD3F0"/>
                </a:solidFill>
                <a:latin typeface="Courier New"/>
              </a:rPr>
              <a:t>done</a:t>
            </a:r>
          </a:p>
          <a:p>
            <a:r>
              <a:rPr sz="1100">
                <a:solidFill>
                  <a:srgbClr val="CBD3F0"/>
                </a:solidFill>
                <a:latin typeface="Courier New"/>
              </a:rPr>
              <a:t/>
            </a:r>
          </a:p>
          <a:p>
            <a:r>
              <a:rPr sz="1100">
                <a:solidFill>
                  <a:srgbClr val="F9E2AF"/>
                </a:solidFill>
                <a:latin typeface="Courier New"/>
              </a:rPr>
              <a:t># 2. POLICIES (apply + wait 10s + verify + tests)</a:t>
            </a:r>
          </a:p>
          <a:p>
            <a:r>
              <a:rPr sz="1100">
                <a:solidFill>
                  <a:srgbClr val="F9E2AF"/>
                </a:solidFill>
                <a:latin typeface="Courier New"/>
              </a:rPr>
              <a:t>kubectl apply -f manifests/networkpolicies.yaml</a:t>
            </a:r>
          </a:p>
          <a:p>
            <a:r>
              <a:rPr sz="1100">
                <a:solidFill>
                  <a:srgbClr val="F9E2AF"/>
                </a:solidFill>
                <a:latin typeface="Courier New"/>
              </a:rPr>
              <a:t>sleep 10</a:t>
            </a:r>
          </a:p>
          <a:p>
            <a:r>
              <a:rPr sz="1100">
                <a:solidFill>
                  <a:srgbClr val="CBD3F0"/>
                </a:solidFill>
                <a:latin typeface="Courier New"/>
              </a:rPr>
              <a:t>STATUS=$(curl -s -o /dev/null -w '%{http_code}' $URL/api)</a:t>
            </a:r>
          </a:p>
          <a:p>
            <a:r>
              <a:rPr sz="1100">
                <a:solidFill>
                  <a:srgbClr val="CBD3F0"/>
                </a:solidFill>
                <a:latin typeface="Courier New"/>
              </a:rPr>
              <a:t># [WARN] si STATUS != 200 las policies bloquean el entry point</a:t>
            </a:r>
          </a:p>
          <a:p>
            <a:r>
              <a:rPr sz="1100">
                <a:solidFill>
                  <a:srgbClr val="CBD3F0"/>
                </a:solidFill>
                <a:latin typeface="Courier New"/>
              </a:rPr>
              <a:t/>
            </a:r>
          </a:p>
          <a:p>
            <a:r>
              <a:rPr sz="1100">
                <a:solidFill>
                  <a:srgbClr val="CBD3F0"/>
                </a:solidFill>
                <a:latin typeface="Courier New"/>
              </a:rPr>
              <a:t>for vus in 5 10 20; do</a:t>
            </a:r>
          </a:p>
          <a:p>
            <a:r>
              <a:rPr sz="1100">
                <a:solidFill>
                  <a:srgbClr val="CBD3F0"/>
                </a:solidFill>
                <a:latin typeface="Courier New"/>
              </a:rPr>
              <a:t>  for rep in 1 2 3; do</a:t>
            </a:r>
          </a:p>
          <a:p>
            <a:r>
              <a:rPr sz="1100">
                <a:solidFill>
                  <a:srgbClr val="CBD3F0"/>
                </a:solidFill>
                <a:latin typeface="Courier New"/>
              </a:rPr>
              <a:t>    k6 run -e TARGET_URL=$URL -e VUS=$vus -e DURATION=60s \</a:t>
            </a:r>
          </a:p>
          <a:p>
            <a:r>
              <a:rPr sz="1100">
                <a:solidFill>
                  <a:srgbClr val="CBD3F0"/>
                </a:solidFill>
                <a:latin typeface="Courier New"/>
              </a:rPr>
              <a:t>      --out json=policies/results/policies-vus${vus}-rep${rep}.json \</a:t>
            </a:r>
          </a:p>
          <a:p>
            <a:r>
              <a:rPr sz="1100">
                <a:solidFill>
                  <a:srgbClr val="CBD3F0"/>
                </a:solidFill>
                <a:latin typeface="Courier New"/>
              </a:rPr>
              <a:t>      tests/test-policies.js</a:t>
            </a:r>
          </a:p>
          <a:p>
            <a:r>
              <a:rPr sz="1100">
                <a:solidFill>
                  <a:srgbClr val="CBD3F0"/>
                </a:solidFill>
                <a:latin typeface="Courier New"/>
              </a:rPr>
              <a:t>    sleep 10</a:t>
            </a:r>
          </a:p>
          <a:p>
            <a:r>
              <a:rPr sz="1100">
                <a:solidFill>
                  <a:srgbClr val="CBD3F0"/>
                </a:solidFill>
                <a:latin typeface="Courier New"/>
              </a:rPr>
              <a:t>  done</a:t>
            </a:r>
          </a:p>
          <a:p>
            <a:r>
              <a:rPr sz="1100">
                <a:solidFill>
                  <a:srgbClr val="CBD3F0"/>
                </a:solidFill>
                <a:latin typeface="Courier New"/>
              </a:rPr>
              <a:t>done</a:t>
            </a:r>
          </a:p>
          <a:p>
            <a:r>
              <a:rPr sz="1100">
                <a:solidFill>
                  <a:srgbClr val="CBD3F0"/>
                </a:solidFill>
                <a:latin typeface="Courier New"/>
              </a:rPr>
              <a:t/>
            </a:r>
          </a:p>
          <a:p>
            <a:r>
              <a:rPr sz="1100">
                <a:solidFill>
                  <a:srgbClr val="F9E2AF"/>
                </a:solidFill>
                <a:latin typeface="Courier New"/>
              </a:rPr>
              <a:t># trap cleanup EXIT → delete 8 NetworkPolicies al salir</a:t>
            </a:r>
          </a:p>
        </p:txBody>
      </p:sp>
      <p:sp>
        <p:nvSpPr>
          <p:cNvPr id="6" name="Rectangle 5"/>
          <p:cNvSpPr/>
          <p:nvPr/>
        </p:nvSpPr>
        <p:spPr>
          <a:xfrm>
            <a:off x="365760" y="5349240"/>
            <a:ext cx="2011680" cy="31089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Aspecto</a:t>
            </a:r>
          </a:p>
        </p:txBody>
      </p:sp>
      <p:sp>
        <p:nvSpPr>
          <p:cNvPr id="7" name="Rectangle 6"/>
          <p:cNvSpPr/>
          <p:nvPr/>
        </p:nvSpPr>
        <p:spPr>
          <a:xfrm>
            <a:off x="2377440" y="5349240"/>
            <a:ext cx="2514600" cy="31089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03-network-policies</a:t>
            </a:r>
          </a:p>
        </p:txBody>
      </p:sp>
      <p:sp>
        <p:nvSpPr>
          <p:cNvPr id="8" name="Rectangle 7"/>
          <p:cNvSpPr/>
          <p:nvPr/>
        </p:nvSpPr>
        <p:spPr>
          <a:xfrm>
            <a:off x="4892040" y="5349240"/>
            <a:ext cx="2514600" cy="31089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03-netpol-realistic</a:t>
            </a:r>
          </a:p>
        </p:txBody>
      </p:sp>
      <p:sp>
        <p:nvSpPr>
          <p:cNvPr id="9" name="Rectangle 8"/>
          <p:cNvSpPr/>
          <p:nvPr/>
        </p:nvSpPr>
        <p:spPr>
          <a:xfrm>
            <a:off x="365760" y="5660136"/>
            <a:ext cx="2011680" cy="283464"/>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Namespace</a:t>
            </a:r>
          </a:p>
        </p:txBody>
      </p:sp>
      <p:sp>
        <p:nvSpPr>
          <p:cNvPr id="10" name="Rectangle 9"/>
          <p:cNvSpPr/>
          <p:nvPr/>
        </p:nvSpPr>
        <p:spPr>
          <a:xfrm>
            <a:off x="2377440" y="5660136"/>
            <a:ext cx="2514600" cy="283464"/>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default</a:t>
            </a:r>
          </a:p>
        </p:txBody>
      </p:sp>
      <p:sp>
        <p:nvSpPr>
          <p:cNvPr id="11" name="Rectangle 10"/>
          <p:cNvSpPr/>
          <p:nvPr/>
        </p:nvSpPr>
        <p:spPr>
          <a:xfrm>
            <a:off x="4892040" y="5660136"/>
            <a:ext cx="2514600" cy="283464"/>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mubench-realistic</a:t>
            </a:r>
          </a:p>
        </p:txBody>
      </p:sp>
      <p:sp>
        <p:nvSpPr>
          <p:cNvPr id="12" name="Rectangle 11"/>
          <p:cNvSpPr/>
          <p:nvPr/>
        </p:nvSpPr>
        <p:spPr>
          <a:xfrm>
            <a:off x="365760" y="5943600"/>
            <a:ext cx="2011680" cy="283464"/>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Servicios</a:t>
            </a:r>
          </a:p>
        </p:txBody>
      </p:sp>
      <p:sp>
        <p:nvSpPr>
          <p:cNvPr id="13" name="Rectangle 12"/>
          <p:cNvSpPr/>
          <p:nvPr/>
        </p:nvSpPr>
        <p:spPr>
          <a:xfrm>
            <a:off x="2377440" y="5943600"/>
            <a:ext cx="2514600" cy="283464"/>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s0, s1, sdb1 (sintéticos)</a:t>
            </a:r>
          </a:p>
        </p:txBody>
      </p:sp>
      <p:sp>
        <p:nvSpPr>
          <p:cNvPr id="14" name="Rectangle 13"/>
          <p:cNvSpPr/>
          <p:nvPr/>
        </p:nvSpPr>
        <p:spPr>
          <a:xfrm>
            <a:off x="4892040" y="5943600"/>
            <a:ext cx="2514600" cy="283464"/>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api, auth, sdb-data, gw-nginx</a:t>
            </a:r>
          </a:p>
        </p:txBody>
      </p:sp>
      <p:sp>
        <p:nvSpPr>
          <p:cNvPr id="15" name="Rectangle 14"/>
          <p:cNvSpPr/>
          <p:nvPr/>
        </p:nvSpPr>
        <p:spPr>
          <a:xfrm>
            <a:off x="365760" y="6227064"/>
            <a:ext cx="2011680" cy="283464"/>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Entry point</a:t>
            </a:r>
          </a:p>
        </p:txBody>
      </p:sp>
      <p:sp>
        <p:nvSpPr>
          <p:cNvPr id="16" name="Rectangle 15"/>
          <p:cNvSpPr/>
          <p:nvPr/>
        </p:nvSpPr>
        <p:spPr>
          <a:xfrm>
            <a:off x="2377440" y="6227064"/>
            <a:ext cx="2514600" cy="283464"/>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:30100/process (port-fwd)</a:t>
            </a:r>
          </a:p>
        </p:txBody>
      </p:sp>
      <p:sp>
        <p:nvSpPr>
          <p:cNvPr id="17" name="Rectangle 16"/>
          <p:cNvSpPr/>
          <p:nvPr/>
        </p:nvSpPr>
        <p:spPr>
          <a:xfrm>
            <a:off x="4892040" y="6227064"/>
            <a:ext cx="2514600" cy="283464"/>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:31213/api (NodePort REAL)</a:t>
            </a:r>
          </a:p>
        </p:txBody>
      </p:sp>
      <p:sp>
        <p:nvSpPr>
          <p:cNvPr id="18" name="Rectangle 17"/>
          <p:cNvSpPr/>
          <p:nvPr/>
        </p:nvSpPr>
        <p:spPr>
          <a:xfrm>
            <a:off x="365760" y="6510528"/>
            <a:ext cx="2011680" cy="283464"/>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Protocolo test</a:t>
            </a:r>
          </a:p>
        </p:txBody>
      </p:sp>
      <p:sp>
        <p:nvSpPr>
          <p:cNvPr id="19" name="Rectangle 18"/>
          <p:cNvSpPr/>
          <p:nvPr/>
        </p:nvSpPr>
        <p:spPr>
          <a:xfrm>
            <a:off x="2377440" y="6510528"/>
            <a:ext cx="2514600" cy="283464"/>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POST /process</a:t>
            </a:r>
          </a:p>
        </p:txBody>
      </p:sp>
      <p:sp>
        <p:nvSpPr>
          <p:cNvPr id="20" name="Rectangle 19"/>
          <p:cNvSpPr/>
          <p:nvPr/>
        </p:nvSpPr>
        <p:spPr>
          <a:xfrm>
            <a:off x="4892040" y="6510528"/>
            <a:ext cx="2514600" cy="283464"/>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GET /api</a:t>
            </a:r>
          </a:p>
        </p:txBody>
      </p:sp>
      <p:sp>
        <p:nvSpPr>
          <p:cNvPr id="21" name="Rectangle 20"/>
          <p:cNvSpPr/>
          <p:nvPr/>
        </p:nvSpPr>
        <p:spPr>
          <a:xfrm>
            <a:off x="365760" y="6793992"/>
            <a:ext cx="2011680" cy="283464"/>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N° policies</a:t>
            </a:r>
          </a:p>
        </p:txBody>
      </p:sp>
      <p:sp>
        <p:nvSpPr>
          <p:cNvPr id="22" name="Rectangle 21"/>
          <p:cNvSpPr/>
          <p:nvPr/>
        </p:nvSpPr>
        <p:spPr>
          <a:xfrm>
            <a:off x="2377440" y="6793992"/>
            <a:ext cx="2514600" cy="283464"/>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7 NetworkPolicy</a:t>
            </a:r>
          </a:p>
        </p:txBody>
      </p:sp>
      <p:sp>
        <p:nvSpPr>
          <p:cNvPr id="23" name="Rectangle 22"/>
          <p:cNvSpPr/>
          <p:nvPr/>
        </p:nvSpPr>
        <p:spPr>
          <a:xfrm>
            <a:off x="4892040" y="6793992"/>
            <a:ext cx="2514600" cy="283464"/>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8 NetworkPolicy</a:t>
            </a:r>
          </a:p>
        </p:txBody>
      </p:sp>
      <p:sp>
        <p:nvSpPr>
          <p:cNvPr id="24" name="Rectangle 23"/>
          <p:cNvSpPr/>
          <p:nvPr/>
        </p:nvSpPr>
        <p:spPr>
          <a:xfrm>
            <a:off x="365760" y="7077456"/>
            <a:ext cx="2011680" cy="283464"/>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Istio aware</a:t>
            </a:r>
          </a:p>
        </p:txBody>
      </p:sp>
      <p:sp>
        <p:nvSpPr>
          <p:cNvPr id="25" name="Rectangle 24"/>
          <p:cNvSpPr/>
          <p:nvPr/>
        </p:nvSpPr>
        <p:spPr>
          <a:xfrm>
            <a:off x="2377440" y="7077456"/>
            <a:ext cx="2514600" cy="283464"/>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NO</a:t>
            </a:r>
          </a:p>
        </p:txBody>
      </p:sp>
      <p:sp>
        <p:nvSpPr>
          <p:cNvPr id="26" name="Rectangle 25"/>
          <p:cNvSpPr/>
          <p:nvPr/>
        </p:nvSpPr>
        <p:spPr>
          <a:xfrm>
            <a:off x="4892040" y="7077456"/>
            <a:ext cx="2514600" cy="283464"/>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SÍ — policy #7 istio-system</a:t>
            </a:r>
          </a:p>
        </p:txBody>
      </p:sp>
      <p:sp>
        <p:nvSpPr>
          <p:cNvPr id="27" name="Rectangle 26"/>
          <p:cNvSpPr/>
          <p:nvPr/>
        </p:nvSpPr>
        <p:spPr>
          <a:xfrm>
            <a:off x="365760" y="7360920"/>
            <a:ext cx="2011680" cy="283464"/>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DNS policy</a:t>
            </a:r>
          </a:p>
        </p:txBody>
      </p:sp>
      <p:sp>
        <p:nvSpPr>
          <p:cNvPr id="28" name="Rectangle 27"/>
          <p:cNvSpPr/>
          <p:nvPr/>
        </p:nvSpPr>
        <p:spPr>
          <a:xfrm>
            <a:off x="2377440" y="7360920"/>
            <a:ext cx="2514600" cy="283464"/>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NO</a:t>
            </a:r>
          </a:p>
        </p:txBody>
      </p:sp>
      <p:sp>
        <p:nvSpPr>
          <p:cNvPr id="29" name="Rectangle 28"/>
          <p:cNvSpPr/>
          <p:nvPr/>
        </p:nvSpPr>
        <p:spPr>
          <a:xfrm>
            <a:off x="4892040" y="7360920"/>
            <a:ext cx="2514600" cy="283464"/>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SÍ — egress port 53</a:t>
            </a:r>
          </a:p>
        </p:txBody>
      </p:sp>
      <p:sp>
        <p:nvSpPr>
          <p:cNvPr id="30" name="Rectangle 29"/>
          <p:cNvSpPr/>
          <p:nvPr/>
        </p:nvSpPr>
        <p:spPr>
          <a:xfrm>
            <a:off x="365760" y="7644384"/>
            <a:ext cx="2011680" cy="283464"/>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Lateral block</a:t>
            </a:r>
          </a:p>
        </p:txBody>
      </p:sp>
      <p:sp>
        <p:nvSpPr>
          <p:cNvPr id="31" name="Rectangle 30"/>
          <p:cNvSpPr/>
          <p:nvPr/>
        </p:nvSpPr>
        <p:spPr>
          <a:xfrm>
            <a:off x="2377440" y="7644384"/>
            <a:ext cx="2514600" cy="283464"/>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test-lateral-blocking.sh</a:t>
            </a:r>
          </a:p>
        </p:txBody>
      </p:sp>
      <p:sp>
        <p:nvSpPr>
          <p:cNvPr id="32" name="Rectangle 31"/>
          <p:cNvSpPr/>
          <p:nvPr/>
        </p:nvSpPr>
        <p:spPr>
          <a:xfrm>
            <a:off x="4892040" y="7644384"/>
            <a:ext cx="2514600" cy="283464"/>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NO (no tiene test extra)</a:t>
            </a:r>
          </a:p>
        </p:txBody>
      </p:sp>
      <p:sp>
        <p:nvSpPr>
          <p:cNvPr id="33" name="Rectangle 32"/>
          <p:cNvSpPr/>
          <p:nvPr/>
        </p:nvSpPr>
        <p:spPr>
          <a:xfrm>
            <a:off x="365760" y="7927848"/>
            <a:ext cx="2011680" cy="283464"/>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Runner</a:t>
            </a:r>
          </a:p>
        </p:txBody>
      </p:sp>
      <p:sp>
        <p:nvSpPr>
          <p:cNvPr id="34" name="Rectangle 33"/>
          <p:cNvSpPr/>
          <p:nvPr/>
        </p:nvSpPr>
        <p:spPr>
          <a:xfrm>
            <a:off x="2377440" y="7927848"/>
            <a:ext cx="2514600" cy="283464"/>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run-control3-safe.sh + auto</a:t>
            </a:r>
          </a:p>
        </p:txBody>
      </p:sp>
      <p:sp>
        <p:nvSpPr>
          <p:cNvPr id="35" name="Rectangle 34"/>
          <p:cNvSpPr/>
          <p:nvPr/>
        </p:nvSpPr>
        <p:spPr>
          <a:xfrm>
            <a:off x="4892040" y="7927848"/>
            <a:ext cx="2514600" cy="283464"/>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run-exp03-realistic.sh (único)</a:t>
            </a:r>
          </a:p>
        </p:txBody>
      </p:sp>
      <p:sp>
        <p:nvSpPr>
          <p:cNvPr id="36" name="Rectangle 35"/>
          <p:cNvSpPr/>
          <p:nvPr/>
        </p:nvSpPr>
        <p:spPr>
          <a:xfrm>
            <a:off x="365760" y="8211312"/>
            <a:ext cx="2011680" cy="283464"/>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Autopilot</a:t>
            </a:r>
          </a:p>
        </p:txBody>
      </p:sp>
      <p:sp>
        <p:nvSpPr>
          <p:cNvPr id="37" name="Rectangle 36"/>
          <p:cNvSpPr/>
          <p:nvPr/>
        </p:nvSpPr>
        <p:spPr>
          <a:xfrm>
            <a:off x="2377440" y="8211312"/>
            <a:ext cx="2514600" cy="283464"/>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SÍ (run-control3-autopilot)</a:t>
            </a:r>
          </a:p>
        </p:txBody>
      </p:sp>
      <p:sp>
        <p:nvSpPr>
          <p:cNvPr id="38" name="Rectangle 37"/>
          <p:cNvSpPr/>
          <p:nvPr/>
        </p:nvSpPr>
        <p:spPr>
          <a:xfrm>
            <a:off x="4892040" y="8211312"/>
            <a:ext cx="2514600" cy="283464"/>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NO</a:t>
            </a:r>
          </a:p>
        </p:txBody>
      </p:sp>
      <p:sp>
        <p:nvSpPr>
          <p:cNvPr id="39" name="Rectangle 38"/>
          <p:cNvSpPr/>
          <p:nvPr/>
        </p:nvSpPr>
        <p:spPr>
          <a:xfrm>
            <a:off x="365760" y="8494776"/>
            <a:ext cx="2011680" cy="283464"/>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Análisis Python</a:t>
            </a:r>
          </a:p>
        </p:txBody>
      </p:sp>
      <p:sp>
        <p:nvSpPr>
          <p:cNvPr id="40" name="Rectangle 39"/>
          <p:cNvSpPr/>
          <p:nvPr/>
        </p:nvSpPr>
        <p:spPr>
          <a:xfrm>
            <a:off x="2377440" y="8494776"/>
            <a:ext cx="2514600" cy="283464"/>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analyze-netpol-results.py</a:t>
            </a:r>
          </a:p>
        </p:txBody>
      </p:sp>
      <p:sp>
        <p:nvSpPr>
          <p:cNvPr id="41" name="Rectangle 40"/>
          <p:cNvSpPr/>
          <p:nvPr/>
        </p:nvSpPr>
        <p:spPr>
          <a:xfrm>
            <a:off x="4892040" y="8494776"/>
            <a:ext cx="2514600" cy="283464"/>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NO (resultados en results/)</a:t>
            </a:r>
          </a:p>
        </p:txBody>
      </p:sp>
      <p:sp>
        <p:nvSpPr>
          <p:cNvPr id="42" name="Rectangle 41"/>
          <p:cNvSpPr/>
          <p:nvPr/>
        </p:nvSpPr>
        <p:spPr>
          <a:xfrm>
            <a:off x="365760" y="8778240"/>
            <a:ext cx="2011680" cy="283464"/>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Sleep entre runs</a:t>
            </a:r>
          </a:p>
        </p:txBody>
      </p:sp>
      <p:sp>
        <p:nvSpPr>
          <p:cNvPr id="43" name="Rectangle 42"/>
          <p:cNvSpPr/>
          <p:nvPr/>
        </p:nvSpPr>
        <p:spPr>
          <a:xfrm>
            <a:off x="2377440" y="8778240"/>
            <a:ext cx="2514600" cy="283464"/>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20s</a:t>
            </a:r>
          </a:p>
        </p:txBody>
      </p:sp>
      <p:sp>
        <p:nvSpPr>
          <p:cNvPr id="44" name="Rectangle 43"/>
          <p:cNvSpPr/>
          <p:nvPr/>
        </p:nvSpPr>
        <p:spPr>
          <a:xfrm>
            <a:off x="4892040" y="8778240"/>
            <a:ext cx="2514600" cy="283464"/>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10s</a:t>
            </a:r>
          </a:p>
        </p:txBody>
      </p:sp>
      <p:sp>
        <p:nvSpPr>
          <p:cNvPr id="45" name="Rectangle 44"/>
          <p:cNvSpPr/>
          <p:nvPr/>
        </p:nvSpPr>
        <p:spPr>
          <a:xfrm>
            <a:off x="6080760" y="1143000"/>
            <a:ext cx="2834640" cy="21945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URL :31213 — NodePort REAL</a:t>
            </a:r>
          </a:p>
          <a:p>
            <a:r>
              <a:rPr sz="1000">
                <a:solidFill>
                  <a:srgbClr val="555555"/>
                </a:solidFill>
              </a:rPr>
              <a:t>mubench-realistic expone gw-nginx
como NodePort en el puerto 31213.
A diferencia de C3 que usa port-forward
(:30100) a svc/s0, aquí el tráfico
entra IGUAL que en producción:
  cliente → :31213 (NodePort)
    → gw-nginx pod
      → api (HTTP)
        → auth / sdb-data
No hay port-forward, no hay ensure_pf,
el test simplemente hace GET /api
y el NodePort siempre está disponible.</a:t>
            </a:r>
          </a:p>
        </p:txBody>
      </p:sp>
      <p:sp>
        <p:nvSpPr>
          <p:cNvPr id="46" name="Rectangle 45"/>
          <p:cNvSpPr/>
          <p:nvPr/>
        </p:nvSpPr>
        <p:spPr>
          <a:xfrm>
            <a:off x="9052560" y="1143000"/>
            <a:ext cx="2834640" cy="21945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8 policies vs 7 — Istio + DNS</a:t>
            </a:r>
          </a:p>
          <a:p>
            <a:r>
              <a:rPr sz="1000">
                <a:solidFill>
                  <a:srgbClr val="555555"/>
                </a:solidFill>
              </a:rPr>
              <a:t>03-netpol-realistic añade 2 policies
que no existen en 03-network-policies:
#7 np-realistic-allow-istio-system:
  ingress + egress de/a istio-system
  SIN esto los sidecars Envoy no
  pueden comunicarse con istiod
  → los pods quedarían sin proxy
#2 np-realistic-allow-dns:
  egress port 53 UDP/TCP a kube-system
  SIN esto los pods no resuelven
  nombres DNS internos (api, auth...)
  → errores de conexión aunque el
    tráfico esté permitido</a:t>
            </a:r>
          </a:p>
        </p:txBody>
      </p:sp>
      <p:sp>
        <p:nvSpPr>
          <p:cNvPr id="47" name="Rectangle 46"/>
          <p:cNvSpPr/>
          <p:nvPr/>
        </p:nvSpPr>
        <p:spPr>
          <a:xfrm>
            <a:off x="6080760" y="3474720"/>
            <a:ext cx="2834640" cy="21945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Sin autopilot — runner lineal</a:t>
            </a:r>
          </a:p>
          <a:p>
            <a:r>
              <a:rPr sz="1000">
                <a:solidFill>
                  <a:srgbClr val="555555"/>
                </a:solidFill>
              </a:rPr>
              <a:t>C3 usa una arquitectura de 3 capas:
  1. run-control3-safe.sh (dispatcher)
  2. run-control3-autopilot-safe.sh
  3. monitor-control3.sh
03-realistic usa UN solo script:
  run-exp03-realistic.sh
Ejecuta baseline → apply → test
de forma SECUENCIAL sin lock ni
detección de corridas previas.
No genera análisis Python automático:
los resultados quedan como NDJSON
en baseline/results/ y policies/results/</a:t>
            </a:r>
          </a:p>
        </p:txBody>
      </p:sp>
      <p:sp>
        <p:nvSpPr>
          <p:cNvPr id="48" name="Rectangle 47"/>
          <p:cNvSpPr/>
          <p:nvPr/>
        </p:nvSpPr>
        <p:spPr>
          <a:xfrm>
            <a:off x="9052560" y="3474720"/>
            <a:ext cx="2834640" cy="21945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Integración con el experimento global</a:t>
            </a:r>
          </a:p>
          <a:p>
            <a:r>
              <a:rPr sz="1000">
                <a:solidFill>
                  <a:srgbClr val="555555"/>
                </a:solidFill>
              </a:rPr>
              <a:t>03-netpol-realistic NO es el control
principal de C3 — es una VARIANTE
del mismo experimento que corre sobre
los servicios REALES en vez de los
servicios sintéticos del benchmarking.
Propósito: validar que las mismas
NetworkPolicies funcionan en el
escenario realista con Istio activo.
Relación con otros experimentos:
  C3 (default ns) → overhead sintético
  C3-realistic (mubench-realistic) →
    overhead en escenario real
  C4 (RL) → limpia las policies de C3
    antes de aplicar Ingress RL</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networkpolicies.yaml — 8 policies en mubench-realistic</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deny-all + DNS egress + gw-nginx entry + api + auth + sdb-data + istio-system + intra-egress · tests idénticos baseline/policies</a:t>
            </a:r>
          </a:p>
        </p:txBody>
      </p:sp>
      <p:sp>
        <p:nvSpPr>
          <p:cNvPr id="5" name="Rectangle 4"/>
          <p:cNvSpPr/>
          <p:nvPr/>
        </p:nvSpPr>
        <p:spPr>
          <a:xfrm>
            <a:off x="365760" y="1143000"/>
            <a:ext cx="5577840" cy="55778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8 NetworkPolicies — namespace: mubench-realistic</a:t>
            </a:r>
          </a:p>
          <a:p>
            <a:r>
              <a:rPr sz="1100">
                <a:solidFill>
                  <a:srgbClr val="F9E2AF"/>
                </a:solidFill>
                <a:latin typeface="Courier New"/>
              </a:rPr>
              <a:t/>
            </a:r>
          </a:p>
          <a:p>
            <a:r>
              <a:rPr sz="1100">
                <a:solidFill>
                  <a:srgbClr val="CBD3F0"/>
                </a:solidFill>
                <a:latin typeface="Courier New"/>
              </a:rPr>
              <a:t># 1) np-realistic-default-deny</a:t>
            </a:r>
          </a:p>
          <a:p>
            <a:r>
              <a:rPr sz="1100">
                <a:solidFill>
                  <a:srgbClr val="CBD3F0"/>
                </a:solidFill>
                <a:latin typeface="Courier New"/>
              </a:rPr>
              <a:t>#    podSelector: {}  →  todos los pods</a:t>
            </a:r>
          </a:p>
          <a:p>
            <a:r>
              <a:rPr sz="1100">
                <a:solidFill>
                  <a:srgbClr val="CBD3F0"/>
                </a:solidFill>
                <a:latin typeface="Courier New"/>
              </a:rPr>
              <a:t>#    policyTypes: [Ingress, Egress]  →  deny all</a:t>
            </a:r>
          </a:p>
          <a:p>
            <a:r>
              <a:rPr sz="1100">
                <a:solidFill>
                  <a:srgbClr val="CBD3F0"/>
                </a:solidFill>
                <a:latin typeface="Courier New"/>
              </a:rPr>
              <a:t/>
            </a:r>
          </a:p>
          <a:p>
            <a:r>
              <a:rPr sz="1100">
                <a:solidFill>
                  <a:srgbClr val="CBD3F0"/>
                </a:solidFill>
                <a:latin typeface="Courier New"/>
              </a:rPr>
              <a:t># 2) np-realistic-allow-dns</a:t>
            </a:r>
          </a:p>
          <a:p>
            <a:r>
              <a:rPr sz="1100">
                <a:solidFill>
                  <a:srgbClr val="F9E2AF"/>
                </a:solidFill>
                <a:latin typeface="Courier New"/>
              </a:rPr>
              <a:t>#    Egress → kube-system:53 UDP+TCP</a:t>
            </a:r>
          </a:p>
          <a:p>
            <a:r>
              <a:rPr sz="1100">
                <a:solidFill>
                  <a:srgbClr val="CBD3F0"/>
                </a:solidFill>
                <a:latin typeface="Courier New"/>
              </a:rPr>
              <a:t>#    NECESARIO: pods resuelven DNS interno</a:t>
            </a:r>
          </a:p>
          <a:p>
            <a:r>
              <a:rPr sz="1100">
                <a:solidFill>
                  <a:srgbClr val="CBD3F0"/>
                </a:solidFill>
                <a:latin typeface="Courier New"/>
              </a:rPr>
              <a:t/>
            </a:r>
          </a:p>
          <a:p>
            <a:r>
              <a:rPr sz="1100">
                <a:solidFill>
                  <a:srgbClr val="CBD3F0"/>
                </a:solidFill>
                <a:latin typeface="Courier New"/>
              </a:rPr>
              <a:t># 3) np-realistic-allow-ext-to-gwnginx</a:t>
            </a:r>
          </a:p>
          <a:p>
            <a:r>
              <a:rPr sz="1100">
                <a:solidFill>
                  <a:srgbClr val="CBD3F0"/>
                </a:solidFill>
                <a:latin typeface="Courier New"/>
              </a:rPr>
              <a:t>#    Ingress → app:gw-nginx port 80</a:t>
            </a:r>
          </a:p>
          <a:p>
            <a:r>
              <a:rPr sz="1100">
                <a:solidFill>
                  <a:srgbClr val="CBD3F0"/>
                </a:solidFill>
                <a:latin typeface="Courier New"/>
              </a:rPr>
              <a:t>#    Entry point: cualquier origen externo</a:t>
            </a:r>
          </a:p>
          <a:p>
            <a:r>
              <a:rPr sz="1100">
                <a:solidFill>
                  <a:srgbClr val="CBD3F0"/>
                </a:solidFill>
                <a:latin typeface="Courier New"/>
              </a:rPr>
              <a:t/>
            </a:r>
          </a:p>
          <a:p>
            <a:r>
              <a:rPr sz="1100">
                <a:solidFill>
                  <a:srgbClr val="CBD3F0"/>
                </a:solidFill>
                <a:latin typeface="Courier New"/>
              </a:rPr>
              <a:t># 4) np-realistic-allow-to-api</a:t>
            </a:r>
          </a:p>
          <a:p>
            <a:r>
              <a:rPr sz="1100">
                <a:solidFill>
                  <a:srgbClr val="CBD3F0"/>
                </a:solidFill>
                <a:latin typeface="Courier New"/>
              </a:rPr>
              <a:t>#    Ingress: from app:gw-nginx OR istio-system</a:t>
            </a:r>
          </a:p>
          <a:p>
            <a:r>
              <a:rPr sz="1100">
                <a:solidFill>
                  <a:srgbClr val="CBD3F0"/>
                </a:solidFill>
                <a:latin typeface="Courier New"/>
              </a:rPr>
              <a:t>#    ports: 80, 8080</a:t>
            </a:r>
          </a:p>
          <a:p>
            <a:r>
              <a:rPr sz="1100">
                <a:solidFill>
                  <a:srgbClr val="CBD3F0"/>
                </a:solidFill>
                <a:latin typeface="Courier New"/>
              </a:rPr>
              <a:t/>
            </a:r>
          </a:p>
          <a:p>
            <a:r>
              <a:rPr sz="1100">
                <a:solidFill>
                  <a:srgbClr val="CBD3F0"/>
                </a:solidFill>
                <a:latin typeface="Courier New"/>
              </a:rPr>
              <a:t># 5) np-realistic-allow-api-to-auth</a:t>
            </a:r>
          </a:p>
          <a:p>
            <a:r>
              <a:rPr sz="1100">
                <a:solidFill>
                  <a:srgbClr val="CBD3F0"/>
                </a:solidFill>
                <a:latin typeface="Courier New"/>
              </a:rPr>
              <a:t>#    Ingress: from app:api  ports: 80, 8080</a:t>
            </a:r>
          </a:p>
          <a:p>
            <a:r>
              <a:rPr sz="1100">
                <a:solidFill>
                  <a:srgbClr val="CBD3F0"/>
                </a:solidFill>
                <a:latin typeface="Courier New"/>
              </a:rPr>
              <a:t/>
            </a:r>
          </a:p>
          <a:p>
            <a:r>
              <a:rPr sz="1100">
                <a:solidFill>
                  <a:srgbClr val="CBD3F0"/>
                </a:solidFill>
                <a:latin typeface="Courier New"/>
              </a:rPr>
              <a:t># 6) np-realistic-allow-api-to-sdbdata</a:t>
            </a:r>
          </a:p>
          <a:p>
            <a:r>
              <a:rPr sz="1100">
                <a:solidFill>
                  <a:srgbClr val="CBD3F0"/>
                </a:solidFill>
                <a:latin typeface="Courier New"/>
              </a:rPr>
              <a:t>#    Ingress: from app:api  ports: 80, 8080</a:t>
            </a:r>
          </a:p>
          <a:p>
            <a:r>
              <a:rPr sz="1100">
                <a:solidFill>
                  <a:srgbClr val="CBD3F0"/>
                </a:solidFill>
                <a:latin typeface="Courier New"/>
              </a:rPr>
              <a:t/>
            </a:r>
          </a:p>
          <a:p>
            <a:r>
              <a:rPr sz="1100">
                <a:solidFill>
                  <a:srgbClr val="F9E2AF"/>
                </a:solidFill>
                <a:latin typeface="Courier New"/>
              </a:rPr>
              <a:t># 7) np-realistic-allow-istio-system  ← CLAVE</a:t>
            </a:r>
          </a:p>
          <a:p>
            <a:r>
              <a:rPr sz="1100">
                <a:solidFill>
                  <a:srgbClr val="CBD3F0"/>
                </a:solidFill>
                <a:latin typeface="Courier New"/>
              </a:rPr>
              <a:t>#    podSelector: {}  →  todos los pods</a:t>
            </a:r>
          </a:p>
          <a:p>
            <a:r>
              <a:rPr sz="1100">
                <a:solidFill>
                  <a:srgbClr val="CBD3F0"/>
                </a:solidFill>
                <a:latin typeface="Courier New"/>
              </a:rPr>
              <a:t>#    Ingress + Egress de/a istio-system ns</a:t>
            </a:r>
          </a:p>
          <a:p>
            <a:r>
              <a:rPr sz="1100">
                <a:solidFill>
                  <a:srgbClr val="CBD3F0"/>
                </a:solidFill>
                <a:latin typeface="Courier New"/>
              </a:rPr>
              <a:t>#    Permite que los sidecars Envoy hablen</a:t>
            </a:r>
          </a:p>
          <a:p>
            <a:r>
              <a:rPr sz="1100">
                <a:solidFill>
                  <a:srgbClr val="CBD3F0"/>
                </a:solidFill>
                <a:latin typeface="Courier New"/>
              </a:rPr>
              <a:t>#    con istiod (xDS, health, telemetry)</a:t>
            </a:r>
          </a:p>
          <a:p>
            <a:r>
              <a:rPr sz="1100">
                <a:solidFill>
                  <a:srgbClr val="CBD3F0"/>
                </a:solidFill>
                <a:latin typeface="Courier New"/>
              </a:rPr>
              <a:t/>
            </a:r>
          </a:p>
          <a:p>
            <a:r>
              <a:rPr sz="1100">
                <a:solidFill>
                  <a:srgbClr val="F9E2AF"/>
                </a:solidFill>
                <a:latin typeface="Courier New"/>
              </a:rPr>
              <a:t># 8) np-realistic-allow-intra-egress   ← CLAVE</a:t>
            </a:r>
          </a:p>
          <a:p>
            <a:r>
              <a:rPr sz="1100">
                <a:solidFill>
                  <a:srgbClr val="CBD3F0"/>
                </a:solidFill>
                <a:latin typeface="Courier New"/>
              </a:rPr>
              <a:t>#    podSelector: {}  →  todos los pods</a:t>
            </a:r>
          </a:p>
          <a:p>
            <a:r>
              <a:rPr sz="1100">
                <a:solidFill>
                  <a:srgbClr val="CBD3F0"/>
                </a:solidFill>
                <a:latin typeface="Courier New"/>
              </a:rPr>
              <a:t>#    Egress: to podSelector: {}</a:t>
            </a:r>
          </a:p>
          <a:p>
            <a:r>
              <a:rPr sz="1100">
                <a:solidFill>
                  <a:srgbClr val="CBD3F0"/>
                </a:solidFill>
                <a:latin typeface="Courier New"/>
              </a:rPr>
              <a:t>#    Permite tráfico entre pods DEL MISMO ns</a:t>
            </a:r>
          </a:p>
          <a:p>
            <a:r>
              <a:rPr sz="1100">
                <a:solidFill>
                  <a:srgbClr val="CBD3F0"/>
                </a:solidFill>
                <a:latin typeface="Courier New"/>
              </a:rPr>
              <a:t>#    Sin esto: api→auth bloqueado por egress</a:t>
            </a:r>
          </a:p>
          <a:p>
            <a:r>
              <a:rPr sz="1100">
                <a:solidFill>
                  <a:srgbClr val="CBD3F0"/>
                </a:solidFill>
                <a:latin typeface="Courier New"/>
              </a:rPr>
              <a:t>#    aunque policy #5 permita el ingress</a:t>
            </a:r>
          </a:p>
        </p:txBody>
      </p:sp>
      <p:sp>
        <p:nvSpPr>
          <p:cNvPr id="6" name="Rectangle 5"/>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Flujo de tráfico con policies activas</a:t>
            </a:r>
          </a:p>
          <a:p>
            <a:r>
              <a:rPr sz="1000">
                <a:solidFill>
                  <a:srgbClr val="555555"/>
                </a:solidFill>
              </a:rPr>
              <a:t>ext → :31213 → gw-nginx
   ↓ (policy #3: allow ext→gwnginx)
   gw-nginx → api:80
   ↓ (policy #4: allow gwnginx→api)
   api → auth:80
   ↓ (policy #5: ingress from api)
   ↓ (policy #8: egress intra-ns)
   api → sdb-data:80
   ↓ (policy #6: ingress from api)
   ↓ (policy #8: egress intra-ns)
TODOS los pods → DNS :53
   ↓ (policy #2: egress dns)
istiod ↔ sidecars Envoy
   ↓ (policy #7: istio-system)</a:t>
            </a:r>
          </a:p>
        </p:txBody>
      </p:sp>
      <p:sp>
        <p:nvSpPr>
          <p:cNvPr id="7" name="Rectangle 6"/>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test-baseline.js == test-policies.js</a:t>
            </a:r>
          </a:p>
          <a:p>
            <a:r>
              <a:rPr sz="1000">
                <a:solidFill>
                  <a:srgbClr val="555555"/>
                </a:solidFill>
              </a:rPr>
              <a:t>AMBOS tests son IDÉNTICOS:
  GET http://localhost:31213/api
  check: status 200
  timeout: 10s
  vus / duration via ENV
La DIFERENCIA está en la infraestructura:
  baseline.js → sin NetworkPolicy
  policies.js → con 8 NetworkPolicy
El nombre del archivo de salida
distingue el escenario:
  baseline-vus10-rep1.json
  policies-vus10-rep1.json
No hay p95/fail thresholds
(se usa --no-thresholds).</a:t>
            </a:r>
          </a:p>
        </p:txBody>
      </p:sp>
      <p:sp>
        <p:nvSpPr>
          <p:cNvPr id="8" name="Rectangle 7"/>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verify tras apply — check de integridad</a:t>
            </a:r>
          </a:p>
          <a:p>
            <a:r>
              <a:rPr sz="1000">
                <a:solidFill>
                  <a:srgbClr val="555555"/>
                </a:solidFill>
              </a:rPr>
              <a:t>Tras kubectl apply, el script hace:
  STATUS=$(curl -s -o /dev/null \
    -w '%{http_code}' \
    --connect-timeout 5 $URL/api)
  if [[ $STATUS != 200 ]]; then
    echo '[WARN] policies bloquean entry'
  fi
Diferencia vs C3: en C3 hay un
test-lateral-blocking.sh que verifica
activamente que el bloqueo lateral
funciona (s0→sdb1 debe ser negado).
03-realistic solo verifica que el
path permitido (ext→api) funciona,
no verifica los bloqueos laterales.</a:t>
            </a:r>
          </a:p>
        </p:txBody>
      </p:sp>
      <p:sp>
        <p:nvSpPr>
          <p:cNvPr id="9" name="Rectangle 8"/>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trap cleanup EXIT — limpieza fiable</a:t>
            </a:r>
          </a:p>
          <a:p>
            <a:r>
              <a:rPr sz="1000">
                <a:solidFill>
                  <a:srgbClr val="555555"/>
                </a:solidFill>
              </a:rPr>
              <a:t>El runner usa trap para limpiar:
  cleanup() {
    kubectl delete networkpolicy -n \
      mubench-realistic \
      np-realistic-default-deny \
      np-realistic-allow-dns \
      ... (8 policies) \
      --ignore-not-found
  }
  trap cleanup EXIT
Se ejecuta SIEMPRE al salir,
incluso con set -e si falla k6.
vs C3: remove-policies.sh es un
script separado que se llama
explícitamente (no trap).</a:t>
            </a:r>
          </a:p>
        </p:txBody>
      </p:sp>
      <p:sp>
        <p:nvSpPr>
          <p:cNvPr id="10" name="Rectangle 9"/>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Comparativa policies sintéticas vs reales</a:t>
            </a:r>
          </a:p>
          <a:p>
            <a:r>
              <a:rPr sz="1000">
                <a:solidFill>
                  <a:srgbClr val="555555"/>
                </a:solidFill>
              </a:rPr>
              <a:t>03-network-policies (default ns):
  - 7 policies sobre s0/s1/sdb1
  - Selectivas: matchLabels app
  - SIN regla Istio (no hay mesh)
  - SIN regla DNS (CoreDNS libre)
  - Verifica bloqueo lateral
03-netpol-realistic (mubench-real):
  - 8 policies sobre api/auth/sdb-data
  - Incluye rule para istiod sidecars
  - Incluye rule para DNS egress
  - Solo verifica path permitido
  - Namespace multi-tenant con Istio
La complejidad extra proviene de
que Istio inyecta sidecars que
también necesitan reglas de red.</a:t>
            </a:r>
          </a:p>
        </p:txBody>
      </p:sp>
      <p:sp>
        <p:nvSpPr>
          <p:cNvPr id="11" name="Rectangle 10"/>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Estructura de resultados</a:t>
            </a:r>
          </a:p>
          <a:p>
            <a:r>
              <a:rPr sz="1000">
                <a:solidFill>
                  <a:srgbClr val="555555"/>
                </a:solidFill>
              </a:rPr>
              <a:t>03-netpol-realistic/
  manifests/
    networkpolicies.yaml  (8 NP)
  tests/
    test-baseline.js      (GET /api)
    test-policies.js      (igual)
  baseline/results/
    baseline-vus5-rep{1,2,3}.json
    baseline-vus10-rep{1,2,3}.json
    baseline-vus20-rep{1,2,3}.json
  policies/results/
    policies-vus5-rep{1,2,3}.json
    ...
  results/logs/
    baseline-vus*-rep*.log
    policies-vus*-rep*.log
NO hay analysis/ ni analyze-*.py</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Experiments / 04-rate-limiting</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Control 4: overhead de NGINX rate limiting · Ingress annotations · VUS 10/25/50 · 429 tracking · limpia C3 antes de correr</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04-rate-limiting — NGINX Ingress rate limiting vs 03-network-policies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Ingress annotation limit-rps=20 · burst×2 · VUS 10/25/50 · 429 tracking · limpia NetPol de C3 · path /rl-s0</a:t>
            </a:r>
          </a:p>
        </p:txBody>
      </p:sp>
      <p:sp>
        <p:nvSpPr>
          <p:cNvPr id="5" name="Rectangle 4"/>
          <p:cNvSpPr/>
          <p:nvPr/>
        </p:nvSpPr>
        <p:spPr>
          <a:xfrm>
            <a:off x="365760" y="1143000"/>
            <a:ext cx="5577840" cy="3977639"/>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ratelimit/ingress-rate-limit.yaml</a:t>
            </a:r>
          </a:p>
          <a:p>
            <a:r>
              <a:rPr sz="1100">
                <a:solidFill>
                  <a:srgbClr val="F9E2AF"/>
                </a:solidFill>
                <a:latin typeface="Courier New"/>
              </a:rPr>
              <a:t>apiVersion: networking.k8s.io/v1</a:t>
            </a:r>
          </a:p>
          <a:p>
            <a:r>
              <a:rPr sz="1100">
                <a:solidFill>
                  <a:srgbClr val="CBD3F0"/>
                </a:solidFill>
                <a:latin typeface="Courier New"/>
              </a:rPr>
              <a:t>kind: Ingress</a:t>
            </a:r>
          </a:p>
          <a:p>
            <a:r>
              <a:rPr sz="1100">
                <a:solidFill>
                  <a:srgbClr val="CBD3F0"/>
                </a:solidFill>
                <a:latin typeface="Courier New"/>
              </a:rPr>
              <a:t>metadata:</a:t>
            </a:r>
          </a:p>
          <a:p>
            <a:r>
              <a:rPr sz="1100">
                <a:solidFill>
                  <a:srgbClr val="CBD3F0"/>
                </a:solidFill>
                <a:latin typeface="Courier New"/>
              </a:rPr>
              <a:t>  name: s0-rl-ingress</a:t>
            </a:r>
          </a:p>
          <a:p>
            <a:r>
              <a:rPr sz="1100">
                <a:solidFill>
                  <a:srgbClr val="CBD3F0"/>
                </a:solidFill>
                <a:latin typeface="Courier New"/>
              </a:rPr>
              <a:t>  namespace: default</a:t>
            </a:r>
          </a:p>
          <a:p>
            <a:r>
              <a:rPr sz="1100">
                <a:solidFill>
                  <a:srgbClr val="CBD3F0"/>
                </a:solidFill>
                <a:latin typeface="Courier New"/>
              </a:rPr>
              <a:t>  annotations:</a:t>
            </a:r>
          </a:p>
          <a:p>
            <a:r>
              <a:rPr sz="1100">
                <a:solidFill>
                  <a:srgbClr val="CBD3F0"/>
                </a:solidFill>
                <a:latin typeface="Courier New"/>
              </a:rPr>
              <a:t>    # Rate limit: 20 req/s por IP de cliente</a:t>
            </a:r>
          </a:p>
          <a:p>
            <a:r>
              <a:rPr sz="1100">
                <a:solidFill>
                  <a:srgbClr val="F9E2AF"/>
                </a:solidFill>
                <a:latin typeface="Courier New"/>
              </a:rPr>
              <a:t>    nginx.ingress.kubernetes.io/limit-rps: '20'</a:t>
            </a:r>
          </a:p>
          <a:p>
            <a:r>
              <a:rPr sz="1100">
                <a:solidFill>
                  <a:srgbClr val="CBD3F0"/>
                </a:solidFill>
                <a:latin typeface="Courier New"/>
              </a:rPr>
              <a:t>    # Burst: hasta 40 req/s en ráfagas cortas</a:t>
            </a:r>
          </a:p>
          <a:p>
            <a:r>
              <a:rPr sz="1100">
                <a:solidFill>
                  <a:srgbClr val="F9E2AF"/>
                </a:solidFill>
                <a:latin typeface="Courier New"/>
              </a:rPr>
              <a:t>    nginx.ingress.kubernetes.io/limit-burst-multiplier: '2'</a:t>
            </a:r>
          </a:p>
          <a:p>
            <a:r>
              <a:rPr sz="1100">
                <a:solidFill>
                  <a:srgbClr val="CBD3F0"/>
                </a:solidFill>
                <a:latin typeface="Courier New"/>
              </a:rPr>
              <a:t>    nginx.ingress.kubernetes.io/enable-access-log: 'true'</a:t>
            </a:r>
          </a:p>
          <a:p>
            <a:r>
              <a:rPr sz="1100">
                <a:solidFill>
                  <a:srgbClr val="CBD3F0"/>
                </a:solidFill>
                <a:latin typeface="Courier New"/>
              </a:rPr>
              <a:t>    nginx.ingress.kubernetes.io/configuration-snippet: |</a:t>
            </a:r>
          </a:p>
          <a:p>
            <a:r>
              <a:rPr sz="1100">
                <a:solidFill>
                  <a:srgbClr val="F9E2AF"/>
                </a:solidFill>
                <a:latin typeface="Courier New"/>
              </a:rPr>
              <a:t>      add_header X-Rate-Limit-Mode 'enabled' always;</a:t>
            </a:r>
          </a:p>
          <a:p>
            <a:r>
              <a:rPr sz="1100">
                <a:solidFill>
                  <a:srgbClr val="CBD3F0"/>
                </a:solidFill>
                <a:latin typeface="Courier New"/>
              </a:rPr>
              <a:t>spec:</a:t>
            </a:r>
          </a:p>
          <a:p>
            <a:r>
              <a:rPr sz="1100">
                <a:solidFill>
                  <a:srgbClr val="CBD3F0"/>
                </a:solidFill>
                <a:latin typeface="Courier New"/>
              </a:rPr>
              <a:t>  ingressClassName: nginx</a:t>
            </a:r>
          </a:p>
          <a:p>
            <a:r>
              <a:rPr sz="1100">
                <a:solidFill>
                  <a:srgbClr val="CBD3F0"/>
                </a:solidFill>
                <a:latin typeface="Courier New"/>
              </a:rPr>
              <a:t>  rules:</a:t>
            </a:r>
          </a:p>
          <a:p>
            <a:r>
              <a:rPr sz="1100">
                <a:solidFill>
                  <a:srgbClr val="CBD3F0"/>
                </a:solidFill>
                <a:latin typeface="Courier New"/>
              </a:rPr>
              <a:t>    - http:</a:t>
            </a:r>
          </a:p>
          <a:p>
            <a:r>
              <a:rPr sz="1100">
                <a:solidFill>
                  <a:srgbClr val="CBD3F0"/>
                </a:solidFill>
                <a:latin typeface="Courier New"/>
              </a:rPr>
              <a:t>        paths:</a:t>
            </a:r>
          </a:p>
          <a:p>
            <a:r>
              <a:rPr sz="1100">
                <a:solidFill>
                  <a:srgbClr val="CBD3F0"/>
                </a:solidFill>
                <a:latin typeface="Courier New"/>
              </a:rPr>
              <a:t>          - path: /rl-s0</a:t>
            </a:r>
          </a:p>
          <a:p>
            <a:r>
              <a:rPr sz="1100">
                <a:solidFill>
                  <a:srgbClr val="F9E2AF"/>
                </a:solidFill>
                <a:latin typeface="Courier New"/>
              </a:rPr>
              <a:t>            pathType: Prefix</a:t>
            </a:r>
          </a:p>
          <a:p>
            <a:r>
              <a:rPr sz="1100">
                <a:solidFill>
                  <a:srgbClr val="CBD3F0"/>
                </a:solidFill>
                <a:latin typeface="Courier New"/>
              </a:rPr>
              <a:t>            backend:</a:t>
            </a:r>
          </a:p>
          <a:p>
            <a:r>
              <a:rPr sz="1100">
                <a:solidFill>
                  <a:srgbClr val="CBD3F0"/>
                </a:solidFill>
                <a:latin typeface="Courier New"/>
              </a:rPr>
              <a:t>              service:</a:t>
            </a:r>
          </a:p>
          <a:p>
            <a:r>
              <a:rPr sz="1100">
                <a:solidFill>
                  <a:srgbClr val="CBD3F0"/>
                </a:solidFill>
                <a:latin typeface="Courier New"/>
              </a:rPr>
              <a:t>                name: s0</a:t>
            </a:r>
          </a:p>
          <a:p>
            <a:r>
              <a:rPr sz="1100">
                <a:solidFill>
                  <a:srgbClr val="CBD3F0"/>
                </a:solidFill>
                <a:latin typeface="Courier New"/>
              </a:rPr>
              <a:t>                port:</a:t>
            </a:r>
          </a:p>
          <a:p>
            <a:r>
              <a:rPr sz="1100">
                <a:solidFill>
                  <a:srgbClr val="CBD3F0"/>
                </a:solidFill>
                <a:latin typeface="Courier New"/>
              </a:rPr>
              <a:t>                  number: 80</a:t>
            </a:r>
          </a:p>
        </p:txBody>
      </p:sp>
      <p:sp>
        <p:nvSpPr>
          <p:cNvPr id="6" name="Rectangle 5"/>
          <p:cNvSpPr/>
          <p:nvPr/>
        </p:nvSpPr>
        <p:spPr>
          <a:xfrm>
            <a:off x="365760" y="5257800"/>
            <a:ext cx="219456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Aspecto</a:t>
            </a:r>
          </a:p>
        </p:txBody>
      </p:sp>
      <p:sp>
        <p:nvSpPr>
          <p:cNvPr id="7" name="Rectangle 6"/>
          <p:cNvSpPr/>
          <p:nvPr/>
        </p:nvSpPr>
        <p:spPr>
          <a:xfrm>
            <a:off x="2560320" y="5257800"/>
            <a:ext cx="260604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03-network-policies</a:t>
            </a:r>
          </a:p>
        </p:txBody>
      </p:sp>
      <p:sp>
        <p:nvSpPr>
          <p:cNvPr id="8" name="Rectangle 7"/>
          <p:cNvSpPr/>
          <p:nvPr/>
        </p:nvSpPr>
        <p:spPr>
          <a:xfrm>
            <a:off x="5166360" y="5257800"/>
            <a:ext cx="2606040" cy="3291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04-rate-limiting</a:t>
            </a:r>
          </a:p>
        </p:txBody>
      </p:sp>
      <p:sp>
        <p:nvSpPr>
          <p:cNvPr id="9" name="Rectangle 8"/>
          <p:cNvSpPr/>
          <p:nvPr/>
        </p:nvSpPr>
        <p:spPr>
          <a:xfrm>
            <a:off x="365760" y="5586984"/>
            <a:ext cx="2194560" cy="31089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9E2AF"/>
                </a:solidFill>
                <a:latin typeface="Courier New"/>
              </a:rPr>
              <a:t>Mecanismo</a:t>
            </a:r>
          </a:p>
        </p:txBody>
      </p:sp>
      <p:sp>
        <p:nvSpPr>
          <p:cNvPr id="10" name="Rectangle 9"/>
          <p:cNvSpPr/>
          <p:nvPr/>
        </p:nvSpPr>
        <p:spPr>
          <a:xfrm>
            <a:off x="2560320" y="5586984"/>
            <a:ext cx="2606040" cy="31089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2E75B6"/>
                </a:solidFill>
                <a:latin typeface="Courier New"/>
              </a:rPr>
              <a:t>NetworkPolicy K8s</a:t>
            </a:r>
          </a:p>
        </p:txBody>
      </p:sp>
      <p:sp>
        <p:nvSpPr>
          <p:cNvPr id="11" name="Rectangle 10"/>
          <p:cNvSpPr/>
          <p:nvPr/>
        </p:nvSpPr>
        <p:spPr>
          <a:xfrm>
            <a:off x="5166360" y="5586984"/>
            <a:ext cx="2606040" cy="31089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D3690F"/>
                </a:solidFill>
                <a:latin typeface="Courier New"/>
              </a:rPr>
              <a:t>NGINX Ingress annotation</a:t>
            </a:r>
          </a:p>
        </p:txBody>
      </p:sp>
      <p:sp>
        <p:nvSpPr>
          <p:cNvPr id="12" name="Rectangle 11"/>
          <p:cNvSpPr/>
          <p:nvPr/>
        </p:nvSpPr>
        <p:spPr>
          <a:xfrm>
            <a:off x="365760" y="5897880"/>
            <a:ext cx="2194560" cy="31089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9E2AF"/>
                </a:solidFill>
                <a:latin typeface="Courier New"/>
              </a:rPr>
              <a:t>Capa</a:t>
            </a:r>
          </a:p>
        </p:txBody>
      </p:sp>
      <p:sp>
        <p:nvSpPr>
          <p:cNvPr id="13" name="Rectangle 12"/>
          <p:cNvSpPr/>
          <p:nvPr/>
        </p:nvSpPr>
        <p:spPr>
          <a:xfrm>
            <a:off x="2560320" y="5897880"/>
            <a:ext cx="2606040" cy="31089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2E75B6"/>
                </a:solidFill>
                <a:latin typeface="Courier New"/>
              </a:rPr>
              <a:t>L3/L4 (iptables/eBPF)</a:t>
            </a:r>
          </a:p>
        </p:txBody>
      </p:sp>
      <p:sp>
        <p:nvSpPr>
          <p:cNvPr id="14" name="Rectangle 13"/>
          <p:cNvSpPr/>
          <p:nvPr/>
        </p:nvSpPr>
        <p:spPr>
          <a:xfrm>
            <a:off x="5166360" y="5897880"/>
            <a:ext cx="2606040" cy="31089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D3690F"/>
                </a:solidFill>
                <a:latin typeface="Courier New"/>
              </a:rPr>
              <a:t>L7 (HTTP, proxy NGINX)</a:t>
            </a:r>
          </a:p>
        </p:txBody>
      </p:sp>
      <p:sp>
        <p:nvSpPr>
          <p:cNvPr id="15" name="Rectangle 14"/>
          <p:cNvSpPr/>
          <p:nvPr/>
        </p:nvSpPr>
        <p:spPr>
          <a:xfrm>
            <a:off x="365760" y="6208776"/>
            <a:ext cx="2194560" cy="31089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9E2AF"/>
                </a:solidFill>
                <a:latin typeface="Courier New"/>
              </a:rPr>
              <a:t>Objeto K8s</a:t>
            </a:r>
          </a:p>
        </p:txBody>
      </p:sp>
      <p:sp>
        <p:nvSpPr>
          <p:cNvPr id="16" name="Rectangle 15"/>
          <p:cNvSpPr/>
          <p:nvPr/>
        </p:nvSpPr>
        <p:spPr>
          <a:xfrm>
            <a:off x="2560320" y="6208776"/>
            <a:ext cx="2606040" cy="31089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2E75B6"/>
                </a:solidFill>
                <a:latin typeface="Courier New"/>
              </a:rPr>
              <a:t>7× NetworkPolicy</a:t>
            </a:r>
          </a:p>
        </p:txBody>
      </p:sp>
      <p:sp>
        <p:nvSpPr>
          <p:cNvPr id="17" name="Rectangle 16"/>
          <p:cNvSpPr/>
          <p:nvPr/>
        </p:nvSpPr>
        <p:spPr>
          <a:xfrm>
            <a:off x="5166360" y="6208776"/>
            <a:ext cx="2606040" cy="31089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D3690F"/>
                </a:solidFill>
                <a:latin typeface="Courier New"/>
              </a:rPr>
              <a:t>1× Ingress</a:t>
            </a:r>
          </a:p>
        </p:txBody>
      </p:sp>
      <p:sp>
        <p:nvSpPr>
          <p:cNvPr id="18" name="Rectangle 17"/>
          <p:cNvSpPr/>
          <p:nvPr/>
        </p:nvSpPr>
        <p:spPr>
          <a:xfrm>
            <a:off x="365760" y="6519672"/>
            <a:ext cx="2194560" cy="31089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9E2AF"/>
                </a:solidFill>
                <a:latin typeface="Courier New"/>
              </a:rPr>
              <a:t>VUS de prueba</a:t>
            </a:r>
          </a:p>
        </p:txBody>
      </p:sp>
      <p:sp>
        <p:nvSpPr>
          <p:cNvPr id="19" name="Rectangle 18"/>
          <p:cNvSpPr/>
          <p:nvPr/>
        </p:nvSpPr>
        <p:spPr>
          <a:xfrm>
            <a:off x="2560320" y="6519672"/>
            <a:ext cx="2606040" cy="31089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2E75B6"/>
                </a:solidFill>
                <a:latin typeface="Courier New"/>
              </a:rPr>
              <a:t>5, 10, 20</a:t>
            </a:r>
          </a:p>
        </p:txBody>
      </p:sp>
      <p:sp>
        <p:nvSpPr>
          <p:cNvPr id="20" name="Rectangle 19"/>
          <p:cNvSpPr/>
          <p:nvPr/>
        </p:nvSpPr>
        <p:spPr>
          <a:xfrm>
            <a:off x="5166360" y="6519672"/>
            <a:ext cx="2606040" cy="31089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D3690F"/>
                </a:solidFill>
                <a:latin typeface="Courier New"/>
              </a:rPr>
              <a:t>10, 25, 50</a:t>
            </a:r>
          </a:p>
        </p:txBody>
      </p:sp>
      <p:sp>
        <p:nvSpPr>
          <p:cNvPr id="21" name="Rectangle 20"/>
          <p:cNvSpPr/>
          <p:nvPr/>
        </p:nvSpPr>
        <p:spPr>
          <a:xfrm>
            <a:off x="365760" y="6830568"/>
            <a:ext cx="2194560" cy="31089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9E2AF"/>
                </a:solidFill>
                <a:latin typeface="Courier New"/>
              </a:rPr>
              <a:t>Puerto/path</a:t>
            </a:r>
          </a:p>
        </p:txBody>
      </p:sp>
      <p:sp>
        <p:nvSpPr>
          <p:cNvPr id="22" name="Rectangle 21"/>
          <p:cNvSpPr/>
          <p:nvPr/>
        </p:nvSpPr>
        <p:spPr>
          <a:xfrm>
            <a:off x="2560320" y="6830568"/>
            <a:ext cx="2606040" cy="31089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2E75B6"/>
                </a:solidFill>
                <a:latin typeface="Courier New"/>
              </a:rPr>
              <a:t>:30100/process (pf svc/s0)</a:t>
            </a:r>
          </a:p>
        </p:txBody>
      </p:sp>
      <p:sp>
        <p:nvSpPr>
          <p:cNvPr id="23" name="Rectangle 22"/>
          <p:cNvSpPr/>
          <p:nvPr/>
        </p:nvSpPr>
        <p:spPr>
          <a:xfrm>
            <a:off x="5166360" y="6830568"/>
            <a:ext cx="2606040" cy="31089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D3690F"/>
                </a:solidFill>
                <a:latin typeface="Courier New"/>
              </a:rPr>
              <a:t>:30080/rl-s0/process (Ingress NP)</a:t>
            </a:r>
          </a:p>
        </p:txBody>
      </p:sp>
      <p:sp>
        <p:nvSpPr>
          <p:cNvPr id="24" name="Rectangle 23"/>
          <p:cNvSpPr/>
          <p:nvPr/>
        </p:nvSpPr>
        <p:spPr>
          <a:xfrm>
            <a:off x="365760" y="7141464"/>
            <a:ext cx="2194560" cy="31089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9E2AF"/>
                </a:solidFill>
                <a:latin typeface="Courier New"/>
              </a:rPr>
              <a:t>Resp. esperada</a:t>
            </a:r>
          </a:p>
        </p:txBody>
      </p:sp>
      <p:sp>
        <p:nvSpPr>
          <p:cNvPr id="25" name="Rectangle 24"/>
          <p:cNvSpPr/>
          <p:nvPr/>
        </p:nvSpPr>
        <p:spPr>
          <a:xfrm>
            <a:off x="2560320" y="7141464"/>
            <a:ext cx="2606040" cy="31089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2E75B6"/>
                </a:solidFill>
                <a:latin typeface="Courier New"/>
              </a:rPr>
              <a:t>200 siempre</a:t>
            </a:r>
          </a:p>
        </p:txBody>
      </p:sp>
      <p:sp>
        <p:nvSpPr>
          <p:cNvPr id="26" name="Rectangle 25"/>
          <p:cNvSpPr/>
          <p:nvPr/>
        </p:nvSpPr>
        <p:spPr>
          <a:xfrm>
            <a:off x="5166360" y="7141464"/>
            <a:ext cx="2606040" cy="31089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D3690F"/>
                </a:solidFill>
                <a:latin typeface="Courier New"/>
              </a:rPr>
              <a:t>200 o 429 (rate limited)</a:t>
            </a:r>
          </a:p>
        </p:txBody>
      </p:sp>
      <p:sp>
        <p:nvSpPr>
          <p:cNvPr id="27" name="Rectangle 26"/>
          <p:cNvSpPr/>
          <p:nvPr/>
        </p:nvSpPr>
        <p:spPr>
          <a:xfrm>
            <a:off x="365760" y="7452360"/>
            <a:ext cx="2194560" cy="31089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9E2AF"/>
                </a:solidFill>
                <a:latin typeface="Courier New"/>
              </a:rPr>
              <a:t>Test especial</a:t>
            </a:r>
          </a:p>
        </p:txBody>
      </p:sp>
      <p:sp>
        <p:nvSpPr>
          <p:cNvPr id="28" name="Rectangle 27"/>
          <p:cNvSpPr/>
          <p:nvPr/>
        </p:nvSpPr>
        <p:spPr>
          <a:xfrm>
            <a:off x="2560320" y="7452360"/>
            <a:ext cx="2606040" cy="31089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2E75B6"/>
                </a:solidFill>
                <a:latin typeface="Courier New"/>
              </a:rPr>
              <a:t>test-lateral-blocking.sh</a:t>
            </a:r>
          </a:p>
        </p:txBody>
      </p:sp>
      <p:sp>
        <p:nvSpPr>
          <p:cNvPr id="29" name="Rectangle 28"/>
          <p:cNvSpPr/>
          <p:nvPr/>
        </p:nvSpPr>
        <p:spPr>
          <a:xfrm>
            <a:off x="5166360" y="7452360"/>
            <a:ext cx="2606040" cy="31089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D3690F"/>
                </a:solidFill>
                <a:latin typeface="Courier New"/>
              </a:rPr>
              <a:t>Counter rate_limited_responses</a:t>
            </a:r>
          </a:p>
        </p:txBody>
      </p:sp>
      <p:sp>
        <p:nvSpPr>
          <p:cNvPr id="30" name="Rectangle 29"/>
          <p:cNvSpPr/>
          <p:nvPr/>
        </p:nvSpPr>
        <p:spPr>
          <a:xfrm>
            <a:off x="365760" y="7763256"/>
            <a:ext cx="2194560" cy="31089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9E2AF"/>
                </a:solidFill>
                <a:latin typeface="Courier New"/>
              </a:rPr>
              <a:t>Limpieza previa</a:t>
            </a:r>
          </a:p>
        </p:txBody>
      </p:sp>
      <p:sp>
        <p:nvSpPr>
          <p:cNvPr id="31" name="Rectangle 30"/>
          <p:cNvSpPr/>
          <p:nvPr/>
        </p:nvSpPr>
        <p:spPr>
          <a:xfrm>
            <a:off x="2560320" y="7763256"/>
            <a:ext cx="2606040" cy="31089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2E75B6"/>
                </a:solidFill>
                <a:latin typeface="Courier New"/>
              </a:rPr>
              <a:t>remove-policies (propias)</a:t>
            </a:r>
          </a:p>
        </p:txBody>
      </p:sp>
      <p:sp>
        <p:nvSpPr>
          <p:cNvPr id="32" name="Rectangle 31"/>
          <p:cNvSpPr/>
          <p:nvPr/>
        </p:nvSpPr>
        <p:spPr>
          <a:xfrm>
            <a:off x="5166360" y="7763256"/>
            <a:ext cx="2606040" cy="31089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D3690F"/>
                </a:solidFill>
                <a:latin typeface="Courier New"/>
              </a:rPr>
              <a:t>remove-rl + elimina NetPol de C3</a:t>
            </a:r>
          </a:p>
        </p:txBody>
      </p:sp>
      <p:sp>
        <p:nvSpPr>
          <p:cNvPr id="33" name="Rectangle 32"/>
          <p:cNvSpPr/>
          <p:nvPr/>
        </p:nvSpPr>
        <p:spPr>
          <a:xfrm>
            <a:off x="365760" y="8074152"/>
            <a:ext cx="2194560" cy="31089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9E2AF"/>
                </a:solidFill>
                <a:latin typeface="Courier New"/>
              </a:rPr>
              <a:t>Análisis extra</a:t>
            </a:r>
          </a:p>
        </p:txBody>
      </p:sp>
      <p:sp>
        <p:nvSpPr>
          <p:cNvPr id="34" name="Rectangle 33"/>
          <p:cNvSpPr/>
          <p:nvPr/>
        </p:nvSpPr>
        <p:spPr>
          <a:xfrm>
            <a:off x="2560320" y="8074152"/>
            <a:ext cx="2606040" cy="31089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2E75B6"/>
                </a:solidFill>
                <a:latin typeface="Courier New"/>
              </a:rPr>
              <a:t>—</a:t>
            </a:r>
          </a:p>
        </p:txBody>
      </p:sp>
      <p:sp>
        <p:nvSpPr>
          <p:cNvPr id="35" name="Rectangle 34"/>
          <p:cNvSpPr/>
          <p:nvPr/>
        </p:nvSpPr>
        <p:spPr>
          <a:xfrm>
            <a:off x="5166360" y="8074152"/>
            <a:ext cx="2606040" cy="31089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D3690F"/>
                </a:solidFill>
                <a:latin typeface="Courier New"/>
              </a:rPr>
              <a:t>fail_rate incluye 429 como esperado</a:t>
            </a:r>
          </a:p>
        </p:txBody>
      </p:sp>
      <p:sp>
        <p:nvSpPr>
          <p:cNvPr id="36" name="Rectangle 35"/>
          <p:cNvSpPr/>
          <p:nvPr/>
        </p:nvSpPr>
        <p:spPr>
          <a:xfrm>
            <a:off x="6080760" y="1143000"/>
            <a:ext cx="2834640" cy="210312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limit-rps vs limit-burst-multiplier</a:t>
            </a:r>
          </a:p>
          <a:p>
            <a:r>
              <a:rPr sz="1000">
                <a:solidFill>
                  <a:srgbClr val="555555"/>
                </a:solidFill>
              </a:rPr>
              <a:t>limit-rps: 20 → NGINX limita a 20 req/s
POR IP de cliente.
limit-burst-multiplier: 2 → permite
ráfagas de hasta 40 req/s antes de
rechazar con 429 Too Many Requests.
NGINX usa el algoritmo Leaky Bucket:
  - Token bucket de capacidad 20×2=40
  - Rellena 20 tokens/s
  - Si el bucket está vacío → 429
Con k6 a VUS=50 y sleep=0.1s:
  50 VUs × 10 req/s = 500 req/s
  → muchos 429 esperados</a:t>
            </a:r>
          </a:p>
        </p:txBody>
      </p:sp>
      <p:sp>
        <p:nvSpPr>
          <p:cNvPr id="37" name="Rectangle 36"/>
          <p:cNvSpPr/>
          <p:nvPr/>
        </p:nvSpPr>
        <p:spPr>
          <a:xfrm>
            <a:off x="9052560" y="1143000"/>
            <a:ext cx="2834640" cy="210312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/rl-s0 vs /process — path diferente</a:t>
            </a:r>
          </a:p>
          <a:p>
            <a:r>
              <a:rPr sz="1000">
                <a:solidFill>
                  <a:srgbClr val="555555"/>
                </a:solidFill>
              </a:rPr>
              <a:t>El Ingress expone un path NUEVO:
  path: /rl-s0 → svc/s0:80
vs el baseline y C3 que usan:
  port-forward → svc/s0:30100/process
Con rate limiting activo el tráfico
pasa por el NGINX Ingress Controller
(que aplica las anotaciones) y llega
a s0 como HTTP normal.
El target_url del test RL es:
  localhost:30080/rl-s0/process
  (NodePort del NGINX IC = 30080)</a:t>
            </a:r>
          </a:p>
        </p:txBody>
      </p:sp>
      <p:sp>
        <p:nvSpPr>
          <p:cNvPr id="38" name="Rectangle 37"/>
          <p:cNvSpPr/>
          <p:nvPr/>
        </p:nvSpPr>
        <p:spPr>
          <a:xfrm>
            <a:off x="6080760" y="3383280"/>
            <a:ext cx="2834640" cy="210312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Limpieza cross-experimento</a:t>
            </a:r>
          </a:p>
          <a:p>
            <a:r>
              <a:rPr sz="1000">
                <a:solidFill>
                  <a:srgbClr val="555555"/>
                </a:solidFill>
              </a:rPr>
              <a:t>apply-rate-limit-safe.sh hace:
  # Limpia NetworkPolicy de C3
  kubectl delete -f \
    ../03-network-policies/policies/\
    network-policies.yaml --ignore-not-found
Razón: si C3 dejó las NetworkPolicy
activas, el NGINX Ingress (que corre
en el namespace ingress) no puede
conectarse a svc/s0 en default.
Esta es la ÚNICA dependencia explícita
entre experimentos en todo el proyecto.</a:t>
            </a:r>
          </a:p>
        </p:txBody>
      </p:sp>
      <p:sp>
        <p:nvSpPr>
          <p:cNvPr id="39" name="Rectangle 38"/>
          <p:cNvSpPr/>
          <p:nvPr/>
        </p:nvSpPr>
        <p:spPr>
          <a:xfrm>
            <a:off x="9052560" y="3383280"/>
            <a:ext cx="2834640" cy="210312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VUS 10/25/50 vs 5/10/20</a:t>
            </a:r>
          </a:p>
          <a:p>
            <a:r>
              <a:rPr sz="1000">
                <a:solidFill>
                  <a:srgbClr val="555555"/>
                </a:solidFill>
              </a:rPr>
              <a:t>C4 usa cargas MAYORES que C3:
  C3: VUS=5,10,20  (rango suave)
  C4: VUS=10,25,50 (rango agresivo)
Motivación: con limit-rps=20 a VUS=5
y sleep=0.1s cada VU genera 10 req/s
→ total 50 req/s → pocas veces dispara
el límite de 20 req/s por IP.
Con VUS=50 y sleep=0.1s → 500 req/s
→ el rate limit se dispara con frecuencia
→ se observa el comportamiento real del
throttling y del burst buffer.</a:t>
            </a:r>
          </a:p>
        </p:txBody>
      </p:sp>
      <p:sp>
        <p:nvSpPr>
          <p:cNvPr id="40" name="Rectangle 39"/>
          <p:cNvSpPr/>
          <p:nvPr/>
        </p:nvSpPr>
        <p:spPr>
          <a:xfrm>
            <a:off x="6080760" y="5623560"/>
            <a:ext cx="2834640" cy="210312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X-Rate-Limit-Mode header</a:t>
            </a:r>
          </a:p>
          <a:p>
            <a:r>
              <a:rPr sz="1000">
                <a:solidFill>
                  <a:srgbClr val="555555"/>
                </a:solidFill>
              </a:rPr>
              <a:t>La anotación configuration-snippet
agrega un header a TODAS las respuestas:
  add_header X-Rate-Limit-Mode 'enabled'
Permite verificar desde k6 o curl que
el Ingress con rate limit está activo:
  curl -v http://localhost:30080/rl-s0/process
  → X-Rate-Limit-Mode: enabled
Sin este header → el baseline también
pasa por 30080 y sería ambiguo saber
si el RL está activo o no.</a:t>
            </a:r>
          </a:p>
        </p:txBody>
      </p:sp>
      <p:sp>
        <p:nvSpPr>
          <p:cNvPr id="41" name="Rectangle 40"/>
          <p:cNvSpPr/>
          <p:nvPr/>
        </p:nvSpPr>
        <p:spPr>
          <a:xfrm>
            <a:off x="9052560" y="5623560"/>
            <a:ext cx="2834640" cy="210312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Estructura del directorio</a:t>
            </a:r>
          </a:p>
          <a:p>
            <a:r>
              <a:rPr sz="1000">
                <a:solidFill>
                  <a:srgbClr val="555555"/>
                </a:solidFill>
              </a:rPr>
              <a:t>04-rate-limiting/
  run-control4-safe.sh         # dispatcher
  run-control4-autopilot-safe.sh
  monitor-control4.sh
  baseline/
    run-baseline-safe.sh
    (remove-rl + pf :30200)
  ratelimit/
    ingress-rate-limit.yaml    # 1 Ingress
    apply-rate-limit-safe.sh   # + limpia C3
    remove-rate-limit.sh
    run-rl-tests-safe.sh       # :30080/rl-s0
  tests/
    test-rl-baseline.js
    test-rl-enabled.js  (Counter 429)
  analysis/
    analyze-rl-results.py</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ingress-rate-limit.yaml — anatomía del objeto Ingress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limit-rps=20 · burst=40 · Leaky Bucket · configuration-snippet · path /rl-s0 · ingressClassName:nginx · backend svc/s0:80</a:t>
            </a:r>
          </a:p>
        </p:txBody>
      </p:sp>
      <p:sp>
        <p:nvSpPr>
          <p:cNvPr id="5" name="Rectangle 4"/>
          <p:cNvSpPr/>
          <p:nvPr/>
        </p:nvSpPr>
        <p:spPr>
          <a:xfrm>
            <a:off x="365760" y="1143000"/>
            <a:ext cx="5577840" cy="51206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apiVersion: networking.k8s.io/v1</a:t>
            </a:r>
          </a:p>
          <a:p>
            <a:r>
              <a:rPr sz="1100">
                <a:solidFill>
                  <a:srgbClr val="CBD3F0"/>
                </a:solidFill>
                <a:latin typeface="Courier New"/>
              </a:rPr>
              <a:t>kind: Ingress</a:t>
            </a:r>
          </a:p>
          <a:p>
            <a:r>
              <a:rPr sz="1100">
                <a:solidFill>
                  <a:srgbClr val="CBD3F0"/>
                </a:solidFill>
                <a:latin typeface="Courier New"/>
              </a:rPr>
              <a:t>metadata:</a:t>
            </a:r>
          </a:p>
          <a:p>
            <a:r>
              <a:rPr sz="1100">
                <a:solidFill>
                  <a:srgbClr val="CBD3F0"/>
                </a:solidFill>
                <a:latin typeface="Courier New"/>
              </a:rPr>
              <a:t>  name: s0-rl-ingress</a:t>
            </a:r>
          </a:p>
          <a:p>
            <a:r>
              <a:rPr sz="1100">
                <a:solidFill>
                  <a:srgbClr val="CBD3F0"/>
                </a:solidFill>
                <a:latin typeface="Courier New"/>
              </a:rPr>
              <a:t>  namespace: default</a:t>
            </a:r>
          </a:p>
          <a:p>
            <a:r>
              <a:rPr sz="1100">
                <a:solidFill>
                  <a:srgbClr val="CBD3F0"/>
                </a:solidFill>
                <a:latin typeface="Courier New"/>
              </a:rPr>
              <a:t>  annotations:</a:t>
            </a:r>
          </a:p>
          <a:p>
            <a:r>
              <a:rPr sz="1100">
                <a:solidFill>
                  <a:srgbClr val="CBD3F0"/>
                </a:solidFill>
                <a:latin typeface="Courier New"/>
              </a:rPr>
              <a:t>    # ① TASA MÁXIMA: 20 req/s por IP de cliente</a:t>
            </a:r>
          </a:p>
          <a:p>
            <a:r>
              <a:rPr sz="1100">
                <a:solidFill>
                  <a:srgbClr val="F9E2AF"/>
                </a:solidFill>
                <a:latin typeface="Courier New"/>
              </a:rPr>
              <a:t>    #   Activa ngx_http_limit_req_module de NGINX</a:t>
            </a:r>
          </a:p>
          <a:p>
            <a:r>
              <a:rPr sz="1100">
                <a:solidFill>
                  <a:srgbClr val="CBD3F0"/>
                </a:solidFill>
                <a:latin typeface="Courier New"/>
              </a:rPr>
              <a:t>    #   Si se supera → responde 429 Too Many Requests</a:t>
            </a:r>
          </a:p>
          <a:p>
            <a:r>
              <a:rPr sz="1100">
                <a:solidFill>
                  <a:srgbClr val="CBD3F0"/>
                </a:solidFill>
                <a:latin typeface="Courier New"/>
              </a:rPr>
              <a:t>    nginx.ingress.kubernetes.io/limit-rps: '20'</a:t>
            </a:r>
          </a:p>
          <a:p>
            <a:r>
              <a:rPr sz="1100">
                <a:solidFill>
                  <a:srgbClr val="CBD3F0"/>
                </a:solidFill>
                <a:latin typeface="Courier New"/>
              </a:rPr>
              <a:t/>
            </a:r>
          </a:p>
          <a:p>
            <a:r>
              <a:rPr sz="1100">
                <a:solidFill>
                  <a:srgbClr val="CBD3F0"/>
                </a:solidFill>
                <a:latin typeface="Courier New"/>
              </a:rPr>
              <a:t>    # ② BURST: bucket = 20 × 2 = 40 tokens</a:t>
            </a:r>
          </a:p>
          <a:p>
            <a:r>
              <a:rPr sz="1100">
                <a:solidFill>
                  <a:srgbClr val="F9E2AF"/>
                </a:solidFill>
                <a:latin typeface="Courier New"/>
              </a:rPr>
              <a:t>    #   Ráfagas cortas pueden consumir hasta 40 req</a:t>
            </a:r>
          </a:p>
          <a:p>
            <a:r>
              <a:rPr sz="1100">
                <a:solidFill>
                  <a:srgbClr val="CBD3F0"/>
                </a:solidFill>
                <a:latin typeface="Courier New"/>
              </a:rPr>
              <a:t>    #   antes de que empiece el throttling real</a:t>
            </a:r>
          </a:p>
          <a:p>
            <a:r>
              <a:rPr sz="1100">
                <a:solidFill>
                  <a:srgbClr val="CBD3F0"/>
                </a:solidFill>
                <a:latin typeface="Courier New"/>
              </a:rPr>
              <a:t>    nginx.ingress.kubernetes.io/limit-burst-multiplier: '2'</a:t>
            </a:r>
          </a:p>
          <a:p>
            <a:r>
              <a:rPr sz="1100">
                <a:solidFill>
                  <a:srgbClr val="CBD3F0"/>
                </a:solidFill>
                <a:latin typeface="Courier New"/>
              </a:rPr>
              <a:t/>
            </a:r>
          </a:p>
          <a:p>
            <a:r>
              <a:rPr sz="1100">
                <a:solidFill>
                  <a:srgbClr val="CBD3F0"/>
                </a:solidFill>
                <a:latin typeface="Courier New"/>
              </a:rPr>
              <a:t>    # ③ ACCESS LOG: activa logs en el pod del IC</a:t>
            </a:r>
          </a:p>
          <a:p>
            <a:r>
              <a:rPr sz="1100">
                <a:solidFill>
                  <a:srgbClr val="F9E2AF"/>
                </a:solidFill>
                <a:latin typeface="Courier New"/>
              </a:rPr>
              <a:t>    #   Permite ver en logs qué IPs están limitadas</a:t>
            </a:r>
          </a:p>
          <a:p>
            <a:r>
              <a:rPr sz="1100">
                <a:solidFill>
                  <a:srgbClr val="CBD3F0"/>
                </a:solidFill>
                <a:latin typeface="Courier New"/>
              </a:rPr>
              <a:t>    nginx.ingress.kubernetes.io/enable-access-log: 'true'</a:t>
            </a:r>
          </a:p>
          <a:p>
            <a:r>
              <a:rPr sz="1100">
                <a:solidFill>
                  <a:srgbClr val="CBD3F0"/>
                </a:solidFill>
                <a:latin typeface="Courier New"/>
              </a:rPr>
              <a:t/>
            </a:r>
          </a:p>
          <a:p>
            <a:r>
              <a:rPr sz="1100">
                <a:solidFill>
                  <a:srgbClr val="CBD3F0"/>
                </a:solidFill>
                <a:latin typeface="Courier New"/>
              </a:rPr>
              <a:t>    # ④ SNIPPET: inyecta directiva NGINX raw en location{}</a:t>
            </a:r>
          </a:p>
          <a:p>
            <a:r>
              <a:rPr sz="1100">
                <a:solidFill>
                  <a:srgbClr val="F9E2AF"/>
                </a:solidFill>
                <a:latin typeface="Courier New"/>
              </a:rPr>
              <a:t>    #   add_header en TODAS las respuestas (200 y 429)</a:t>
            </a:r>
          </a:p>
          <a:p>
            <a:r>
              <a:rPr sz="1100">
                <a:solidFill>
                  <a:srgbClr val="CBD3F0"/>
                </a:solidFill>
                <a:latin typeface="Courier New"/>
              </a:rPr>
              <a:t>    #   Permite verificar que el RL está activo con curl</a:t>
            </a:r>
          </a:p>
          <a:p>
            <a:r>
              <a:rPr sz="1100">
                <a:solidFill>
                  <a:srgbClr val="CBD3F0"/>
                </a:solidFill>
                <a:latin typeface="Courier New"/>
              </a:rPr>
              <a:t>    nginx.ingress.kubernetes.io/configuration-snippet: |</a:t>
            </a:r>
          </a:p>
          <a:p>
            <a:r>
              <a:rPr sz="1100">
                <a:solidFill>
                  <a:srgbClr val="CBD3F0"/>
                </a:solidFill>
                <a:latin typeface="Courier New"/>
              </a:rPr>
              <a:t>      add_header X-Rate-Limit-Mode 'enabled' always;</a:t>
            </a:r>
          </a:p>
          <a:p>
            <a:r>
              <a:rPr sz="1100">
                <a:solidFill>
                  <a:srgbClr val="CBD3F0"/>
                </a:solidFill>
                <a:latin typeface="Courier New"/>
              </a:rPr>
              <a:t/>
            </a:r>
          </a:p>
          <a:p>
            <a:r>
              <a:rPr sz="1100">
                <a:solidFill>
                  <a:srgbClr val="CBD3F0"/>
                </a:solidFill>
                <a:latin typeface="Courier New"/>
              </a:rPr>
              <a:t>spec:</a:t>
            </a:r>
          </a:p>
          <a:p>
            <a:r>
              <a:rPr sz="1100">
                <a:solidFill>
                  <a:srgbClr val="CBD3F0"/>
                </a:solidFill>
                <a:latin typeface="Courier New"/>
              </a:rPr>
              <a:t>  # ⑤ Selecciona el NGINX IC instalado en ns 'ingress'</a:t>
            </a:r>
          </a:p>
          <a:p>
            <a:r>
              <a:rPr sz="1100">
                <a:solidFill>
                  <a:srgbClr val="F9E2AF"/>
                </a:solidFill>
                <a:latin typeface="Courier New"/>
              </a:rPr>
              <a:t>  #   Sin esto el Ingress es ignorado (puede haber varios IC)</a:t>
            </a:r>
          </a:p>
          <a:p>
            <a:r>
              <a:rPr sz="1100">
                <a:solidFill>
                  <a:srgbClr val="CBD3F0"/>
                </a:solidFill>
                <a:latin typeface="Courier New"/>
              </a:rPr>
              <a:t>  ingressClassName: nginx</a:t>
            </a:r>
          </a:p>
          <a:p>
            <a:r>
              <a:rPr sz="1100">
                <a:solidFill>
                  <a:srgbClr val="CBD3F0"/>
                </a:solidFill>
                <a:latin typeface="Courier New"/>
              </a:rPr>
              <a:t>  rules:</a:t>
            </a:r>
          </a:p>
          <a:p>
            <a:r>
              <a:rPr sz="1100">
                <a:solidFill>
                  <a:srgbClr val="CBD3F0"/>
                </a:solidFill>
                <a:latin typeface="Courier New"/>
              </a:rPr>
              <a:t>    - http:</a:t>
            </a:r>
          </a:p>
          <a:p>
            <a:r>
              <a:rPr sz="1100">
                <a:solidFill>
                  <a:srgbClr val="CBD3F0"/>
                </a:solidFill>
                <a:latin typeface="Courier New"/>
              </a:rPr>
              <a:t>        paths:</a:t>
            </a:r>
          </a:p>
          <a:p>
            <a:r>
              <a:rPr sz="1100">
                <a:solidFill>
                  <a:srgbClr val="CBD3F0"/>
                </a:solidFill>
                <a:latin typeface="Courier New"/>
              </a:rPr>
              <a:t>          # ⑥ Solo peticiones con URL que empiece por /rl-s0</a:t>
            </a:r>
          </a:p>
          <a:p>
            <a:r>
              <a:rPr sz="1100">
                <a:solidFill>
                  <a:srgbClr val="CBD3F0"/>
                </a:solidFill>
                <a:latin typeface="Courier New"/>
              </a:rPr>
              <a:t>          #   test usa :30080/rl-s0/process</a:t>
            </a:r>
          </a:p>
          <a:p>
            <a:r>
              <a:rPr sz="1100">
                <a:solidFill>
                  <a:srgbClr val="F9E2AF"/>
                </a:solidFill>
                <a:latin typeface="Courier New"/>
              </a:rPr>
              <a:t>          #   baseline usa :30200/process (sin IC)</a:t>
            </a:r>
          </a:p>
          <a:p>
            <a:r>
              <a:rPr sz="1100">
                <a:solidFill>
                  <a:srgbClr val="CBD3F0"/>
                </a:solidFill>
                <a:latin typeface="Courier New"/>
              </a:rPr>
              <a:t>          - path: /rl-s0</a:t>
            </a:r>
          </a:p>
          <a:p>
            <a:r>
              <a:rPr sz="1100">
                <a:solidFill>
                  <a:srgbClr val="CBD3F0"/>
                </a:solidFill>
                <a:latin typeface="Courier New"/>
              </a:rPr>
              <a:t>            pathType: Prefix</a:t>
            </a:r>
          </a:p>
          <a:p>
            <a:r>
              <a:rPr sz="1100">
                <a:solidFill>
                  <a:srgbClr val="CBD3F0"/>
                </a:solidFill>
                <a:latin typeface="Courier New"/>
              </a:rPr>
              <a:t>            backend:</a:t>
            </a:r>
          </a:p>
          <a:p>
            <a:r>
              <a:rPr sz="1100">
                <a:solidFill>
                  <a:srgbClr val="CBD3F0"/>
                </a:solidFill>
                <a:latin typeface="Courier New"/>
              </a:rPr>
              <a:t>              service:</a:t>
            </a:r>
          </a:p>
          <a:p>
            <a:r>
              <a:rPr sz="1100">
                <a:solidFill>
                  <a:srgbClr val="F9E2AF"/>
                </a:solidFill>
                <a:latin typeface="Courier New"/>
              </a:rPr>
              <a:t>                name: s0       # ⑦ proxy a svc/s0:80</a:t>
            </a:r>
          </a:p>
          <a:p>
            <a:r>
              <a:rPr sz="1100">
                <a:solidFill>
                  <a:srgbClr val="CBD3F0"/>
                </a:solidFill>
                <a:latin typeface="Courier New"/>
              </a:rPr>
              <a:t>                port:          #   s0 recibe HTTP normal</a:t>
            </a:r>
          </a:p>
          <a:p>
            <a:r>
              <a:rPr sz="1100">
                <a:solidFill>
                  <a:srgbClr val="CBD3F0"/>
                </a:solidFill>
                <a:latin typeface="Courier New"/>
              </a:rPr>
              <a:t>                  number: 80   #   sin saber que hay RL</a:t>
            </a:r>
          </a:p>
        </p:txBody>
      </p:sp>
      <p:sp>
        <p:nvSpPr>
          <p:cNvPr id="6" name="Rectangle 5"/>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① Leaky Bucket — algoritmo interno</a:t>
            </a:r>
          </a:p>
          <a:p>
            <a:r>
              <a:rPr sz="1000">
                <a:solidFill>
                  <a:srgbClr val="555555"/>
                </a:solidFill>
              </a:rPr>
              <a:t>NGINX usa Leaky Bucket con burst:
  Bucket capacity = limit-rps × burst
                  = 20 × 2 = 40 tokens
  Relleno = 20 tokens por segundo
  Cada request consume 1 token.
  Si bucket vacío → 429 inmediato.
Con k6 VUS=50 sleep=0.1s:
  50 VUs × 10 req/s = 500 req/s
  bucket dura 40/500 = 0.08s
  → ~92% de requests son 429
Con VUS=10 sleep=0.1s:
  10 × 10 = 100 req/s → más 429s
  pero menos que VUS=50</a:t>
            </a:r>
          </a:p>
        </p:txBody>
      </p:sp>
      <p:sp>
        <p:nvSpPr>
          <p:cNvPr id="7" name="Rectangle 6"/>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② 429 vs 503 — diferencia</a:t>
            </a:r>
          </a:p>
          <a:p>
            <a:r>
              <a:rPr sz="1000">
                <a:solidFill>
                  <a:srgbClr val="555555"/>
                </a:solidFill>
              </a:rPr>
              <a:t>El IC puede devolver dos códigos:
  429 Too Many Requests
    → bucket vacío, NGINX rechaza
    → respuesta inmediata del IC
    → s0 NO recibe la petición
  503 Service Unavailable
    → s0 está caído / no disponible
    → el IC no puede hacer proxy
test-rl-enabled.js acepta AMBOS:
  check: [200, 429, 503].includes(status)
  if (status === 429 || status === 503)
    rateLimited.add(1)
El análisis puede separar throttling
(429) de caídas reales (503).</a:t>
            </a:r>
          </a:p>
        </p:txBody>
      </p:sp>
      <p:sp>
        <p:nvSpPr>
          <p:cNvPr id="8" name="Rectangle 7"/>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③ configuration-snippet — verificación</a:t>
            </a:r>
          </a:p>
          <a:p>
            <a:r>
              <a:rPr sz="1000">
                <a:solidFill>
                  <a:srgbClr val="555555"/>
                </a:solidFill>
              </a:rPr>
              <a:t>El header X-Rate-Limit-Mode permite
saber DESDE EL CLIENTE si el Ingress
con RL está activo:
  # Con RL activo:
  curl -v :30080/rl-s0/process
  → X-Rate-Limit-Mode: enabled
  # Sin RL (solo el path cambia):
  curl -v :30200/process
  → (no aparece el header)
También aparece en las 429:
  curl :30080/rl-s0/process
  → HTTP/1.1 429
  → X-Rate-Limit-Mode: enabled
Útil para debug sin necesitar
acceder a los logs del IC.</a:t>
            </a:r>
          </a:p>
        </p:txBody>
      </p:sp>
      <p:sp>
        <p:nvSpPr>
          <p:cNvPr id="9" name="Rectangle 8"/>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④ path /rl-s0 — dos rutas al mismo pod</a:t>
            </a:r>
          </a:p>
          <a:p>
            <a:r>
              <a:rPr sz="1000">
                <a:solidFill>
                  <a:srgbClr val="555555"/>
                </a:solidFill>
              </a:rPr>
              <a:t>El pod s0 es accesible por DOS vías:
  Via 1 — baseline (sin RL):
    port-forward svc/s0 30200:80
    k6 → :30200/process
    → svc/s0:80 directo
    → sin pasar por NGINX IC
    → sin rate limit
  Via 2 — con RL:
    k6 → :30080/rl-s0/process
    → NGINX IC (NodePort 30080)
    → aplica limit-rps=20
    → proxy a svc/s0:80
s0 NO distingue entre las dos vías.
Solo el IC aplica el throttling.</a:t>
            </a:r>
          </a:p>
        </p:txBody>
      </p:sp>
      <p:sp>
        <p:nvSpPr>
          <p:cNvPr id="10" name="Rectangle 9"/>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⑤ ingressClassName — selección del IC</a:t>
            </a:r>
          </a:p>
          <a:p>
            <a:r>
              <a:rPr sz="1000">
                <a:solidFill>
                  <a:srgbClr val="555555"/>
                </a:solidFill>
              </a:rPr>
              <a:t>Sin ingressClassName, K8s no sabe
qué Ingress Controller usar.
En el cluster hay dos IC:
  - nginx (namespace: ingress)
     NodePort :30080
  - (posiblemente kong, istio, etc.)
ingressClassName: nginx selecciona
el IC cuyo IngressClass tiene
  metadata.name: nginx
El NGINX IC aplica las annotations
como directivas NGINX en el nginx.conf
del pod del controller:
  limit_req_zone $binary_remote_addr
    zone=...:10m rate=20r/s;
  limit_req zone=... burst=40;</a:t>
            </a:r>
          </a:p>
        </p:txBody>
      </p:sp>
      <p:sp>
        <p:nvSpPr>
          <p:cNvPr id="11" name="Rectangle 10"/>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⑥ Flujo completo con RL activo</a:t>
            </a:r>
          </a:p>
          <a:p>
            <a:r>
              <a:rPr sz="1000">
                <a:solidFill>
                  <a:srgbClr val="555555"/>
                </a:solidFill>
              </a:rPr>
              <a:t>k6 VU → POST :30080/rl-s0/process
  1. NodePort 30080 → NGINX IC pod
  2. IC evalúa limit_req:
     ¿bucket tiene tokens?
     SÍ → consume 1 token
       → proxy a svc/s0:80
       → s0 procesa → 200 OK
     NO → bucket vacío
       → responde 429 directo
       → add_header RL-Mode enabled
       → s0 nunca ve la petición
  3. k6 recibe 200 o 429:
     200 → check OK
     429 → rateLimited.add(1)
           check OK (acepta 429)
     503 → rateLimited.add(1)</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Integración C4 ↔ C3 — por qué apply-rate-limit limpia las NetworkPolicies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C3 (default ns) puede bloquear el NGINX Ingress Controller · C3-realistic (mubench-realistic) es independiente · validación de la ruta relativa</a:t>
            </a:r>
          </a:p>
        </p:txBody>
      </p:sp>
      <p:sp>
        <p:nvSpPr>
          <p:cNvPr id="5" name="Rectangle 4"/>
          <p:cNvSpPr/>
          <p:nvPr/>
        </p:nvSpPr>
        <p:spPr>
          <a:xfrm>
            <a:off x="365760" y="1143000"/>
            <a:ext cx="5577840" cy="22860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apply-rate-limit-safe.sh</a:t>
            </a:r>
          </a:p>
          <a:p>
            <a:r>
              <a:rPr sz="1100">
                <a:solidFill>
                  <a:srgbClr val="F9E2AF"/>
                </a:solidFill>
                <a:latin typeface="Courier New"/>
              </a:rPr>
              <a:t>ROOT_DIR='$(cd $(dirname ${BASH_SOURCE[0]})/.. &amp;&amp; pwd)'</a:t>
            </a:r>
          </a:p>
          <a:p>
            <a:r>
              <a:rPr sz="1100">
                <a:solidFill>
                  <a:srgbClr val="CBD3F0"/>
                </a:solidFill>
                <a:latin typeface="Courier New"/>
              </a:rPr>
              <a:t>ING_FILE='$ROOT_DIR/ratelimit/ingress-rate-limit.yaml'</a:t>
            </a:r>
          </a:p>
          <a:p>
            <a:r>
              <a:rPr sz="1100">
                <a:solidFill>
                  <a:srgbClr val="CBD3F0"/>
                </a:solidFill>
                <a:latin typeface="Courier New"/>
              </a:rPr>
              <a:t/>
            </a:r>
          </a:p>
          <a:p>
            <a:r>
              <a:rPr sz="1100">
                <a:solidFill>
                  <a:srgbClr val="CBD3F0"/>
                </a:solidFill>
                <a:latin typeface="Courier New"/>
              </a:rPr>
              <a:t># Ruta relativa: experiments/04-rate-limiting/../03-network-policies/</a:t>
            </a:r>
          </a:p>
          <a:p>
            <a:r>
              <a:rPr sz="1100">
                <a:solidFill>
                  <a:srgbClr val="F9E2AF"/>
                </a:solidFill>
                <a:latin typeface="Courier New"/>
              </a:rPr>
              <a:t>if [[ -f '$ROOT_DIR/../03-network-policies/policies/network-policies.yaml' ]]; then</a:t>
            </a:r>
          </a:p>
          <a:p>
            <a:r>
              <a:rPr sz="1100">
                <a:solidFill>
                  <a:srgbClr val="F9E2AF"/>
                </a:solidFill>
                <a:latin typeface="Courier New"/>
              </a:rPr>
              <a:t>  kubectl delete -f \ </a:t>
            </a:r>
          </a:p>
          <a:p>
            <a:r>
              <a:rPr sz="1100">
                <a:solidFill>
                  <a:srgbClr val="CBD3F0"/>
                </a:solidFill>
                <a:latin typeface="Courier New"/>
              </a:rPr>
              <a:t>    '$ROOT_DIR/../03-network-policies/policies/network-policies.yaml' \</a:t>
            </a:r>
          </a:p>
          <a:p>
            <a:r>
              <a:rPr sz="1100">
                <a:solidFill>
                  <a:srgbClr val="CBD3F0"/>
                </a:solidFill>
                <a:latin typeface="Courier New"/>
              </a:rPr>
              <a:t>    --ignore-not-found &gt;/dev/null 2&gt;&amp;1 || true</a:t>
            </a:r>
          </a:p>
          <a:p>
            <a:r>
              <a:rPr sz="1100">
                <a:solidFill>
                  <a:srgbClr val="CBD3F0"/>
                </a:solidFill>
                <a:latin typeface="Courier New"/>
              </a:rPr>
              <a:t>fi</a:t>
            </a:r>
          </a:p>
          <a:p>
            <a:r>
              <a:rPr sz="1100">
                <a:solidFill>
                  <a:srgbClr val="CBD3F0"/>
                </a:solidFill>
                <a:latin typeface="Courier New"/>
              </a:rPr>
              <a:t/>
            </a:r>
          </a:p>
          <a:p>
            <a:r>
              <a:rPr sz="1100">
                <a:solidFill>
                  <a:srgbClr val="CBD3F0"/>
                </a:solidFill>
                <a:latin typeface="Courier New"/>
              </a:rPr>
              <a:t>kubectl apply -f '$ING_FILE'</a:t>
            </a:r>
          </a:p>
          <a:p>
            <a:r>
              <a:rPr sz="1100">
                <a:solidFill>
                  <a:srgbClr val="CBD3F0"/>
                </a:solidFill>
                <a:latin typeface="Courier New"/>
              </a:rPr>
              <a:t>echo '[ratelimit] Ingress con rate limiting aplicado'</a:t>
            </a:r>
          </a:p>
        </p:txBody>
      </p:sp>
      <p:sp>
        <p:nvSpPr>
          <p:cNvPr id="6" name="Rectangle 5"/>
          <p:cNvSpPr/>
          <p:nvPr/>
        </p:nvSpPr>
        <p:spPr>
          <a:xfrm>
            <a:off x="365760" y="3566160"/>
            <a:ext cx="5577840" cy="32004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Namespace default — servicios sintéticos MuBench</a:t>
            </a:r>
          </a:p>
          <a:p>
            <a:r>
              <a:rPr sz="1100">
                <a:solidFill>
                  <a:srgbClr val="F9E2AF"/>
                </a:solidFill>
                <a:latin typeface="Courier New"/>
              </a:rPr>
              <a:t>#</a:t>
            </a:r>
          </a:p>
          <a:p>
            <a:r>
              <a:rPr sz="1100">
                <a:solidFill>
                  <a:srgbClr val="CBD3F0"/>
                </a:solidFill>
                <a:latin typeface="Courier New"/>
              </a:rPr>
              <a:t>#  NGINX IC (ns: ingress) → :30080 → s0 (ns: default)</a:t>
            </a:r>
          </a:p>
          <a:p>
            <a:r>
              <a:rPr sz="1100">
                <a:solidFill>
                  <a:srgbClr val="CBD3F0"/>
                </a:solidFill>
                <a:latin typeface="Courier New"/>
              </a:rPr>
              <a:t>#                                      ↑</a:t>
            </a:r>
          </a:p>
          <a:p>
            <a:r>
              <a:rPr sz="1100">
                <a:solidFill>
                  <a:srgbClr val="CBD3F0"/>
                </a:solidFill>
                <a:latin typeface="Courier New"/>
              </a:rPr>
              <a:t>#  Si C3 dejó activa np-default-deny-apps:</a:t>
            </a:r>
          </a:p>
          <a:p>
            <a:r>
              <a:rPr sz="1100">
                <a:solidFill>
                  <a:srgbClr val="F9E2AF"/>
                </a:solidFill>
                <a:latin typeface="Courier New"/>
              </a:rPr>
              <a:t>#    podSelector: {app In [s0, s1, sdb1]}</a:t>
            </a:r>
          </a:p>
          <a:p>
            <a:r>
              <a:rPr sz="1100">
                <a:solidFill>
                  <a:srgbClr val="CBD3F0"/>
                </a:solidFill>
                <a:latin typeface="Courier New"/>
              </a:rPr>
              <a:t>#    policyTypes: [Ingress, Egress]</a:t>
            </a:r>
          </a:p>
          <a:p>
            <a:r>
              <a:rPr sz="1100">
                <a:solidFill>
                  <a:srgbClr val="CBD3F0"/>
                </a:solidFill>
                <a:latin typeface="Courier New"/>
              </a:rPr>
              <a:t>#  → NGINX IC está en ns 'ingress', NO en el allow-list</a:t>
            </a:r>
          </a:p>
          <a:p>
            <a:r>
              <a:rPr sz="1100">
                <a:solidFill>
                  <a:srgbClr val="CBD3F0"/>
                </a:solidFill>
                <a:latin typeface="Courier New"/>
              </a:rPr>
              <a:t>#  → kubectl apply Ingress OK, pero requests → 502/503</a:t>
            </a:r>
          </a:p>
          <a:p>
            <a:r>
              <a:rPr sz="1100">
                <a:solidFill>
                  <a:srgbClr val="CBD3F0"/>
                </a:solidFill>
                <a:latin typeface="Courier New"/>
              </a:rPr>
              <a:t>#  → k6 ve fallo silencioso (no error de kubectl)</a:t>
            </a:r>
          </a:p>
          <a:p>
            <a:r>
              <a:rPr sz="1100">
                <a:solidFill>
                  <a:srgbClr val="CBD3F0"/>
                </a:solidFill>
                <a:latin typeface="Courier New"/>
              </a:rPr>
              <a:t/>
            </a:r>
          </a:p>
          <a:p>
            <a:r>
              <a:rPr sz="1100">
                <a:solidFill>
                  <a:srgbClr val="F9E2AF"/>
                </a:solidFill>
                <a:latin typeface="Courier New"/>
              </a:rPr>
              <a:t># Namespace mubench-realistic — servicios reales</a:t>
            </a:r>
          </a:p>
          <a:p>
            <a:r>
              <a:rPr sz="1100">
                <a:solidFill>
                  <a:srgbClr val="CBD3F0"/>
                </a:solidFill>
                <a:latin typeface="Courier New"/>
              </a:rPr>
              <a:t>#</a:t>
            </a:r>
          </a:p>
          <a:p>
            <a:r>
              <a:rPr sz="1100">
                <a:solidFill>
                  <a:srgbClr val="CBD3F0"/>
                </a:solidFill>
                <a:latin typeface="Courier New"/>
              </a:rPr>
              <a:t>#  03-netpol-realistic usa 'namespace: mubench-realistic'</a:t>
            </a:r>
          </a:p>
          <a:p>
            <a:r>
              <a:rPr sz="1100">
                <a:solidFill>
                  <a:srgbClr val="CBD3F0"/>
                </a:solidFill>
                <a:latin typeface="Courier New"/>
              </a:rPr>
              <a:t>#  Las NetworkPolicy de mubench-realistic NO afectan</a:t>
            </a:r>
          </a:p>
          <a:p>
            <a:r>
              <a:rPr sz="1100">
                <a:solidFill>
                  <a:srgbClr val="CBD3F0"/>
                </a:solidFill>
                <a:latin typeface="Courier New"/>
              </a:rPr>
              <a:t>#  a los pods de 'default' (ns distinto = aislado)</a:t>
            </a:r>
          </a:p>
          <a:p>
            <a:r>
              <a:rPr sz="1100">
                <a:solidFill>
                  <a:srgbClr val="CBD3F0"/>
                </a:solidFill>
                <a:latin typeface="Courier New"/>
              </a:rPr>
              <a:t>#</a:t>
            </a:r>
          </a:p>
          <a:p>
            <a:r>
              <a:rPr sz="1100">
                <a:solidFill>
                  <a:srgbClr val="F9E2AF"/>
                </a:solidFill>
                <a:latin typeface="Courier New"/>
              </a:rPr>
              <a:t>#  Además run-exp03-realistic.sh tiene trap cleanup EXIT:</a:t>
            </a:r>
          </a:p>
          <a:p>
            <a:r>
              <a:rPr sz="1100">
                <a:solidFill>
                  <a:srgbClr val="CBD3F0"/>
                </a:solidFill>
                <a:latin typeface="Courier New"/>
              </a:rPr>
              <a:t>#  → sus 8 NP se eliminan automáticamente al terminar</a:t>
            </a:r>
          </a:p>
          <a:p>
            <a:r>
              <a:rPr sz="1100">
                <a:solidFill>
                  <a:srgbClr val="CBD3F0"/>
                </a:solidFill>
                <a:latin typeface="Courier New"/>
              </a:rPr>
              <a:t>#  → C4 nunca verá las policies de mubench-realistic</a:t>
            </a:r>
          </a:p>
          <a:p>
            <a:r>
              <a:rPr sz="1100">
                <a:solidFill>
                  <a:srgbClr val="CBD3F0"/>
                </a:solidFill>
                <a:latin typeface="Courier New"/>
              </a:rPr>
              <a:t/>
            </a:r>
          </a:p>
          <a:p>
            <a:r>
              <a:rPr sz="1100">
                <a:solidFill>
                  <a:srgbClr val="CBD3F0"/>
                </a:solidFill>
                <a:latin typeface="Courier New"/>
              </a:rPr>
              <a:t># CONCLUSIÓN:</a:t>
            </a:r>
          </a:p>
          <a:p>
            <a:r>
              <a:rPr sz="1100">
                <a:solidFill>
                  <a:srgbClr val="F9E2AF"/>
                </a:solidFill>
                <a:latin typeface="Courier New"/>
              </a:rPr>
              <a:t>#  apply-rate-limit-safe.sh solo limpia 03-netpol (default)</a:t>
            </a:r>
          </a:p>
          <a:p>
            <a:r>
              <a:rPr sz="1100">
                <a:solidFill>
                  <a:srgbClr val="CBD3F0"/>
                </a:solidFill>
                <a:latin typeface="Courier New"/>
              </a:rPr>
              <a:t>#  Nunca necesita limpiar 03-netpol-REALISTIC (otro ns)</a:t>
            </a:r>
          </a:p>
        </p:txBody>
      </p:sp>
      <p:sp>
        <p:nvSpPr>
          <p:cNvPr id="7" name="Rectangle 6"/>
          <p:cNvSpPr/>
          <p:nvPr/>
        </p:nvSpPr>
        <p:spPr>
          <a:xfrm>
            <a:off x="6080760" y="114300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¿Por qué 502 y no error de kubectl?</a:t>
            </a:r>
          </a:p>
          <a:p>
            <a:r>
              <a:rPr sz="1000">
                <a:solidFill>
                  <a:srgbClr val="555555"/>
                </a:solidFill>
              </a:rPr>
              <a:t>La NetworkPolicy no bloquea el kubectl:
kubectl habla con kube-apiserver, no
con s0 directamente.
El flujo que ROMPE es:
  NGINX IC pod (ns: ingress)
  → svc/s0:80 (ns: default)
np-default-deny-apps niega TODO
ingress a s0. El IC no está en
el allow-list (solo está permitido
desde s0 mismo en port 8080).
Resultado: 502 Bad Gateway desde
NGINX IC → k6 registra http_req_failed
sin mensaje de error de kubectl.</a:t>
            </a:r>
          </a:p>
        </p:txBody>
      </p:sp>
      <p:sp>
        <p:nvSpPr>
          <p:cNvPr id="8" name="Rectangle 7"/>
          <p:cNvSpPr/>
          <p:nvPr/>
        </p:nvSpPr>
        <p:spPr>
          <a:xfrm>
            <a:off x="90525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Ruta relativa — resolución en disco</a:t>
            </a:r>
          </a:p>
          <a:p>
            <a:r>
              <a:rPr sz="1000">
                <a:solidFill>
                  <a:srgbClr val="555555"/>
                </a:solidFill>
              </a:rPr>
              <a:t>ROOT_DIR = experiments/04-rate-limiting
La ruta del if:
  $ROOT_DIR/../03-network-policies/
   policies/network-policies.yaml
Resuelve a:
  experiments/03-network-policies/
   policies/network-policies.yaml
El if [[ -f ... ]] verifica que el
archivo EXISTE antes de pasarlo a
kubectl delete → evita error si C3
nunca fue clonado/ejecutado.
--ignore-not-found: si la policy
ya fue borrada, no falla.</a:t>
            </a:r>
          </a:p>
        </p:txBody>
      </p:sp>
      <p:sp>
        <p:nvSpPr>
          <p:cNvPr id="9" name="Rectangle 8"/>
          <p:cNvSpPr/>
          <p:nvPr/>
        </p:nvSpPr>
        <p:spPr>
          <a:xfrm>
            <a:off x="6080760" y="338328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C3-realistic: independencia total</a:t>
            </a:r>
          </a:p>
          <a:p>
            <a:r>
              <a:rPr sz="1000">
                <a:solidFill>
                  <a:srgbClr val="555555"/>
                </a:solidFill>
              </a:rPr>
              <a:t>03-network-policies-realistic:
  namespace: mubench-realistic
04-rate-limiting Ingress:
  namespace: default
En K8s, las NetworkPolicy son
NAMESPACE-SCOPED: solo aplican
a pods del mismo namespace.
Una NP en mubench-realistic
NUNCA afecta a un pod en default.
Además, el trap cleanup de
run-exp03-realistic.sh garantiza
que sus 8 NP se borran al salir,
sin necesidad de limpieza manual.</a:t>
            </a:r>
          </a:p>
        </p:txBody>
      </p:sp>
      <p:sp>
        <p:nvSpPr>
          <p:cNvPr id="10" name="Rectangle 9"/>
          <p:cNvSpPr/>
          <p:nvPr/>
        </p:nvSpPr>
        <p:spPr>
          <a:xfrm>
            <a:off x="90525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Cadena de limpieza completa</a:t>
            </a:r>
          </a:p>
          <a:p>
            <a:r>
              <a:rPr sz="1000">
                <a:solidFill>
                  <a:srgbClr val="555555"/>
                </a:solidFill>
              </a:rPr>
              <a:t>Antes de correr C4 RL tests:
1. baseline/run-baseline-safe.sh
   → remove-rate-limit.sh
      → kubectl delete Ingress
         s0-rl-ingress
2. ratelimit/apply-rate-limit-safe.sh
   → kubectl delete NP de C3 (default)
   → kubectl apply Ingress RL
3. C3-realistic: ya limpio por trap
   al terminar run-exp03-realistic.sh
Orden típico de ejecución:
  C1 → C2 → C3 → C3-realistic
       → C4 (limpia C3 si quedó activo)</a:t>
            </a:r>
          </a:p>
        </p:txBody>
      </p:sp>
      <p:sp>
        <p:nvSpPr>
          <p:cNvPr id="11" name="Rectangle 10"/>
          <p:cNvSpPr/>
          <p:nvPr/>
        </p:nvSpPr>
        <p:spPr>
          <a:xfrm>
            <a:off x="6080760" y="562356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Prueba de la integración — validación</a:t>
            </a:r>
          </a:p>
          <a:p>
            <a:r>
              <a:rPr sz="1000">
                <a:solidFill>
                  <a:srgbClr val="555555"/>
                </a:solidFill>
              </a:rPr>
              <a:t>Para validar que apply-rate-limit
limpia C3 correctamente:
  # 1. Aplicar C3 policies
  kubectl apply -f experiments/\
    03-network-policies/policies/\
    network-policies.yaml
  # 2. Verificar que bloquea IC
  curl http://localhost:30080/rl-s0/process
  # → 502 Bad Gateway
  # 3. Ejecutar apply-rate-limit
  bash ratelimit/apply-rate-limit-safe.sh
  # 4. Verificar que ahora funciona
  curl http://localhost:30080/rl-s0/process
  # → 200 OK + X-Rate-Limit-Mode: enabled</a:t>
            </a:r>
          </a:p>
        </p:txBody>
      </p:sp>
      <p:sp>
        <p:nvSpPr>
          <p:cNvPr id="12" name="Rectangle 11"/>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Única dependencia cross-experimento</a:t>
            </a:r>
          </a:p>
          <a:p>
            <a:r>
              <a:rPr sz="1000">
                <a:solidFill>
                  <a:srgbClr val="555555"/>
                </a:solidFill>
              </a:rPr>
              <a:t>En todo el proyecto, esta es la
ÚNICA dependencia explícita entre
experimentos documentada en código:
  C4.apply → borra C3.NP (default)
Otros experimentos son independientes:
  C1 (API GW) → default ns, no NP
  C2 (mTLS) → Istio/Linkerd, no NP
  C3 (NP) → default ns, policies
  C3-realistic → mubench-realistic
  C4 (RL) → default ns, Ingress
Si se ejecuta C4 SIN haber corrido
C3, el if [[ -f ... ]] evalúa false
y el delete se salta → sin error.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Scripts de rate limiting — tests k6 y runners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test-rl-baseline.js · test-rl-enabled.js (Counter 429) · run-rl-tests-safe.sh sin ensure_portforward · remove-rate-limit.sh</a:t>
            </a:r>
          </a:p>
        </p:txBody>
      </p:sp>
      <p:sp>
        <p:nvSpPr>
          <p:cNvPr id="5" name="Rectangle 4"/>
          <p:cNvSpPr/>
          <p:nvPr/>
        </p:nvSpPr>
        <p:spPr>
          <a:xfrm>
            <a:off x="365760" y="1143000"/>
            <a:ext cx="3840480" cy="30632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test-rl-baseline.js</a:t>
            </a:r>
          </a:p>
          <a:p>
            <a:r>
              <a:rPr sz="1100">
                <a:solidFill>
                  <a:srgbClr val="F9E2AF"/>
                </a:solidFill>
                <a:latin typeface="Courier New"/>
              </a:rPr>
              <a:t>// Sin RL activo — mide latencia base</a:t>
            </a:r>
          </a:p>
          <a:p>
            <a:r>
              <a:rPr sz="1100">
                <a:solidFill>
                  <a:srgbClr val="CBD3F0"/>
                </a:solidFill>
                <a:latin typeface="Courier New"/>
              </a:rPr>
              <a:t>thresholds: {</a:t>
            </a:r>
          </a:p>
          <a:p>
            <a:r>
              <a:rPr sz="1100">
                <a:solidFill>
                  <a:srgbClr val="F9E2AF"/>
                </a:solidFill>
                <a:latin typeface="Courier New"/>
              </a:rPr>
              <a:t>  http_req_duration: ['p(95)&lt;1200'],</a:t>
            </a:r>
          </a:p>
          <a:p>
            <a:r>
              <a:rPr sz="1100">
                <a:solidFill>
                  <a:srgbClr val="CBD3F0"/>
                </a:solidFill>
                <a:latin typeface="Courier New"/>
              </a:rPr>
              <a:t>  http_req_failed:   ['rate&lt;0.05'],</a:t>
            </a:r>
          </a:p>
          <a:p>
            <a:r>
              <a:rPr sz="1100">
                <a:solidFill>
                  <a:srgbClr val="CBD3F0"/>
                </a:solidFill>
                <a:latin typeface="Courier New"/>
              </a:rPr>
              <a:t>}</a:t>
            </a:r>
          </a:p>
          <a:p>
            <a:r>
              <a:rPr sz="1100">
                <a:solidFill>
                  <a:srgbClr val="CBD3F0"/>
                </a:solidFill>
                <a:latin typeface="Courier New"/>
              </a:rPr>
              <a:t>// POST a :30200/process (port-forward directo)</a:t>
            </a:r>
          </a:p>
          <a:p>
            <a:r>
              <a:rPr sz="1100">
                <a:solidFill>
                  <a:srgbClr val="F9E2AF"/>
                </a:solidFill>
                <a:latin typeface="Courier New"/>
              </a:rPr>
              <a:t>const payload = JSON.stringify(</a:t>
            </a:r>
          </a:p>
          <a:p>
            <a:r>
              <a:rPr sz="1100">
                <a:solidFill>
                  <a:srgbClr val="CBD3F0"/>
                </a:solidFill>
                <a:latin typeface="Courier New"/>
              </a:rPr>
              <a:t>  { mode: 'rl-baseline' });</a:t>
            </a:r>
          </a:p>
          <a:p>
            <a:r>
              <a:rPr sz="1100">
                <a:solidFill>
                  <a:srgbClr val="CBD3F0"/>
                </a:solidFill>
                <a:latin typeface="Courier New"/>
              </a:rPr>
              <a:t>http.post(targetUrl, payload, params);</a:t>
            </a:r>
          </a:p>
          <a:p>
            <a:r>
              <a:rPr sz="1100">
                <a:solidFill>
                  <a:srgbClr val="CBD3F0"/>
                </a:solidFill>
                <a:latin typeface="Courier New"/>
              </a:rPr>
              <a:t>sleep(0.1);  // 10 req/s por VU</a:t>
            </a:r>
          </a:p>
        </p:txBody>
      </p:sp>
      <p:sp>
        <p:nvSpPr>
          <p:cNvPr id="6" name="Rectangle 5"/>
          <p:cNvSpPr/>
          <p:nvPr/>
        </p:nvSpPr>
        <p:spPr>
          <a:xfrm>
            <a:off x="365760" y="4343400"/>
            <a:ext cx="3840480" cy="23774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test-rl-enabled.js — Counter de 429</a:t>
            </a:r>
          </a:p>
          <a:p>
            <a:r>
              <a:rPr sz="1100">
                <a:solidFill>
                  <a:srgbClr val="F9E2AF"/>
                </a:solidFill>
                <a:latin typeface="Courier New"/>
              </a:rPr>
              <a:t>import { Counter } from 'k6/metrics';</a:t>
            </a:r>
          </a:p>
          <a:p>
            <a:r>
              <a:rPr sz="1100">
                <a:solidFill>
                  <a:srgbClr val="F9E2AF"/>
                </a:solidFill>
                <a:latin typeface="Courier New"/>
              </a:rPr>
              <a:t>const rateLimited = new Counter(</a:t>
            </a:r>
          </a:p>
          <a:p>
            <a:r>
              <a:rPr sz="1100">
                <a:solidFill>
                  <a:srgbClr val="CBD3F0"/>
                </a:solidFill>
                <a:latin typeface="Courier New"/>
              </a:rPr>
              <a:t>  'rate_limited_responses');</a:t>
            </a:r>
          </a:p>
          <a:p>
            <a:r>
              <a:rPr sz="1100">
                <a:solidFill>
                  <a:srgbClr val="CBD3F0"/>
                </a:solidFill>
                <a:latin typeface="Courier New"/>
              </a:rPr>
              <a:t/>
            </a:r>
          </a:p>
          <a:p>
            <a:r>
              <a:rPr sz="1100">
                <a:solidFill>
                  <a:srgbClr val="CBD3F0"/>
                </a:solidFill>
                <a:latin typeface="Courier New"/>
              </a:rPr>
              <a:t>thresholds: {</a:t>
            </a:r>
          </a:p>
          <a:p>
            <a:r>
              <a:rPr sz="1100">
                <a:solidFill>
                  <a:srgbClr val="CBD3F0"/>
                </a:solidFill>
                <a:latin typeface="Courier New"/>
              </a:rPr>
              <a:t>  http_req_duration: ['p(95)&lt;1500'],</a:t>
            </a:r>
          </a:p>
          <a:p>
            <a:r>
              <a:rPr sz="1100">
                <a:solidFill>
                  <a:srgbClr val="F9E2AF"/>
                </a:solidFill>
                <a:latin typeface="Courier New"/>
              </a:rPr>
              <a:t>  http_req_failed:   ['rate&lt;0.30'], // 30%!</a:t>
            </a:r>
          </a:p>
          <a:p>
            <a:r>
              <a:rPr sz="1100">
                <a:solidFill>
                  <a:srgbClr val="CBD3F0"/>
                </a:solidFill>
                <a:latin typeface="Courier New"/>
              </a:rPr>
              <a:t>}</a:t>
            </a:r>
          </a:p>
          <a:p>
            <a:r>
              <a:rPr sz="1100">
                <a:solidFill>
                  <a:srgbClr val="CBD3F0"/>
                </a:solidFill>
                <a:latin typeface="Courier New"/>
              </a:rPr>
              <a:t>// POST a :30080/rl-s0/process (Ingress)</a:t>
            </a:r>
          </a:p>
          <a:p>
            <a:r>
              <a:rPr sz="1100">
                <a:solidFill>
                  <a:srgbClr val="F9E2AF"/>
                </a:solidFill>
                <a:latin typeface="Courier New"/>
              </a:rPr>
              <a:t>if (res.status === 429 || res.status === 503) {</a:t>
            </a:r>
          </a:p>
          <a:p>
            <a:r>
              <a:rPr sz="1100">
                <a:solidFill>
                  <a:srgbClr val="CBD3F0"/>
                </a:solidFill>
                <a:latin typeface="Courier New"/>
              </a:rPr>
              <a:t>  rateLimited.add(1);</a:t>
            </a:r>
          </a:p>
          <a:p>
            <a:r>
              <a:rPr sz="1100">
                <a:solidFill>
                  <a:srgbClr val="CBD3F0"/>
                </a:solidFill>
                <a:latin typeface="Courier New"/>
              </a:rPr>
              <a:t>}</a:t>
            </a:r>
          </a:p>
          <a:p>
            <a:r>
              <a:rPr sz="1100">
                <a:solidFill>
                  <a:srgbClr val="CBD3F0"/>
                </a:solidFill>
                <a:latin typeface="Courier New"/>
              </a:rPr>
              <a:t>check(res, {</a:t>
            </a:r>
          </a:p>
          <a:p>
            <a:r>
              <a:rPr sz="1100">
                <a:solidFill>
                  <a:srgbClr val="F9E2AF"/>
                </a:solidFill>
                <a:latin typeface="Courier New"/>
              </a:rPr>
              <a:t>  // 200 Y 429 son 'aceptados'</a:t>
            </a:r>
          </a:p>
          <a:p>
            <a:r>
              <a:rPr sz="1100">
                <a:solidFill>
                  <a:srgbClr val="CBD3F0"/>
                </a:solidFill>
                <a:latin typeface="Courier New"/>
              </a:rPr>
              <a:t>  'status accepted': r =&gt;</a:t>
            </a:r>
          </a:p>
          <a:p>
            <a:r>
              <a:rPr sz="1100">
                <a:solidFill>
                  <a:srgbClr val="CBD3F0"/>
                </a:solidFill>
                <a:latin typeface="Courier New"/>
              </a:rPr>
              <a:t>    [200, 429, 503].includes(r.status),</a:t>
            </a:r>
          </a:p>
          <a:p>
            <a:r>
              <a:rPr sz="1100">
                <a:solidFill>
                  <a:srgbClr val="CBD3F0"/>
                </a:solidFill>
                <a:latin typeface="Courier New"/>
              </a:rPr>
              <a:t>})</a:t>
            </a:r>
          </a:p>
          <a:p>
            <a:r>
              <a:rPr sz="1100">
                <a:solidFill>
                  <a:srgbClr val="CBD3F0"/>
                </a:solidFill>
                <a:latin typeface="Courier New"/>
              </a:rPr>
              <a:t>sleep(0.1);</a:t>
            </a:r>
          </a:p>
        </p:txBody>
      </p:sp>
      <p:sp>
        <p:nvSpPr>
          <p:cNvPr id="7" name="Rectangle 6"/>
          <p:cNvSpPr/>
          <p:nvPr/>
        </p:nvSpPr>
        <p:spPr>
          <a:xfrm>
            <a:off x="4343400" y="1143000"/>
            <a:ext cx="4160520" cy="27432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run-rl-tests-safe.sh — sin ensure_portforward</a:t>
            </a:r>
          </a:p>
          <a:p>
            <a:r>
              <a:rPr sz="1100">
                <a:solidFill>
                  <a:srgbClr val="F9E2AF"/>
                </a:solidFill>
                <a:latin typeface="Courier New"/>
              </a:rPr>
              <a:t>TARGET_URL='http://localhost:30080/rl-s0/process'</a:t>
            </a:r>
          </a:p>
          <a:p>
            <a:r>
              <a:rPr sz="1100">
                <a:solidFill>
                  <a:srgbClr val="CBD3F0"/>
                </a:solidFill>
                <a:latin typeface="Courier New"/>
              </a:rPr>
              <a:t># Tráfico va vía NGINX Ingress, no port-forward</a:t>
            </a:r>
          </a:p>
          <a:p>
            <a:r>
              <a:rPr sz="1100">
                <a:solidFill>
                  <a:srgbClr val="CBD3F0"/>
                </a:solidFill>
                <a:latin typeface="Courier New"/>
              </a:rPr>
              <a:t/>
            </a:r>
          </a:p>
          <a:p>
            <a:r>
              <a:rPr sz="1100">
                <a:solidFill>
                  <a:srgbClr val="F9E2AF"/>
                </a:solidFill>
                <a:latin typeface="Courier New"/>
              </a:rPr>
              <a:t>for vus in 10 25 50; do    # cargas agresivas</a:t>
            </a:r>
          </a:p>
          <a:p>
            <a:r>
              <a:rPr sz="1100">
                <a:solidFill>
                  <a:srgbClr val="CBD3F0"/>
                </a:solidFill>
                <a:latin typeface="Courier New"/>
              </a:rPr>
              <a:t>  for rep in 1 2 3; do</a:t>
            </a:r>
          </a:p>
          <a:p>
            <a:r>
              <a:rPr sz="1100">
                <a:solidFill>
                  <a:srgbClr val="CBD3F0"/>
                </a:solidFill>
                <a:latin typeface="Courier New"/>
              </a:rPr>
              <a:t>    k6 run --no-thresholds \</a:t>
            </a:r>
          </a:p>
          <a:p>
            <a:r>
              <a:rPr sz="1100">
                <a:solidFill>
                  <a:srgbClr val="CBD3F0"/>
                </a:solidFill>
                <a:latin typeface="Courier New"/>
              </a:rPr>
              <a:t>      -e VUS='$vus' -e DURATION=60s \</a:t>
            </a:r>
          </a:p>
          <a:p>
            <a:r>
              <a:rPr sz="1100">
                <a:solidFill>
                  <a:srgbClr val="CBD3F0"/>
                </a:solidFill>
                <a:latin typeface="Courier New"/>
              </a:rPr>
              <a:t>      --out 'json=$outfile' \</a:t>
            </a:r>
          </a:p>
          <a:p>
            <a:r>
              <a:rPr sz="1100">
                <a:solidFill>
                  <a:srgbClr val="CBD3F0"/>
                </a:solidFill>
                <a:latin typeface="Courier New"/>
              </a:rPr>
              <a:t>      tests/test-rl-enabled.js \</a:t>
            </a:r>
          </a:p>
          <a:p>
            <a:r>
              <a:rPr sz="1100">
                <a:solidFill>
                  <a:srgbClr val="CBD3F0"/>
                </a:solidFill>
                <a:latin typeface="Courier New"/>
              </a:rPr>
              <a:t>      &gt;'$logfile' 2&gt;&amp;1 || true</a:t>
            </a:r>
          </a:p>
          <a:p>
            <a:r>
              <a:rPr sz="1100">
                <a:solidFill>
                  <a:srgbClr val="CBD3F0"/>
                </a:solidFill>
                <a:latin typeface="Courier New"/>
              </a:rPr>
              <a:t>    sleep 20</a:t>
            </a:r>
          </a:p>
          <a:p>
            <a:r>
              <a:rPr sz="1100">
                <a:solidFill>
                  <a:srgbClr val="CBD3F0"/>
                </a:solidFill>
                <a:latin typeface="Courier New"/>
              </a:rPr>
              <a:t>  done</a:t>
            </a:r>
          </a:p>
          <a:p>
            <a:r>
              <a:rPr sz="1100">
                <a:solidFill>
                  <a:srgbClr val="CBD3F0"/>
                </a:solidFill>
                <a:latin typeface="Courier New"/>
              </a:rPr>
              <a:t>done</a:t>
            </a:r>
          </a:p>
          <a:p>
            <a:r>
              <a:rPr sz="1100">
                <a:solidFill>
                  <a:srgbClr val="CBD3F0"/>
                </a:solidFill>
                <a:latin typeface="Courier New"/>
              </a:rPr>
              <a:t/>
            </a:r>
          </a:p>
          <a:p>
            <a:r>
              <a:rPr sz="1100">
                <a:solidFill>
                  <a:srgbClr val="F9E2AF"/>
                </a:solidFill>
                <a:latin typeface="Courier New"/>
              </a:rPr>
              <a:t># baseline/run-baseline-safe.sh — sí tiene pf</a:t>
            </a:r>
          </a:p>
          <a:p>
            <a:r>
              <a:rPr sz="1100">
                <a:solidFill>
                  <a:srgbClr val="CBD3F0"/>
                </a:solidFill>
                <a:latin typeface="Courier New"/>
              </a:rPr>
              <a:t># TARGET_URL=:30200/process (svc/s0 port-forward)</a:t>
            </a:r>
          </a:p>
          <a:p>
            <a:r>
              <a:rPr sz="1100">
                <a:solidFill>
                  <a:srgbClr val="CBD3F0"/>
                </a:solidFill>
                <a:latin typeface="Courier New"/>
              </a:rPr>
              <a:t># seq 1 20 (20 reintentos, no 15)</a:t>
            </a:r>
          </a:p>
          <a:p>
            <a:r>
              <a:rPr sz="1100">
                <a:solidFill>
                  <a:srgbClr val="F9E2AF"/>
                </a:solidFill>
                <a:latin typeface="Courier New"/>
              </a:rPr>
              <a:t># remove-rate-limit.sh ANTES de correr</a:t>
            </a:r>
          </a:p>
        </p:txBody>
      </p:sp>
      <p:sp>
        <p:nvSpPr>
          <p:cNvPr id="8" name="Rectangle 7"/>
          <p:cNvSpPr/>
          <p:nvPr/>
        </p:nvSpPr>
        <p:spPr>
          <a:xfrm>
            <a:off x="4343400" y="4023360"/>
            <a:ext cx="4160520" cy="26974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Comparación test-rl-baseline vs test-rl-enabled</a:t>
            </a:r>
          </a:p>
          <a:p>
            <a:r>
              <a:rPr sz="1100">
                <a:solidFill>
                  <a:srgbClr val="F9E2AF"/>
                </a:solidFill>
                <a:latin typeface="Courier New"/>
              </a:rPr>
              <a:t>#</a:t>
            </a:r>
          </a:p>
          <a:p>
            <a:r>
              <a:rPr sz="1100">
                <a:solidFill>
                  <a:srgbClr val="CBD3F0"/>
                </a:solidFill>
                <a:latin typeface="Courier New"/>
              </a:rPr>
              <a:t># Propiedad         baseline      ratelimit</a:t>
            </a:r>
          </a:p>
          <a:p>
            <a:r>
              <a:rPr sz="1100">
                <a:solidFill>
                  <a:srgbClr val="CBD3F0"/>
                </a:solidFill>
                <a:latin typeface="Courier New"/>
              </a:rPr>
              <a:t># -------------------------------------------------</a:t>
            </a:r>
          </a:p>
          <a:p>
            <a:r>
              <a:rPr sz="1100">
                <a:solidFill>
                  <a:srgbClr val="CBD3F0"/>
                </a:solidFill>
                <a:latin typeface="Courier New"/>
              </a:rPr>
              <a:t># Target URL    :30200/process  :30080/rl-s0/proc</a:t>
            </a:r>
          </a:p>
          <a:p>
            <a:r>
              <a:rPr sz="1100">
                <a:solidFill>
                  <a:srgbClr val="CBD3F0"/>
                </a:solidFill>
                <a:latin typeface="Courier New"/>
              </a:rPr>
              <a:t># Via            port-forward    NGINX Ingress</a:t>
            </a:r>
          </a:p>
          <a:p>
            <a:r>
              <a:rPr sz="1100">
                <a:solidFill>
                  <a:srgbClr val="CBD3F0"/>
                </a:solidFill>
                <a:latin typeface="Courier New"/>
              </a:rPr>
              <a:t># sleep()         0.1s           0.1s (igual)</a:t>
            </a:r>
          </a:p>
          <a:p>
            <a:r>
              <a:rPr sz="1100">
                <a:solidFill>
                  <a:srgbClr val="CBD3F0"/>
                </a:solidFill>
                <a:latin typeface="Courier New"/>
              </a:rPr>
              <a:t># VUS default      10             10  (igual)</a:t>
            </a:r>
          </a:p>
          <a:p>
            <a:r>
              <a:rPr sz="1100">
                <a:solidFill>
                  <a:srgbClr val="CBD3F0"/>
                </a:solidFill>
                <a:latin typeface="Courier New"/>
              </a:rPr>
              <a:t># p(95) umbral   &lt;1200ms        &lt;1500ms</a:t>
            </a:r>
          </a:p>
          <a:p>
            <a:r>
              <a:rPr sz="1100">
                <a:solidFill>
                  <a:srgbClr val="F9E2AF"/>
                </a:solidFill>
                <a:latin typeface="Courier New"/>
              </a:rPr>
              <a:t># fail% umbral     &lt;5%           &lt;30% (acepta 429)</a:t>
            </a:r>
          </a:p>
          <a:p>
            <a:r>
              <a:rPr sz="1100">
                <a:solidFill>
                  <a:srgbClr val="F9E2AF"/>
                </a:solidFill>
                <a:latin typeface="Courier New"/>
              </a:rPr>
              <a:t># Counter k6         —           rate_limited_resp</a:t>
            </a:r>
          </a:p>
          <a:p>
            <a:r>
              <a:rPr sz="1100">
                <a:solidFill>
                  <a:srgbClr val="F9E2AF"/>
                </a:solidFill>
                <a:latin typeface="Courier New"/>
              </a:rPr>
              <a:t># check()       status==200    [200,429,503] OK</a:t>
            </a:r>
          </a:p>
          <a:p>
            <a:r>
              <a:rPr sz="1100">
                <a:solidFill>
                  <a:srgbClr val="F9E2AF"/>
                </a:solidFill>
                <a:latin typeface="Courier New"/>
              </a:rPr>
              <a:t># mode campo    'rl-baseline'  'rl-enabled'</a:t>
            </a:r>
          </a:p>
        </p:txBody>
      </p:sp>
      <p:sp>
        <p:nvSpPr>
          <p:cNvPr id="9" name="Rectangle 8"/>
          <p:cNvSpPr/>
          <p:nvPr/>
        </p:nvSpPr>
        <p:spPr>
          <a:xfrm>
            <a:off x="8641080" y="1143000"/>
            <a:ext cx="2926080" cy="21945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fail&lt;0.30 — 429 como respuesta válida</a:t>
            </a:r>
          </a:p>
          <a:p>
            <a:r>
              <a:rPr sz="1000">
                <a:solidFill>
                  <a:srgbClr val="555555"/>
                </a:solidFill>
              </a:rPr>
              <a:t>El umbral del 30% de fallo es INTENCIONAL:
Con VUS=50 y limit-rps=20:
  50 VUs × 10 req/s = 500 req/s totales
  NGINX permite 20×2 = 40 req/s (burst)
  → ~92% serán rechazados con 429
Si se usara rate&lt;0.05 (como el baseline)
k6 fallaría con exit code 99 y el
runner terminaría con error.
Por eso el check acepta [200, 429, 503]
y el fail rate permite hasta 30%.</a:t>
            </a:r>
          </a:p>
        </p:txBody>
      </p:sp>
      <p:sp>
        <p:nvSpPr>
          <p:cNvPr id="10" name="Rectangle 9"/>
          <p:cNvSpPr/>
          <p:nvPr/>
        </p:nvSpPr>
        <p:spPr>
          <a:xfrm>
            <a:off x="11704320" y="1143000"/>
            <a:ext cx="2926080" cy="21945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Counter rate_limited_responses</a:t>
            </a:r>
          </a:p>
          <a:p>
            <a:r>
              <a:rPr sz="1000">
                <a:solidFill>
                  <a:srgbClr val="555555"/>
                </a:solidFill>
              </a:rPr>
              <a:t>k6 permite métricas personalizadas:
  import { Counter } from 'k6/metrics';
  const rateLimited = new Counter(...);
  if (res.status === 429):
    rateLimited.add(1);
El Counter se exporta al NDJSON como
un metric adicional:
  metric: 'rate_limited_responses'
El análisis puede leer cuántos requests
fueron throttled por VUS/rep, separado
del http_req_failed estándar.</a:t>
            </a:r>
          </a:p>
        </p:txBody>
      </p:sp>
      <p:sp>
        <p:nvSpPr>
          <p:cNvPr id="11" name="Rectangle 10"/>
          <p:cNvSpPr/>
          <p:nvPr/>
        </p:nvSpPr>
        <p:spPr>
          <a:xfrm>
            <a:off x="8641080" y="3474720"/>
            <a:ext cx="2926080" cy="21945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Sin ensure_portforward en RL tests</a:t>
            </a:r>
          </a:p>
          <a:p>
            <a:r>
              <a:rPr sz="1000">
                <a:solidFill>
                  <a:srgbClr val="555555"/>
                </a:solidFill>
              </a:rPr>
              <a:t>run-rl-tests-safe.sh NO tiene
ensure_portforward.
Razón: el tráfico va al NGINX Ingress
Controller (NodePort :30080) que es
un servicio Kubernetes estable:
  - No depende de port-forward
  - No cae cuando hay rollout restart
  - Siempre disponible si el pod IC
    está corriendo
vs baseline que usa port-forward a
svc/s0 → puede caer entre réplicas.</a:t>
            </a:r>
          </a:p>
        </p:txBody>
      </p:sp>
      <p:sp>
        <p:nvSpPr>
          <p:cNvPr id="12" name="Rectangle 11"/>
          <p:cNvSpPr/>
          <p:nvPr/>
        </p:nvSpPr>
        <p:spPr>
          <a:xfrm>
            <a:off x="11704320" y="3474720"/>
            <a:ext cx="2926080" cy="21945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20 reintentos vs 15 (baseline RL)</a:t>
            </a:r>
          </a:p>
          <a:p>
            <a:r>
              <a:rPr sz="1000">
                <a:solidFill>
                  <a:srgbClr val="555555"/>
                </a:solidFill>
              </a:rPr>
              <a:t>run-baseline-safe.sh (C4) usa:
  for _ in $(seq 1 20)  # 20 intentos
vs run-baseline-safe.sh (C3) que usa:
  for _ in $(seq 1 15)  # 15 intentos
El port-forward de C4 va a :30200
(diferente al :30100 de C3 y :30090
de linkerd) para evitar conflictos
si varios experimentos corren en el
mismo cluster simultáneamente.
20 reintentos da 5s extra de margen
para que el pod s0 se estabilice
tras remove-rate-limit.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analyze-rl-results.py — análisis con métricas de throttling</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numpy/pandas · fail_rate como np.mean · rate_limited_responses Counter · autopilot C4 idéntico a C3</a:t>
            </a:r>
          </a:p>
        </p:txBody>
      </p:sp>
      <p:sp>
        <p:nvSpPr>
          <p:cNvPr id="5" name="Rectangle 4"/>
          <p:cNvSpPr/>
          <p:nvPr/>
        </p:nvSpPr>
        <p:spPr>
          <a:xfrm>
            <a:off x="365760" y="1143000"/>
            <a:ext cx="5577840" cy="35661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analyze-rl-results.py</a:t>
            </a:r>
          </a:p>
          <a:p>
            <a:r>
              <a:rPr sz="1100">
                <a:solidFill>
                  <a:srgbClr val="F9E2AF"/>
                </a:solidFill>
                <a:latin typeface="Courier New"/>
              </a:rPr>
              <a:t># Idéntico a analyze-netpol-results.py EXCEPTO:</a:t>
            </a:r>
          </a:p>
          <a:p>
            <a:r>
              <a:rPr sz="1100">
                <a:solidFill>
                  <a:srgbClr val="CBD3F0"/>
                </a:solidFill>
                <a:latin typeface="Courier New"/>
              </a:rPr>
              <a:t># 1. scenario_from_file reconoce 'ratelimit-'</a:t>
            </a:r>
          </a:p>
          <a:p>
            <a:r>
              <a:rPr sz="1100">
                <a:solidFill>
                  <a:srgbClr val="F9E2AF"/>
                </a:solidFill>
                <a:latin typeface="Courier New"/>
              </a:rPr>
              <a:t># 2. fail_rate usa np.mean (no len division manual)</a:t>
            </a:r>
          </a:p>
          <a:p>
            <a:r>
              <a:rPr sz="1100">
                <a:solidFill>
                  <a:srgbClr val="CBD3F0"/>
                </a:solidFill>
                <a:latin typeface="Courier New"/>
              </a:rPr>
              <a:t># 3. Lee rate_limited_responses Counter</a:t>
            </a:r>
          </a:p>
          <a:p>
            <a:r>
              <a:rPr sz="1100">
                <a:solidFill>
                  <a:srgbClr val="CBD3F0"/>
                </a:solidFill>
                <a:latin typeface="Courier New"/>
              </a:rPr>
              <a:t/>
            </a:r>
          </a:p>
          <a:p>
            <a:r>
              <a:rPr sz="1100">
                <a:solidFill>
                  <a:srgbClr val="CBD3F0"/>
                </a:solidFill>
                <a:latin typeface="Courier New"/>
              </a:rPr>
              <a:t>def scenario_from_file(path):</a:t>
            </a:r>
          </a:p>
          <a:p>
            <a:r>
              <a:rPr sz="1100">
                <a:solidFill>
                  <a:srgbClr val="F9E2AF"/>
                </a:solidFill>
                <a:latin typeface="Courier New"/>
              </a:rPr>
              <a:t>    if b.startswith('baseline-'):  return 'baseline'</a:t>
            </a:r>
          </a:p>
          <a:p>
            <a:r>
              <a:rPr sz="1100">
                <a:solidFill>
                  <a:srgbClr val="CBD3F0"/>
                </a:solidFill>
                <a:latin typeface="Courier New"/>
              </a:rPr>
              <a:t>    if b.startswith('ratelimit-'): return 'ratelimit'</a:t>
            </a:r>
          </a:p>
          <a:p>
            <a:r>
              <a:rPr sz="1100">
                <a:solidFill>
                  <a:srgbClr val="CBD3F0"/>
                </a:solidFill>
                <a:latin typeface="Courier New"/>
              </a:rPr>
              <a:t>    return 'unknown'</a:t>
            </a:r>
          </a:p>
          <a:p>
            <a:r>
              <a:rPr sz="1100">
                <a:solidFill>
                  <a:srgbClr val="CBD3F0"/>
                </a:solidFill>
                <a:latin typeface="Courier New"/>
              </a:rPr>
              <a:t/>
            </a:r>
          </a:p>
          <a:p>
            <a:r>
              <a:rPr sz="1100">
                <a:solidFill>
                  <a:srgbClr val="CBD3F0"/>
                </a:solidFill>
                <a:latin typeface="Courier New"/>
              </a:rPr>
              <a:t># Extrae latencia Y fail rate:</a:t>
            </a:r>
          </a:p>
          <a:p>
            <a:r>
              <a:rPr sz="1100">
                <a:solidFill>
                  <a:srgbClr val="F9E2AF"/>
                </a:solidFill>
                <a:latin typeface="Courier New"/>
              </a:rPr>
              <a:t>lat   = extract(points, 'http_req_duration')</a:t>
            </a:r>
          </a:p>
          <a:p>
            <a:r>
              <a:rPr sz="1100">
                <a:solidFill>
                  <a:srgbClr val="CBD3F0"/>
                </a:solidFill>
                <a:latin typeface="Courier New"/>
              </a:rPr>
              <a:t>fails = extract(points, 'http_req_failed')</a:t>
            </a:r>
          </a:p>
          <a:p>
            <a:r>
              <a:rPr sz="1100">
                <a:solidFill>
                  <a:srgbClr val="CBD3F0"/>
                </a:solidFill>
                <a:latin typeface="Courier New"/>
              </a:rPr>
              <a:t>rl    = extract(points, 'rate_limited_responses')</a:t>
            </a:r>
          </a:p>
          <a:p>
            <a:r>
              <a:rPr sz="1100">
                <a:solidFill>
                  <a:srgbClr val="F9E2AF"/>
                </a:solidFill>
                <a:latin typeface="Courier New"/>
              </a:rPr>
              <a:t/>
            </a:r>
          </a:p>
          <a:p>
            <a:r>
              <a:rPr sz="1100">
                <a:solidFill>
                  <a:srgbClr val="CBD3F0"/>
                </a:solidFill>
                <a:latin typeface="Courier New"/>
              </a:rPr>
              <a:t>arr = np.array(lat)</a:t>
            </a:r>
          </a:p>
          <a:p>
            <a:r>
              <a:rPr sz="1100">
                <a:solidFill>
                  <a:srgbClr val="CBD3F0"/>
                </a:solidFill>
                <a:latin typeface="Courier New"/>
              </a:rPr>
              <a:t>fail_rate = float(np.mean(fails)) if fails else 0.0</a:t>
            </a:r>
          </a:p>
          <a:p>
            <a:r>
              <a:rPr sz="1100">
                <a:solidFill>
                  <a:srgbClr val="F9E2AF"/>
                </a:solidFill>
                <a:latin typeface="Courier New"/>
              </a:rPr>
              <a:t>rl_count  = int(sum(rl)) if rl else 0</a:t>
            </a:r>
          </a:p>
          <a:p>
            <a:r>
              <a:rPr sz="1100">
                <a:solidFill>
                  <a:srgbClr val="CBD3F0"/>
                </a:solidFill>
                <a:latin typeface="Courier New"/>
              </a:rPr>
              <a:t/>
            </a:r>
          </a:p>
          <a:p>
            <a:r>
              <a:rPr sz="1100">
                <a:solidFill>
                  <a:srgbClr val="CBD3F0"/>
                </a:solidFill>
                <a:latin typeface="Courier New"/>
              </a:rPr>
              <a:t>rows.append({</a:t>
            </a:r>
          </a:p>
          <a:p>
            <a:r>
              <a:rPr sz="1100">
                <a:solidFill>
                  <a:srgbClr val="CBD3F0"/>
                </a:solidFill>
                <a:latin typeface="Courier New"/>
              </a:rPr>
              <a:t>    'scenario': scenario, 'vus': vus,</a:t>
            </a:r>
          </a:p>
          <a:p>
            <a:r>
              <a:rPr sz="1100">
                <a:solidFill>
                  <a:srgbClr val="CBD3F0"/>
                </a:solidFill>
                <a:latin typeface="Courier New"/>
              </a:rPr>
              <a:t>    'avg_ms':   float(np.mean(arr)),</a:t>
            </a:r>
          </a:p>
          <a:p>
            <a:r>
              <a:rPr sz="1100">
                <a:solidFill>
                  <a:srgbClr val="CBD3F0"/>
                </a:solidFill>
                <a:latin typeface="Courier New"/>
              </a:rPr>
              <a:t>    'p95_ms':   float(np.percentile(arr, 95)),</a:t>
            </a:r>
          </a:p>
          <a:p>
            <a:r>
              <a:rPr sz="1100">
                <a:solidFill>
                  <a:srgbClr val="CBD3F0"/>
                </a:solidFill>
                <a:latin typeface="Courier New"/>
              </a:rPr>
              <a:t>    'p99_ms':   float(np.percentile(arr, 99)),</a:t>
            </a:r>
          </a:p>
          <a:p>
            <a:r>
              <a:rPr sz="1100">
                <a:solidFill>
                  <a:srgbClr val="CBD3F0"/>
                </a:solidFill>
                <a:latin typeface="Courier New"/>
              </a:rPr>
              <a:t>    'fail_rate': fail_rate,</a:t>
            </a:r>
          </a:p>
          <a:p>
            <a:r>
              <a:rPr sz="1100">
                <a:solidFill>
                  <a:srgbClr val="F9E2AF"/>
                </a:solidFill>
                <a:latin typeface="Courier New"/>
              </a:rPr>
              <a:t>    'rl_count':  rl_count,  # requests throttled</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 Igual que netpol: CSV + PNG + MD</a:t>
            </a:r>
          </a:p>
          <a:p>
            <a:r>
              <a:rPr sz="1100">
                <a:solidFill>
                  <a:srgbClr val="CBD3F0"/>
                </a:solidFill>
                <a:latin typeface="Courier New"/>
              </a:rPr>
              <a:t>df.to_csv('rl_summary.csv')</a:t>
            </a:r>
          </a:p>
          <a:p>
            <a:r>
              <a:rPr sz="1100">
                <a:solidFill>
                  <a:srgbClr val="CBD3F0"/>
                </a:solidFill>
                <a:latin typeface="Courier New"/>
              </a:rPr>
              <a:t>plt.savefig('rl_p95_comparison.png', dpi=250)</a:t>
            </a:r>
          </a:p>
        </p:txBody>
      </p:sp>
      <p:sp>
        <p:nvSpPr>
          <p:cNvPr id="6" name="Rectangle 5"/>
          <p:cNvSpPr/>
          <p:nvPr/>
        </p:nvSpPr>
        <p:spPr>
          <a:xfrm>
            <a:off x="365760" y="4846320"/>
            <a:ext cx="5577840" cy="1874519"/>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run-control4-autopilot-safe.sh — idéntico a C3</a:t>
            </a:r>
          </a:p>
          <a:p>
            <a:r>
              <a:rPr sz="1100">
                <a:solidFill>
                  <a:srgbClr val="F9E2AF"/>
                </a:solidFill>
                <a:latin typeface="Courier New"/>
              </a:rPr>
              <a:t># Misma estructura: lock + exec &gt;&gt; log + skip si 9 JSON</a:t>
            </a:r>
          </a:p>
          <a:p>
            <a:r>
              <a:rPr sz="1100">
                <a:solidFill>
                  <a:srgbClr val="CBD3F0"/>
                </a:solidFill>
                <a:latin typeface="Courier New"/>
              </a:rPr>
              <a:t/>
            </a:r>
          </a:p>
          <a:p>
            <a:r>
              <a:rPr sz="1100">
                <a:solidFill>
                  <a:srgbClr val="CBD3F0"/>
                </a:solidFill>
                <a:latin typeface="Courier New"/>
              </a:rPr>
              <a:t>base_count=$(ls results/baseline/*.json | wc -l)</a:t>
            </a:r>
          </a:p>
          <a:p>
            <a:r>
              <a:rPr sz="1100">
                <a:solidFill>
                  <a:srgbClr val="F9E2AF"/>
                </a:solidFill>
                <a:latin typeface="Courier New"/>
              </a:rPr>
              <a:t>if (( base_count &lt; 9 )); then</a:t>
            </a:r>
          </a:p>
          <a:p>
            <a:r>
              <a:rPr sz="1100">
                <a:solidFill>
                  <a:srgbClr val="CBD3F0"/>
                </a:solidFill>
                <a:latin typeface="Courier New"/>
              </a:rPr>
              <a:t>  bash run-control4-safe.sh --scenario baseline</a:t>
            </a:r>
          </a:p>
          <a:p>
            <a:r>
              <a:rPr sz="1100">
                <a:solidFill>
                  <a:srgbClr val="CBD3F0"/>
                </a:solidFill>
                <a:latin typeface="Courier New"/>
              </a:rPr>
              <a:t>fi</a:t>
            </a:r>
          </a:p>
          <a:p>
            <a:r>
              <a:rPr sz="1100">
                <a:solidFill>
                  <a:srgbClr val="CBD3F0"/>
                </a:solidFill>
                <a:latin typeface="Courier New"/>
              </a:rPr>
              <a:t/>
            </a:r>
          </a:p>
          <a:p>
            <a:r>
              <a:rPr sz="1100">
                <a:solidFill>
                  <a:srgbClr val="CBD3F0"/>
                </a:solidFill>
                <a:latin typeface="Courier New"/>
              </a:rPr>
              <a:t>rl_count=$(ls results/ratelimit/*.json | wc -l)</a:t>
            </a:r>
          </a:p>
          <a:p>
            <a:r>
              <a:rPr sz="1100">
                <a:solidFill>
                  <a:srgbClr val="F9E2AF"/>
                </a:solidFill>
                <a:latin typeface="Courier New"/>
              </a:rPr>
              <a:t>if (( rl_count &lt; 9 )); then</a:t>
            </a:r>
          </a:p>
          <a:p>
            <a:r>
              <a:rPr sz="1100">
                <a:solidFill>
                  <a:srgbClr val="CBD3F0"/>
                </a:solidFill>
                <a:latin typeface="Courier New"/>
              </a:rPr>
              <a:t>  bash run-control4-safe.sh --scenario ratelimit</a:t>
            </a:r>
          </a:p>
          <a:p>
            <a:r>
              <a:rPr sz="1100">
                <a:solidFill>
                  <a:srgbClr val="CBD3F0"/>
                </a:solidFill>
                <a:latin typeface="Courier New"/>
              </a:rPr>
              <a:t>fi</a:t>
            </a:r>
          </a:p>
          <a:p>
            <a:r>
              <a:rPr sz="1100">
                <a:solidFill>
                  <a:srgbClr val="CBD3F0"/>
                </a:solidFill>
                <a:latin typeface="Courier New"/>
              </a:rPr>
              <a:t/>
            </a:r>
          </a:p>
          <a:p>
            <a:r>
              <a:rPr sz="1100">
                <a:solidFill>
                  <a:srgbClr val="CBD3F0"/>
                </a:solidFill>
                <a:latin typeface="Courier New"/>
              </a:rPr>
              <a:t>python3 analysis/analyze-rl-results.py \</a:t>
            </a:r>
          </a:p>
          <a:p>
            <a:r>
              <a:rPr sz="1100">
                <a:solidFill>
                  <a:srgbClr val="F9E2AF"/>
                </a:solidFill>
                <a:latin typeface="Courier New"/>
              </a:rPr>
              <a:t>  --results-dir results \</a:t>
            </a:r>
          </a:p>
          <a:p>
            <a:r>
              <a:rPr sz="1100">
                <a:solidFill>
                  <a:srgbClr val="CBD3F0"/>
                </a:solidFill>
                <a:latin typeface="Courier New"/>
              </a:rPr>
              <a:t>  --output-dir analysis/output-final</a:t>
            </a:r>
          </a:p>
        </p:txBody>
      </p:sp>
      <p:sp>
        <p:nvSpPr>
          <p:cNvPr id="7" name="Rectangle 6"/>
          <p:cNvSpPr/>
          <p:nvPr/>
        </p:nvSpPr>
        <p:spPr>
          <a:xfrm>
            <a:off x="6080760" y="1143000"/>
            <a:ext cx="2834640" cy="21945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fail_rate con np.mean vs sum/len</a:t>
            </a:r>
          </a:p>
          <a:p>
            <a:r>
              <a:rPr sz="1000">
                <a:solidFill>
                  <a:srgbClr val="555555"/>
                </a:solidFill>
              </a:rPr>
              <a:t>C3 analyze-netpol-results.py:
  (no incluye fail_rate en el output)
C4 analyze-rl-results.py añade:
  fail_rate = float(np.mean(fails))
np.mean de una lista de 0s y 1s
= fracción de 1s = tasa de error.
Equivalente a sum(fails)/len(fails)
pero más conciso con numpy.
Importante: el 30% de fail_rate en
el escenario RL es ESPERADO (429s),
no un error del sistema.</a:t>
            </a:r>
          </a:p>
        </p:txBody>
      </p:sp>
      <p:sp>
        <p:nvSpPr>
          <p:cNvPr id="8" name="Rectangle 7"/>
          <p:cNvSpPr/>
          <p:nvPr/>
        </p:nvSpPr>
        <p:spPr>
          <a:xfrm>
            <a:off x="9052560" y="1143000"/>
            <a:ext cx="2834640" cy="21945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rl_count — requests throttled</a:t>
            </a:r>
          </a:p>
          <a:p>
            <a:r>
              <a:rPr sz="1000">
                <a:solidFill>
                  <a:srgbClr val="555555"/>
                </a:solidFill>
              </a:rPr>
              <a:t>El campo rl_count en el DataFrame
cuenta los requests con 429/503:
  rl_count = int(sum(rl_points))
Counter k6 → cada vez que se llama
  rateLimited.add(1)
se emite un punto NDJSON con:
  metric: 'rate_limited_responses'
  data.value: 1
sum(rl_points) = número total de
requests rechazados en esa corrida.
Permite calcular el throttle rate:
  rl_count / total_requests × 100</a:t>
            </a:r>
          </a:p>
        </p:txBody>
      </p:sp>
      <p:sp>
        <p:nvSpPr>
          <p:cNvPr id="9" name="Rectangle 8"/>
          <p:cNvSpPr/>
          <p:nvPr/>
        </p:nvSpPr>
        <p:spPr>
          <a:xfrm>
            <a:off x="6080760" y="3474720"/>
            <a:ext cx="2834640" cy="21945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3 artefactos — rl_summary.csv</a:t>
            </a:r>
          </a:p>
          <a:p>
            <a:r>
              <a:rPr sz="1000">
                <a:solidFill>
                  <a:srgbClr val="555555"/>
                </a:solidFill>
              </a:rPr>
              <a:t>analysis/output-final/:
1. rl_summary.csv
   scenario, vus, file, avg_ms, p95_ms,
   p99_ms, fail_rate, rl_count
   (fail_rate y rl_count son nuevos
   respecto a netpol_summary.csv)
2. rl_p95_comparison.png
   baseline (azul) vs ratelimit (naranja)
3. rl_report.md
   Tabla Markdown agrupada por scenario/vus
   con todas las columnas incluyendo
   rl_count promediado por VUS</a:t>
            </a:r>
          </a:p>
        </p:txBody>
      </p:sp>
      <p:sp>
        <p:nvSpPr>
          <p:cNvPr id="10" name="Rectangle 9"/>
          <p:cNvSpPr/>
          <p:nvPr/>
        </p:nvSpPr>
        <p:spPr>
          <a:xfrm>
            <a:off x="9052560" y="3474720"/>
            <a:ext cx="2834640" cy="219456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Comparativa final C1 → C4</a:t>
            </a:r>
          </a:p>
          <a:p>
            <a:r>
              <a:rPr sz="1000">
                <a:solidFill>
                  <a:srgbClr val="555555"/>
                </a:solidFill>
              </a:rPr>
              <a:t>Los 4 controles comparan overhead de:
  C1 — API Gateway
    baseline vs NGINX vs Kong
    L7 proxy overhead
  C2 — mTLS Service Mesh
    baseline vs Istio vs Linkerd
    mTLS handshake overhead
  C3 — Network Policies
    baseline vs policies K8s
    L3/L4 kernel overhead
  C4 — Rate Limiting
    baseline vs NGINX RL (L7)
    throttling behavior a escala</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Experiments / 04-rate-limiting-realistic</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Rate limiting en mubench-realistic · EnvoyFilter sobre Istio IngressGateway · token_bucket Envoy · :31486 · sin autopilot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04-rate-limiting-realistic — EnvoyFilter sobre Istio IngressGateway</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Namespace mubench-realistic · EnvoyFilter (no Ingress) · token_bucket Envoy · :31486 · trap cleanup · sin autopilot</a:t>
            </a:r>
          </a:p>
        </p:txBody>
      </p:sp>
      <p:sp>
        <p:nvSpPr>
          <p:cNvPr id="5" name="Rectangle 4"/>
          <p:cNvSpPr/>
          <p:nvPr/>
        </p:nvSpPr>
        <p:spPr>
          <a:xfrm>
            <a:off x="365760" y="1143000"/>
            <a:ext cx="5577840" cy="41148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run-exp04-realistic.sh — estructura idéntica a 03-realistic</a:t>
            </a:r>
          </a:p>
          <a:p>
            <a:r>
              <a:rPr sz="1100">
                <a:solidFill>
                  <a:srgbClr val="F9E2AF"/>
                </a:solidFill>
                <a:latin typeface="Courier New"/>
              </a:rPr>
              <a:t>URL='http://localhost:31486'  # Istio IngressGateway NodePort</a:t>
            </a:r>
          </a:p>
          <a:p>
            <a:r>
              <a:rPr sz="1100">
                <a:solidFill>
                  <a:srgbClr val="CBD3F0"/>
                </a:solidFill>
                <a:latin typeface="Courier New"/>
              </a:rPr>
              <a:t/>
            </a:r>
          </a:p>
          <a:p>
            <a:r>
              <a:rPr sz="1100">
                <a:solidFill>
                  <a:srgbClr val="CBD3F0"/>
                </a:solidFill>
                <a:latin typeface="Courier New"/>
              </a:rPr>
              <a:t># 1. BASELINE (sin rate limit)</a:t>
            </a:r>
          </a:p>
          <a:p>
            <a:r>
              <a:rPr sz="1100">
                <a:solidFill>
                  <a:srgbClr val="CBD3F0"/>
                </a:solidFill>
                <a:latin typeface="Courier New"/>
              </a:rPr>
              <a:t>for vus in 5 10 20; do</a:t>
            </a:r>
          </a:p>
          <a:p>
            <a:r>
              <a:rPr sz="1100">
                <a:solidFill>
                  <a:srgbClr val="CBD3F0"/>
                </a:solidFill>
                <a:latin typeface="Courier New"/>
              </a:rPr>
              <a:t>  for rep in 1 2 3; do</a:t>
            </a:r>
          </a:p>
          <a:p>
            <a:r>
              <a:rPr sz="1100">
                <a:solidFill>
                  <a:srgbClr val="CBD3F0"/>
                </a:solidFill>
                <a:latin typeface="Courier New"/>
              </a:rPr>
              <a:t>    k6 run -e TARGET_URL=$URL -e VUS=$vus \</a:t>
            </a:r>
          </a:p>
          <a:p>
            <a:r>
              <a:rPr sz="1100">
                <a:solidFill>
                  <a:srgbClr val="CBD3F0"/>
                </a:solidFill>
                <a:latin typeface="Courier New"/>
              </a:rPr>
              <a:t>      tests/test-baseline.js  # GET /api status==200</a:t>
            </a:r>
          </a:p>
          <a:p>
            <a:r>
              <a:rPr sz="1100">
                <a:solidFill>
                  <a:srgbClr val="CBD3F0"/>
                </a:solidFill>
                <a:latin typeface="Courier New"/>
              </a:rPr>
              <a:t>    sleep 10</a:t>
            </a:r>
          </a:p>
          <a:p>
            <a:r>
              <a:rPr sz="1100">
                <a:solidFill>
                  <a:srgbClr val="CBD3F0"/>
                </a:solidFill>
                <a:latin typeface="Courier New"/>
              </a:rPr>
              <a:t>  done</a:t>
            </a:r>
          </a:p>
          <a:p>
            <a:r>
              <a:rPr sz="1100">
                <a:solidFill>
                  <a:srgbClr val="CBD3F0"/>
                </a:solidFill>
                <a:latin typeface="Courier New"/>
              </a:rPr>
              <a:t>done</a:t>
            </a:r>
          </a:p>
          <a:p>
            <a:r>
              <a:rPr sz="1100">
                <a:solidFill>
                  <a:srgbClr val="CBD3F0"/>
                </a:solidFill>
                <a:latin typeface="Courier New"/>
              </a:rPr>
              <a:t/>
            </a:r>
          </a:p>
          <a:p>
            <a:r>
              <a:rPr sz="1100">
                <a:solidFill>
                  <a:srgbClr val="CBD3F0"/>
                </a:solidFill>
                <a:latin typeface="Courier New"/>
              </a:rPr>
              <a:t># 2. RATELIMIT (apply EnvoyFilter + espera 15s)</a:t>
            </a:r>
          </a:p>
          <a:p>
            <a:r>
              <a:rPr sz="1100">
                <a:solidFill>
                  <a:srgbClr val="F9E2AF"/>
                </a:solidFill>
                <a:latin typeface="Courier New"/>
              </a:rPr>
              <a:t>kubectl apply -f manifests/envoyfilter-ratelimit.yaml</a:t>
            </a:r>
          </a:p>
          <a:p>
            <a:r>
              <a:rPr sz="1100">
                <a:solidFill>
                  <a:srgbClr val="F9E2AF"/>
                </a:solidFill>
                <a:latin typeface="Courier New"/>
              </a:rPr>
              <a:t>sleep 15  # EnvoyFilter necesita propagarse a los sidecars</a:t>
            </a:r>
          </a:p>
          <a:p>
            <a:r>
              <a:rPr sz="1100">
                <a:solidFill>
                  <a:srgbClr val="F9E2AF"/>
                </a:solidFill>
                <a:latin typeface="Courier New"/>
              </a:rPr>
              <a:t/>
            </a:r>
          </a:p>
          <a:p>
            <a:r>
              <a:rPr sz="1100">
                <a:solidFill>
                  <a:srgbClr val="CBD3F0"/>
                </a:solidFill>
                <a:latin typeface="Courier New"/>
              </a:rPr>
              <a:t># Verificar 3 requests manuales</a:t>
            </a:r>
          </a:p>
          <a:p>
            <a:r>
              <a:rPr sz="1100">
                <a:solidFill>
                  <a:srgbClr val="CBD3F0"/>
                </a:solidFill>
                <a:latin typeface="Courier New"/>
              </a:rPr>
              <a:t>for i in 1 2 3; do</a:t>
            </a:r>
          </a:p>
          <a:p>
            <a:r>
              <a:rPr sz="1100">
                <a:solidFill>
                  <a:srgbClr val="CBD3F0"/>
                </a:solidFill>
                <a:latin typeface="Courier New"/>
              </a:rPr>
              <a:t>  STATUS=$(curl -s -o /dev/null -w '%{http_code}' $URL/api)</a:t>
            </a:r>
          </a:p>
          <a:p>
            <a:r>
              <a:rPr sz="1100">
                <a:solidFill>
                  <a:srgbClr val="CBD3F0"/>
                </a:solidFill>
                <a:latin typeface="Courier New"/>
              </a:rPr>
              <a:t>  echo 'req $i → HTTP $STATUS'  # puede ser 200 o 429</a:t>
            </a:r>
          </a:p>
          <a:p>
            <a:r>
              <a:rPr sz="1100">
                <a:solidFill>
                  <a:srgbClr val="CBD3F0"/>
                </a:solidFill>
                <a:latin typeface="Courier New"/>
              </a:rPr>
              <a:t>done</a:t>
            </a:r>
          </a:p>
          <a:p>
            <a:r>
              <a:rPr sz="1100">
                <a:solidFill>
                  <a:srgbClr val="CBD3F0"/>
                </a:solidFill>
                <a:latin typeface="Courier New"/>
              </a:rPr>
              <a:t/>
            </a:r>
          </a:p>
          <a:p>
            <a:r>
              <a:rPr sz="1100">
                <a:solidFill>
                  <a:srgbClr val="CBD3F0"/>
                </a:solidFill>
                <a:latin typeface="Courier New"/>
              </a:rPr>
              <a:t>for vus in 5 10 20; do</a:t>
            </a:r>
          </a:p>
          <a:p>
            <a:r>
              <a:rPr sz="1100">
                <a:solidFill>
                  <a:srgbClr val="CBD3F0"/>
                </a:solidFill>
                <a:latin typeface="Courier New"/>
              </a:rPr>
              <a:t>  for rep in 1 2 3; do</a:t>
            </a:r>
          </a:p>
          <a:p>
            <a:r>
              <a:rPr sz="1100">
                <a:solidFill>
                  <a:srgbClr val="F9E2AF"/>
                </a:solidFill>
                <a:latin typeface="Courier New"/>
              </a:rPr>
              <a:t>    k6 run -e TARGET_URL=$URL -e VUS=$vus \</a:t>
            </a:r>
          </a:p>
          <a:p>
            <a:r>
              <a:rPr sz="1100">
                <a:solidFill>
                  <a:srgbClr val="CBD3F0"/>
                </a:solidFill>
                <a:latin typeface="Courier New"/>
              </a:rPr>
              <a:t>      tests/test-ratelimit.js  # acepta 200 y 429</a:t>
            </a:r>
          </a:p>
          <a:p>
            <a:r>
              <a:rPr sz="1100">
                <a:solidFill>
                  <a:srgbClr val="CBD3F0"/>
                </a:solidFill>
                <a:latin typeface="Courier New"/>
              </a:rPr>
              <a:t>    sleep 10</a:t>
            </a:r>
          </a:p>
          <a:p>
            <a:r>
              <a:rPr sz="1100">
                <a:solidFill>
                  <a:srgbClr val="CBD3F0"/>
                </a:solidFill>
                <a:latin typeface="Courier New"/>
              </a:rPr>
              <a:t>  done</a:t>
            </a:r>
          </a:p>
          <a:p>
            <a:r>
              <a:rPr sz="1100">
                <a:solidFill>
                  <a:srgbClr val="CBD3F0"/>
                </a:solidFill>
                <a:latin typeface="Courier New"/>
              </a:rPr>
              <a:t>done</a:t>
            </a:r>
          </a:p>
          <a:p>
            <a:r>
              <a:rPr sz="1100">
                <a:solidFill>
                  <a:srgbClr val="CBD3F0"/>
                </a:solidFill>
                <a:latin typeface="Courier New"/>
              </a:rPr>
              <a:t/>
            </a:r>
          </a:p>
          <a:p>
            <a:r>
              <a:rPr sz="1100">
                <a:solidFill>
                  <a:srgbClr val="CBD3F0"/>
                </a:solidFill>
                <a:latin typeface="Courier New"/>
              </a:rPr>
              <a:t># trap cleanup EXIT → kubectl delete envoyfilter</a:t>
            </a:r>
          </a:p>
        </p:txBody>
      </p:sp>
      <p:sp>
        <p:nvSpPr>
          <p:cNvPr id="6" name="Rectangle 5"/>
          <p:cNvSpPr/>
          <p:nvPr/>
        </p:nvSpPr>
        <p:spPr>
          <a:xfrm>
            <a:off x="365760" y="5349240"/>
            <a:ext cx="1920240" cy="31089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Aspecto</a:t>
            </a:r>
          </a:p>
        </p:txBody>
      </p:sp>
      <p:sp>
        <p:nvSpPr>
          <p:cNvPr id="7" name="Rectangle 6"/>
          <p:cNvSpPr/>
          <p:nvPr/>
        </p:nvSpPr>
        <p:spPr>
          <a:xfrm>
            <a:off x="2286000" y="5349240"/>
            <a:ext cx="2423160" cy="31089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04-rate-limiting</a:t>
            </a:r>
          </a:p>
        </p:txBody>
      </p:sp>
      <p:sp>
        <p:nvSpPr>
          <p:cNvPr id="8" name="Rectangle 7"/>
          <p:cNvSpPr/>
          <p:nvPr/>
        </p:nvSpPr>
        <p:spPr>
          <a:xfrm>
            <a:off x="4709160" y="5349240"/>
            <a:ext cx="2423160" cy="31089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9E2AF"/>
                </a:solidFill>
              </a:rPr>
              <a:t>04-rl-realistic</a:t>
            </a:r>
          </a:p>
        </p:txBody>
      </p:sp>
      <p:sp>
        <p:nvSpPr>
          <p:cNvPr id="9" name="Rectangle 8"/>
          <p:cNvSpPr/>
          <p:nvPr/>
        </p:nvSpPr>
        <p:spPr>
          <a:xfrm>
            <a:off x="365760" y="5660136"/>
            <a:ext cx="1920240" cy="26517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Namespace</a:t>
            </a:r>
          </a:p>
        </p:txBody>
      </p:sp>
      <p:sp>
        <p:nvSpPr>
          <p:cNvPr id="10" name="Rectangle 9"/>
          <p:cNvSpPr/>
          <p:nvPr/>
        </p:nvSpPr>
        <p:spPr>
          <a:xfrm>
            <a:off x="2286000" y="5660136"/>
            <a:ext cx="2423160" cy="26517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default</a:t>
            </a:r>
          </a:p>
        </p:txBody>
      </p:sp>
      <p:sp>
        <p:nvSpPr>
          <p:cNvPr id="11" name="Rectangle 10"/>
          <p:cNvSpPr/>
          <p:nvPr/>
        </p:nvSpPr>
        <p:spPr>
          <a:xfrm>
            <a:off x="4709160" y="5660136"/>
            <a:ext cx="2423160" cy="26517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mubench-realistic</a:t>
            </a:r>
          </a:p>
        </p:txBody>
      </p:sp>
      <p:sp>
        <p:nvSpPr>
          <p:cNvPr id="12" name="Rectangle 11"/>
          <p:cNvSpPr/>
          <p:nvPr/>
        </p:nvSpPr>
        <p:spPr>
          <a:xfrm>
            <a:off x="365760" y="5925312"/>
            <a:ext cx="1920240" cy="26517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Objeto K8s</a:t>
            </a:r>
          </a:p>
        </p:txBody>
      </p:sp>
      <p:sp>
        <p:nvSpPr>
          <p:cNvPr id="13" name="Rectangle 12"/>
          <p:cNvSpPr/>
          <p:nvPr/>
        </p:nvSpPr>
        <p:spPr>
          <a:xfrm>
            <a:off x="2286000" y="5925312"/>
            <a:ext cx="2423160" cy="26517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Ingress (networking.k8s.io)</a:t>
            </a:r>
          </a:p>
        </p:txBody>
      </p:sp>
      <p:sp>
        <p:nvSpPr>
          <p:cNvPr id="14" name="Rectangle 13"/>
          <p:cNvSpPr/>
          <p:nvPr/>
        </p:nvSpPr>
        <p:spPr>
          <a:xfrm>
            <a:off x="4709160" y="5925312"/>
            <a:ext cx="2423160" cy="26517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EnvoyFilter (networking.istio.io)</a:t>
            </a:r>
          </a:p>
        </p:txBody>
      </p:sp>
      <p:sp>
        <p:nvSpPr>
          <p:cNvPr id="15" name="Rectangle 14"/>
          <p:cNvSpPr/>
          <p:nvPr/>
        </p:nvSpPr>
        <p:spPr>
          <a:xfrm>
            <a:off x="365760" y="6190488"/>
            <a:ext cx="1920240" cy="26517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Mecanismo</a:t>
            </a:r>
          </a:p>
        </p:txBody>
      </p:sp>
      <p:sp>
        <p:nvSpPr>
          <p:cNvPr id="16" name="Rectangle 15"/>
          <p:cNvSpPr/>
          <p:nvPr/>
        </p:nvSpPr>
        <p:spPr>
          <a:xfrm>
            <a:off x="2286000" y="6190488"/>
            <a:ext cx="2423160" cy="26517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NGINX IC annotation</a:t>
            </a:r>
          </a:p>
        </p:txBody>
      </p:sp>
      <p:sp>
        <p:nvSpPr>
          <p:cNvPr id="17" name="Rectangle 16"/>
          <p:cNvSpPr/>
          <p:nvPr/>
        </p:nvSpPr>
        <p:spPr>
          <a:xfrm>
            <a:off x="4709160" y="6190488"/>
            <a:ext cx="2423160" cy="26517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Envoy local_ratelimit filter</a:t>
            </a:r>
          </a:p>
        </p:txBody>
      </p:sp>
      <p:sp>
        <p:nvSpPr>
          <p:cNvPr id="18" name="Rectangle 17"/>
          <p:cNvSpPr/>
          <p:nvPr/>
        </p:nvSpPr>
        <p:spPr>
          <a:xfrm>
            <a:off x="365760" y="6455664"/>
            <a:ext cx="1920240" cy="26517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Aplica en</a:t>
            </a:r>
          </a:p>
        </p:txBody>
      </p:sp>
      <p:sp>
        <p:nvSpPr>
          <p:cNvPr id="19" name="Rectangle 18"/>
          <p:cNvSpPr/>
          <p:nvPr/>
        </p:nvSpPr>
        <p:spPr>
          <a:xfrm>
            <a:off x="2286000" y="6455664"/>
            <a:ext cx="2423160" cy="26517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NGINX IC (ns: ingress)</a:t>
            </a:r>
          </a:p>
        </p:txBody>
      </p:sp>
      <p:sp>
        <p:nvSpPr>
          <p:cNvPr id="20" name="Rectangle 19"/>
          <p:cNvSpPr/>
          <p:nvPr/>
        </p:nvSpPr>
        <p:spPr>
          <a:xfrm>
            <a:off x="4709160" y="6455664"/>
            <a:ext cx="2423160" cy="26517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Istio IngressGateway (ns: istio-system)</a:t>
            </a:r>
          </a:p>
        </p:txBody>
      </p:sp>
      <p:sp>
        <p:nvSpPr>
          <p:cNvPr id="21" name="Rectangle 20"/>
          <p:cNvSpPr/>
          <p:nvPr/>
        </p:nvSpPr>
        <p:spPr>
          <a:xfrm>
            <a:off x="365760" y="6720840"/>
            <a:ext cx="1920240" cy="26517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Entry port</a:t>
            </a:r>
          </a:p>
        </p:txBody>
      </p:sp>
      <p:sp>
        <p:nvSpPr>
          <p:cNvPr id="22" name="Rectangle 21"/>
          <p:cNvSpPr/>
          <p:nvPr/>
        </p:nvSpPr>
        <p:spPr>
          <a:xfrm>
            <a:off x="2286000" y="6720840"/>
            <a:ext cx="2423160" cy="26517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:30080 (NodePort NGINX IC)</a:t>
            </a:r>
          </a:p>
        </p:txBody>
      </p:sp>
      <p:sp>
        <p:nvSpPr>
          <p:cNvPr id="23" name="Rectangle 22"/>
          <p:cNvSpPr/>
          <p:nvPr/>
        </p:nvSpPr>
        <p:spPr>
          <a:xfrm>
            <a:off x="4709160" y="6720840"/>
            <a:ext cx="2423160" cy="26517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:31486 (NodePort Istio IGW)</a:t>
            </a:r>
          </a:p>
        </p:txBody>
      </p:sp>
      <p:sp>
        <p:nvSpPr>
          <p:cNvPr id="24" name="Rectangle 23"/>
          <p:cNvSpPr/>
          <p:nvPr/>
        </p:nvSpPr>
        <p:spPr>
          <a:xfrm>
            <a:off x="365760" y="6986016"/>
            <a:ext cx="1920240" cy="26517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Path</a:t>
            </a:r>
          </a:p>
        </p:txBody>
      </p:sp>
      <p:sp>
        <p:nvSpPr>
          <p:cNvPr id="25" name="Rectangle 24"/>
          <p:cNvSpPr/>
          <p:nvPr/>
        </p:nvSpPr>
        <p:spPr>
          <a:xfrm>
            <a:off x="2286000" y="6986016"/>
            <a:ext cx="2423160" cy="26517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/rl-s0/process</a:t>
            </a:r>
          </a:p>
        </p:txBody>
      </p:sp>
      <p:sp>
        <p:nvSpPr>
          <p:cNvPr id="26" name="Rectangle 25"/>
          <p:cNvSpPr/>
          <p:nvPr/>
        </p:nvSpPr>
        <p:spPr>
          <a:xfrm>
            <a:off x="4709160" y="6986016"/>
            <a:ext cx="2423160" cy="26517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/api (directo, sin path especial)</a:t>
            </a:r>
          </a:p>
        </p:txBody>
      </p:sp>
      <p:sp>
        <p:nvSpPr>
          <p:cNvPr id="27" name="Rectangle 26"/>
          <p:cNvSpPr/>
          <p:nvPr/>
        </p:nvSpPr>
        <p:spPr>
          <a:xfrm>
            <a:off x="365760" y="7251192"/>
            <a:ext cx="1920240" cy="26517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Header RL</a:t>
            </a:r>
          </a:p>
        </p:txBody>
      </p:sp>
      <p:sp>
        <p:nvSpPr>
          <p:cNvPr id="28" name="Rectangle 27"/>
          <p:cNvSpPr/>
          <p:nvPr/>
        </p:nvSpPr>
        <p:spPr>
          <a:xfrm>
            <a:off x="2286000" y="7251192"/>
            <a:ext cx="2423160" cy="26517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X-Rate-Limit-Mode: enabled</a:t>
            </a:r>
          </a:p>
        </p:txBody>
      </p:sp>
      <p:sp>
        <p:nvSpPr>
          <p:cNvPr id="29" name="Rectangle 28"/>
          <p:cNvSpPr/>
          <p:nvPr/>
        </p:nvSpPr>
        <p:spPr>
          <a:xfrm>
            <a:off x="4709160" y="7251192"/>
            <a:ext cx="2423160" cy="26517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x-local-rate-limit: true</a:t>
            </a:r>
          </a:p>
        </p:txBody>
      </p:sp>
      <p:sp>
        <p:nvSpPr>
          <p:cNvPr id="30" name="Rectangle 29"/>
          <p:cNvSpPr/>
          <p:nvPr/>
        </p:nvSpPr>
        <p:spPr>
          <a:xfrm>
            <a:off x="365760" y="7516368"/>
            <a:ext cx="1920240" cy="26517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Token bucket</a:t>
            </a:r>
          </a:p>
        </p:txBody>
      </p:sp>
      <p:sp>
        <p:nvSpPr>
          <p:cNvPr id="31" name="Rectangle 30"/>
          <p:cNvSpPr/>
          <p:nvPr/>
        </p:nvSpPr>
        <p:spPr>
          <a:xfrm>
            <a:off x="2286000" y="7516368"/>
            <a:ext cx="2423160" cy="26517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20 rps, burst×2=40</a:t>
            </a:r>
          </a:p>
        </p:txBody>
      </p:sp>
      <p:sp>
        <p:nvSpPr>
          <p:cNvPr id="32" name="Rectangle 31"/>
          <p:cNvSpPr/>
          <p:nvPr/>
        </p:nvSpPr>
        <p:spPr>
          <a:xfrm>
            <a:off x="4709160" y="7516368"/>
            <a:ext cx="2423160" cy="26517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max_tokens=20, fill=20/s</a:t>
            </a:r>
          </a:p>
        </p:txBody>
      </p:sp>
      <p:sp>
        <p:nvSpPr>
          <p:cNvPr id="33" name="Rectangle 32"/>
          <p:cNvSpPr/>
          <p:nvPr/>
        </p:nvSpPr>
        <p:spPr>
          <a:xfrm>
            <a:off x="365760" y="7781544"/>
            <a:ext cx="1920240" cy="26517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Propagación</a:t>
            </a:r>
          </a:p>
        </p:txBody>
      </p:sp>
      <p:sp>
        <p:nvSpPr>
          <p:cNvPr id="34" name="Rectangle 33"/>
          <p:cNvSpPr/>
          <p:nvPr/>
        </p:nvSpPr>
        <p:spPr>
          <a:xfrm>
            <a:off x="2286000" y="7781544"/>
            <a:ext cx="2423160" cy="26517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inmediata</a:t>
            </a:r>
          </a:p>
        </p:txBody>
      </p:sp>
      <p:sp>
        <p:nvSpPr>
          <p:cNvPr id="35" name="Rectangle 34"/>
          <p:cNvSpPr/>
          <p:nvPr/>
        </p:nvSpPr>
        <p:spPr>
          <a:xfrm>
            <a:off x="4709160" y="7781544"/>
            <a:ext cx="2423160" cy="26517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sleep 15s (xDS a sidecars)</a:t>
            </a:r>
          </a:p>
        </p:txBody>
      </p:sp>
      <p:sp>
        <p:nvSpPr>
          <p:cNvPr id="36" name="Rectangle 35"/>
          <p:cNvSpPr/>
          <p:nvPr/>
        </p:nvSpPr>
        <p:spPr>
          <a:xfrm>
            <a:off x="365760" y="8046720"/>
            <a:ext cx="1920240" cy="26517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test-ratelimit</a:t>
            </a:r>
          </a:p>
        </p:txBody>
      </p:sp>
      <p:sp>
        <p:nvSpPr>
          <p:cNvPr id="37" name="Rectangle 36"/>
          <p:cNvSpPr/>
          <p:nvPr/>
        </p:nvSpPr>
        <p:spPr>
          <a:xfrm>
            <a:off x="2286000" y="8046720"/>
            <a:ext cx="2423160" cy="26517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POST, Counter, fail&lt;30%</a:t>
            </a:r>
          </a:p>
        </p:txBody>
      </p:sp>
      <p:sp>
        <p:nvSpPr>
          <p:cNvPr id="38" name="Rectangle 37"/>
          <p:cNvSpPr/>
          <p:nvPr/>
        </p:nvSpPr>
        <p:spPr>
          <a:xfrm>
            <a:off x="4709160" y="8046720"/>
            <a:ext cx="2423160" cy="26517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GET, Counter, acepta solo 200/429</a:t>
            </a:r>
          </a:p>
        </p:txBody>
      </p:sp>
      <p:sp>
        <p:nvSpPr>
          <p:cNvPr id="39" name="Rectangle 38"/>
          <p:cNvSpPr/>
          <p:nvPr/>
        </p:nvSpPr>
        <p:spPr>
          <a:xfrm>
            <a:off x="365760" y="8311896"/>
            <a:ext cx="1920240" cy="26517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Autopilot</a:t>
            </a:r>
          </a:p>
        </p:txBody>
      </p:sp>
      <p:sp>
        <p:nvSpPr>
          <p:cNvPr id="40" name="Rectangle 39"/>
          <p:cNvSpPr/>
          <p:nvPr/>
        </p:nvSpPr>
        <p:spPr>
          <a:xfrm>
            <a:off x="2286000" y="8311896"/>
            <a:ext cx="2423160" cy="26517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SÍ (autopilot-safe.sh)</a:t>
            </a:r>
          </a:p>
        </p:txBody>
      </p:sp>
      <p:sp>
        <p:nvSpPr>
          <p:cNvPr id="41" name="Rectangle 40"/>
          <p:cNvSpPr/>
          <p:nvPr/>
        </p:nvSpPr>
        <p:spPr>
          <a:xfrm>
            <a:off x="4709160" y="8311896"/>
            <a:ext cx="2423160" cy="265176"/>
          </a:xfrm>
          <a:prstGeom prst="rect">
            <a:avLst/>
          </a:prstGeom>
          <a:solidFill>
            <a:srgbClr val="F0F4F8"/>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NO</a:t>
            </a:r>
          </a:p>
        </p:txBody>
      </p:sp>
      <p:sp>
        <p:nvSpPr>
          <p:cNvPr id="42" name="Rectangle 41"/>
          <p:cNvSpPr/>
          <p:nvPr/>
        </p:nvSpPr>
        <p:spPr>
          <a:xfrm>
            <a:off x="365760" y="8577072"/>
            <a:ext cx="1920240" cy="265176"/>
          </a:xfrm>
          <a:prstGeom prst="rect">
            <a:avLst/>
          </a:prstGeom>
          <a:solidFill>
            <a:srgbClr val="1F497D"/>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F9E2AF"/>
                </a:solidFill>
                <a:latin typeface="Courier New"/>
              </a:rPr>
              <a:t>Análisis Python</a:t>
            </a:r>
          </a:p>
        </p:txBody>
      </p:sp>
      <p:sp>
        <p:nvSpPr>
          <p:cNvPr id="43" name="Rectangle 42"/>
          <p:cNvSpPr/>
          <p:nvPr/>
        </p:nvSpPr>
        <p:spPr>
          <a:xfrm>
            <a:off x="2286000" y="8577072"/>
            <a:ext cx="2423160" cy="26517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2E75B6"/>
                </a:solidFill>
                <a:latin typeface="Courier New"/>
              </a:rPr>
              <a:t>analyze-rl-results.py</a:t>
            </a:r>
          </a:p>
        </p:txBody>
      </p:sp>
      <p:sp>
        <p:nvSpPr>
          <p:cNvPr id="44" name="Rectangle 43"/>
          <p:cNvSpPr/>
          <p:nvPr/>
        </p:nvSpPr>
        <p:spPr>
          <a:xfrm>
            <a:off x="4709160" y="8577072"/>
            <a:ext cx="2423160" cy="265176"/>
          </a:xfrm>
          <a:prstGeom prst="rect">
            <a:avLst/>
          </a:prstGeom>
          <a:solidFill>
            <a:srgbClr val="EAEAF4"/>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a:solidFill>
                  <a:srgbClr val="D3690F"/>
                </a:solidFill>
                <a:latin typeface="Courier New"/>
              </a:rPr>
              <a:t>NO</a:t>
            </a:r>
          </a:p>
        </p:txBody>
      </p:sp>
      <p:sp>
        <p:nvSpPr>
          <p:cNvPr id="45" name="Rectangle 44"/>
          <p:cNvSpPr/>
          <p:nvPr/>
        </p:nvSpPr>
        <p:spPr>
          <a:xfrm>
            <a:off x="6080760" y="1143000"/>
            <a:ext cx="2834640" cy="219456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EnvoyFilter vs Ingress — capas distintas</a:t>
            </a:r>
          </a:p>
          <a:p>
            <a:r>
              <a:rPr sz="1000">
                <a:solidFill>
                  <a:srgbClr val="555555"/>
                </a:solidFill>
              </a:rPr>
              <a:t>04-rate-limiting usa el NGINX IC:
  ext → NGINX IC → proxy → svc/s0
  RL aplicado por NGINX (módulo C)
04-rl-realistic usa Istio IGW:
  ext → Istio IngressGateway → mesh
  RL aplicado por Envoy (filtro nativo)
Ambos usan el mismo algoritmo
(token bucket, 20 rps, 429),
pero en capas de infraestructura
completamente distintas.</a:t>
            </a:r>
          </a:p>
        </p:txBody>
      </p:sp>
      <p:sp>
        <p:nvSpPr>
          <p:cNvPr id="46" name="Rectangle 45"/>
          <p:cNvSpPr/>
          <p:nvPr/>
        </p:nvSpPr>
        <p:spPr>
          <a:xfrm>
            <a:off x="9052560" y="1143000"/>
            <a:ext cx="2834640" cy="219456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sleep 15s vs inmediato</a:t>
            </a:r>
          </a:p>
          <a:p>
            <a:r>
              <a:rPr sz="1000">
                <a:solidFill>
                  <a:srgbClr val="555555"/>
                </a:solidFill>
              </a:rPr>
              <a:t>Un Ingress de NGINX se aplica
casi al instante: el IC lee el
objeto y reconfigura nginx.conf.
Un EnvoyFilter necesita propagarse
vía xDS (Istio Discovery Service):
  istiod lee el EnvoyFilter
  → genera config xDS
  → push a cada sidecar/IGW
  → IGW recarga el filtro
El sleep 15s da margen para que
la propagación xDS se complete
antes de empezar los tests.</a:t>
            </a:r>
          </a:p>
        </p:txBody>
      </p:sp>
      <p:sp>
        <p:nvSpPr>
          <p:cNvPr id="47" name="Rectangle 46"/>
          <p:cNvSpPr/>
          <p:nvPr/>
        </p:nvSpPr>
        <p:spPr>
          <a:xfrm>
            <a:off x="6080760" y="3474720"/>
            <a:ext cx="2834640" cy="219456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test-ratelimit.js — solo GET /api</a:t>
            </a:r>
          </a:p>
          <a:p>
            <a:r>
              <a:rPr sz="1000">
                <a:solidFill>
                  <a:srgbClr val="555555"/>
                </a:solidFill>
              </a:rPr>
              <a:t>04-rate-limiting test-rl-enabled.js:
  POST :30080/rl-s0/process
  acepta [200, 429, 503]
  fail&lt;30%
04-rl-realistic test-ratelimit.js:
  GET :31486/api
  acepta solo 200 o 429
  NO tiene fail threshold
  Counter: rate_limit_hits
La diferencia de método (GET vs POST)
refleja el servicio diferente:
  s0 acepta POST /process
  api-service acepta GET /api</a:t>
            </a:r>
          </a:p>
        </p:txBody>
      </p:sp>
      <p:sp>
        <p:nvSpPr>
          <p:cNvPr id="48" name="Rectangle 47"/>
          <p:cNvSpPr/>
          <p:nvPr/>
        </p:nvSpPr>
        <p:spPr>
          <a:xfrm>
            <a:off x="9052560" y="3474720"/>
            <a:ext cx="2834640" cy="219456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x-local-rate-limit vs X-Rate-Limit-Mode</a:t>
            </a:r>
          </a:p>
          <a:p>
            <a:r>
              <a:rPr sz="1000">
                <a:solidFill>
                  <a:srgbClr val="555555"/>
                </a:solidFill>
              </a:rPr>
              <a:t>NGINX IC añade:
  X-Rate-Limit-Mode: enabled
  (vía configuration-snippet custom)
Envoy añade automáticamente:
  x-local-rate-limit: true
  (configurado en response_headers)
En ambos casos el header aparece
en TODAS las respuestas (200 y 429)
y permite verificar que el RL está
activo sin revisar los logs del IC.
Convención diferente: NGINX usa
PascalCase, Envoy usa lowercase.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envoyfilter-ratelimit.yaml — EnvoyFilter sobre Istio IngressGateway</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local_ratelimit v3 · token_bucket 20/s · INSERT_BEFORE router · response_headers x-local-rate-limit · 100% enabled+enforced</a:t>
            </a:r>
          </a:p>
        </p:txBody>
      </p:sp>
      <p:sp>
        <p:nvSpPr>
          <p:cNvPr id="5" name="Rectangle 4"/>
          <p:cNvSpPr/>
          <p:nvPr/>
        </p:nvSpPr>
        <p:spPr>
          <a:xfrm>
            <a:off x="365760" y="1143000"/>
            <a:ext cx="5577840" cy="53949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EnvoyFilter: Local Rate Limiting en Istio IngressGateway</a:t>
            </a:r>
          </a:p>
          <a:p>
            <a:r>
              <a:rPr sz="1100">
                <a:solidFill>
                  <a:srgbClr val="F9E2AF"/>
                </a:solidFill>
                <a:latin typeface="Courier New"/>
              </a:rPr>
              <a:t>apiVersion: networking.istio.io/v1alpha3</a:t>
            </a:r>
          </a:p>
          <a:p>
            <a:r>
              <a:rPr sz="1100">
                <a:solidFill>
                  <a:srgbClr val="CBD3F0"/>
                </a:solidFill>
                <a:latin typeface="Courier New"/>
              </a:rPr>
              <a:t>kind: EnvoyFilter</a:t>
            </a:r>
          </a:p>
          <a:p>
            <a:r>
              <a:rPr sz="1100">
                <a:solidFill>
                  <a:srgbClr val="CBD3F0"/>
                </a:solidFill>
                <a:latin typeface="Courier New"/>
              </a:rPr>
              <a:t>metadata:</a:t>
            </a:r>
          </a:p>
          <a:p>
            <a:r>
              <a:rPr sz="1100">
                <a:solidFill>
                  <a:srgbClr val="CBD3F0"/>
                </a:solidFill>
                <a:latin typeface="Courier New"/>
              </a:rPr>
              <a:t>  name: ratelimit-ingressgateway</a:t>
            </a:r>
          </a:p>
          <a:p>
            <a:r>
              <a:rPr sz="1100">
                <a:solidFill>
                  <a:srgbClr val="CBD3F0"/>
                </a:solidFill>
                <a:latin typeface="Courier New"/>
              </a:rPr>
              <a:t>  namespace: istio-system</a:t>
            </a:r>
          </a:p>
          <a:p>
            <a:r>
              <a:rPr sz="1100">
                <a:solidFill>
                  <a:srgbClr val="CBD3F0"/>
                </a:solidFill>
                <a:latin typeface="Courier New"/>
              </a:rPr>
              <a:t>spec:</a:t>
            </a:r>
          </a:p>
          <a:p>
            <a:r>
              <a:rPr sz="1100">
                <a:solidFill>
                  <a:srgbClr val="CBD3F0"/>
                </a:solidFill>
                <a:latin typeface="Courier New"/>
              </a:rPr>
              <a:t>  # ① Solo aplica al pod del IngressGateway</a:t>
            </a:r>
          </a:p>
          <a:p>
            <a:r>
              <a:rPr sz="1100">
                <a:solidFill>
                  <a:srgbClr val="F9E2AF"/>
                </a:solidFill>
                <a:latin typeface="Courier New"/>
              </a:rPr>
              <a:t>  workloadSelector:</a:t>
            </a:r>
          </a:p>
          <a:p>
            <a:r>
              <a:rPr sz="1100">
                <a:solidFill>
                  <a:srgbClr val="CBD3F0"/>
                </a:solidFill>
                <a:latin typeface="Courier New"/>
              </a:rPr>
              <a:t>    labels:</a:t>
            </a:r>
          </a:p>
          <a:p>
            <a:r>
              <a:rPr sz="1100">
                <a:solidFill>
                  <a:srgbClr val="CBD3F0"/>
                </a:solidFill>
                <a:latin typeface="Courier New"/>
              </a:rPr>
              <a:t>      istio: ingressgateway</a:t>
            </a:r>
          </a:p>
          <a:p>
            <a:r>
              <a:rPr sz="1100">
                <a:solidFill>
                  <a:srgbClr val="CBD3F0"/>
                </a:solidFill>
                <a:latin typeface="Courier New"/>
              </a:rPr>
              <a:t>  configPatches:</a:t>
            </a:r>
          </a:p>
          <a:p>
            <a:r>
              <a:rPr sz="1100">
                <a:solidFill>
                  <a:srgbClr val="F9E2AF"/>
                </a:solidFill>
                <a:latin typeface="Courier New"/>
              </a:rPr>
              <a:t>  - applyTo: HTTP_FILTER  # ② Parchea el HTTP filter chain</a:t>
            </a:r>
          </a:p>
          <a:p>
            <a:r>
              <a:rPr sz="1100">
                <a:solidFill>
                  <a:srgbClr val="CBD3F0"/>
                </a:solidFill>
                <a:latin typeface="Courier New"/>
              </a:rPr>
              <a:t>    match:</a:t>
            </a:r>
          </a:p>
          <a:p>
            <a:r>
              <a:rPr sz="1100">
                <a:solidFill>
                  <a:srgbClr val="CBD3F0"/>
                </a:solidFill>
                <a:latin typeface="Courier New"/>
              </a:rPr>
              <a:t>      context: GATEWAY    # Solo en contexto Gateway (no sidecar)</a:t>
            </a:r>
          </a:p>
          <a:p>
            <a:r>
              <a:rPr sz="1100">
                <a:solidFill>
                  <a:srgbClr val="CBD3F0"/>
                </a:solidFill>
                <a:latin typeface="Courier New"/>
              </a:rPr>
              <a:t>      listener:</a:t>
            </a:r>
          </a:p>
          <a:p>
            <a:r>
              <a:rPr sz="1100">
                <a:solidFill>
                  <a:srgbClr val="CBD3F0"/>
                </a:solidFill>
                <a:latin typeface="Courier New"/>
              </a:rPr>
              <a:t>        filterChain:</a:t>
            </a:r>
          </a:p>
          <a:p>
            <a:r>
              <a:rPr sz="1100">
                <a:solidFill>
                  <a:srgbClr val="CBD3F0"/>
                </a:solidFill>
                <a:latin typeface="Courier New"/>
              </a:rPr>
              <a:t>          filter:</a:t>
            </a:r>
          </a:p>
          <a:p>
            <a:r>
              <a:rPr sz="1100">
                <a:solidFill>
                  <a:srgbClr val="CBD3F0"/>
                </a:solidFill>
                <a:latin typeface="Courier New"/>
              </a:rPr>
              <a:t>            name: 'envoy.filters.network.http_connection_manager'</a:t>
            </a:r>
          </a:p>
          <a:p>
            <a:r>
              <a:rPr sz="1100">
                <a:solidFill>
                  <a:srgbClr val="CBD3F0"/>
                </a:solidFill>
                <a:latin typeface="Courier New"/>
              </a:rPr>
              <a:t>            subFilter:</a:t>
            </a:r>
          </a:p>
          <a:p>
            <a:r>
              <a:rPr sz="1100">
                <a:solidFill>
                  <a:srgbClr val="CBD3F0"/>
                </a:solidFill>
                <a:latin typeface="Courier New"/>
              </a:rPr>
              <a:t>              name: 'envoy.filters.http.router'</a:t>
            </a:r>
          </a:p>
          <a:p>
            <a:r>
              <a:rPr sz="1100">
                <a:solidFill>
                  <a:srgbClr val="CBD3F0"/>
                </a:solidFill>
                <a:latin typeface="Courier New"/>
              </a:rPr>
              <a:t>    patch:</a:t>
            </a:r>
          </a:p>
          <a:p>
            <a:r>
              <a:rPr sz="1100">
                <a:solidFill>
                  <a:srgbClr val="F9E2AF"/>
                </a:solidFill>
                <a:latin typeface="Courier New"/>
              </a:rPr>
              <a:t>      operation: INSERT_BEFORE  # ③ Inserta ANTES del router</a:t>
            </a:r>
          </a:p>
          <a:p>
            <a:r>
              <a:rPr sz="1100">
                <a:solidFill>
                  <a:srgbClr val="CBD3F0"/>
                </a:solidFill>
                <a:latin typeface="Courier New"/>
              </a:rPr>
              <a:t>      value:</a:t>
            </a:r>
          </a:p>
          <a:p>
            <a:r>
              <a:rPr sz="1100">
                <a:solidFill>
                  <a:srgbClr val="CBD3F0"/>
                </a:solidFill>
                <a:latin typeface="Courier New"/>
              </a:rPr>
              <a:t>        name: envoy.filters.http.local_ratelimit</a:t>
            </a:r>
          </a:p>
          <a:p>
            <a:r>
              <a:rPr sz="1100">
                <a:solidFill>
                  <a:srgbClr val="CBD3F0"/>
                </a:solidFill>
                <a:latin typeface="Courier New"/>
              </a:rPr>
              <a:t>        typed_config:</a:t>
            </a:r>
          </a:p>
          <a:p>
            <a:r>
              <a:rPr sz="1100">
                <a:solidFill>
                  <a:srgbClr val="CBD3F0"/>
                </a:solidFill>
                <a:latin typeface="Courier New"/>
              </a:rPr>
              <a:t>          '@type': .../LocalRateLimit</a:t>
            </a:r>
          </a:p>
          <a:p>
            <a:r>
              <a:rPr sz="1100">
                <a:solidFill>
                  <a:srgbClr val="CBD3F0"/>
                </a:solidFill>
                <a:latin typeface="Courier New"/>
              </a:rPr>
              <a:t>          value:</a:t>
            </a:r>
          </a:p>
          <a:p>
            <a:r>
              <a:rPr sz="1100">
                <a:solidFill>
                  <a:srgbClr val="CBD3F0"/>
                </a:solidFill>
                <a:latin typeface="Courier New"/>
              </a:rPr>
              <a:t>            # ④ Token bucket: 20 tokens, recarga 20/s</a:t>
            </a:r>
          </a:p>
          <a:p>
            <a:r>
              <a:rPr sz="1100">
                <a:solidFill>
                  <a:srgbClr val="F9E2AF"/>
                </a:solidFill>
                <a:latin typeface="Courier New"/>
              </a:rPr>
              <a:t>            token_bucket:</a:t>
            </a:r>
          </a:p>
          <a:p>
            <a:r>
              <a:rPr sz="1100">
                <a:solidFill>
                  <a:srgbClr val="CBD3F0"/>
                </a:solidFill>
                <a:latin typeface="Courier New"/>
              </a:rPr>
              <a:t>              max_tokens: 20</a:t>
            </a:r>
          </a:p>
          <a:p>
            <a:r>
              <a:rPr sz="1100">
                <a:solidFill>
                  <a:srgbClr val="CBD3F0"/>
                </a:solidFill>
                <a:latin typeface="Courier New"/>
              </a:rPr>
              <a:t>              tokens_per_fill: 20</a:t>
            </a:r>
          </a:p>
          <a:p>
            <a:r>
              <a:rPr sz="1100">
                <a:solidFill>
                  <a:srgbClr val="CBD3F0"/>
                </a:solidFill>
                <a:latin typeface="Courier New"/>
              </a:rPr>
              <a:t>              fill_interval: 1s</a:t>
            </a:r>
          </a:p>
          <a:p>
            <a:r>
              <a:rPr sz="1100">
                <a:solidFill>
                  <a:srgbClr val="F9E2AF"/>
                </a:solidFill>
                <a:latin typeface="Courier New"/>
              </a:rPr>
              <a:t>            # ⑤ Activado al 100% (no canary)</a:t>
            </a:r>
          </a:p>
          <a:p>
            <a:r>
              <a:rPr sz="1100">
                <a:solidFill>
                  <a:srgbClr val="CBD3F0"/>
                </a:solidFill>
                <a:latin typeface="Courier New"/>
              </a:rPr>
              <a:t>            filter_enabled:</a:t>
            </a:r>
          </a:p>
          <a:p>
            <a:r>
              <a:rPr sz="1100">
                <a:solidFill>
                  <a:srgbClr val="CBD3F0"/>
                </a:solidFill>
                <a:latin typeface="Courier New"/>
              </a:rPr>
              <a:t>              default_value: { numerator: 100, denominator: HUNDRED }</a:t>
            </a:r>
          </a:p>
          <a:p>
            <a:r>
              <a:rPr sz="1100">
                <a:solidFill>
                  <a:srgbClr val="CBD3F0"/>
                </a:solidFill>
                <a:latin typeface="Courier New"/>
              </a:rPr>
              <a:t>            filter_enforced:</a:t>
            </a:r>
          </a:p>
          <a:p>
            <a:r>
              <a:rPr sz="1100">
                <a:solidFill>
                  <a:srgbClr val="CBD3F0"/>
                </a:solidFill>
                <a:latin typeface="Courier New"/>
              </a:rPr>
              <a:t>              default_value: { numerator: 100, denominator: HUNDRED }</a:t>
            </a:r>
          </a:p>
          <a:p>
            <a:r>
              <a:rPr sz="1100">
                <a:solidFill>
                  <a:srgbClr val="CBD3F0"/>
                </a:solidFill>
                <a:latin typeface="Courier New"/>
              </a:rPr>
              <a:t>            # ⑥ Header en todas las respuestas</a:t>
            </a:r>
          </a:p>
          <a:p>
            <a:r>
              <a:rPr sz="1100">
                <a:solidFill>
                  <a:srgbClr val="F9E2AF"/>
                </a:solidFill>
                <a:latin typeface="Courier New"/>
              </a:rPr>
              <a:t>            response_headers_to_add:</a:t>
            </a:r>
          </a:p>
          <a:p>
            <a:r>
              <a:rPr sz="1100">
                <a:solidFill>
                  <a:srgbClr val="CBD3F0"/>
                </a:solidFill>
                <a:latin typeface="Courier New"/>
              </a:rPr>
              <a:t>            - header: { key: x-local-rate-limit, value: 'true' }</a:t>
            </a:r>
          </a:p>
          <a:p>
            <a:r>
              <a:rPr sz="1100">
                <a:solidFill>
                  <a:srgbClr val="CBD3F0"/>
                </a:solidFill>
                <a:latin typeface="Courier New"/>
              </a:rPr>
              <a:t>              append: false</a:t>
            </a:r>
          </a:p>
          <a:p>
            <a:r>
              <a:rPr sz="1100">
                <a:solidFill>
                  <a:srgbClr val="CBD3F0"/>
                </a:solidFill>
                <a:latin typeface="Courier New"/>
              </a:rPr>
              <a:t>            # ⑦ Código HTTP cuando se supera el límite</a:t>
            </a:r>
          </a:p>
          <a:p>
            <a:r>
              <a:rPr sz="1100">
                <a:solidFill>
                  <a:srgbClr val="F9E2AF"/>
                </a:solidFill>
                <a:latin typeface="Courier New"/>
              </a:rPr>
              <a:t>            status:</a:t>
            </a:r>
          </a:p>
          <a:p>
            <a:r>
              <a:rPr sz="1100">
                <a:solidFill>
                  <a:srgbClr val="CBD3F0"/>
                </a:solidFill>
                <a:latin typeface="Courier New"/>
              </a:rPr>
              <a:t>              code: 429</a:t>
            </a:r>
          </a:p>
        </p:txBody>
      </p:sp>
      <p:sp>
        <p:nvSpPr>
          <p:cNvPr id="6" name="Rectangle 5"/>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① workloadSelector — solo el IGW</a:t>
            </a:r>
          </a:p>
          <a:p>
            <a:r>
              <a:rPr sz="1000">
                <a:solidFill>
                  <a:srgbClr val="555555"/>
                </a:solidFill>
              </a:rPr>
              <a:t>El EnvoyFilter solo se aplica al
pod con label istio:ingressgateway
en namespace istio-system.
Sin workloadSelector se aplicaría
a TODOS los sidecars del mesh →
cada servicio interno también
tendría rate limit de 20 rps.
Con el selector solo el Gateway
de entrada aplica el throttling.
Los servicios internos (api→auth)
no ven el rate limit.</a:t>
            </a:r>
          </a:p>
        </p:txBody>
      </p:sp>
      <p:sp>
        <p:nvSpPr>
          <p:cNvPr id="7" name="Rectangle 6"/>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② applyTo: HTTP_FILTER — dónde va</a:t>
            </a:r>
          </a:p>
          <a:p>
            <a:r>
              <a:rPr sz="1000">
                <a:solidFill>
                  <a:srgbClr val="555555"/>
                </a:solidFill>
              </a:rPr>
              <a:t>La cadena de filtros HTTP de Envoy:
  ... → cors → jwt → router
INSERT_BEFORE router añade:
  ... → cors → jwt
    → local_ratelimit  ← nuevo
    → router
El rate limiter ve el request ANTES
de que el router lo enrute.
Si el bucket está vacío → 429
directo, sin pasar por el router.
context: GATEWAY garantiza que
solo aplica en el IGW, no en
los sidecars de los pods.</a:t>
            </a:r>
          </a:p>
        </p:txBody>
      </p:sp>
      <p:sp>
        <p:nvSpPr>
          <p:cNvPr id="8" name="Rectangle 7"/>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④ token_bucket — algoritmo Envoy</a:t>
            </a:r>
          </a:p>
          <a:p>
            <a:r>
              <a:rPr sz="1000">
                <a:solidFill>
                  <a:srgbClr val="555555"/>
                </a:solidFill>
              </a:rPr>
              <a:t>A diferencia del Leaky Bucket de
NGINX, Envoy usa Token Bucket puro:
  max_tokens: 20
    → bucket empieza lleno con 20
  tokens_per_fill: 20
  fill_interval: 1s
    → cada 1s se añaden 20 tokens
    → tasa efectiva = 20 req/s
  Cada request consume 1 token.
  Si bucket = 0 → 429 inmediato.
vs NGINX: limit-rps=20 + burst×2
= burst efectivo de 40 tokens.
Envoy con max_tokens=20 es
MÁS estricto (sin burst extra).</a:t>
            </a:r>
          </a:p>
        </p:txBody>
      </p:sp>
      <p:sp>
        <p:nvSpPr>
          <p:cNvPr id="9" name="Rectangle 8"/>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⑤ filter_enabled vs filter_enforced</a:t>
            </a:r>
          </a:p>
          <a:p>
            <a:r>
              <a:rPr sz="1000">
                <a:solidFill>
                  <a:srgbClr val="555555"/>
                </a:solidFill>
              </a:rPr>
              <a:t>Dos knobs para despliegue gradual:
filter_enabled (100%):
  → el filtro EVALÚA el límite
  → actualiza estadísticas
  → pero NO rechaza requests
filter_enforced (100%):
  → el filtro APLICA el límite
  → rechaza con 429 si excede
Para canary: enabled=100% pero
enforced=10% → solo rechaza el 10%
de los requests que exceden el
límite. El 90% restante pasa.
Ambos al 100% = RL completo.</a:t>
            </a:r>
          </a:p>
        </p:txBody>
      </p:sp>
      <p:sp>
        <p:nvSpPr>
          <p:cNvPr id="10" name="Rectangle 9"/>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⑥ response_headers + append:false</a:t>
            </a:r>
          </a:p>
          <a:p>
            <a:r>
              <a:rPr sz="1000">
                <a:solidFill>
                  <a:srgbClr val="555555"/>
                </a:solidFill>
              </a:rPr>
              <a:t>response_headers_to_add añade:
  x-local-rate-limit: true
append: false significa que si
el header ya existe lo REEMPLAZA
(no añade un duplicado).
Aparece en TODAS las respuestas:
  200 → x-local-rate-limit: true
  429 → x-local-rate-limit: true
Permite verificar desde el cliente:
  curl -v :31486/api
  → x-local-rate-limit: true
vs NGINX: X-Rate-Limit-Mode:enabled
(nombre distinto, mismo propósito)</a:t>
            </a:r>
          </a:p>
        </p:txBody>
      </p:sp>
      <p:sp>
        <p:nvSpPr>
          <p:cNvPr id="11" name="Rectangle 10"/>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Comparativa token_bucket C4 vs C4-r</a:t>
            </a:r>
          </a:p>
          <a:p>
            <a:r>
              <a:rPr sz="1000">
                <a:solidFill>
                  <a:srgbClr val="555555"/>
                </a:solidFill>
              </a:rPr>
              <a:t>04-rate-limiting (NGINX IC):
  limit-rps: 20
  burst = 20 × 2 = 40 tokens
  → acepta ráfagas de hasta 40
  → algorithm: Leaky Bucket
04-rl-realistic (Envoy IGW):
  max_tokens: 20
  tokens_per_fill: 20/s
  → bucket máximo = 20 (sin burst)
  → algorithm: Token Bucket
Con VUS=10 sleep=0.1s = 100 rps:
  NGINX: 40 pasan, 60 son 429
  Envoy: 20 pasan, 80 son 429
Envoy es más estricto.</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Experiments / 05-topology-affinity</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Node affinity scheduling · eu-west1/eu-west1-a · Deployments con sufijo de zona · single-node: overhead sin cambio topológico real</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05-topology-affinity — Node Affinity scheduling en mubench-realistic</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requiredDuringScheduling · region=eu-west1 zone=eu-west1-a · Deployments renombrados · análisis vs baseline exp-02</a:t>
            </a:r>
          </a:p>
        </p:txBody>
      </p:sp>
      <p:sp>
        <p:nvSpPr>
          <p:cNvPr id="5" name="Rectangle 4"/>
          <p:cNvSpPr/>
          <p:nvPr/>
        </p:nvSpPr>
        <p:spPr>
          <a:xfrm>
            <a:off x="365760" y="1143000"/>
            <a:ext cx="5577840" cy="30632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Estructura del experimento 05</a:t>
            </a:r>
          </a:p>
          <a:p>
            <a:r>
              <a:rPr sz="1100">
                <a:solidFill>
                  <a:srgbClr val="F9E2AF"/>
                </a:solidFill>
                <a:latin typeface="Courier New"/>
              </a:rPr>
              <a:t>05-topology-affinity/</a:t>
            </a:r>
          </a:p>
          <a:p>
            <a:r>
              <a:rPr sz="1100">
                <a:solidFill>
                  <a:srgbClr val="CBD3F0"/>
                </a:solidFill>
                <a:latin typeface="Courier New"/>
              </a:rPr>
              <a:t>  deploy-affinity.sh        # aplica Deployments con affinity</a:t>
            </a:r>
          </a:p>
          <a:p>
            <a:r>
              <a:rPr sz="1100">
                <a:solidFill>
                  <a:srgbClr val="CBD3F0"/>
                </a:solidFill>
                <a:latin typeface="Courier New"/>
              </a:rPr>
              <a:t>  run-affinity-test.sh      # k6 VUS=5/10/20 × 3 reps × 60s</a:t>
            </a:r>
          </a:p>
          <a:p>
            <a:r>
              <a:rPr sz="1100">
                <a:solidFill>
                  <a:srgbClr val="CBD3F0"/>
                </a:solidFill>
                <a:latin typeface="Courier New"/>
              </a:rPr>
              <a:t>  cleanup.sh                # borra deployments affinity</a:t>
            </a:r>
          </a:p>
          <a:p>
            <a:r>
              <a:rPr sz="1100">
                <a:solidFill>
                  <a:srgbClr val="CBD3F0"/>
                </a:solidFill>
                <a:latin typeface="Courier New"/>
              </a:rPr>
              <a:t>  analyze-results.py        # compara vs baseline de exp-02</a:t>
            </a:r>
          </a:p>
          <a:p>
            <a:r>
              <a:rPr sz="1100">
                <a:solidFill>
                  <a:srgbClr val="CBD3F0"/>
                </a:solidFill>
                <a:latin typeface="Courier New"/>
              </a:rPr>
              <a:t>  tests/</a:t>
            </a:r>
          </a:p>
          <a:p>
            <a:r>
              <a:rPr sz="1100">
                <a:solidFill>
                  <a:srgbClr val="CBD3F0"/>
                </a:solidFill>
                <a:latin typeface="Courier New"/>
              </a:rPr>
              <a:t>    test-affinity.js        # GET /api-eu-west1-eu-west1-a</a:t>
            </a:r>
          </a:p>
          <a:p>
            <a:r>
              <a:rPr sz="1100">
                <a:solidFill>
                  <a:srgbClr val="CBD3F0"/>
                </a:solidFill>
                <a:latin typeface="Courier New"/>
              </a:rPr>
              <a:t>  results/</a:t>
            </a:r>
          </a:p>
          <a:p>
            <a:r>
              <a:rPr sz="1100">
                <a:solidFill>
                  <a:srgbClr val="CBD3F0"/>
                </a:solidFill>
                <a:latin typeface="Courier New"/>
              </a:rPr>
              <a:t>    affinity-vus5-rep{1,2,3}.json</a:t>
            </a:r>
          </a:p>
          <a:p>
            <a:r>
              <a:rPr sz="1100">
                <a:solidFill>
                  <a:srgbClr val="CBD3F0"/>
                </a:solidFill>
                <a:latin typeface="Courier New"/>
              </a:rPr>
              <a:t>    ...</a:t>
            </a:r>
          </a:p>
          <a:p>
            <a:r>
              <a:rPr sz="1100">
                <a:solidFill>
                  <a:srgbClr val="CBD3F0"/>
                </a:solidFill>
                <a:latin typeface="Courier New"/>
              </a:rPr>
              <a:t/>
            </a:r>
          </a:p>
          <a:p>
            <a:r>
              <a:rPr sz="1100">
                <a:solidFill>
                  <a:srgbClr val="CBD3F0"/>
                </a:solidFill>
                <a:latin typeface="Courier New"/>
              </a:rPr>
              <a:t># Los YAMLs de affinity vienen de:</a:t>
            </a:r>
          </a:p>
          <a:p>
            <a:r>
              <a:rPr sz="1100">
                <a:solidFill>
                  <a:srgbClr val="F9E2AF"/>
                </a:solidFill>
                <a:latin typeface="Courier New"/>
              </a:rPr>
              <a:t>RealisticWorkspace/affinity-yamls/</a:t>
            </a:r>
          </a:p>
          <a:p>
            <a:r>
              <a:rPr sz="1100">
                <a:solidFill>
                  <a:srgbClr val="CBD3F0"/>
                </a:solidFill>
                <a:latin typeface="Courier New"/>
              </a:rPr>
              <a:t>  eu-west1/</a:t>
            </a:r>
          </a:p>
          <a:p>
            <a:r>
              <a:rPr sz="1100">
                <a:solidFill>
                  <a:srgbClr val="CBD3F0"/>
                </a:solidFill>
                <a:latin typeface="Courier New"/>
              </a:rPr>
              <a:t>    eu-west1-a/</a:t>
            </a:r>
          </a:p>
          <a:p>
            <a:r>
              <a:rPr sz="1100">
                <a:solidFill>
                  <a:srgbClr val="CBD3F0"/>
                </a:solidFill>
                <a:latin typeface="Courier New"/>
              </a:rPr>
              <a:t>      no-subzone-specified/</a:t>
            </a:r>
          </a:p>
          <a:p>
            <a:r>
              <a:rPr sz="1100">
                <a:solidFill>
                  <a:srgbClr val="CBD3F0"/>
                </a:solidFill>
                <a:latin typeface="Courier New"/>
              </a:rPr>
              <a:t>        realistic-00200-Deployment-api.yaml</a:t>
            </a:r>
          </a:p>
          <a:p>
            <a:r>
              <a:rPr sz="1100">
                <a:solidFill>
                  <a:srgbClr val="CBD3F0"/>
                </a:solidFill>
                <a:latin typeface="Courier New"/>
              </a:rPr>
              <a:t>        realistic-00100-Deployment-auth.yaml</a:t>
            </a:r>
          </a:p>
          <a:p>
            <a:r>
              <a:rPr sz="1100">
                <a:solidFill>
                  <a:srgbClr val="CBD3F0"/>
                </a:solidFill>
                <a:latin typeface="Courier New"/>
              </a:rPr>
              <a:t>        realistic-00100-Deployment-sdb-data.yaml</a:t>
            </a:r>
          </a:p>
          <a:p>
            <a:r>
              <a:rPr sz="1100">
                <a:solidFill>
                  <a:srgbClr val="CBD3F0"/>
                </a:solidFill>
                <a:latin typeface="Courier New"/>
              </a:rPr>
              <a:t>        realistic-DeploymentNginxGw.yaml</a:t>
            </a:r>
          </a:p>
          <a:p>
            <a:r>
              <a:rPr sz="1100">
                <a:solidFill>
                  <a:srgbClr val="CBD3F0"/>
                </a:solidFill>
                <a:latin typeface="Courier New"/>
              </a:rPr>
              <a:t>        (+ Services y ConfigMaps sin affinity)</a:t>
            </a:r>
          </a:p>
        </p:txBody>
      </p:sp>
      <p:sp>
        <p:nvSpPr>
          <p:cNvPr id="6" name="Rectangle 5"/>
          <p:cNvSpPr/>
          <p:nvPr/>
        </p:nvSpPr>
        <p:spPr>
          <a:xfrm>
            <a:off x="365760" y="4343400"/>
            <a:ext cx="5577840" cy="23774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deploy-affinity.sh — aplica solo los Deployments</a:t>
            </a:r>
          </a:p>
          <a:p>
            <a:r>
              <a:rPr sz="1100">
                <a:solidFill>
                  <a:srgbClr val="F9E2AF"/>
                </a:solidFill>
                <a:latin typeface="Courier New"/>
              </a:rPr>
              <a:t>AFFINITY_DIR='RealisticWorkspace/affinity-yamls/</a:t>
            </a:r>
          </a:p>
          <a:p>
            <a:r>
              <a:rPr sz="1100">
                <a:solidFill>
                  <a:srgbClr val="CBD3F0"/>
                </a:solidFill>
                <a:latin typeface="Courier New"/>
              </a:rPr>
              <a:t>  eu-west1/eu-west1-a/no-subzone-specified'</a:t>
            </a:r>
          </a:p>
          <a:p>
            <a:r>
              <a:rPr sz="1100">
                <a:solidFill>
                  <a:srgbClr val="CBD3F0"/>
                </a:solidFill>
                <a:latin typeface="Courier New"/>
              </a:rPr>
              <a:t/>
            </a:r>
          </a:p>
          <a:p>
            <a:r>
              <a:rPr sz="1100">
                <a:solidFill>
                  <a:srgbClr val="CBD3F0"/>
                </a:solidFill>
                <a:latin typeface="Courier New"/>
              </a:rPr>
              <a:t>for f in $(ls $AFFINITY_DIR/*Deployment*.yaml | sort); do</a:t>
            </a:r>
          </a:p>
          <a:p>
            <a:r>
              <a:rPr sz="1100">
                <a:solidFill>
                  <a:srgbClr val="CBD3F0"/>
                </a:solidFill>
                <a:latin typeface="Courier New"/>
              </a:rPr>
              <a:t>  kubectl apply -f $f -n mubench-realistic --force</a:t>
            </a:r>
          </a:p>
          <a:p>
            <a:r>
              <a:rPr sz="1100">
                <a:solidFill>
                  <a:srgbClr val="CBD3F0"/>
                </a:solidFill>
                <a:latin typeface="Courier New"/>
              </a:rPr>
              <a:t>done</a:t>
            </a:r>
          </a:p>
          <a:p>
            <a:r>
              <a:rPr sz="1100">
                <a:solidFill>
                  <a:srgbClr val="CBD3F0"/>
                </a:solidFill>
                <a:latin typeface="Courier New"/>
              </a:rPr>
              <a:t/>
            </a:r>
          </a:p>
          <a:p>
            <a:r>
              <a:rPr sz="1100">
                <a:solidFill>
                  <a:srgbClr val="CBD3F0"/>
                </a:solidFill>
                <a:latin typeface="Courier New"/>
              </a:rPr>
              <a:t># Espera rollout de cada deployment por nombre con sufijo</a:t>
            </a:r>
          </a:p>
          <a:p>
            <a:r>
              <a:rPr sz="1100">
                <a:solidFill>
                  <a:srgbClr val="F9E2AF"/>
                </a:solidFill>
                <a:latin typeface="Courier New"/>
              </a:rPr>
              <a:t>kubectl rollout status deployment/api-eu-west1-eu-west1-a -n mubench-realistic</a:t>
            </a:r>
          </a:p>
          <a:p>
            <a:r>
              <a:rPr sz="1100">
                <a:solidFill>
                  <a:srgbClr val="CBD3F0"/>
                </a:solidFill>
                <a:latin typeface="Courier New"/>
              </a:rPr>
              <a:t>kubectl rollout status deployment/auth-eu-west1-eu-west1-a -n mubench-realistic</a:t>
            </a:r>
          </a:p>
          <a:p>
            <a:r>
              <a:rPr sz="1100">
                <a:solidFill>
                  <a:srgbClr val="CBD3F0"/>
                </a:solidFill>
                <a:latin typeface="Courier New"/>
              </a:rPr>
              <a:t>kubectl rollout status deployment/sdb-data-eu-west1-eu-west1-a -n mubench-realistic</a:t>
            </a:r>
          </a:p>
          <a:p>
            <a:r>
              <a:rPr sz="1100">
                <a:solidFill>
                  <a:srgbClr val="CBD3F0"/>
                </a:solidFill>
                <a:latin typeface="Courier New"/>
              </a:rPr>
              <a:t>kubectl rollout status deployment/gw-nginx-eu-west1-eu-west1-a -n mubench-realistic</a:t>
            </a:r>
          </a:p>
          <a:p>
            <a:r>
              <a:rPr sz="1100">
                <a:solidFill>
                  <a:srgbClr val="CBD3F0"/>
                </a:solidFill>
                <a:latin typeface="Courier New"/>
              </a:rPr>
              <a:t/>
            </a:r>
          </a:p>
          <a:p>
            <a:r>
              <a:rPr sz="1100">
                <a:solidFill>
                  <a:srgbClr val="CBD3F0"/>
                </a:solidFill>
                <a:latin typeface="Courier New"/>
              </a:rPr>
              <a:t># Verifica nodo asignado (en single-node siempre = felipepc)</a:t>
            </a:r>
          </a:p>
          <a:p>
            <a:r>
              <a:rPr sz="1100">
                <a:solidFill>
                  <a:srgbClr val="F9E2AF"/>
                </a:solidFill>
                <a:latin typeface="Courier New"/>
              </a:rPr>
              <a:t>kubectl get pods -n mubench-realistic -o jsonpath=..nodeName.. | grep eu-west1</a:t>
            </a:r>
          </a:p>
        </p:txBody>
      </p:sp>
      <p:sp>
        <p:nvSpPr>
          <p:cNvPr id="7" name="Rectangle 6"/>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¿Qué mide este experimento?</a:t>
            </a:r>
          </a:p>
          <a:p>
            <a:r>
              <a:rPr sz="1000">
                <a:solidFill>
                  <a:srgbClr val="555555"/>
                </a:solidFill>
              </a:rPr>
              <a:t>Hipótesis: fijar pods a una zona
topológica específica reduce latencia
al garantizar co-localización.
En un cluster REAL multi-nodo:
  - sin affinity: pods pueden caer
    en nodos distintos (cross-node)
  - con affinity: todos los pods
    quedan en el MISMO nodo/zona
  - resultado: menos latencia de red
En single-node (felipepc):
  todos los pods van al mismo nodo
  con y sin affinity → diferencia
  esperada ≈ 0 (solo overhead del
  scheduler evaluando la regla)</a:t>
            </a:r>
          </a:p>
        </p:txBody>
      </p:sp>
      <p:sp>
        <p:nvSpPr>
          <p:cNvPr id="8" name="Rectangle 7"/>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requiredDuringScheduling — hard affinity</a:t>
            </a:r>
          </a:p>
          <a:p>
            <a:r>
              <a:rPr sz="1000">
                <a:solidFill>
                  <a:srgbClr val="555555"/>
                </a:solidFill>
              </a:rPr>
              <a:t>Hay dos tipos de nodeAffinity:
required (hard):
  → pod queda Pending hasta que
    haya un nodo que cumpla
  → NUNCA se schedula en otro nodo
preferred (soft):
  → K8s intenta cumplirlo pero
    si no hay nodo → schedula igual
Este experimento usa REQUIRED.
En single-node (felipepc tiene labels
region=eu-west1 zone=eu-west1-a)
siempre se cumple.
En cluster sin esos labels → pods
quedarían en Pending forever.</a:t>
            </a:r>
          </a:p>
        </p:txBody>
      </p:sp>
      <p:sp>
        <p:nvSpPr>
          <p:cNvPr id="9" name="Rectangle 8"/>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Naming: api-eu-west1-eu-west1-a</a:t>
            </a:r>
          </a:p>
          <a:p>
            <a:r>
              <a:rPr sz="1000">
                <a:solidFill>
                  <a:srgbClr val="555555"/>
                </a:solidFill>
              </a:rPr>
              <a:t>Los deployments originales:
  api, auth, sdb-data, gw-nginx
Los de affinity añaden sufijo de zona:
  api-eu-west1-eu-west1-a
  auth-eu-west1-eu-west1-a
  sdb-data-eu-west1-eu-west1-a
  gw-nginx-eu-west1-eu-west1-a
Razón: coexisten en el MISMO namespace
con los deployments originales.
Label selector secundario:
  app-t: api-eu-west1-eu-west1-a
Distingue estos pods de los
originales (que usan solo app: api).</a:t>
            </a:r>
          </a:p>
        </p:txBody>
      </p:sp>
      <p:sp>
        <p:nvSpPr>
          <p:cNvPr id="10" name="Rectangle 9"/>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cleanup.sh — restauración</a:t>
            </a:r>
          </a:p>
          <a:p>
            <a:r>
              <a:rPr sz="1000">
                <a:solidFill>
                  <a:srgbClr val="555555"/>
                </a:solidFill>
              </a:rPr>
              <a:t>Elimina los 4 deployments affinity:
  kubectl delete deployment \
    api-eu-west1-eu-west1-a \
    auth-eu-west1-eu-west1-a \
    sdb-data-eu-west1-eu-west1-a \
    gw-nginx-eu-west1-eu-west1-a \
    -n mubench-realistic
Restaura los originales a 1 réplica:
  kubectl scale deployment api auth
    sdb-data gw-nginx --replicas=1
El scale es necesario porque
deploy-affinity.sh usa --force,
que podría haber escalado los
deployments originales a 0.</a:t>
            </a:r>
          </a:p>
        </p:txBody>
      </p:sp>
      <p:sp>
        <p:nvSpPr>
          <p:cNvPr id="11" name="Rectangle 10"/>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Relación con Add-on/Topology-affinity</a:t>
            </a:r>
          </a:p>
          <a:p>
            <a:r>
              <a:rPr sz="1000">
                <a:solidFill>
                  <a:srgbClr val="555555"/>
                </a:solidFill>
              </a:rPr>
              <a:t>En el workspace hay DOS lugares
con topology affinity:
Add-on/Topology-affinity/
  → HPA + affinity para MuBench
    servicios SINTÉTICOS (s0, s1)
  → YAML genérico para cualquier
    despliegue del benchmark
experiments/05-topology-affinity/
  → experimento ACTIVO con medición
  → servicios REALES (api, auth)
  → k6 + análisis comparativo
  → compara vs baseline de exp-02
Add-on es infraestructura genérica;
exp-05 es el experimento con métrica.</a:t>
            </a:r>
          </a:p>
        </p:txBody>
      </p:sp>
      <p:sp>
        <p:nvSpPr>
          <p:cNvPr id="12" name="Rectangle 11"/>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Experimento sin autopilot</a:t>
            </a:r>
          </a:p>
          <a:p>
            <a:r>
              <a:rPr sz="1000">
                <a:solidFill>
                  <a:srgbClr val="555555"/>
                </a:solidFill>
              </a:rPr>
              <a:t>05-topology-affinity NO tiene:
  - run-control5-safe.sh
  - run-control5-autopilot-safe.sh
  - monitor-control5.sh
Tiene un runner LINEAL:
  1. bash deploy-affinity.sh
  2. bash run-affinity-test.sh
  3. python3 analyze-results.py
  4. bash cleanup.sh
Igual que los experimentos -realistic:
sin lock, sin detección de runs
previas, sin re-ejecución parcial.
Es el primero de los experimentos
sintéticos en tener analyze-results.py</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Deployment con nodeAffinity — anatomía del YAML y label app-t</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requiredDuringSchedulingIgnoredDuringExecution · topology.kubernetes.io/region+zone · app-t selector · run-affinity-test.sh</a:t>
            </a:r>
          </a:p>
        </p:txBody>
      </p:sp>
      <p:sp>
        <p:nvSpPr>
          <p:cNvPr id="5" name="Rectangle 4"/>
          <p:cNvSpPr/>
          <p:nvPr/>
        </p:nvSpPr>
        <p:spPr>
          <a:xfrm>
            <a:off x="365760" y="1143000"/>
            <a:ext cx="5577840" cy="38862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realistic-00200-Deployment-api.yaml (extracto clave)</a:t>
            </a:r>
          </a:p>
          <a:p>
            <a:r>
              <a:rPr sz="1100">
                <a:solidFill>
                  <a:srgbClr val="F9E2AF"/>
                </a:solidFill>
                <a:latin typeface="Courier New"/>
              </a:rPr>
              <a:t>metadata:</a:t>
            </a:r>
          </a:p>
          <a:p>
            <a:r>
              <a:rPr sz="1100">
                <a:solidFill>
                  <a:srgbClr val="CBD3F0"/>
                </a:solidFill>
                <a:latin typeface="Courier New"/>
              </a:rPr>
              <a:t>  name: api-eu-west1-eu-west1-a   # sufijo de zona</a:t>
            </a:r>
          </a:p>
          <a:p>
            <a:r>
              <a:rPr sz="1100">
                <a:solidFill>
                  <a:srgbClr val="CBD3F0"/>
                </a:solidFill>
                <a:latin typeface="Courier New"/>
              </a:rPr>
              <a:t>  namespace: mubench-realistic</a:t>
            </a:r>
          </a:p>
          <a:p>
            <a:r>
              <a:rPr sz="1100">
                <a:solidFill>
                  <a:srgbClr val="CBD3F0"/>
                </a:solidFill>
                <a:latin typeface="Courier New"/>
              </a:rPr>
              <a:t>spec:</a:t>
            </a:r>
          </a:p>
          <a:p>
            <a:r>
              <a:rPr sz="1100">
                <a:solidFill>
                  <a:srgbClr val="CBD3F0"/>
                </a:solidFill>
                <a:latin typeface="Courier New"/>
              </a:rPr>
              <a:t>  selector:</a:t>
            </a:r>
          </a:p>
          <a:p>
            <a:r>
              <a:rPr sz="1100">
                <a:solidFill>
                  <a:srgbClr val="CBD3F0"/>
                </a:solidFill>
                <a:latin typeface="Courier New"/>
              </a:rPr>
              <a:t>    matchLabels:</a:t>
            </a:r>
          </a:p>
          <a:p>
            <a:r>
              <a:rPr sz="1100">
                <a:solidFill>
                  <a:srgbClr val="CBD3F0"/>
                </a:solidFill>
                <a:latin typeface="Courier New"/>
              </a:rPr>
              <a:t>      app: api</a:t>
            </a:r>
          </a:p>
          <a:p>
            <a:r>
              <a:rPr sz="1100">
                <a:solidFill>
                  <a:srgbClr val="F9E2AF"/>
                </a:solidFill>
                <a:latin typeface="Courier New"/>
              </a:rPr>
              <a:t>      app-t: api-eu-west1-eu-west1-a  # selector secundario</a:t>
            </a:r>
          </a:p>
          <a:p>
            <a:r>
              <a:rPr sz="1100">
                <a:solidFill>
                  <a:srgbClr val="CBD3F0"/>
                </a:solidFill>
                <a:latin typeface="Courier New"/>
              </a:rPr>
              <a:t>  template:</a:t>
            </a:r>
          </a:p>
          <a:p>
            <a:r>
              <a:rPr sz="1100">
                <a:solidFill>
                  <a:srgbClr val="CBD3F0"/>
                </a:solidFill>
                <a:latin typeface="Courier New"/>
              </a:rPr>
              <a:t>    metadata:</a:t>
            </a:r>
          </a:p>
          <a:p>
            <a:r>
              <a:rPr sz="1100">
                <a:solidFill>
                  <a:srgbClr val="CBD3F0"/>
                </a:solidFill>
                <a:latin typeface="Courier New"/>
              </a:rPr>
              <a:t>      labels:</a:t>
            </a:r>
          </a:p>
          <a:p>
            <a:r>
              <a:rPr sz="1100">
                <a:solidFill>
                  <a:srgbClr val="CBD3F0"/>
                </a:solidFill>
                <a:latin typeface="Courier New"/>
              </a:rPr>
              <a:t>        app: api</a:t>
            </a:r>
          </a:p>
          <a:p>
            <a:r>
              <a:rPr sz="1100">
                <a:solidFill>
                  <a:srgbClr val="CBD3F0"/>
                </a:solidFill>
                <a:latin typeface="Courier New"/>
              </a:rPr>
              <a:t>        app-t: api-eu-west1-eu-west1-a  # distingue de original</a:t>
            </a:r>
          </a:p>
          <a:p>
            <a:r>
              <a:rPr sz="1100">
                <a:solidFill>
                  <a:srgbClr val="CBD3F0"/>
                </a:solidFill>
                <a:latin typeface="Courier New"/>
              </a:rPr>
              <a:t>    spec:</a:t>
            </a:r>
          </a:p>
          <a:p>
            <a:r>
              <a:rPr sz="1100">
                <a:solidFill>
                  <a:srgbClr val="CBD3F0"/>
                </a:solidFill>
                <a:latin typeface="Courier New"/>
              </a:rPr>
              <a:t>      affinity:</a:t>
            </a:r>
          </a:p>
          <a:p>
            <a:r>
              <a:rPr sz="1100">
                <a:solidFill>
                  <a:srgbClr val="F9E2AF"/>
                </a:solidFill>
                <a:latin typeface="Courier New"/>
              </a:rPr>
              <a:t>        nodeAffinity:</a:t>
            </a:r>
          </a:p>
          <a:p>
            <a:r>
              <a:rPr sz="1100">
                <a:solidFill>
                  <a:srgbClr val="CBD3F0"/>
                </a:solidFill>
                <a:latin typeface="Courier New"/>
              </a:rPr>
              <a:t>          # HARD: pod queda Pending hasta que haya nodo válido</a:t>
            </a:r>
          </a:p>
          <a:p>
            <a:r>
              <a:rPr sz="1100">
                <a:solidFill>
                  <a:srgbClr val="F9E2AF"/>
                </a:solidFill>
                <a:latin typeface="Courier New"/>
              </a:rPr>
              <a:t>          requiredDuringSchedulingIgnoredDuringExecution:</a:t>
            </a:r>
          </a:p>
          <a:p>
            <a:r>
              <a:rPr sz="1100">
                <a:solidFill>
                  <a:srgbClr val="CBD3F0"/>
                </a:solidFill>
                <a:latin typeface="Courier New"/>
              </a:rPr>
              <a:t>            nodeSelectorTerms:</a:t>
            </a:r>
          </a:p>
          <a:p>
            <a:r>
              <a:rPr sz="1100">
                <a:solidFill>
                  <a:srgbClr val="CBD3F0"/>
                </a:solidFill>
                <a:latin typeface="Courier New"/>
              </a:rPr>
              <a:t>            - matchExpressions:</a:t>
            </a:r>
          </a:p>
          <a:p>
            <a:r>
              <a:rPr sz="1100">
                <a:solidFill>
                  <a:srgbClr val="CBD3F0"/>
                </a:solidFill>
                <a:latin typeface="Courier New"/>
              </a:rPr>
              <a:t>              # DEBE coincidir la region</a:t>
            </a:r>
          </a:p>
          <a:p>
            <a:r>
              <a:rPr sz="1100">
                <a:solidFill>
                  <a:srgbClr val="F9E2AF"/>
                </a:solidFill>
                <a:latin typeface="Courier New"/>
              </a:rPr>
              <a:t>              - key: topology.kubernetes.io/region</a:t>
            </a:r>
          </a:p>
          <a:p>
            <a:r>
              <a:rPr sz="1100">
                <a:solidFill>
                  <a:srgbClr val="CBD3F0"/>
                </a:solidFill>
                <a:latin typeface="Courier New"/>
              </a:rPr>
              <a:t>                operator: In</a:t>
            </a:r>
          </a:p>
          <a:p>
            <a:r>
              <a:rPr sz="1100">
                <a:solidFill>
                  <a:srgbClr val="CBD3F0"/>
                </a:solidFill>
                <a:latin typeface="Courier New"/>
              </a:rPr>
              <a:t>                values: [eu-west1]</a:t>
            </a:r>
          </a:p>
          <a:p>
            <a:r>
              <a:rPr sz="1100">
                <a:solidFill>
                  <a:srgbClr val="CBD3F0"/>
                </a:solidFill>
                <a:latin typeface="Courier New"/>
              </a:rPr>
              <a:t>              # Y la zona</a:t>
            </a:r>
          </a:p>
          <a:p>
            <a:r>
              <a:rPr sz="1100">
                <a:solidFill>
                  <a:srgbClr val="F9E2AF"/>
                </a:solidFill>
                <a:latin typeface="Courier New"/>
              </a:rPr>
              <a:t>              - key: topology.kubernetes.io/zone</a:t>
            </a:r>
          </a:p>
          <a:p>
            <a:r>
              <a:rPr sz="1100">
                <a:solidFill>
                  <a:srgbClr val="CBD3F0"/>
                </a:solidFill>
                <a:latin typeface="Courier New"/>
              </a:rPr>
              <a:t>                operator: In</a:t>
            </a:r>
          </a:p>
          <a:p>
            <a:r>
              <a:rPr sz="1100">
                <a:solidFill>
                  <a:srgbClr val="CBD3F0"/>
                </a:solidFill>
                <a:latin typeface="Courier New"/>
              </a:rPr>
              <a:t>                values: [eu-west1-a]</a:t>
            </a:r>
          </a:p>
          <a:p>
            <a:r>
              <a:rPr sz="1100">
                <a:solidFill>
                  <a:srgbClr val="CBD3F0"/>
                </a:solidFill>
                <a:latin typeface="Courier New"/>
              </a:rPr>
              <a:t>      containers:</a:t>
            </a:r>
          </a:p>
          <a:p>
            <a:r>
              <a:rPr sz="1100">
                <a:solidFill>
                  <a:srgbClr val="CBD3F0"/>
                </a:solidFill>
                <a:latin typeface="Courier New"/>
              </a:rPr>
              <a:t>        - name: api</a:t>
            </a:r>
          </a:p>
          <a:p>
            <a:r>
              <a:rPr sz="1100">
                <a:solidFill>
                  <a:srgbClr val="CBD3F0"/>
                </a:solidFill>
                <a:latin typeface="Courier New"/>
              </a:rPr>
              <a:t>          env:</a:t>
            </a:r>
          </a:p>
          <a:p>
            <a:r>
              <a:rPr sz="1100">
                <a:solidFill>
                  <a:srgbClr val="CBD3F0"/>
                </a:solidFill>
                <a:latin typeface="Courier New"/>
              </a:rPr>
              <a:t>            - name: ZONE</a:t>
            </a:r>
          </a:p>
          <a:p>
            <a:r>
              <a:rPr sz="1100">
                <a:solidFill>
                  <a:srgbClr val="CBD3F0"/>
                </a:solidFill>
                <a:latin typeface="Courier New"/>
              </a:rPr>
              <a:t>              valueFrom:</a:t>
            </a:r>
          </a:p>
          <a:p>
            <a:r>
              <a:rPr sz="1100">
                <a:solidFill>
                  <a:srgbClr val="CBD3F0"/>
                </a:solidFill>
                <a:latin typeface="Courier New"/>
              </a:rPr>
              <a:t>                fieldRef:</a:t>
            </a:r>
          </a:p>
          <a:p>
            <a:r>
              <a:rPr sz="1100">
                <a:solidFill>
                  <a:srgbClr val="CBD3F0"/>
                </a:solidFill>
                <a:latin typeface="Courier New"/>
              </a:rPr>
              <a:t>                  fieldPath: metadata.labels['zone']</a:t>
            </a:r>
          </a:p>
        </p:txBody>
      </p:sp>
      <p:sp>
        <p:nvSpPr>
          <p:cNvPr id="6" name="Rectangle 5"/>
          <p:cNvSpPr/>
          <p:nvPr/>
        </p:nvSpPr>
        <p:spPr>
          <a:xfrm>
            <a:off x="365760" y="5166360"/>
            <a:ext cx="5577840" cy="15544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run-affinity-test.sh — verifica pods antes de correr</a:t>
            </a:r>
          </a:p>
          <a:p>
            <a:r>
              <a:rPr sz="1100">
                <a:solidFill>
                  <a:srgbClr val="F9E2AF"/>
                </a:solidFill>
                <a:latin typeface="Courier New"/>
              </a:rPr>
              <a:t># Comprueba que los pods con affinity están en Running 2/2</a:t>
            </a:r>
          </a:p>
          <a:p>
            <a:r>
              <a:rPr sz="1100">
                <a:solidFill>
                  <a:srgbClr val="CBD3F0"/>
                </a:solidFill>
                <a:latin typeface="Courier New"/>
              </a:rPr>
              <a:t>kubectl get pods -n mubench-realistic | grep 'eu-west1' | grep '2/2'</a:t>
            </a:r>
          </a:p>
          <a:p>
            <a:r>
              <a:rPr sz="1100">
                <a:solidFill>
                  <a:srgbClr val="F9E2AF"/>
                </a:solidFill>
                <a:latin typeface="Courier New"/>
              </a:rPr>
              <a:t/>
            </a:r>
          </a:p>
          <a:p>
            <a:r>
              <a:rPr sz="1100">
                <a:solidFill>
                  <a:srgbClr val="CBD3F0"/>
                </a:solidFill>
                <a:latin typeface="Courier New"/>
              </a:rPr>
              <a:t># Verifica gateway responde</a:t>
            </a:r>
          </a:p>
          <a:p>
            <a:r>
              <a:rPr sz="1100">
                <a:solidFill>
                  <a:srgbClr val="CBD3F0"/>
                </a:solidFill>
                <a:latin typeface="Courier New"/>
              </a:rPr>
              <a:t>HTTP=$(curl -s -o /dev/null -w '%{http_code}' http://localhost:31213/api)</a:t>
            </a:r>
          </a:p>
          <a:p>
            <a:r>
              <a:rPr sz="1100">
                <a:solidFill>
                  <a:srgbClr val="CBD3F0"/>
                </a:solidFill>
                <a:latin typeface="Courier New"/>
              </a:rPr>
              <a:t/>
            </a:r>
          </a:p>
          <a:p>
            <a:r>
              <a:rPr sz="1100">
                <a:solidFill>
                  <a:srgbClr val="CBD3F0"/>
                </a:solidFill>
                <a:latin typeface="Courier New"/>
              </a:rPr>
              <a:t># Test: VUS=5/10/20 × rep 1/2/3 × 60s, sleep 10s</a:t>
            </a:r>
          </a:p>
          <a:p>
            <a:r>
              <a:rPr sz="1100">
                <a:solidFill>
                  <a:srgbClr val="CBD3F0"/>
                </a:solidFill>
                <a:latin typeface="Courier New"/>
              </a:rPr>
              <a:t># Output: results/affinity-vus${vus}-rep${rep}.json</a:t>
            </a:r>
          </a:p>
        </p:txBody>
      </p:sp>
      <p:sp>
        <p:nvSpPr>
          <p:cNvPr id="7" name="Rectangle 6"/>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IgnoredDuringExecution — sin desalojo</a:t>
            </a:r>
          </a:p>
          <a:p>
            <a:r>
              <a:rPr sz="1000">
                <a:solidFill>
                  <a:srgbClr val="555555"/>
                </a:solidFill>
              </a:rPr>
              <a:t>El nombre completo explica el comportamiento:
required
  DuringScheduling     → al crear el pod
    IgnoredDuring      → después de creado
      Execution        → durante ejecución
Significa:
  - AL CREAR: el nodo DEBE tener las labels
  - EN EJECUCIÓN: si el nodo pierde las
    labels (ej. admin las borra), el pod
    NO se desaloja → sigue corriendo
vs preferredDuringScheduling
IgnoredDuringExecution (soft):
  → intenta cumplirlo, si no hay
    nodo válido → schedula igual</a:t>
            </a:r>
          </a:p>
        </p:txBody>
      </p:sp>
      <p:sp>
        <p:nvSpPr>
          <p:cNvPr id="8" name="Rectangle 7"/>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app-t — selector dual</a:t>
            </a:r>
          </a:p>
          <a:p>
            <a:r>
              <a:rPr sz="1000">
                <a:solidFill>
                  <a:srgbClr val="555555"/>
                </a:solidFill>
              </a:rPr>
              <a:t>El cluster tiene DOS versiones del
mismo servicio en el mismo namespace:
Deployment api (original):
  labels: {app: api}
  Service api → selector {app: api}
  → selecciona AMBOS deployments!
Deployment api-eu-west1-eu-west1-a:
  labels: {app: api,
           app-t: api-eu-west1-eu-west1-a}
Para aislar el tráfico a los pods
de affinity se necesita un Service
con selector {app-t: api-eu-west1-...}
No interferirá con el Service original.</a:t>
            </a:r>
          </a:p>
        </p:txBody>
      </p:sp>
      <p:sp>
        <p:nvSpPr>
          <p:cNvPr id="9" name="Rectangle 8"/>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topology.kubernetes.io/region+zone</a:t>
            </a:r>
          </a:p>
          <a:p>
            <a:r>
              <a:rPr sz="1000">
                <a:solidFill>
                  <a:srgbClr val="555555"/>
                </a:solidFill>
              </a:rPr>
              <a:t>Labels estándar de Kubernetes:
  topology.kubernetes.io/region
  topology.kubernetes.io/zone
En el cluster de lab (felipepc)
estos labels se configuraron manualmente
en el nodo para simular multi-zona:
  kubectl label node felipepc \
    topology.kubernetes.io/region=eu-west1
    topology.kubernetes.io/zone=eu-west1-a
En clusters cloud (GKE, EKS, AKS)
estos labels se añaden automáticamente
en cada nodo según su zona real.</a:t>
            </a:r>
          </a:p>
        </p:txBody>
      </p:sp>
      <p:sp>
        <p:nvSpPr>
          <p:cNvPr id="10" name="Rectangle 9"/>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test-affinity.js — sleep 0.2s</a:t>
            </a:r>
          </a:p>
          <a:p>
            <a:r>
              <a:rPr sz="1000">
                <a:solidFill>
                  <a:srgbClr val="555555"/>
                </a:solidFill>
              </a:rPr>
              <a:t>A diferencia de otros tests que usan
sleep(0.1) → 10 req/s por VU,
test-affinity.js usa sleep(0.2)
→ 5 req/s por VU.
Con VUS=20: 20 × 5 = 100 req/s
(igual que otros tests con VUS=10)
Thresholds MÁS estrictos:
  http_req_failed: rate&lt;0.02 (2%)
  http_req_duration: p(95)&lt;1000ms
vs otros tests que usan --no-thresholds
o fail&lt;5-30%.
URL default del test: :31214/api-...
Run script usa: :31213/api
→ discrepancia entre test y runner</a:t>
            </a:r>
          </a:p>
        </p:txBody>
      </p:sp>
      <p:sp>
        <p:nvSpPr>
          <p:cNvPr id="11" name="Rectangle 10"/>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Discrepancia de puertos :31213 vs :31214</a:t>
            </a:r>
          </a:p>
          <a:p>
            <a:r>
              <a:rPr sz="1000">
                <a:solidFill>
                  <a:srgbClr val="555555"/>
                </a:solidFill>
              </a:rPr>
              <a:t>run-affinity-test.sh pasa:
  TARGET_URL=http://localhost:31213/api
test-affinity.js tiene como default:
  http://localhost:31214/api-eu-west1-...
Como el runner pasa TARGET_URL via ENV,
el test SIEMPRE usa :31213/api (del runner)
ignorando el default del script k6.
El puerto 31213 es el NodePort de
gw-nginx en mubench-realistic.
El 31214 parece el NodePort del Service
api-eu-west1-eu-west1-a si existiera.
En la práctica: test → :31213/api
(el gateway original, no el affinity).</a:t>
            </a:r>
          </a:p>
        </p:txBody>
      </p:sp>
      <p:sp>
        <p:nvSpPr>
          <p:cNvPr id="12" name="Rectangle 11"/>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--force en kubectl apply</a:t>
            </a:r>
          </a:p>
          <a:p>
            <a:r>
              <a:rPr sz="1000">
                <a:solidFill>
                  <a:srgbClr val="555555"/>
                </a:solidFill>
              </a:rPr>
              <a:t>deploy-affinity.sh usa --force:
  kubectl apply -f ... --force
kubectl apply --force equivale a:
  1. Si el objeto existe: delete + create
  2. Si no existe: create normal
Se usa para garantizar que el YAML
de affinity reemplaza el Deployment
existente aunque tenga conflictos
en campos inmutables del spec.
Riesgo: puede causar downtime breve
del servicio durante el delete+create.
El rollout status espera que vuelva
a estar Ready antes de los tests.</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analyze-results.py — comparativa affinity vs baseline de exp-02</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Lectura NDJSON manual (sort+index) · p50/p95/p99/fail/throughput · cross-experimento: usa results de 02-mtls-service-mesh</a:t>
            </a:r>
          </a:p>
        </p:txBody>
      </p:sp>
      <p:sp>
        <p:nvSpPr>
          <p:cNvPr id="5" name="Rectangle 4"/>
          <p:cNvSpPr/>
          <p:nvPr/>
        </p:nvSpPr>
        <p:spPr>
          <a:xfrm>
            <a:off x="365760" y="1143000"/>
            <a:ext cx="5577840" cy="41148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analyze-results.py — comparativa cross-experimento</a:t>
            </a:r>
          </a:p>
          <a:p>
            <a:r>
              <a:rPr sz="1100">
                <a:solidFill>
                  <a:srgbClr val="F9E2AF"/>
                </a:solidFill>
                <a:latin typeface="Courier New"/>
              </a:rPr>
              <a:t/>
            </a:r>
          </a:p>
          <a:p>
            <a:r>
              <a:rPr sz="1100">
                <a:solidFill>
                  <a:srgbClr val="CBD3F0"/>
                </a:solidFill>
                <a:latin typeface="Courier New"/>
              </a:rPr>
              <a:t># Rutas: usa baseline del experimento 02</a:t>
            </a:r>
          </a:p>
          <a:p>
            <a:r>
              <a:rPr sz="1100">
                <a:solidFill>
                  <a:srgbClr val="F9E2AF"/>
                </a:solidFill>
                <a:latin typeface="Courier New"/>
              </a:rPr>
              <a:t>BASELINE_DIR = EXP05.parent / '02-mtls-service-mesh'</a:t>
            </a:r>
          </a:p>
          <a:p>
            <a:r>
              <a:rPr sz="1100">
                <a:solidFill>
                  <a:srgbClr val="CBD3F0"/>
                </a:solidFill>
                <a:latin typeface="Courier New"/>
              </a:rPr>
              <a:t>             / 'results' / 'baseline'</a:t>
            </a:r>
          </a:p>
          <a:p>
            <a:r>
              <a:rPr sz="1100">
                <a:solidFill>
                  <a:srgbClr val="CBD3F0"/>
                </a:solidFill>
                <a:latin typeface="Courier New"/>
              </a:rPr>
              <a:t>AFFINITY_DIR = EXP05 / 'results'</a:t>
            </a:r>
          </a:p>
          <a:p>
            <a:r>
              <a:rPr sz="1100">
                <a:solidFill>
                  <a:srgbClr val="CBD3F0"/>
                </a:solidFill>
                <a:latin typeface="Courier New"/>
              </a:rPr>
              <a:t/>
            </a:r>
          </a:p>
          <a:p>
            <a:r>
              <a:rPr sz="1100">
                <a:solidFill>
                  <a:srgbClr val="CBD3F0"/>
                </a:solidFill>
                <a:latin typeface="Courier New"/>
              </a:rPr>
              <a:t># Percentiles MANUALES (sin numpy)</a:t>
            </a:r>
          </a:p>
          <a:p>
            <a:r>
              <a:rPr sz="1100">
                <a:solidFill>
                  <a:srgbClr val="F9E2AF"/>
                </a:solidFill>
                <a:latin typeface="Courier New"/>
              </a:rPr>
              <a:t>reqs.sort()</a:t>
            </a:r>
          </a:p>
          <a:p>
            <a:r>
              <a:rPr sz="1100">
                <a:solidFill>
                  <a:srgbClr val="CBD3F0"/>
                </a:solidFill>
                <a:latin typeface="Courier New"/>
              </a:rPr>
              <a:t>n = len(reqs)</a:t>
            </a:r>
          </a:p>
          <a:p>
            <a:r>
              <a:rPr sz="1100">
                <a:solidFill>
                  <a:srgbClr val="CBD3F0"/>
                </a:solidFill>
                <a:latin typeface="Courier New"/>
              </a:rPr>
              <a:t>p50 = reqs[n // 2]</a:t>
            </a:r>
          </a:p>
          <a:p>
            <a:r>
              <a:rPr sz="1100">
                <a:solidFill>
                  <a:srgbClr val="CBD3F0"/>
                </a:solidFill>
                <a:latin typeface="Courier New"/>
              </a:rPr>
              <a:t>p95 = reqs[int(n * 0.95)]</a:t>
            </a:r>
          </a:p>
          <a:p>
            <a:r>
              <a:rPr sz="1100">
                <a:solidFill>
                  <a:srgbClr val="CBD3F0"/>
                </a:solidFill>
                <a:latin typeface="Courier New"/>
              </a:rPr>
              <a:t>p99 = reqs[int(n * 0.99)]</a:t>
            </a:r>
          </a:p>
          <a:p>
            <a:r>
              <a:rPr sz="1100">
                <a:solidFill>
                  <a:srgbClr val="CBD3F0"/>
                </a:solidFill>
                <a:latin typeface="Courier New"/>
              </a:rPr>
              <a:t>fail_rate = sum(fails) / len(fails) * 100</a:t>
            </a:r>
          </a:p>
          <a:p>
            <a:r>
              <a:rPr sz="1100">
                <a:solidFill>
                  <a:srgbClr val="CBD3F0"/>
                </a:solidFill>
                <a:latin typeface="Courier New"/>
              </a:rPr>
              <a:t>throughput = n / 60.0  # req/s en 60s de test</a:t>
            </a:r>
          </a:p>
          <a:p>
            <a:r>
              <a:rPr sz="1100">
                <a:solidFill>
                  <a:srgbClr val="CBD3F0"/>
                </a:solidFill>
                <a:latin typeface="Courier New"/>
              </a:rPr>
              <a:t/>
            </a:r>
          </a:p>
          <a:p>
            <a:r>
              <a:rPr sz="1100">
                <a:solidFill>
                  <a:srgbClr val="CBD3F0"/>
                </a:solidFill>
                <a:latin typeface="Courier New"/>
              </a:rPr>
              <a:t># Agrupa por VUS, promedia las 3 réplicas</a:t>
            </a:r>
          </a:p>
          <a:p>
            <a:r>
              <a:rPr sz="1100">
                <a:solidFill>
                  <a:srgbClr val="CBD3F0"/>
                </a:solidFill>
                <a:latin typeface="Courier New"/>
              </a:rPr>
              <a:t>stats.setdefault(vus, []).append((p50,p95,p99,fail_rate,throughput))</a:t>
            </a:r>
          </a:p>
          <a:p>
            <a:r>
              <a:rPr sz="1100">
                <a:solidFill>
                  <a:srgbClr val="CBD3F0"/>
                </a:solidFill>
                <a:latin typeface="Courier New"/>
              </a:rPr>
              <a:t>avg[vus] = tuple(sum(x[i] for x in reps)/len(reps) for i in range(5))</a:t>
            </a:r>
          </a:p>
          <a:p>
            <a:r>
              <a:rPr sz="1100">
                <a:solidFill>
                  <a:srgbClr val="CBD3F0"/>
                </a:solidFill>
                <a:latin typeface="Courier New"/>
              </a:rPr>
              <a:t/>
            </a:r>
          </a:p>
          <a:p>
            <a:r>
              <a:rPr sz="1100">
                <a:solidFill>
                  <a:srgbClr val="F9E2AF"/>
                </a:solidFill>
                <a:latin typeface="Courier New"/>
              </a:rPr>
              <a:t># Output en stdout — tabla comparativa</a:t>
            </a:r>
          </a:p>
          <a:p>
            <a:r>
              <a:rPr sz="1100">
                <a:solidFill>
                  <a:srgbClr val="CBD3F0"/>
                </a:solidFill>
                <a:latin typeface="Courier New"/>
              </a:rPr>
              <a:t># VUS | Métrica | Baseline | Affinity | Diferencia</a:t>
            </a:r>
          </a:p>
          <a:p>
            <a:r>
              <a:rPr sz="1100">
                <a:solidFill>
                  <a:srgbClr val="CBD3F0"/>
                </a:solidFill>
                <a:latin typeface="Courier New"/>
              </a:rPr>
              <a:t>#  5  |  p50 (ms)  |  12.3  |  11.8  |   -4.1%</a:t>
            </a:r>
          </a:p>
          <a:p>
            <a:r>
              <a:rPr sz="1100">
                <a:solidFill>
                  <a:srgbClr val="CBD3F0"/>
                </a:solidFill>
                <a:latin typeface="Courier New"/>
              </a:rPr>
              <a:t>#  5  |  p95 (ms)  |  45.2  |  43.1  |   -4.6%</a:t>
            </a:r>
          </a:p>
          <a:p>
            <a:r>
              <a:rPr sz="1100">
                <a:solidFill>
                  <a:srgbClr val="CBD3F0"/>
                </a:solidFill>
                <a:latin typeface="Courier New"/>
              </a:rPr>
              <a:t>#  5  |  fail (%)  |   0.0  |   0.0  |  +0.00pp</a:t>
            </a:r>
          </a:p>
          <a:p>
            <a:r>
              <a:rPr sz="1100">
                <a:solidFill>
                  <a:srgbClr val="CBD3F0"/>
                </a:solidFill>
                <a:latin typeface="Courier New"/>
              </a:rPr>
              <a:t>#  5  |    req/s   |  14.8  |  14.9  |   +0.7%</a:t>
            </a:r>
          </a:p>
          <a:p>
            <a:r>
              <a:rPr sz="1100">
                <a:solidFill>
                  <a:srgbClr val="CBD3F0"/>
                </a:solidFill>
                <a:latin typeface="Courier New"/>
              </a:rPr>
              <a:t/>
            </a:r>
          </a:p>
          <a:p>
            <a:r>
              <a:rPr sz="1100">
                <a:solidFill>
                  <a:srgbClr val="CBD3F0"/>
                </a:solidFill>
                <a:latin typeface="Courier New"/>
              </a:rPr>
              <a:t># Nota del script:</a:t>
            </a:r>
          </a:p>
          <a:p>
            <a:r>
              <a:rPr sz="1100">
                <a:solidFill>
                  <a:srgbClr val="F9E2AF"/>
                </a:solidFill>
                <a:latin typeface="Courier New"/>
              </a:rPr>
              <a:t># 'En single-node, affinity no cambia la topología real.'</a:t>
            </a:r>
          </a:p>
          <a:p>
            <a:r>
              <a:rPr sz="1100">
                <a:solidFill>
                  <a:srgbClr val="CBD3F0"/>
                </a:solidFill>
                <a:latin typeface="Courier New"/>
              </a:rPr>
              <a:t># 'Diferencias menores a ±5% se consideran ruido.'</a:t>
            </a:r>
          </a:p>
        </p:txBody>
      </p:sp>
      <p:sp>
        <p:nvSpPr>
          <p:cNvPr id="6" name="Rectangle 5"/>
          <p:cNvSpPr/>
          <p:nvPr/>
        </p:nvSpPr>
        <p:spPr>
          <a:xfrm>
            <a:off x="365760" y="5394960"/>
            <a:ext cx="5577840" cy="13258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cleanup.sh — secuencia post-experimento</a:t>
            </a:r>
          </a:p>
          <a:p>
            <a:r>
              <a:rPr sz="1100">
                <a:solidFill>
                  <a:srgbClr val="F9E2AF"/>
                </a:solidFill>
                <a:latin typeface="Courier New"/>
              </a:rPr>
              <a:t>kubectl delete deployment \</a:t>
            </a:r>
          </a:p>
          <a:p>
            <a:r>
              <a:rPr sz="1100">
                <a:solidFill>
                  <a:srgbClr val="CBD3F0"/>
                </a:solidFill>
                <a:latin typeface="Courier New"/>
              </a:rPr>
              <a:t>  api-eu-west1-eu-west1-a auth-eu-west1-eu-west1-a \</a:t>
            </a:r>
          </a:p>
          <a:p>
            <a:r>
              <a:rPr sz="1100">
                <a:solidFill>
                  <a:srgbClr val="CBD3F0"/>
                </a:solidFill>
                <a:latin typeface="Courier New"/>
              </a:rPr>
              <a:t>  sdb-data-eu-west1-eu-west1-a gw-nginx-eu-west1-eu-west1-a \</a:t>
            </a:r>
          </a:p>
          <a:p>
            <a:r>
              <a:rPr sz="1100">
                <a:solidFill>
                  <a:srgbClr val="CBD3F0"/>
                </a:solidFill>
                <a:latin typeface="Courier New"/>
              </a:rPr>
              <a:t>  -n mubench-realistic --ignore-not-found</a:t>
            </a:r>
          </a:p>
          <a:p>
            <a:r>
              <a:rPr sz="1100">
                <a:solidFill>
                  <a:srgbClr val="CBD3F0"/>
                </a:solidFill>
                <a:latin typeface="Courier New"/>
              </a:rPr>
              <a:t>kubectl scale deployment api auth sdb-data gw-nginx \</a:t>
            </a:r>
          </a:p>
          <a:p>
            <a:r>
              <a:rPr sz="1100">
                <a:solidFill>
                  <a:srgbClr val="CBD3F0"/>
                </a:solidFill>
                <a:latin typeface="Courier New"/>
              </a:rPr>
              <a:t>  -n mubench-realistic --replicas=1</a:t>
            </a:r>
          </a:p>
        </p:txBody>
      </p:sp>
      <p:sp>
        <p:nvSpPr>
          <p:cNvPr id="7" name="Rectangle 6"/>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Cross-experimento: baseline de exp-02</a:t>
            </a:r>
          </a:p>
          <a:p>
            <a:r>
              <a:rPr sz="1000">
                <a:solidFill>
                  <a:srgbClr val="555555"/>
                </a:solidFill>
              </a:rPr>
              <a:t>analyze-results.py compara con el
baseline del experimento 02-mtls:
  EXP05.parent / '02-mtls-service-mesh'
              / 'results' / 'baseline'
Razón: el baseline de exp-02 es el
estado 'sin features' más limpio:
sin Istio mTLS, sin NetworkPolicy,
sin rate limit, sin affinity.
Es la segunda referencia cross-exp
del proyecto (la primera: C4 borra
NetworkPolicies de C3).
Si exp-02 no ha corrido → FileNotFound
→ sys.exit(1) con mensaje.</a:t>
            </a:r>
          </a:p>
        </p:txBody>
      </p:sp>
      <p:sp>
        <p:nvSpPr>
          <p:cNvPr id="8" name="Rectangle 7"/>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sort() manual vs numpy percentile</a:t>
            </a:r>
          </a:p>
          <a:p>
            <a:r>
              <a:rPr sz="1000">
                <a:solidFill>
                  <a:srgbClr val="555555"/>
                </a:solidFill>
              </a:rPr>
              <a:t>Este análisis NO usa numpy/pandas
(a diferencia de analyze-rl-results.py
y analyze-netpol-results.py).
Percentil manual:
  reqs.sort()           # O(n log n)
  p95 = reqs[int(n*0.95)]  # índice
vs numpy:
  np.percentile(arr, 95)  # interpolado
Diferencia: el índice manual puede
diferir ±1 de la interpolación numpy
en datasets pequeños. Con 3600+ puntos
(60s × 60req/s) la diferencia es
estadísticamente irrelevante.</a:t>
            </a:r>
          </a:p>
        </p:txBody>
      </p:sp>
      <p:sp>
        <p:nvSpPr>
          <p:cNvPr id="9" name="Rectangle 8"/>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throughput = n / 60.0</a:t>
            </a:r>
          </a:p>
          <a:p>
            <a:r>
              <a:rPr sz="1000">
                <a:solidFill>
                  <a:srgbClr val="555555"/>
                </a:solidFill>
              </a:rPr>
              <a:t>El throughput se calcula dividiendo
el número total de puntos NDJSON por
la duración del test (60s):
  throughput = n / 60.0
n = número de registros de tipo Point
con metric=http_req_duration.
Cada request completado (OK o error)
genera 1 punto → n ≈ total requests.
Unidad: req/s efectivos durante el test.
Diferencia vs throughput de k6:
  k6 reporta iterations/s (VUs × sleep)
  Este script cuenta requests reales
  que llegaron al servidor.</a:t>
            </a:r>
          </a:p>
        </p:txBody>
      </p:sp>
      <p:sp>
        <p:nvSpPr>
          <p:cNvPr id="10" name="Rectangle 9"/>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Single-node: qué NO mide este exp.</a:t>
            </a:r>
          </a:p>
          <a:p>
            <a:r>
              <a:rPr sz="1000">
                <a:solidFill>
                  <a:srgbClr val="555555"/>
                </a:solidFill>
              </a:rPr>
              <a:t>En felipepc (un solo nodo físico):
  Con affinity: pod en felipepc
  Sin affinity: pod en felipepc
  → MISMO nodo → misma red
Lo que NO se puede medir:
  - Latencia cross-node (no hay)
  - Reducción de saltos de red
  - Beneficio de NUMA locality
Lo que SÍ se puede medir:
  - Overhead del scheduler evaluando
    la regla de affinity
  - Overhead de la etiqueta app-t
    adicional en el selector
Hipótesis esperada: diferencia &lt;±5%
→ confirma que el overhead es ruido.</a:t>
            </a:r>
          </a:p>
        </p:txBody>
      </p:sp>
      <p:sp>
        <p:nvSpPr>
          <p:cNvPr id="11" name="Rectangle 10"/>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Formato de salida — solo stdout</a:t>
            </a:r>
          </a:p>
          <a:p>
            <a:r>
              <a:rPr sz="1000">
                <a:solidFill>
                  <a:srgbClr val="555555"/>
                </a:solidFill>
              </a:rPr>
              <a:t>A diferencia de exp-02, 03, 04 que
generan archivos CSV/PNG/MD,
analyze-results.py de exp-05 escribe
SOLO en stdout:
  print(f'VUS | Métrica | Baseline ...')
  print(f'  5 |  p50 ms | ...')
No genera:
  - CSV → no hay analysis/output/
  - PNG → no hay gráficas
  - MD  → no hay report.md
Para guardar los resultados:
  python3 analyze-results.py \
    | tee results/analysis.txt
El script es el más simple de todos.</a:t>
            </a:r>
          </a:p>
        </p:txBody>
      </p:sp>
      <p:sp>
        <p:nvSpPr>
          <p:cNvPr id="12" name="Rectangle 11"/>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Diferencia pp vs % en comparativa</a:t>
            </a:r>
          </a:p>
          <a:p>
            <a:r>
              <a:rPr sz="1000">
                <a:solidFill>
                  <a:srgbClr val="555555"/>
                </a:solidFill>
              </a:rPr>
              <a:t>El script usa métricas diferentes
según el tipo de valor:
Para latencia y throughput:
  diff = (av - bv) / bv × 100
  formato: +4.1% o -3.2%
  → cambio relativo
Para fail_rate:
  diff = av - bv
  formato: +0.02pp (puntos porcentuales)
  → diferencia absoluta
Razón: si baseline fail=0.1% y
affinity fail=0.2%, la diferencia
relativa sería +100% (misleading).
La diferencia absoluta +0.1pp es
más informativa en ese rango.</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Monitoring/ — Observabilidad del cluster</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kube-prometheus-stack · Grafana :30001 · Jaeger :30002 · Kiali :30003 · PodMonitor / ServiceMonitor · NGINX IC metrics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Monitoring/ — kube-prometheus-stack + Jaeger + Kiali</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Helm install · 4 NodePorts (30000-30003) · PodMonitor mub-monitor · ServiceMonitor nginx · istio-prometheus-operator</a:t>
            </a:r>
          </a:p>
        </p:txBody>
      </p:sp>
      <p:sp>
        <p:nvSpPr>
          <p:cNvPr id="5" name="Rectangle 4"/>
          <p:cNvSpPr/>
          <p:nvPr/>
        </p:nvSpPr>
        <p:spPr>
          <a:xfrm>
            <a:off x="365760" y="1143000"/>
            <a:ext cx="5577840" cy="32918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monitoring-install.sh — instalación completa en orden</a:t>
            </a:r>
          </a:p>
          <a:p>
            <a:r>
              <a:rPr sz="1100">
                <a:solidFill>
                  <a:srgbClr val="F9E2AF"/>
                </a:solidFill>
                <a:latin typeface="Courier New"/>
              </a:rPr>
              <a:t/>
            </a:r>
          </a:p>
          <a:p>
            <a:r>
              <a:rPr sz="1100">
                <a:solidFill>
                  <a:srgbClr val="CBD3F0"/>
                </a:solidFill>
                <a:latin typeface="Courier New"/>
              </a:rPr>
              <a:t># 1. kube-prometheus-stack (Prometheus + Grafana + Alertmanager)</a:t>
            </a:r>
          </a:p>
          <a:p>
            <a:r>
              <a:rPr sz="1100">
                <a:solidFill>
                  <a:srgbClr val="F9E2AF"/>
                </a:solidFill>
                <a:latin typeface="Courier New"/>
              </a:rPr>
              <a:t>kubectl create namespace monitoring</a:t>
            </a:r>
          </a:p>
          <a:p>
            <a:r>
              <a:rPr sz="1100">
                <a:solidFill>
                  <a:srgbClr val="CBD3F0"/>
                </a:solidFill>
                <a:latin typeface="Courier New"/>
              </a:rPr>
              <a:t>helm install prometheus prometheus-community/kube-prometheus-stack \</a:t>
            </a:r>
          </a:p>
          <a:p>
            <a:r>
              <a:rPr sz="1100">
                <a:solidFill>
                  <a:srgbClr val="CBD3F0"/>
                </a:solidFill>
                <a:latin typeface="Courier New"/>
              </a:rPr>
              <a:t>  -n monitoring</a:t>
            </a:r>
          </a:p>
          <a:p>
            <a:r>
              <a:rPr sz="1100">
                <a:solidFill>
                  <a:srgbClr val="CBD3F0"/>
                </a:solidFill>
                <a:latin typeface="Courier New"/>
              </a:rPr>
              <a:t/>
            </a:r>
          </a:p>
          <a:p>
            <a:r>
              <a:rPr sz="1100">
                <a:solidFill>
                  <a:srgbClr val="CBD3F0"/>
                </a:solidFill>
                <a:latin typeface="Courier New"/>
              </a:rPr>
              <a:t># 2. Exponer Prometheus y Grafana como NodePort</a:t>
            </a:r>
          </a:p>
          <a:p>
            <a:r>
              <a:rPr sz="1100">
                <a:solidFill>
                  <a:srgbClr val="F9E2AF"/>
                </a:solidFill>
                <a:latin typeface="Courier New"/>
              </a:rPr>
              <a:t>kubectl apply -f prometheus-nodeport.yaml -n monitoring  # :30000</a:t>
            </a:r>
          </a:p>
          <a:p>
            <a:r>
              <a:rPr sz="1100">
                <a:solidFill>
                  <a:srgbClr val="CBD3F0"/>
                </a:solidFill>
                <a:latin typeface="Courier New"/>
              </a:rPr>
              <a:t>kubectl apply -f grafana-nodeport.yaml   -n monitoring  # :30001</a:t>
            </a:r>
          </a:p>
          <a:p>
            <a:r>
              <a:rPr sz="1100">
                <a:solidFill>
                  <a:srgbClr val="CBD3F0"/>
                </a:solidFill>
                <a:latin typeface="Courier New"/>
              </a:rPr>
              <a:t/>
            </a:r>
          </a:p>
          <a:p>
            <a:r>
              <a:rPr sz="1100">
                <a:solidFill>
                  <a:srgbClr val="CBD3F0"/>
                </a:solidFill>
                <a:latin typeface="Courier New"/>
              </a:rPr>
              <a:t># 3. Istio (base + istiod + ingressgateway)</a:t>
            </a:r>
          </a:p>
          <a:p>
            <a:r>
              <a:rPr sz="1100">
                <a:solidFill>
                  <a:srgbClr val="F9E2AF"/>
                </a:solidFill>
                <a:latin typeface="Courier New"/>
              </a:rPr>
              <a:t>helm install istiod istio/istiod -n istio-system \</a:t>
            </a:r>
          </a:p>
          <a:p>
            <a:r>
              <a:rPr sz="1100">
                <a:solidFill>
                  <a:srgbClr val="CBD3F0"/>
                </a:solidFill>
                <a:latin typeface="Courier New"/>
              </a:rPr>
              <a:t>  --set global.proxy.tracer='zipkin' --wait</a:t>
            </a:r>
          </a:p>
          <a:p>
            <a:r>
              <a:rPr sz="1100">
                <a:solidFill>
                  <a:srgbClr val="CBD3F0"/>
                </a:solidFill>
                <a:latin typeface="Courier New"/>
              </a:rPr>
              <a:t>kubectl label namespace default istio-injection=enabled</a:t>
            </a:r>
          </a:p>
          <a:p>
            <a:r>
              <a:rPr sz="1100">
                <a:solidFill>
                  <a:srgbClr val="CBD3F0"/>
                </a:solidFill>
                <a:latin typeface="Courier New"/>
              </a:rPr>
              <a:t/>
            </a:r>
          </a:p>
          <a:p>
            <a:r>
              <a:rPr sz="1100">
                <a:solidFill>
                  <a:srgbClr val="CBD3F0"/>
                </a:solidFill>
                <a:latin typeface="Courier New"/>
              </a:rPr>
              <a:t># 4. Integración Istio → Prometheus</a:t>
            </a:r>
          </a:p>
          <a:p>
            <a:r>
              <a:rPr sz="1100">
                <a:solidFill>
                  <a:srgbClr val="F9E2AF"/>
                </a:solidFill>
                <a:latin typeface="Courier New"/>
              </a:rPr>
              <a:t>kubectl apply -f istio-prometheus-operator.yaml  # PodMonitor + ServiceMonitor</a:t>
            </a:r>
          </a:p>
          <a:p>
            <a:r>
              <a:rPr sz="1100">
                <a:solidFill>
                  <a:srgbClr val="CBD3F0"/>
                </a:solidFill>
                <a:latin typeface="Courier New"/>
              </a:rPr>
              <a:t/>
            </a:r>
          </a:p>
          <a:p>
            <a:r>
              <a:rPr sz="1100">
                <a:solidFill>
                  <a:srgbClr val="CBD3F0"/>
                </a:solidFill>
                <a:latin typeface="Courier New"/>
              </a:rPr>
              <a:t># 5. Jaeger (tracing distribuido)</a:t>
            </a:r>
          </a:p>
          <a:p>
            <a:r>
              <a:rPr sz="1100">
                <a:solidFill>
                  <a:srgbClr val="F9E2AF"/>
                </a:solidFill>
                <a:latin typeface="Courier New"/>
              </a:rPr>
              <a:t>kubectl apply -f jaeger.yaml            # Deployment all-in-one</a:t>
            </a:r>
          </a:p>
          <a:p>
            <a:r>
              <a:rPr sz="1100">
                <a:solidFill>
                  <a:srgbClr val="CBD3F0"/>
                </a:solidFill>
                <a:latin typeface="Courier New"/>
              </a:rPr>
              <a:t>kubectl apply -f jaeger-nodeport.yaml   # :30002</a:t>
            </a:r>
          </a:p>
          <a:p>
            <a:r>
              <a:rPr sz="1100">
                <a:solidFill>
                  <a:srgbClr val="CBD3F0"/>
                </a:solidFill>
                <a:latin typeface="Courier New"/>
              </a:rPr>
              <a:t/>
            </a:r>
          </a:p>
          <a:p>
            <a:r>
              <a:rPr sz="1100">
                <a:solidFill>
                  <a:srgbClr val="CBD3F0"/>
                </a:solidFill>
                <a:latin typeface="Courier New"/>
              </a:rPr>
              <a:t># 6. Kiali (service mesh topology)</a:t>
            </a:r>
          </a:p>
          <a:p>
            <a:r>
              <a:rPr sz="1100">
                <a:solidFill>
                  <a:srgbClr val="F9E2AF"/>
                </a:solidFill>
                <a:latin typeface="Courier New"/>
              </a:rPr>
              <a:t>helm install kiali-server kiali/kiali-server \</a:t>
            </a:r>
          </a:p>
          <a:p>
            <a:r>
              <a:rPr sz="1100">
                <a:solidFill>
                  <a:srgbClr val="CBD3F0"/>
                </a:solidFill>
                <a:latin typeface="Courier New"/>
              </a:rPr>
              <a:t>  -n istio-system -f kiali-values.yaml</a:t>
            </a:r>
          </a:p>
          <a:p>
            <a:r>
              <a:rPr sz="1100">
                <a:solidFill>
                  <a:srgbClr val="CBD3F0"/>
                </a:solidFill>
                <a:latin typeface="Courier New"/>
              </a:rPr>
              <a:t>kubectl apply -f kiali-nodeport.yaml    # :30003</a:t>
            </a:r>
          </a:p>
        </p:txBody>
      </p:sp>
      <p:sp>
        <p:nvSpPr>
          <p:cNvPr id="6" name="Rectangle 5"/>
          <p:cNvSpPr/>
          <p:nvPr/>
        </p:nvSpPr>
        <p:spPr>
          <a:xfrm>
            <a:off x="365760" y="4572000"/>
            <a:ext cx="5577840" cy="21488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Servicios expuestos como NodePort en el cluster</a:t>
            </a:r>
          </a:p>
          <a:p>
            <a:r>
              <a:rPr sz="1100">
                <a:solidFill>
                  <a:srgbClr val="F9E2AF"/>
                </a:solidFill>
                <a:latin typeface="Courier New"/>
              </a:rPr>
              <a:t>#</a:t>
            </a:r>
          </a:p>
          <a:p>
            <a:r>
              <a:rPr sz="1100">
                <a:solidFill>
                  <a:srgbClr val="CBD3F0"/>
                </a:solidFill>
                <a:latin typeface="Courier New"/>
              </a:rPr>
              <a:t># Puerto  | Servicio       | Namespace  | Uso</a:t>
            </a:r>
          </a:p>
          <a:p>
            <a:r>
              <a:rPr sz="1100">
                <a:solidFill>
                  <a:srgbClr val="F9E2AF"/>
                </a:solidFill>
                <a:latin typeface="Courier New"/>
              </a:rPr>
              <a:t># ---------|----------------|------------|-------------------------</a:t>
            </a:r>
          </a:p>
          <a:p>
            <a:r>
              <a:rPr sz="1100">
                <a:solidFill>
                  <a:srgbClr val="CBD3F0"/>
                </a:solidFill>
                <a:latin typeface="Courier New"/>
              </a:rPr>
              <a:t># :30000  | Prometheus     | monitoring | Queries PromQL, alertas</a:t>
            </a:r>
          </a:p>
          <a:p>
            <a:r>
              <a:rPr sz="1100">
                <a:solidFill>
                  <a:srgbClr val="CBD3F0"/>
                </a:solidFill>
                <a:latin typeface="Courier New"/>
              </a:rPr>
              <a:t># :30001  | Grafana        | monitoring | Dashboards (mubench-dash)</a:t>
            </a:r>
          </a:p>
          <a:p>
            <a:r>
              <a:rPr sz="1100">
                <a:solidFill>
                  <a:srgbClr val="CBD3F0"/>
                </a:solidFill>
                <a:latin typeface="Courier New"/>
              </a:rPr>
              <a:t># :30002  | Jaeger UI      | istio-system| Tracing distribuido</a:t>
            </a:r>
          </a:p>
          <a:p>
            <a:r>
              <a:rPr sz="1100">
                <a:solidFill>
                  <a:srgbClr val="CBD3F0"/>
                </a:solidFill>
                <a:latin typeface="Courier New"/>
              </a:rPr>
              <a:t># :30003  | Kiali          | istio-system| Topología del service mesh</a:t>
            </a:r>
          </a:p>
          <a:p>
            <a:r>
              <a:rPr sz="1100">
                <a:solidFill>
                  <a:srgbClr val="CBD3F0"/>
                </a:solidFill>
                <a:latin typeface="Courier New"/>
              </a:rPr>
              <a:t>#</a:t>
            </a:r>
          </a:p>
          <a:p>
            <a:r>
              <a:rPr sz="1100">
                <a:solidFill>
                  <a:srgbClr val="CBD3F0"/>
                </a:solidFill>
                <a:latin typeface="Courier New"/>
              </a:rPr>
              <a:t># Credenciales Grafana:</a:t>
            </a:r>
          </a:p>
          <a:p>
            <a:r>
              <a:rPr sz="1100">
                <a:solidFill>
                  <a:srgbClr val="CBD3F0"/>
                </a:solidFill>
                <a:latin typeface="Courier New"/>
              </a:rPr>
              <a:t>#   user: admin</a:t>
            </a:r>
          </a:p>
          <a:p>
            <a:r>
              <a:rPr sz="1100">
                <a:solidFill>
                  <a:srgbClr val="CBD3F0"/>
                </a:solidFill>
                <a:latin typeface="Courier New"/>
              </a:rPr>
              <a:t>#   pass: prom-operator  (o kubectl get secret prometheus-grafana ...)</a:t>
            </a:r>
          </a:p>
          <a:p>
            <a:r>
              <a:rPr sz="1100">
                <a:solidFill>
                  <a:srgbClr val="CBD3F0"/>
                </a:solidFill>
                <a:latin typeface="Courier New"/>
              </a:rPr>
              <a:t>#</a:t>
            </a:r>
          </a:p>
          <a:p>
            <a:r>
              <a:rPr sz="1100">
                <a:solidFill>
                  <a:srgbClr val="CBD3F0"/>
                </a:solidFill>
                <a:latin typeface="Courier New"/>
              </a:rPr>
              <a:t># mubench-dashboard.json → import manual en Grafana :30001</a:t>
            </a:r>
          </a:p>
        </p:txBody>
      </p:sp>
      <p:sp>
        <p:nvSpPr>
          <p:cNvPr id="7" name="Rectangle 6"/>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¿Se usa activamente en el proyecto?</a:t>
            </a:r>
          </a:p>
          <a:p>
            <a:r>
              <a:rPr sz="1000">
                <a:solidFill>
                  <a:srgbClr val="555555"/>
                </a:solidFill>
              </a:rPr>
              <a:t>SÍ — es la capa de observabilidad
de todos los experimentos:
scripts/export_resource_metrics.sh
  → consulta Prometheus :30000
  → extrae CPU/memoria durante tests
Monitoring/mubench-dashboard.json
  → dashboard importado en Grafana
  → muestra métricas de servicios
Monitoring/mubench-servicemonitor.yaml
  → scrape de s0, s1, sdb1 cada 10s
Sin este stack los experimentos
solo tienen métricas k6 (latencia);
con él se añade CPU, mem, network.</a:t>
            </a:r>
          </a:p>
        </p:txBody>
      </p:sp>
      <p:sp>
        <p:nvSpPr>
          <p:cNvPr id="8" name="Rectangle 7"/>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kube-prometheus-stack — qué incluye</a:t>
            </a:r>
          </a:p>
          <a:p>
            <a:r>
              <a:rPr sz="1000">
                <a:solidFill>
                  <a:srgbClr val="555555"/>
                </a:solidFill>
              </a:rPr>
              <a:t>Un solo helm install despliega:
  Prometheus Server
    → scrape de todos los targets
    → retención de métricas
  Grafana
    → dashboards preconstruidos
    → datasource Prometheus auto
  Alertmanager
    → reglas de alerta
  kube-state-metrics
    → métricas de objetos K8s
    → pods, deployments, nodes
  node-exporter (DaemonSet)
    → métricas del nodo físico
    → CPU, RAM, disk, network</a:t>
            </a:r>
          </a:p>
        </p:txBody>
      </p:sp>
      <p:sp>
        <p:nvSpPr>
          <p:cNvPr id="9" name="Rectangle 8"/>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Jaeger — tracing distribuido</a:t>
            </a:r>
          </a:p>
          <a:p>
            <a:r>
              <a:rPr sz="1000">
                <a:solidFill>
                  <a:srgbClr val="555555"/>
                </a:solidFill>
              </a:rPr>
              <a:t>jaeger.yaml instala Jaeger all-in-one:
  → un solo pod con collector + UI
  → almacenamiento in-memory
Istio inyecta Zipkin tracing:
  global.proxy.tracer='zipkin'
  Los sidecars Envoy propagan
  headers B3 (X-B3-TraceId, etc.)
  y envían spans a Jaeger.
jaeger-nodeport.yaml expone :30002
para ver traces en el browser.
Uso en el proyecto: análisis visual
de latencia por tramo (gw→api→auth)
durante experimentos C2 (mTLS).</a:t>
            </a:r>
          </a:p>
        </p:txBody>
      </p:sp>
      <p:sp>
        <p:nvSpPr>
          <p:cNvPr id="10" name="Rectangle 9"/>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Kiali — topología del mesh</a:t>
            </a:r>
          </a:p>
          <a:p>
            <a:r>
              <a:rPr sz="1000">
                <a:solidFill>
                  <a:srgbClr val="555555"/>
                </a:solidFill>
              </a:rPr>
              <a:t>Kiali es el dashboard oficial de Istio.
kiali-values.yaml configura:
  - datasource Prometheus interno
  - integración con Jaeger
  - namespace mubench-realistic
kiali-nodeport.yaml expone :30003
Muestra en tiempo real:
  - Grafo de servicios con tráfico
  - mTLS activo/inactivo por arista
  - Error rate por servicio
  - Latencia p50/p95 en el grafo
Muy útil para verificar que el
mTLS de exp-02 está activo
ANTES de iniciar los tests.</a:t>
            </a:r>
          </a:p>
        </p:txBody>
      </p:sp>
      <p:sp>
        <p:nvSpPr>
          <p:cNvPr id="11" name="Rectangle 10"/>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s0-ingress.yaml y istio-ingress-s0.yaml</a:t>
            </a:r>
          </a:p>
          <a:p>
            <a:r>
              <a:rPr sz="1000">
                <a:solidFill>
                  <a:srgbClr val="555555"/>
                </a:solidFill>
              </a:rPr>
              <a:t>Dos formas alternativas de exponer s0:
s0-ingress.yaml (NGINX):
  path: /s0 → rewrite /api/v1
  backend: svc/s0:80
  Solo para servicios sintéticos
istio-ingress-s0.yaml (Istio):
  Gateway s0-gateway
  VirtualService: /s0 → svc/s0:80
  rewrite URI a /api/v1
Ambos son alternativos — NO se
usan simultáneamente.
Propósito: ejemplos de cómo rutear
hacia s0 a través de cada IC
para las pruebas de monitoring.</a:t>
            </a:r>
          </a:p>
        </p:txBody>
      </p:sp>
      <p:sp>
        <p:nvSpPr>
          <p:cNvPr id="12" name="Rectangle 11"/>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Relación con los experimentos</a:t>
            </a:r>
          </a:p>
          <a:p>
            <a:r>
              <a:rPr sz="1000">
                <a:solidFill>
                  <a:srgbClr val="555555"/>
                </a:solidFill>
              </a:rPr>
              <a:t>Flujo de integración completo:
  1. monitoring-install.sh
     → Prometheus + Grafana
     → Jaeger + Kiali
  2. mub-monitor.yaml
     → PodMonitor scrape s0,s1,sdb1
  3. Experimento corre (k6)
     → k6 mide latencia HTTP
  4. export_resource_metrics.sh
     → Prometheus API → CPU/mem
     → CSV con timestamps
  5. Grafana :30001
     → mubench-dashboard.json
     → visualización en tiempo real
  6. Jaeger :30002
     → traces de Istio (solo C2)</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PodMonitor y ServiceMonitor — scrape de métricas del cluster</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mub-monitor (PodMonitor sintético) · mubench-servicemonitor (ServiceMonitor realistic) · istio-prometheus-operator · nginx-ingress</a:t>
            </a:r>
          </a:p>
        </p:txBody>
      </p:sp>
      <p:sp>
        <p:nvSpPr>
          <p:cNvPr id="5" name="Rectangle 4"/>
          <p:cNvSpPr/>
          <p:nvPr/>
        </p:nvSpPr>
        <p:spPr>
          <a:xfrm>
            <a:off x="365760" y="1143000"/>
            <a:ext cx="5577840" cy="20116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mub-monitor.yaml — PodMonitor para servicios SINTÉTICOS</a:t>
            </a:r>
          </a:p>
          <a:p>
            <a:r>
              <a:rPr sz="1100">
                <a:solidFill>
                  <a:srgbClr val="F9E2AF"/>
                </a:solidFill>
                <a:latin typeface="Courier New"/>
              </a:rPr>
              <a:t>kind: PodMonitor</a:t>
            </a:r>
          </a:p>
          <a:p>
            <a:r>
              <a:rPr sz="1100">
                <a:solidFill>
                  <a:srgbClr val="CBD3F0"/>
                </a:solidFill>
                <a:latin typeface="Courier New"/>
              </a:rPr>
              <a:t>metadata:</a:t>
            </a:r>
          </a:p>
          <a:p>
            <a:r>
              <a:rPr sz="1100">
                <a:solidFill>
                  <a:srgbClr val="CBD3F0"/>
                </a:solidFill>
                <a:latin typeface="Courier New"/>
              </a:rPr>
              <a:t>  name: mub-monitor</a:t>
            </a:r>
          </a:p>
          <a:p>
            <a:r>
              <a:rPr sz="1100">
                <a:solidFill>
                  <a:srgbClr val="CBD3F0"/>
                </a:solidFill>
                <a:latin typeface="Courier New"/>
              </a:rPr>
              <a:t>  labels: { release: prometheus }  # se une al Prometheus del stack</a:t>
            </a:r>
          </a:p>
          <a:p>
            <a:r>
              <a:rPr sz="1100">
                <a:solidFill>
                  <a:srgbClr val="CBD3F0"/>
                </a:solidFill>
                <a:latin typeface="Courier New"/>
              </a:rPr>
              <a:t>spec:</a:t>
            </a:r>
          </a:p>
          <a:p>
            <a:r>
              <a:rPr sz="1100">
                <a:solidFill>
                  <a:srgbClr val="CBD3F0"/>
                </a:solidFill>
                <a:latin typeface="Courier New"/>
              </a:rPr>
              <a:t>  selector:</a:t>
            </a:r>
          </a:p>
          <a:p>
            <a:r>
              <a:rPr sz="1100">
                <a:solidFill>
                  <a:srgbClr val="CBD3F0"/>
                </a:solidFill>
                <a:latin typeface="Courier New"/>
              </a:rPr>
              <a:t>    matchLabels:</a:t>
            </a:r>
          </a:p>
          <a:p>
            <a:r>
              <a:rPr sz="1100">
                <a:solidFill>
                  <a:srgbClr val="CBD3F0"/>
                </a:solidFill>
                <a:latin typeface="Courier New"/>
              </a:rPr>
              <a:t>      prometheus.io/scrape: 'true'  # pods con esta label</a:t>
            </a:r>
          </a:p>
          <a:p>
            <a:r>
              <a:rPr sz="1100">
                <a:solidFill>
                  <a:srgbClr val="F9E2AF"/>
                </a:solidFill>
                <a:latin typeface="Courier New"/>
              </a:rPr>
              <a:t>  podMetricsEndpoints:</a:t>
            </a:r>
          </a:p>
          <a:p>
            <a:r>
              <a:rPr sz="1100">
                <a:solidFill>
                  <a:srgbClr val="CBD3F0"/>
                </a:solidFill>
                <a:latin typeface="Courier New"/>
              </a:rPr>
              <a:t>  - port: 'http-mubpodport'         # puerto nombrado en el pod</a:t>
            </a:r>
          </a:p>
        </p:txBody>
      </p:sp>
      <p:sp>
        <p:nvSpPr>
          <p:cNvPr id="6" name="Rectangle 5"/>
          <p:cNvSpPr/>
          <p:nvPr/>
        </p:nvSpPr>
        <p:spPr>
          <a:xfrm>
            <a:off x="365760" y="3291840"/>
            <a:ext cx="5577840" cy="18288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mubench-servicemonitor.yaml — ServiceMonitor para s0/s1/sdb1</a:t>
            </a:r>
          </a:p>
          <a:p>
            <a:r>
              <a:rPr sz="1100">
                <a:solidFill>
                  <a:srgbClr val="F9E2AF"/>
                </a:solidFill>
                <a:latin typeface="Courier New"/>
              </a:rPr>
              <a:t># (en Monitoring/ raíz, NO en kubernetes-full-monitoring/)</a:t>
            </a:r>
          </a:p>
          <a:p>
            <a:r>
              <a:rPr sz="1100">
                <a:solidFill>
                  <a:srgbClr val="CBD3F0"/>
                </a:solidFill>
                <a:latin typeface="Courier New"/>
              </a:rPr>
              <a:t>kind: ServiceMonitor</a:t>
            </a:r>
          </a:p>
          <a:p>
            <a:r>
              <a:rPr sz="1100">
                <a:solidFill>
                  <a:srgbClr val="CBD3F0"/>
                </a:solidFill>
                <a:latin typeface="Courier New"/>
              </a:rPr>
              <a:t>metadata:</a:t>
            </a:r>
          </a:p>
          <a:p>
            <a:r>
              <a:rPr sz="1100">
                <a:solidFill>
                  <a:srgbClr val="CBD3F0"/>
                </a:solidFill>
                <a:latin typeface="Courier New"/>
              </a:rPr>
              <a:t>  namespace: observability  # namespace del Prometheus operado</a:t>
            </a:r>
          </a:p>
          <a:p>
            <a:r>
              <a:rPr sz="1100">
                <a:solidFill>
                  <a:srgbClr val="F9E2AF"/>
                </a:solidFill>
                <a:latin typeface="Courier New"/>
              </a:rPr>
              <a:t>  labels: { release: kube-prom-stack }</a:t>
            </a:r>
          </a:p>
          <a:p>
            <a:r>
              <a:rPr sz="1100">
                <a:solidFill>
                  <a:srgbClr val="CBD3F0"/>
                </a:solidFill>
                <a:latin typeface="Courier New"/>
              </a:rPr>
              <a:t>spec:</a:t>
            </a:r>
          </a:p>
          <a:p>
            <a:r>
              <a:rPr sz="1100">
                <a:solidFill>
                  <a:srgbClr val="CBD3F0"/>
                </a:solidFill>
                <a:latin typeface="Courier New"/>
              </a:rPr>
              <a:t>  selector:</a:t>
            </a:r>
          </a:p>
          <a:p>
            <a:r>
              <a:rPr sz="1100">
                <a:solidFill>
                  <a:srgbClr val="CBD3F0"/>
                </a:solidFill>
                <a:latin typeface="Courier New"/>
              </a:rPr>
              <a:t>    matchExpressions:</a:t>
            </a:r>
          </a:p>
          <a:p>
            <a:r>
              <a:rPr sz="1100">
                <a:solidFill>
                  <a:srgbClr val="CBD3F0"/>
                </a:solidFill>
                <a:latin typeface="Courier New"/>
              </a:rPr>
              <a:t>    - { key: app, operator: In, values: ['s0','s1','sdb1'] }</a:t>
            </a:r>
          </a:p>
          <a:p>
            <a:r>
              <a:rPr sz="1100">
                <a:solidFill>
                  <a:srgbClr val="F9E2AF"/>
                </a:solidFill>
                <a:latin typeface="Courier New"/>
              </a:rPr>
              <a:t>  endpoints:</a:t>
            </a:r>
          </a:p>
          <a:p>
            <a:r>
              <a:rPr sz="1100">
                <a:solidFill>
                  <a:srgbClr val="CBD3F0"/>
                </a:solidFill>
                <a:latin typeface="Courier New"/>
              </a:rPr>
              <a:t>  - port: http   path: /metrics   interval: 10s</a:t>
            </a:r>
          </a:p>
        </p:txBody>
      </p:sp>
      <p:sp>
        <p:nvSpPr>
          <p:cNvPr id="7" name="Rectangle 6"/>
          <p:cNvSpPr/>
          <p:nvPr/>
        </p:nvSpPr>
        <p:spPr>
          <a:xfrm>
            <a:off x="365760" y="5257800"/>
            <a:ext cx="5577840" cy="14630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istio-prometheus-operator.yaml — 2 monitores para Istio</a:t>
            </a:r>
          </a:p>
          <a:p>
            <a:r>
              <a:rPr sz="1100">
                <a:solidFill>
                  <a:srgbClr val="F9E2AF"/>
                </a:solidFill>
                <a:latin typeface="Courier New"/>
              </a:rPr>
              <a:t># 1. PodMonitor envoy-stats-monitor:</a:t>
            </a:r>
          </a:p>
          <a:p>
            <a:r>
              <a:rPr sz="1100">
                <a:solidFill>
                  <a:srgbClr val="F9E2AF"/>
                </a:solidFill>
                <a:latin typeface="Courier New"/>
              </a:rPr>
              <a:t>#    scrape /stats/prometheus en istio-proxy (sidecar)</a:t>
            </a:r>
          </a:p>
          <a:p>
            <a:r>
              <a:rPr sz="1100">
                <a:solidFill>
                  <a:srgbClr val="CBD3F0"/>
                </a:solidFill>
                <a:latin typeface="Courier New"/>
              </a:rPr>
              <a:t>#    → métricas Envoy: upstream_rq_time, cx_active, etc.</a:t>
            </a:r>
          </a:p>
          <a:p>
            <a:r>
              <a:rPr sz="1100">
                <a:solidFill>
                  <a:srgbClr val="CBD3F0"/>
                </a:solidFill>
                <a:latin typeface="Courier New"/>
              </a:rPr>
              <a:t>#    selector: pod.container.name == 'istio-proxy'</a:t>
            </a:r>
          </a:p>
          <a:p>
            <a:r>
              <a:rPr sz="1100">
                <a:solidFill>
                  <a:srgbClr val="CBD3F0"/>
                </a:solidFill>
                <a:latin typeface="Courier New"/>
              </a:rPr>
              <a:t># 2. ServiceMonitor istio-component-monitor:</a:t>
            </a:r>
          </a:p>
          <a:p>
            <a:r>
              <a:rPr sz="1100">
                <a:solidFill>
                  <a:srgbClr val="F9E2AF"/>
                </a:solidFill>
                <a:latin typeface="Courier New"/>
              </a:rPr>
              <a:t>#    scrape istiod, pilot, citadel (plano de control)</a:t>
            </a:r>
          </a:p>
          <a:p>
            <a:r>
              <a:rPr sz="1100">
                <a:solidFill>
                  <a:srgbClr val="CBD3F0"/>
                </a:solidFill>
                <a:latin typeface="Courier New"/>
              </a:rPr>
              <a:t># prometheus-nginx-ingress.yaml:</a:t>
            </a:r>
          </a:p>
          <a:p>
            <a:r>
              <a:rPr sz="1100">
                <a:solidFill>
                  <a:srgbClr val="F9E2AF"/>
                </a:solidFill>
                <a:latin typeface="Courier New"/>
              </a:rPr>
              <a:t>#    ServiceMonitor → nginx IC /metrics (peticiones, conns)</a:t>
            </a:r>
          </a:p>
        </p:txBody>
      </p:sp>
      <p:sp>
        <p:nvSpPr>
          <p:cNvPr id="8" name="Rectangle 7"/>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PodMonitor vs ServiceMonitor</a:t>
            </a:r>
          </a:p>
          <a:p>
            <a:r>
              <a:rPr sz="1000">
                <a:solidFill>
                  <a:srgbClr val="555555"/>
                </a:solidFill>
              </a:rPr>
              <a:t>PodMonitor (mub-monitor):
  → scrape DIRECTO al pod
  → puerto nombrado en el pod
  → NO necesita Service K8s
  → funciona con pods sin Service
ServiceMonitor (mubench-sm):
  → scrape VÍA Service K8s
  → puerto en el Service spec
  → necesita Service con label
    app: s0 / s1 / sdb1
En el proyecto se usan AMBOS:
  - servicios sintéticos: PodMonitor
  - servicios reales: ServiceMonitor
    (en namespace observability)</a:t>
            </a:r>
          </a:p>
          <a:p>
            <a:r>
              <a:rPr sz="1000">
                <a:solidFill>
                  <a:srgbClr val="555555"/>
                </a:solidFill>
              </a:rPr>
              <a:t>PodMonitor (mub-monitor):
  → scrape DIRECTO al pod
  → puerto nombrado en el pod
  → NO necesita Service K8s
  → funciona con pods sin Service
ServiceMonitor (mubench-sm):
  → scrape VÍA Service K8s
  → puerto en el Service spec
  → necesita Service con label
    app: s0 / s1 / sdb1
En el proyecto se usan AMBOS:
  - servicios sintéticos: PodMonitor
  - servicios reales: ServiceMonitor
    (en namespace observability)</a:t>
            </a:r>
          </a:p>
          <a:p>
            <a:r>
              <a:rPr sz="1000">
                <a:solidFill>
                  <a:srgbClr val="555555"/>
                </a:solidFill>
              </a:rPr>
              <a:t>PodMonitor (mub-monitor):
  → scrape DIRECTO al pod
  → puerto nombrado en el pod
  → NO necesita Service K8s
  → funciona con pods sin Service
ServiceMonitor (mubench-sm):
  → scrape VÍA Service K8s
  → puerto en el Service spec
  → necesita Service con label
    app: s0 / s1 / sdb1
En el proyecto se usan AMBOS:
  - servicios sintéticos: PodMonitor
  - servicios reales: ServiceMonitor
    (en namespace observability)</a:t>
            </a:r>
          </a:p>
        </p:txBody>
      </p:sp>
      <p:sp>
        <p:nvSpPr>
          <p:cNvPr id="9" name="Rectangle 8"/>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release: prometheus — label clave</a:t>
            </a:r>
          </a:p>
          <a:p>
            <a:r>
              <a:rPr sz="1000">
                <a:solidFill>
                  <a:srgbClr val="555555"/>
                </a:solidFill>
              </a:rPr>
              <a:t>El Prometheus instalado con helm
descubre PodMonitor/ServiceMonitor
SOLO si tienen el label correcto:
  release: prometheus
  (para mub-monitor)
  release: kube-prom-stack
  (para mubench-servicemonitor)
Si el label no coincide con el
selector del PrometheusRule CRD,
el target aparece como 'Unknown'
y no se scraped.
Verificar: Prometheus :30000
  → Status → Targets
  → mub-monitor debe estar UP</a:t>
            </a:r>
          </a:p>
          <a:p>
            <a:r>
              <a:rPr sz="1000">
                <a:solidFill>
                  <a:srgbClr val="555555"/>
                </a:solidFill>
              </a:rPr>
              <a:t>El Prometheus instalado con helm
descubre PodMonitor/ServiceMonitor
SOLO si tienen el label correcto:
  release: prometheus
  (para mub-monitor)
  release: kube-prom-stack
  (para mubench-servicemonitor)
Si el label no coincide con el
selector del PrometheusRule CRD,
el target aparece como 'Unknown'
y no se scraped.
Verificar: Prometheus :30000
  → Status → Targets
  → mub-monitor debe estar UP</a:t>
            </a:r>
          </a:p>
          <a:p>
            <a:r>
              <a:rPr sz="1000">
                <a:solidFill>
                  <a:srgbClr val="555555"/>
                </a:solidFill>
              </a:rPr>
              <a:t>El Prometheus instalado con helm
descubre PodMonitor/ServiceMonitor
SOLO si tienen el label correcto:
  release: prometheus
  (para mub-monitor)
  release: kube-prom-stack
  (para mubench-servicemonitor)
Si el label no coincide con el
selector del PrometheusRule CRD,
el target aparece como 'Unknown'
y no se scraped.
Verificar: Prometheus :30000
  → Status → Targets
  → mub-monitor debe estar UP</a:t>
            </a:r>
          </a:p>
        </p:txBody>
      </p:sp>
      <p:sp>
        <p:nvSpPr>
          <p:cNvPr id="10" name="Rectangle 9"/>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Métricas disponibles tras instalar</a:t>
            </a:r>
          </a:p>
          <a:p>
            <a:r>
              <a:rPr sz="1000">
                <a:solidFill>
                  <a:srgbClr val="555555"/>
                </a:solidFill>
              </a:rPr>
              <a:t>Con el stack completo Prometheus
recibe métricas de 4 fuentes:
1. node-exporter (DaemonSet):
   node_cpu_seconds_total
   node_memory_MemAvailable_bytes
2. kube-state-metrics:
   kube_pod_status_phase
   kube_deployment_status_replicas
3. mub-monitor / servicemonitor:
   mubench_request_total
   mubench_request_duration_seconds
4. istio-prometheus-operator:
   envoy_cluster_upstream_rq
   istio_requests_total
   pilot_xds_push_time</a:t>
            </a:r>
          </a:p>
          <a:p>
            <a:r>
              <a:rPr sz="1000">
                <a:solidFill>
                  <a:srgbClr val="555555"/>
                </a:solidFill>
              </a:rPr>
              <a:t>Con el stack completo Prometheus
recibe métricas de 4 fuentes:
1. node-exporter (DaemonSet):
   node_cpu_seconds_total
   node_memory_MemAvailable_bytes
2. kube-state-metrics:
   kube_pod_status_phase
   kube_deployment_status_replicas
3. mub-monitor / servicemonitor:
   mubench_request_total
   mubench_request_duration_seconds
4. istio-prometheus-operator:
   envoy_cluster_upstream_rq
   istio_requests_total
   pilot_xds_push_time</a:t>
            </a:r>
          </a:p>
          <a:p>
            <a:r>
              <a:rPr sz="1000">
                <a:solidFill>
                  <a:srgbClr val="555555"/>
                </a:solidFill>
              </a:rPr>
              <a:t>Con el stack completo Prometheus
recibe métricas de 4 fuentes:
1. node-exporter (DaemonSet):
   node_cpu_seconds_total
   node_memory_MemAvailable_bytes
2. kube-state-metrics:
   kube_pod_status_phase
   kube_deployment_status_replicas
3. mub-monitor / servicemonitor:
   mubench_request_total
   mubench_request_duration_seconds
4. istio-prometheus-operator:
   envoy_cluster_upstream_rq
   istio_requests_total
   pilot_xds_push_time</a:t>
            </a:r>
          </a:p>
        </p:txBody>
      </p:sp>
      <p:sp>
        <p:nvSpPr>
          <p:cNvPr id="11" name="Rectangle 10"/>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export_resource_metrics.sh</a:t>
            </a:r>
          </a:p>
          <a:p>
            <a:r>
              <a:rPr sz="1000">
                <a:solidFill>
                  <a:srgbClr val="555555"/>
                </a:solidFill>
              </a:rPr>
              <a:t>scripts/export_resource_metrics.sh
usa la API HTTP de Prometheus para
extraer métricas de CPU/mem:
  curl http://localhost:30000/api/v1/
    query_range?query=
    rate(container_cpu_seconds...[1m])
    &amp;start=...&amp;end=...&amp;step=15s
Genera CSV con timestamps alineados
a las corridas de k6, permitiendo
correlacionar latencia (k6 NDJSON)
con consumo de recursos (Prometheus).
Es la única integración activa entre
los scripts de experimento y el
stack de monitoring.</a:t>
            </a:r>
          </a:p>
          <a:p>
            <a:r>
              <a:rPr sz="1000">
                <a:solidFill>
                  <a:srgbClr val="555555"/>
                </a:solidFill>
              </a:rPr>
              <a:t>scripts/export_resource_metrics.sh
usa la API HTTP de Prometheus para
extraer métricas de CPU/mem:
  curl http://localhost:30000/api/v1/
    query_range?query=
    rate(container_cpu_seconds...[1m])
    &amp;start=...&amp;end=...&amp;step=15s
Genera CSV con timestamps alineados
a las corridas de k6, permitiendo
correlacionar latencia (k6 NDJSON)
con consumo de recursos (Prometheus).
Es la única integración activa entre
los scripts de experimento y el
stack de monitoring.</a:t>
            </a:r>
          </a:p>
          <a:p>
            <a:r>
              <a:rPr sz="1000">
                <a:solidFill>
                  <a:srgbClr val="555555"/>
                </a:solidFill>
              </a:rPr>
              <a:t>scripts/export_resource_metrics.sh
usa la API HTTP de Prometheus para
extraer métricas de CPU/mem:
  curl http://localhost:30000/api/v1/
    query_range?query=
    rate(container_cpu_seconds...[1m])
    &amp;start=...&amp;end=...&amp;step=15s
Genera CSV con timestamps alineados
a las corridas de k6, permitiendo
correlacionar latencia (k6 NDJSON)
con consumo de recursos (Prometheus).
Es la única integración activa entre
los scripts de experimento y el
stack de monitoring.</a:t>
            </a:r>
          </a:p>
        </p:txBody>
      </p:sp>
      <p:sp>
        <p:nvSpPr>
          <p:cNvPr id="12" name="Rectangle 11"/>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mubench-dashboard.json</a:t>
            </a:r>
          </a:p>
          <a:p>
            <a:r>
              <a:rPr sz="1000">
                <a:solidFill>
                  <a:srgbClr val="555555"/>
                </a:solidFill>
              </a:rPr>
              <a:t>Monitoring/mubench-dashboard.json
es un dashboard Grafana exportado.
Se importa manualmente en Grafana:
  :30001 → Dashboards → Import
  → Upload JSON file
Monitoring/kubernetes-full-monitoring/
muBenchGrafanaDash.json es la versión
más antigua del mismo dashboard.
Ambos muestran:
  - Throughput por servicio
  - Latencia p50/p95/p99
  - Error rate por servicio
  - CPU y memoria por pod
Imagen: muBenchMonitors.png (captura
del dashboard en funcionamiento).</a:t>
            </a:r>
          </a:p>
          <a:p>
            <a:r>
              <a:rPr sz="1000">
                <a:solidFill>
                  <a:srgbClr val="555555"/>
                </a:solidFill>
              </a:rPr>
              <a:t>Monitoring/mubench-dashboard.json
es un dashboard Grafana exportado.
Se importa manualmente en Grafana:
  :30001 → Dashboards → Import
  → Upload JSON file
Monitoring/kubernetes-full-monitoring/
muBenchGrafanaDash.json es la versión
más antigua del mismo dashboard.
Ambos muestran:
  - Throughput por servicio
  - Latencia p50/p95/p99
  - Error rate por servicio
  - CPU y memoria por pod
Imagen: muBenchMonitors.png (captura
del dashboard en funcionamiento).</a:t>
            </a:r>
          </a:p>
          <a:p>
            <a:r>
              <a:rPr sz="1000">
                <a:solidFill>
                  <a:srgbClr val="555555"/>
                </a:solidFill>
              </a:rPr>
              <a:t>Monitoring/mubench-dashboard.json
es un dashboard Grafana exportado.
Se importa manualmente en Grafana:
  :30001 → Dashboards → Import
  → Upload JSON file
Monitoring/kubernetes-full-monitoring/
muBenchGrafanaDash.json es la versión
más antigua del mismo dashboard.
Ambos muestran:
  - Throughput por servicio
  - Latencia p50/p95/p99
  - Error rate por servicio
  - CPU y memoria por pod
Imagen: muBenchMonitors.png (captura
del dashboard en funcionamiento).</a:t>
            </a:r>
          </a:p>
        </p:txBody>
      </p:sp>
      <p:sp>
        <p:nvSpPr>
          <p:cNvPr id="13" name="Rectangle 12"/>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Componentes NO usados activamente</a:t>
            </a:r>
          </a:p>
          <a:p>
            <a:r>
              <a:rPr sz="1000">
                <a:solidFill>
                  <a:srgbClr val="555555"/>
                </a:solidFill>
              </a:rPr>
              <a:t>Algunos YAMLs son de referencia,
no se usan en los experimentos:
s0-ingress.yaml:
  → ejemplo NGINX Ingress para s0
  → superpuesto por C1/C4 tests
istio-ingress-s0.yaml:
  → ejemplo Istio Gateway para s0
  → no se aplica en ningún script
kiali-values.yaml:
  → solo se usa durante helm install
  → no se re-aplica después
jaeger.yaml:
  → útil solo con Istio activo (C2)
  → en otros experimentos no hay
    tráfico con tracing headers</a:t>
            </a:r>
          </a:p>
          <a:p>
            <a:r>
              <a:rPr sz="1000">
                <a:solidFill>
                  <a:srgbClr val="555555"/>
                </a:solidFill>
              </a:rPr>
              <a:t>Algunos YAMLs son de referencia,
no se usan en los experimentos:
s0-ingress.yaml:
  → ejemplo NGINX Ingress para s0
  → superpuesto por C1/C4 tests
istio-ingress-s0.yaml:
  → ejemplo Istio Gateway para s0
  → no se aplica en ningún script
kiali-values.yaml:
  → solo se usa durante helm install
  → no se re-aplica después
jaeger.yaml:
  → útil solo con Istio activo (C2)
  → en otros experimentos no hay
    tráfico con tracing headers</a:t>
            </a:r>
          </a:p>
          <a:p>
            <a:r>
              <a:rPr sz="1000">
                <a:solidFill>
                  <a:srgbClr val="555555"/>
                </a:solidFill>
              </a:rPr>
              <a:t>Algunos YAMLs son de referencia,
no se usan en los experimentos:
s0-ingress.yaml:
  → ejemplo NGINX Ingress para s0
  → superpuesto por C1/C4 tests
istio-ingress-s0.yaml:
  → ejemplo Istio Gateway para s0
  → no se aplica en ningún script
kiali-values.yaml:
  → solo se usa durante helm install
  → no se re-aplica después
jaeger.yaml:
  → útil solo con Istio activo (C2)
  → en otros experimentos no hay
    tráfico con tracing headers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Monitoring/mubench-servicemonitor.yaml — línea a línea</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ServiceMonitor CRD · namespace observability · microk8s enable observability · release kube-prom-stack · scrape s0/s1/sdb1</a:t>
            </a:r>
          </a:p>
        </p:txBody>
      </p:sp>
      <p:sp>
        <p:nvSpPr>
          <p:cNvPr id="5" name="Rectangle 4"/>
          <p:cNvSpPr/>
          <p:nvPr/>
        </p:nvSpPr>
        <p:spPr>
          <a:xfrm>
            <a:off x="365760" y="1143000"/>
            <a:ext cx="5577840" cy="51663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Monitoring/mubench-servicemonitor.yaml</a:t>
            </a:r>
          </a:p>
          <a:p>
            <a:r>
              <a:rPr sz="1100">
                <a:solidFill>
                  <a:srgbClr val="F9E2AF"/>
                </a:solidFill>
                <a:latin typeface="Courier New"/>
              </a:rPr>
              <a:t># CRD del Prometheus Operator — le dice a Prometheus</a:t>
            </a:r>
          </a:p>
          <a:p>
            <a:r>
              <a:rPr sz="1100">
                <a:solidFill>
                  <a:srgbClr val="CBD3F0"/>
                </a:solidFill>
                <a:latin typeface="Courier New"/>
              </a:rPr>
              <a:t># qué servicios K8s debe scrapear y cómo.</a:t>
            </a:r>
          </a:p>
          <a:p>
            <a:r>
              <a:rPr sz="1100">
                <a:solidFill>
                  <a:srgbClr val="CBD3F0"/>
                </a:solidFill>
                <a:latin typeface="Courier New"/>
              </a:rPr>
              <a:t/>
            </a:r>
          </a:p>
          <a:p>
            <a:r>
              <a:rPr sz="1100">
                <a:solidFill>
                  <a:srgbClr val="CBD3F0"/>
                </a:solidFill>
                <a:latin typeface="Courier New"/>
              </a:rPr>
              <a:t>apiVersion: monitoring.coreos.com/v1</a:t>
            </a:r>
          </a:p>
          <a:p>
            <a:r>
              <a:rPr sz="1100">
                <a:solidFill>
                  <a:srgbClr val="F9E2AF"/>
                </a:solidFill>
                <a:latin typeface="Courier New"/>
              </a:rPr>
              <a:t># ↑ API del Prometheus Operator (no K8s core).</a:t>
            </a:r>
          </a:p>
          <a:p>
            <a:r>
              <a:rPr sz="1100">
                <a:solidFill>
                  <a:srgbClr val="CBD3F0"/>
                </a:solidFill>
                <a:latin typeface="Courier New"/>
              </a:rPr>
              <a:t>#   Requiere que el CRD ServiceMonitor esté instalado</a:t>
            </a:r>
          </a:p>
          <a:p>
            <a:r>
              <a:rPr sz="1100">
                <a:solidFill>
                  <a:srgbClr val="CBD3F0"/>
                </a:solidFill>
                <a:latin typeface="Courier New"/>
              </a:rPr>
              <a:t>#   (lo instala automáticamente microk8s enable observability).</a:t>
            </a:r>
          </a:p>
          <a:p>
            <a:r>
              <a:rPr sz="1100">
                <a:solidFill>
                  <a:srgbClr val="CBD3F0"/>
                </a:solidFill>
                <a:latin typeface="Courier New"/>
              </a:rPr>
              <a:t/>
            </a:r>
          </a:p>
          <a:p>
            <a:r>
              <a:rPr sz="1100">
                <a:solidFill>
                  <a:srgbClr val="CBD3F0"/>
                </a:solidFill>
                <a:latin typeface="Courier New"/>
              </a:rPr>
              <a:t>kind: ServiceMonitor</a:t>
            </a:r>
          </a:p>
          <a:p>
            <a:r>
              <a:rPr sz="1100">
                <a:solidFill>
                  <a:srgbClr val="F9E2AF"/>
                </a:solidFill>
                <a:latin typeface="Courier New"/>
              </a:rPr>
              <a:t># ↑ Tipo: ServiceMonitor = scrape VÍA un Service K8s.</a:t>
            </a:r>
          </a:p>
          <a:p>
            <a:r>
              <a:rPr sz="1100">
                <a:solidFill>
                  <a:srgbClr val="CBD3F0"/>
                </a:solidFill>
                <a:latin typeface="Courier New"/>
              </a:rPr>
              <a:t>#   Alternativa: PodMonitor = scrape directo al Pod.</a:t>
            </a:r>
          </a:p>
          <a:p>
            <a:r>
              <a:rPr sz="1100">
                <a:solidFill>
                  <a:srgbClr val="CBD3F0"/>
                </a:solidFill>
                <a:latin typeface="Courier New"/>
              </a:rPr>
              <a:t>#   Se usa ServiceMonitor porque s0/s1/sdb1 tienen Service.</a:t>
            </a:r>
          </a:p>
          <a:p>
            <a:r>
              <a:rPr sz="1100">
                <a:solidFill>
                  <a:srgbClr val="CBD3F0"/>
                </a:solidFill>
                <a:latin typeface="Courier New"/>
              </a:rPr>
              <a:t/>
            </a:r>
          </a:p>
          <a:p>
            <a:r>
              <a:rPr sz="1100">
                <a:solidFill>
                  <a:srgbClr val="CBD3F0"/>
                </a:solidFill>
                <a:latin typeface="Courier New"/>
              </a:rPr>
              <a:t>metadata:</a:t>
            </a:r>
          </a:p>
          <a:p>
            <a:r>
              <a:rPr sz="1100">
                <a:solidFill>
                  <a:srgbClr val="CBD3F0"/>
                </a:solidFill>
                <a:latin typeface="Courier New"/>
              </a:rPr>
              <a:t>  name: mubench-services</a:t>
            </a:r>
          </a:p>
          <a:p>
            <a:r>
              <a:rPr sz="1100">
                <a:solidFill>
                  <a:srgbClr val="F9E2AF"/>
                </a:solidFill>
                <a:latin typeface="Courier New"/>
              </a:rPr>
              <a:t>  namespace: observability</a:t>
            </a:r>
          </a:p>
          <a:p>
            <a:r>
              <a:rPr sz="1100">
                <a:solidFill>
                  <a:srgbClr val="F9E2AF"/>
                </a:solidFill>
                <a:latin typeface="Courier New"/>
              </a:rPr>
              <a:t>  # ↑ CRÍTICO: debe ser el mismo namespace donde corre</a:t>
            </a:r>
          </a:p>
          <a:p>
            <a:r>
              <a:rPr sz="1100">
                <a:solidFill>
                  <a:srgbClr val="CBD3F0"/>
                </a:solidFill>
                <a:latin typeface="Courier New"/>
              </a:rPr>
              <a:t>  #   Prometheus. microk8s enable observability lo instala</a:t>
            </a:r>
          </a:p>
          <a:p>
            <a:r>
              <a:rPr sz="1100">
                <a:solidFill>
                  <a:srgbClr val="CBD3F0"/>
                </a:solidFill>
                <a:latin typeface="Courier New"/>
              </a:rPr>
              <a:t>  #   en 'observability'. Con helm manual sería 'monitoring'.</a:t>
            </a:r>
          </a:p>
          <a:p>
            <a:r>
              <a:rPr sz="1100">
                <a:solidFill>
                  <a:srgbClr val="CBD3F0"/>
                </a:solidFill>
                <a:latin typeface="Courier New"/>
              </a:rPr>
              <a:t>  labels:</a:t>
            </a:r>
          </a:p>
          <a:p>
            <a:r>
              <a:rPr sz="1100">
                <a:solidFill>
                  <a:srgbClr val="F9E2AF"/>
                </a:solidFill>
                <a:latin typeface="Courier New"/>
              </a:rPr>
              <a:t>    release: kube-prom-stack</a:t>
            </a:r>
          </a:p>
          <a:p>
            <a:r>
              <a:rPr sz="1100">
                <a:solidFill>
                  <a:srgbClr val="F9E2AF"/>
                </a:solidFill>
                <a:latin typeface="Courier New"/>
              </a:rPr>
              <a:t>  # ↑ CRÍTICO: debe coincidir con el selector del Prometheus CRD.</a:t>
            </a:r>
          </a:p>
          <a:p>
            <a:r>
              <a:rPr sz="1100">
                <a:solidFill>
                  <a:srgbClr val="CBD3F0"/>
                </a:solidFill>
                <a:latin typeface="Courier New"/>
              </a:rPr>
              <a:t>  #   microk8s pone release=kube-prom-stack.</a:t>
            </a:r>
          </a:p>
          <a:p>
            <a:r>
              <a:rPr sz="1100">
                <a:solidFill>
                  <a:srgbClr val="CBD3F0"/>
                </a:solidFill>
                <a:latin typeface="Courier New"/>
              </a:rPr>
              <a:t>  #   Sin este label, Prometheus ignora este ServiceMonitor.</a:t>
            </a:r>
          </a:p>
          <a:p>
            <a:r>
              <a:rPr sz="1100">
                <a:solidFill>
                  <a:srgbClr val="CBD3F0"/>
                </a:solidFill>
                <a:latin typeface="Courier New"/>
              </a:rPr>
              <a:t/>
            </a:r>
          </a:p>
          <a:p>
            <a:r>
              <a:rPr sz="1100">
                <a:solidFill>
                  <a:srgbClr val="CBD3F0"/>
                </a:solidFill>
                <a:latin typeface="Courier New"/>
              </a:rPr>
              <a:t>spec:</a:t>
            </a:r>
          </a:p>
          <a:p>
            <a:r>
              <a:rPr sz="1100">
                <a:solidFill>
                  <a:srgbClr val="CBD3F0"/>
                </a:solidFill>
                <a:latin typeface="Courier New"/>
              </a:rPr>
              <a:t>  selector:</a:t>
            </a:r>
          </a:p>
          <a:p>
            <a:r>
              <a:rPr sz="1100">
                <a:solidFill>
                  <a:srgbClr val="CBD3F0"/>
                </a:solidFill>
                <a:latin typeface="Courier New"/>
              </a:rPr>
              <a:t>    matchExpressions:</a:t>
            </a:r>
          </a:p>
          <a:p>
            <a:r>
              <a:rPr sz="1100">
                <a:solidFill>
                  <a:srgbClr val="F9E2AF"/>
                </a:solidFill>
                <a:latin typeface="Courier New"/>
              </a:rPr>
              <a:t>    - { key: app, operator: In,</a:t>
            </a:r>
          </a:p>
          <a:p>
            <a:r>
              <a:rPr sz="1100">
                <a:solidFill>
                  <a:srgbClr val="CBD3F0"/>
                </a:solidFill>
                <a:latin typeface="Courier New"/>
              </a:rPr>
              <a:t>        values: ['s0', 's1', 'sdb1'] }</a:t>
            </a:r>
          </a:p>
          <a:p>
            <a:r>
              <a:rPr sz="1100">
                <a:solidFill>
                  <a:srgbClr val="CBD3F0"/>
                </a:solidFill>
                <a:latin typeface="Courier New"/>
              </a:rPr>
              <a:t>  # ↑ Selecciona los Services que tengan label app=s0/s1/sdb1.</a:t>
            </a:r>
          </a:p>
          <a:p>
            <a:r>
              <a:rPr sz="1100">
                <a:solidFill>
                  <a:srgbClr val="CBD3F0"/>
                </a:solidFill>
                <a:latin typeface="Courier New"/>
              </a:rPr>
              <a:t>  #   Los 3 servicios principales de mubench-realistic.</a:t>
            </a:r>
          </a:p>
          <a:p>
            <a:r>
              <a:rPr sz="1100">
                <a:solidFill>
                  <a:srgbClr val="CBD3F0"/>
                </a:solidFill>
                <a:latin typeface="Courier New"/>
              </a:rPr>
              <a:t>  #   Nota: NO incluye otros servicios del namespace (ej: kong).</a:t>
            </a:r>
          </a:p>
          <a:p>
            <a:r>
              <a:rPr sz="1100">
                <a:solidFill>
                  <a:srgbClr val="CBD3F0"/>
                </a:solidFill>
                <a:latin typeface="Courier New"/>
              </a:rPr>
              <a:t/>
            </a:r>
          </a:p>
          <a:p>
            <a:r>
              <a:rPr sz="1100">
                <a:solidFill>
                  <a:srgbClr val="F9E2AF"/>
                </a:solidFill>
                <a:latin typeface="Courier New"/>
              </a:rPr>
              <a:t>  namespaceSelector:</a:t>
            </a:r>
          </a:p>
          <a:p>
            <a:r>
              <a:rPr sz="1100">
                <a:solidFill>
                  <a:srgbClr val="CBD3F0"/>
                </a:solidFill>
                <a:latin typeface="Courier New"/>
              </a:rPr>
              <a:t>    any: true</a:t>
            </a:r>
          </a:p>
          <a:p>
            <a:r>
              <a:rPr sz="1100">
                <a:solidFill>
                  <a:srgbClr val="CBD3F0"/>
                </a:solidFill>
                <a:latin typeface="Courier New"/>
              </a:rPr>
              <a:t>  # ↑ Busca esos Services en CUALQUIER namespace.</a:t>
            </a:r>
          </a:p>
          <a:p>
            <a:r>
              <a:rPr sz="1100">
                <a:solidFill>
                  <a:srgbClr val="CBD3F0"/>
                </a:solidFill>
                <a:latin typeface="Courier New"/>
              </a:rPr>
              <a:t>  #   Necesario porque los Services están en mubench-realistic</a:t>
            </a:r>
          </a:p>
          <a:p>
            <a:r>
              <a:rPr sz="1100">
                <a:solidFill>
                  <a:srgbClr val="CBD3F0"/>
                </a:solidFill>
                <a:latin typeface="Courier New"/>
              </a:rPr>
              <a:t>  #   pero este ServiceMonitor vive en 'observability'.</a:t>
            </a:r>
          </a:p>
          <a:p>
            <a:r>
              <a:rPr sz="1100">
                <a:solidFill>
                  <a:srgbClr val="CBD3F0"/>
                </a:solidFill>
                <a:latin typeface="Courier New"/>
              </a:rPr>
              <a:t/>
            </a:r>
          </a:p>
          <a:p>
            <a:r>
              <a:rPr sz="1100">
                <a:solidFill>
                  <a:srgbClr val="F9E2AF"/>
                </a:solidFill>
                <a:latin typeface="Courier New"/>
              </a:rPr>
              <a:t>  endpoints:</a:t>
            </a:r>
          </a:p>
          <a:p>
            <a:r>
              <a:rPr sz="1100">
                <a:solidFill>
                  <a:srgbClr val="CBD3F0"/>
                </a:solidFill>
                <a:latin typeface="Courier New"/>
              </a:rPr>
              <a:t>  - port: http</a:t>
            </a:r>
          </a:p>
          <a:p>
            <a:r>
              <a:rPr sz="1100">
                <a:solidFill>
                  <a:srgbClr val="CBD3F0"/>
                </a:solidFill>
                <a:latin typeface="Courier New"/>
              </a:rPr>
              <a:t>  # ↑ Nombre del puerto en el Service K8s (no número).</a:t>
            </a:r>
          </a:p>
          <a:p>
            <a:r>
              <a:rPr sz="1100">
                <a:solidFill>
                  <a:srgbClr val="F9E2AF"/>
                </a:solidFill>
                <a:latin typeface="Courier New"/>
              </a:rPr>
              <a:t>  #   El Service debe tener un puerto llamado 'http'.</a:t>
            </a:r>
          </a:p>
          <a:p>
            <a:r>
              <a:rPr sz="1100">
                <a:solidFill>
                  <a:srgbClr val="CBD3F0"/>
                </a:solidFill>
                <a:latin typeface="Courier New"/>
              </a:rPr>
              <a:t>    path: /metrics</a:t>
            </a:r>
          </a:p>
          <a:p>
            <a:r>
              <a:rPr sz="1100">
                <a:solidFill>
                  <a:srgbClr val="F9E2AF"/>
                </a:solidFill>
                <a:latin typeface="Courier New"/>
              </a:rPr>
              <a:t>  # ↑ Ruta que expone las métricas Prometheus en cada pod.</a:t>
            </a:r>
          </a:p>
          <a:p>
            <a:r>
              <a:rPr sz="1100">
                <a:solidFill>
                  <a:srgbClr val="CBD3F0"/>
                </a:solidFill>
                <a:latin typeface="Courier New"/>
              </a:rPr>
              <a:t>  #   Los pods ServiceCell exponen /metrics via Flask.</a:t>
            </a:r>
          </a:p>
          <a:p>
            <a:r>
              <a:rPr sz="1100">
                <a:solidFill>
                  <a:srgbClr val="F9E2AF"/>
                </a:solidFill>
                <a:latin typeface="Courier New"/>
              </a:rPr>
              <a:t>    interval: 10s</a:t>
            </a:r>
          </a:p>
          <a:p>
            <a:r>
              <a:rPr sz="1100">
                <a:solidFill>
                  <a:srgbClr val="CBD3F0"/>
                </a:solidFill>
                <a:latin typeface="Courier New"/>
              </a:rPr>
              <a:t>  # ↑ Frecuencia de scrape. 10s = alta resolución.</a:t>
            </a:r>
          </a:p>
          <a:p>
            <a:r>
              <a:rPr sz="1100">
                <a:solidFill>
                  <a:srgbClr val="F9E2AF"/>
                </a:solidFill>
                <a:latin typeface="Courier New"/>
              </a:rPr>
              <a:t>  #   Default de Prometheus: 1m. Aquí se aumenta para ver</a:t>
            </a:r>
          </a:p>
          <a:p>
            <a:r>
              <a:rPr sz="1100">
                <a:solidFill>
                  <a:srgbClr val="CBD3F0"/>
                </a:solidFill>
                <a:latin typeface="Courier New"/>
              </a:rPr>
              <a:t>  #   cambios durante pruebas de rendimiento (k6 corre ~60s).</a:t>
            </a:r>
          </a:p>
        </p:txBody>
      </p:sp>
      <p:sp>
        <p:nvSpPr>
          <p:cNvPr id="6" name="Rectangle 5"/>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¿Se aplica en el proyecto?</a:t>
            </a:r>
          </a:p>
          <a:p>
            <a:r>
              <a:rPr sz="1000">
                <a:solidFill>
                  <a:srgbClr val="555555"/>
                </a:solidFill>
              </a:rPr>
              <a:t>SÍ — en deploy_microk8s old.sh:
  microk8s enable observability
  # ↑ instala kube-prom-stack
  #   en namespace 'observability'
  kubectl apply -f \
    Monitoring/mubench-servicemonitor.yaml
En deploy_microk8s.sh (actual):
  NO se aplica explícitamente.
  Se asume que ya está aplicado
  porque hace port-forward a:
  observability/kube-prom-stack-
  kube-prome-prometheus :9090</a:t>
            </a:r>
          </a:p>
        </p:txBody>
      </p:sp>
      <p:sp>
        <p:nvSpPr>
          <p:cNvPr id="7" name="Rectangle 6"/>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Flujo completo de scrape</a:t>
            </a:r>
          </a:p>
          <a:p>
            <a:r>
              <a:rPr sz="1000">
                <a:solidFill>
                  <a:srgbClr val="555555"/>
                </a:solidFill>
              </a:rPr>
              <a:t>1. microk8s enable observability
   → instala Prometheus en 'observability'
2. kubectl apply mubench-servicemonitor.yaml
   → Prometheus Operator detecta el CRD
   → añade targets a Prometheus config
3. Prometheus scrapea cada 10s:
   GET http://s0.mubench-realistic
        .svc.cluster.local/metrics
   GET http://s1.mubench-realistic
        .svc.cluster.local/metrics
   GET http://sdb1.mubench-realistic
        .svc.cluster.local/metrics
4. Métricas almacenadas en TSDB
   → disponibles en Grafana :3000</a:t>
            </a:r>
          </a:p>
        </p:txBody>
      </p:sp>
      <p:sp>
        <p:nvSpPr>
          <p:cNvPr id="8" name="Rectangle 7"/>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microk8s enable observability</a:t>
            </a:r>
          </a:p>
          <a:p>
            <a:r>
              <a:rPr sz="1000">
                <a:solidFill>
                  <a:srgbClr val="555555"/>
                </a:solidFill>
              </a:rPr>
              <a:t>Diferencia clave vs helm manual:
  microk8s enable observability
  → namespace: observability
  → release: kube-prom-stack
  → sin NodePort expuesto,
    solo ClusterIP + port-forward
  helm install prometheus \
    prometheus-community/...
  → namespace: monitoring
  → NodePort :30000/:30001
  → release: prometheus
El YAML usa observability/kube-prom-stack
→ funciona CON microk8s enable.
Para helm manual habría que cambiar
namespace: monitoring
release: prometheus</a:t>
            </a:r>
          </a:p>
        </p:txBody>
      </p:sp>
      <p:sp>
        <p:nvSpPr>
          <p:cNvPr id="9" name="Rectangle 8"/>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Puerto 'http' en los Services</a:t>
            </a:r>
          </a:p>
          <a:p>
            <a:r>
              <a:rPr sz="1000">
                <a:solidFill>
                  <a:srgbClr val="555555"/>
                </a:solidFill>
              </a:rPr>
              <a:t>Para que el ServiceMonitor funcione,
cada Service K8s de s0/s1/sdb1
debe tener un puerto nombrado 'http':
  apiVersion: v1
  kind: Service
  spec:
    ports:
    - name: http   # ← requerido
      port: 80
      targetPort: 8080
Si el puerto no tiene nombre, o
tiene otro nombre (p.ej. 'web'),
Prometheus no puede hacer el scrape
y el target queda en estado
'Unknown' en :9090/targets.</a:t>
            </a:r>
          </a:p>
        </p:txBody>
      </p:sp>
      <p:sp>
        <p:nvSpPr>
          <p:cNvPr id="10" name="Rectangle 9"/>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Métricas que expone /metrics</a:t>
            </a:r>
          </a:p>
          <a:p>
            <a:r>
              <a:rPr sz="1000">
                <a:solidFill>
                  <a:srgbClr val="555555"/>
                </a:solidFill>
              </a:rPr>
              <a:t>Los pods de ServiceCell (Flask)
exponen métricas Prometheus en
/metrics gracias a prometheus_client:
  mubench_request_total
    → peticiones recibidas por pod
  mubench_request_duration_seconds
    → histograma de latencias
  mubench_work_duration_seconds
    → tiempo de trabajo interno
  process_cpu_seconds_total
  process_resident_memory_bytes
    → métricas de proceso Python
Todas disponibles en Grafana
via datasource Prometheus.</a:t>
            </a:r>
          </a:p>
        </p:txBody>
      </p:sp>
      <p:sp>
        <p:nvSpPr>
          <p:cNvPr id="11" name="Rectangle 10"/>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Diferencia vs mub-monitor.yaml</a:t>
            </a:r>
          </a:p>
          <a:p>
            <a:r>
              <a:rPr sz="1000">
                <a:solidFill>
                  <a:srgbClr val="555555"/>
                </a:solidFill>
              </a:rPr>
              <a:t>kubernetes-full-monitoring/
  mub-monitor.yaml (PodMonitor):
  → scrape DIRECTO al Pod
  → label: prometheus.io/scrape
  → puerto: http-mubpodport
  → para servicios SINTÉTICOS
  → namespace monitoring (helm)
  → release: prometheus
Monitoring/
  mubench-servicemonitor.yaml:
  → scrape VÍA Service K8s
  → selecciona app=s0/s1/sdb1
  → puerto: http (en el Service)
  → para servicios REALISTIC
  → namespace observability (microk8s)
  → release: kube-prom-stack</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RealisticServices/ — Microservicios reales (FastAPI)</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api-service · auth-service · data-service · JWT HS256 · PostgreSQL · Prometheus middleware · rate limiting</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RealisticServices/ — stack de microservicios reales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api-service (gateway) · auth-service (JWT) · data-service (PostgreSQL) · FastAPI · prometheus_client · k6 → API</a:t>
            </a:r>
          </a:p>
        </p:txBody>
      </p:sp>
      <p:sp>
        <p:nvSpPr>
          <p:cNvPr id="5" name="Rectangle 4"/>
          <p:cNvSpPr/>
          <p:nvPr/>
        </p:nvSpPr>
        <p:spPr>
          <a:xfrm>
            <a:off x="365760" y="1143000"/>
            <a:ext cx="5577840" cy="24231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Arquitectura del stack realistic</a:t>
            </a:r>
          </a:p>
          <a:p>
            <a:r>
              <a:rPr sz="1100">
                <a:solidFill>
                  <a:srgbClr val="F9E2AF"/>
                </a:solidFill>
                <a:latin typeface="Courier New"/>
              </a:rPr>
              <a:t>#</a:t>
            </a:r>
          </a:p>
          <a:p>
            <a:r>
              <a:rPr sz="1100">
                <a:solidFill>
                  <a:srgbClr val="CBD3F0"/>
                </a:solidFill>
                <a:latin typeface="Courier New"/>
              </a:rPr>
              <a:t># k6 (tráfico)                              </a:t>
            </a:r>
          </a:p>
          <a:p>
            <a:r>
              <a:rPr sz="1100">
                <a:solidFill>
                  <a:srgbClr val="CBD3F0"/>
                </a:solidFill>
                <a:latin typeface="Courier New"/>
              </a:rPr>
              <a:t>#   │                                        </a:t>
            </a:r>
          </a:p>
          <a:p>
            <a:r>
              <a:rPr sz="1100">
                <a:solidFill>
                  <a:srgbClr val="CBD3F0"/>
                </a:solidFill>
                <a:latin typeface="Courier New"/>
              </a:rPr>
              <a:t>#   ▼                                        </a:t>
            </a:r>
          </a:p>
          <a:p>
            <a:r>
              <a:rPr sz="1100">
                <a:solidFill>
                  <a:srgbClr val="CBD3F0"/>
                </a:solidFill>
                <a:latin typeface="Courier New"/>
              </a:rPr>
              <a:t># [api-service :8080]   ──── JWT validate ──▶ [auth-service :8080]</a:t>
            </a:r>
          </a:p>
          <a:p>
            <a:r>
              <a:rPr sz="1100">
                <a:solidFill>
                  <a:srgbClr val="F9E2AF"/>
                </a:solidFill>
                <a:latin typeface="Courier New"/>
              </a:rPr>
              <a:t>#   │  /profile                              #   POST /login</a:t>
            </a:r>
          </a:p>
          <a:p>
            <a:r>
              <a:rPr sz="1100">
                <a:solidFill>
                  <a:srgbClr val="CBD3F0"/>
                </a:solidFill>
                <a:latin typeface="Courier New"/>
              </a:rPr>
              <a:t>#   │  /users GET                            #   → access_token</a:t>
            </a:r>
          </a:p>
          <a:p>
            <a:r>
              <a:rPr sz="1100">
                <a:solidFill>
                  <a:srgbClr val="CBD3F0"/>
                </a:solidFill>
                <a:latin typeface="Courier New"/>
              </a:rPr>
              <a:t>#   │  /users POST                           #   (HS256, 30 min)</a:t>
            </a:r>
          </a:p>
          <a:p>
            <a:r>
              <a:rPr sz="1100">
                <a:solidFill>
                  <a:srgbClr val="CBD3F0"/>
                </a:solidFill>
                <a:latin typeface="Courier New"/>
              </a:rPr>
              <a:t>#   │                                        </a:t>
            </a:r>
          </a:p>
          <a:p>
            <a:r>
              <a:rPr sz="1100">
                <a:solidFill>
                  <a:srgbClr val="CBD3F0"/>
                </a:solidFill>
                <a:latin typeface="Courier New"/>
              </a:rPr>
              <a:t>#   └──── GET /users/{id} ─────────────────▶ [data-service :8080]</a:t>
            </a:r>
          </a:p>
          <a:p>
            <a:r>
              <a:rPr sz="1100">
                <a:solidFill>
                  <a:srgbClr val="F9E2AF"/>
                </a:solidFill>
                <a:latin typeface="Courier New"/>
              </a:rPr>
              <a:t>#         POST /users                        #   psycopg2</a:t>
            </a:r>
          </a:p>
          <a:p>
            <a:r>
              <a:rPr sz="1100">
                <a:solidFill>
                  <a:srgbClr val="CBD3F0"/>
                </a:solidFill>
                <a:latin typeface="Courier New"/>
              </a:rPr>
              <a:t>#         GET /users                         #   ↓</a:t>
            </a:r>
          </a:p>
          <a:p>
            <a:r>
              <a:rPr sz="1100">
                <a:solidFill>
                  <a:srgbClr val="CBD3F0"/>
                </a:solidFill>
                <a:latin typeface="Courier New"/>
              </a:rPr>
              <a:t>#                                            # [PostgreSQL :5432]</a:t>
            </a:r>
          </a:p>
          <a:p>
            <a:r>
              <a:rPr sz="1100">
                <a:solidFill>
                  <a:srgbClr val="CBD3F0"/>
                </a:solidFill>
                <a:latin typeface="Courier New"/>
              </a:rPr>
              <a:t>#                                            #  tabla: app_users</a:t>
            </a:r>
          </a:p>
          <a:p>
            <a:r>
              <a:rPr sz="1100">
                <a:solidFill>
                  <a:srgbClr val="CBD3F0"/>
                </a:solidFill>
                <a:latin typeface="Courier New"/>
              </a:rPr>
              <a:t>#                                            #  (id, username, email)</a:t>
            </a:r>
          </a:p>
          <a:p>
            <a:r>
              <a:rPr sz="1100">
                <a:solidFill>
                  <a:srgbClr val="CBD3F0"/>
                </a:solidFill>
                <a:latin typeface="Courier New"/>
              </a:rPr>
              <a:t>#</a:t>
            </a:r>
          </a:p>
          <a:p>
            <a:r>
              <a:rPr sz="1100">
                <a:solidFill>
                  <a:srgbClr val="CBD3F0"/>
                </a:solidFill>
                <a:latin typeface="Courier New"/>
              </a:rPr>
              <a:t># Cada servicio expone:</a:t>
            </a:r>
          </a:p>
          <a:p>
            <a:r>
              <a:rPr sz="1100">
                <a:solidFill>
                  <a:srgbClr val="F9E2AF"/>
                </a:solidFill>
                <a:latin typeface="Courier New"/>
              </a:rPr>
              <a:t>#   GET /health  → {status: ok, service: &lt;nombre&gt;}</a:t>
            </a:r>
          </a:p>
          <a:p>
            <a:r>
              <a:rPr sz="1100">
                <a:solidFill>
                  <a:srgbClr val="CBD3F0"/>
                </a:solidFill>
                <a:latin typeface="Courier New"/>
              </a:rPr>
              <a:t>#   GET /metrics → Prometheus text format (prometheus_client)</a:t>
            </a:r>
          </a:p>
        </p:txBody>
      </p:sp>
      <p:sp>
        <p:nvSpPr>
          <p:cNvPr id="6" name="Rectangle 5"/>
          <p:cNvSpPr/>
          <p:nvPr/>
        </p:nvSpPr>
        <p:spPr>
          <a:xfrm>
            <a:off x="365760" y="3703320"/>
            <a:ext cx="5577840" cy="30632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ENV vars configurables (vía K8s Secrets/ConfigMap)</a:t>
            </a:r>
          </a:p>
          <a:p>
            <a:r>
              <a:rPr sz="1100">
                <a:solidFill>
                  <a:srgbClr val="F9E2AF"/>
                </a:solidFill>
                <a:latin typeface="Courier New"/>
              </a:rPr>
              <a:t/>
            </a:r>
          </a:p>
          <a:p>
            <a:r>
              <a:rPr sz="1100">
                <a:solidFill>
                  <a:srgbClr val="CBD3F0"/>
                </a:solidFill>
                <a:latin typeface="Courier New"/>
              </a:rPr>
              <a:t># api-service:</a:t>
            </a:r>
          </a:p>
          <a:p>
            <a:r>
              <a:rPr sz="1100">
                <a:solidFill>
                  <a:srgbClr val="F9E2AF"/>
                </a:solidFill>
                <a:latin typeface="Courier New"/>
              </a:rPr>
              <a:t>JWT_SECRET     = os.getenv('JWT_SECRET', 'mubench-dev-secret')</a:t>
            </a:r>
          </a:p>
          <a:p>
            <a:r>
              <a:rPr sz="1100">
                <a:solidFill>
                  <a:srgbClr val="CBD3F0"/>
                </a:solidFill>
                <a:latin typeface="Courier New"/>
              </a:rPr>
              <a:t>DATA_SERVICE_URL = os.getenv('DATA_SERVICE_URL', 'http://data-service:8080')</a:t>
            </a:r>
          </a:p>
          <a:p>
            <a:r>
              <a:rPr sz="1100">
                <a:solidFill>
                  <a:srgbClr val="CBD3F0"/>
                </a:solidFill>
                <a:latin typeface="Courier New"/>
              </a:rPr>
              <a:t>RATE_LIMIT_ENABLED = os.getenv('RATE_LIMIT_ENABLED', 'false')</a:t>
            </a:r>
          </a:p>
          <a:p>
            <a:r>
              <a:rPr sz="1100">
                <a:solidFill>
                  <a:srgbClr val="CBD3F0"/>
                </a:solidFill>
                <a:latin typeface="Courier New"/>
              </a:rPr>
              <a:t>RATE_LIMIT_RPM   = int(os.getenv('RATE_LIMIT_RPM', '600'))</a:t>
            </a:r>
          </a:p>
          <a:p>
            <a:r>
              <a:rPr sz="1100">
                <a:solidFill>
                  <a:srgbClr val="CBD3F0"/>
                </a:solidFill>
                <a:latin typeface="Courier New"/>
              </a:rPr>
              <a:t/>
            </a:r>
          </a:p>
          <a:p>
            <a:r>
              <a:rPr sz="1100">
                <a:solidFill>
                  <a:srgbClr val="CBD3F0"/>
                </a:solidFill>
                <a:latin typeface="Courier New"/>
              </a:rPr>
              <a:t># auth-service:</a:t>
            </a:r>
          </a:p>
          <a:p>
            <a:r>
              <a:rPr sz="1100">
                <a:solidFill>
                  <a:srgbClr val="F9E2AF"/>
                </a:solidFill>
                <a:latin typeface="Courier New"/>
              </a:rPr>
              <a:t>JWT_SECRET         = os.getenv('JWT_SECRET', 'mubench-dev-secret')</a:t>
            </a:r>
          </a:p>
          <a:p>
            <a:r>
              <a:rPr sz="1100">
                <a:solidFill>
                  <a:srgbClr val="CBD3F0"/>
                </a:solidFill>
                <a:latin typeface="Courier New"/>
              </a:rPr>
              <a:t>JWT_EXPIRE_MINUTES = int(os.getenv('JWT_EXPIRE_MINUTES', '30'))</a:t>
            </a:r>
          </a:p>
          <a:p>
            <a:r>
              <a:rPr sz="1100">
                <a:solidFill>
                  <a:srgbClr val="CBD3F0"/>
                </a:solidFill>
                <a:latin typeface="Courier New"/>
              </a:rPr>
              <a:t/>
            </a:r>
          </a:p>
          <a:p>
            <a:r>
              <a:rPr sz="1100">
                <a:solidFill>
                  <a:srgbClr val="CBD3F0"/>
                </a:solidFill>
                <a:latin typeface="Courier New"/>
              </a:rPr>
              <a:t># data-service:</a:t>
            </a:r>
          </a:p>
          <a:p>
            <a:r>
              <a:rPr sz="1100">
                <a:solidFill>
                  <a:srgbClr val="F9E2AF"/>
                </a:solidFill>
                <a:latin typeface="Courier New"/>
              </a:rPr>
              <a:t>DB_HOST = os.getenv('DB_HOST', 'postgres')</a:t>
            </a:r>
          </a:p>
          <a:p>
            <a:r>
              <a:rPr sz="1100">
                <a:solidFill>
                  <a:srgbClr val="CBD3F0"/>
                </a:solidFill>
                <a:latin typeface="Courier New"/>
              </a:rPr>
              <a:t>DB_PORT = int(os.getenv('DB_PORT', '5432'))</a:t>
            </a:r>
          </a:p>
          <a:p>
            <a:r>
              <a:rPr sz="1100">
                <a:solidFill>
                  <a:srgbClr val="CBD3F0"/>
                </a:solidFill>
                <a:latin typeface="Courier New"/>
              </a:rPr>
              <a:t>DB_NAME = os.getenv('DB_NAME', 'mubench')</a:t>
            </a:r>
          </a:p>
          <a:p>
            <a:r>
              <a:rPr sz="1100">
                <a:solidFill>
                  <a:srgbClr val="CBD3F0"/>
                </a:solidFill>
                <a:latin typeface="Courier New"/>
              </a:rPr>
              <a:t>DB_USER = os.getenv('DB_USER', 'mubench')</a:t>
            </a:r>
          </a:p>
          <a:p>
            <a:r>
              <a:rPr sz="1100">
                <a:solidFill>
                  <a:srgbClr val="CBD3F0"/>
                </a:solidFill>
                <a:latin typeface="Courier New"/>
              </a:rPr>
              <a:t>DB_PASSWORD = os.getenv('DB_PASSWORD', 'mubench')</a:t>
            </a:r>
          </a:p>
          <a:p>
            <a:r>
              <a:rPr sz="1100">
                <a:solidFill>
                  <a:srgbClr val="CBD3F0"/>
                </a:solidFill>
                <a:latin typeface="Courier New"/>
              </a:rPr>
              <a:t/>
            </a:r>
          </a:p>
          <a:p>
            <a:r>
              <a:rPr sz="1100">
                <a:solidFill>
                  <a:srgbClr val="CBD3F0"/>
                </a:solidFill>
                <a:latin typeface="Courier New"/>
              </a:rPr>
              <a:t># CRÍTICO: JWT_SECRET debe ser IDÉNTICO en api-service y auth-service.</a:t>
            </a:r>
          </a:p>
          <a:p>
            <a:r>
              <a:rPr sz="1100">
                <a:solidFill>
                  <a:srgbClr val="F9E2AF"/>
                </a:solidFill>
                <a:latin typeface="Courier New"/>
              </a:rPr>
              <a:t># Si difieren → jwt.PyJWTError → 401 en todas las llamadas.</a:t>
            </a:r>
          </a:p>
        </p:txBody>
      </p:sp>
      <p:sp>
        <p:nvSpPr>
          <p:cNvPr id="7" name="Rectangle 6"/>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Propósito en el proyecto</a:t>
            </a:r>
          </a:p>
          <a:p>
            <a:r>
              <a:rPr sz="1000">
                <a:solidFill>
                  <a:srgbClr val="555555"/>
                </a:solidFill>
              </a:rPr>
              <a:t>RealisticServices/ existe para
simular una aplicación web real
con lógica de negocio propia:
  - auth-service: gestión de tokens
  - api-service: capa de lógica
  - data-service: persistencia
Se usa en los experimentos C1-C4:
run-controls-realistic.sh
run-k6-realistic.sh
RealisticServices/k6/
Es el BACKEND bajo prueba.
k6 genera el tráfico desde
k8s/k6-deployment.yaml o local.</a:t>
            </a:r>
          </a:p>
        </p:txBody>
      </p:sp>
      <p:sp>
        <p:nvSpPr>
          <p:cNvPr id="8" name="Rectangle 7"/>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Diferencia vs servicios sintéticos</a:t>
            </a:r>
          </a:p>
          <a:p>
            <a:r>
              <a:rPr sz="1000">
                <a:solidFill>
                  <a:srgbClr val="555555"/>
                </a:solidFill>
              </a:rPr>
              <a:t>Sintéticos (ServiceCell):
  → Flask genérico
  → workmodel.json configurable
  → run_internal_service (stress)
  → sin auth, sin DB real
  → /api/v1 path genérico
  → gRPC + REST
  → controlan latencia artificial
Realistas (RealisticServices):
  → FastAPI + Pydantic
  → lógica fija (JWT + CRUD)
  → auth real (HS256 JWT)
  → PostgreSQL real
  → /login /profile /users
  → solo REST
  → latencia natural de la app</a:t>
            </a:r>
          </a:p>
        </p:txBody>
      </p:sp>
      <p:sp>
        <p:nvSpPr>
          <p:cNvPr id="9" name="Rectangle 8"/>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Métricas compartidas (3 servicios)</a:t>
            </a:r>
          </a:p>
          <a:p>
            <a:r>
              <a:rPr sz="1000">
                <a:solidFill>
                  <a:srgbClr val="555555"/>
                </a:solidFill>
              </a:rPr>
              <a:t>Los 3 servicios definen el MISMO
middleware de métricas:
  HTTP_REQUESTS_TOTAL (Counter)
    labels: service, method,
            path, status
  HTTP_REQUEST_DURATION_SECONDS
    (Histogram)
    labels: service, method, path
Diferencias adicionales:
  api-service:
    + DOWNSTREAM_REQUEST_DURATION
      (latencia hacia data-service)
  data-service:
    + DB_QUERY_DURATION_SECONDS
      (latencia de cada query SQL)</a:t>
            </a:r>
          </a:p>
        </p:txBody>
      </p:sp>
      <p:sp>
        <p:nvSpPr>
          <p:cNvPr id="10" name="Rectangle 9"/>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Flujo de autenticación</a:t>
            </a:r>
          </a:p>
          <a:p>
            <a:r>
              <a:rPr sz="1000">
                <a:solidFill>
                  <a:srgbClr val="555555"/>
                </a:solidFill>
              </a:rPr>
              <a:t>1. k6 hace POST /login a auth-service
   body: {username: demo, pass: demo123}
   ← {access_token: eyJ..., exp: ...}
2. k6 usa el token en cada request:
   GET /profile
   Authorization: Bearer eyJ...
3. api-service llama decode_token():
   jwt.decode(token, JWT_SECRET,
              algorithms=['HS256'])
   ← {sub: demo, scope: user, exp}
4. Con claims válidos, llama
   data-service para datos reales.
Si token inválido/expirado → 401
Si data-service caído → 503</a:t>
            </a:r>
          </a:p>
        </p:txBody>
      </p:sp>
      <p:sp>
        <p:nvSpPr>
          <p:cNvPr id="11" name="Rectangle 10"/>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Rate limiting en api-service</a:t>
            </a:r>
          </a:p>
          <a:p>
            <a:r>
              <a:rPr sz="1000">
                <a:solidFill>
                  <a:srgbClr val="555555"/>
                </a:solidFill>
              </a:rPr>
              <a:t>Implementado con deque in-memory:
  _rate_lock = Lock()
  _rate_window = deque()
enforce_rate_limit():
  now = time.time()
  min_ts = now - 60.0  # ventana 1min
  # expira timestamps viejos
  while window[0] &lt; min_ts:
    window.popleft()
  if len(window) &gt;= RATE_LIMIT_RPM:
    raise HTTPException(429)
  window.append(now)
LIMITACIÓN: in-memory por proceso.
Con múltiples réplicas, cada pod
tiene su propia ventana → límite
efectivo = RPM × N_réplicas.</a:t>
            </a:r>
          </a:p>
        </p:txBody>
      </p:sp>
      <p:sp>
        <p:nvSpPr>
          <p:cNvPr id="12" name="Rectangle 11"/>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k8s: Services y Deployments</a:t>
            </a:r>
          </a:p>
          <a:p>
            <a:r>
              <a:rPr sz="1000">
                <a:solidFill>
                  <a:srgbClr val="555555"/>
                </a:solidFill>
              </a:rPr>
              <a:t>RealisticServices/k8s/:
  Deployment + Service por servicio:
  - api-service: :8080
  - auth-service: :8080
  - data-service: :8080
  + PostgreSQL: :5432
Namespace: mubench-realistic
Los Services usan ClusterIP, solo
el tráfico externo entra por:
  - NGINX Ingress (experimentos C1)
  - Istio Gateway (experimentos C2)
  - Kong Gateway (experimentos C4)
deploy-realistic.sh aplica
todos los manifests en orden.</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api-service/app.py — gateway JWT + rate limiting + downstream tracking</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FastAPI · jwt.decode HS256 · deque rate limit · Histogram DOWNSTREAM · /profile /users · async middleware</a:t>
            </a:r>
          </a:p>
        </p:txBody>
      </p:sp>
      <p:sp>
        <p:nvSpPr>
          <p:cNvPr id="5" name="Rectangle 4"/>
          <p:cNvSpPr/>
          <p:nvPr/>
        </p:nvSpPr>
        <p:spPr>
          <a:xfrm>
            <a:off x="365760" y="1143000"/>
            <a:ext cx="5577840" cy="27432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app.py — api-service (gateway principal del stack realistic)</a:t>
            </a:r>
          </a:p>
          <a:p>
            <a:r>
              <a:rPr sz="1100">
                <a:solidFill>
                  <a:srgbClr val="F9E2AF"/>
                </a:solidFill>
                <a:latin typeface="Courier New"/>
              </a:rPr>
              <a:t/>
            </a:r>
          </a:p>
          <a:p>
            <a:r>
              <a:rPr sz="1100">
                <a:solidFill>
                  <a:srgbClr val="CBD3F0"/>
                </a:solidFill>
                <a:latin typeface="Courier New"/>
              </a:rPr>
              <a:t>app = FastAPI(title='api-service', version='1.0.0')</a:t>
            </a:r>
          </a:p>
          <a:p>
            <a:r>
              <a:rPr sz="1100">
                <a:solidFill>
                  <a:srgbClr val="CBD3F0"/>
                </a:solidFill>
                <a:latin typeface="Courier New"/>
              </a:rPr>
              <a:t/>
            </a:r>
          </a:p>
          <a:p>
            <a:r>
              <a:rPr sz="1100">
                <a:solidFill>
                  <a:srgbClr val="CBD3F0"/>
                </a:solidFill>
                <a:latin typeface="Courier New"/>
              </a:rPr>
              <a:t># 3 métricas Prometheus:</a:t>
            </a:r>
          </a:p>
          <a:p>
            <a:r>
              <a:rPr sz="1100">
                <a:solidFill>
                  <a:srgbClr val="F9E2AF"/>
                </a:solidFill>
                <a:latin typeface="Courier New"/>
              </a:rPr>
              <a:t>HTTP_REQUESTS_TOTAL = Counter('mubench_http_requests_total', ...</a:t>
            </a:r>
          </a:p>
          <a:p>
            <a:r>
              <a:rPr sz="1100">
                <a:solidFill>
                  <a:srgbClr val="CBD3F0"/>
                </a:solidFill>
                <a:latin typeface="Courier New"/>
              </a:rPr>
              <a:t>    ['service', 'method', 'path', 'status'])</a:t>
            </a:r>
          </a:p>
          <a:p>
            <a:r>
              <a:rPr sz="1100">
                <a:solidFill>
                  <a:srgbClr val="CBD3F0"/>
                </a:solidFill>
                <a:latin typeface="Courier New"/>
              </a:rPr>
              <a:t>HTTP_REQUEST_DURATION_SECONDS = Histogram(</a:t>
            </a:r>
          </a:p>
          <a:p>
            <a:r>
              <a:rPr sz="1100">
                <a:solidFill>
                  <a:srgbClr val="CBD3F0"/>
                </a:solidFill>
                <a:latin typeface="Courier New"/>
              </a:rPr>
              <a:t>    'mubench_http_request_duration_seconds', ...</a:t>
            </a:r>
          </a:p>
          <a:p>
            <a:r>
              <a:rPr sz="1100">
                <a:solidFill>
                  <a:srgbClr val="CBD3F0"/>
                </a:solidFill>
                <a:latin typeface="Courier New"/>
              </a:rPr>
              <a:t>    ['service', 'method', 'path'])</a:t>
            </a:r>
          </a:p>
          <a:p>
            <a:r>
              <a:rPr sz="1100">
                <a:solidFill>
                  <a:srgbClr val="CBD3F0"/>
                </a:solidFill>
                <a:latin typeface="Courier New"/>
              </a:rPr>
              <a:t>DOWNSTREAM_REQUEST_DURATION_SECONDS = Histogram(</a:t>
            </a:r>
          </a:p>
          <a:p>
            <a:r>
              <a:rPr sz="1100">
                <a:solidFill>
                  <a:srgbClr val="F9E2AF"/>
                </a:solidFill>
                <a:latin typeface="Courier New"/>
              </a:rPr>
              <a:t>    'mubench_downstream_request_duration_seconds', ...</a:t>
            </a:r>
          </a:p>
          <a:p>
            <a:r>
              <a:rPr sz="1100">
                <a:solidFill>
                  <a:srgbClr val="CBD3F0"/>
                </a:solidFill>
                <a:latin typeface="Courier New"/>
              </a:rPr>
              <a:t>    ['service', 'downstream', 'method', 'path'])</a:t>
            </a:r>
          </a:p>
          <a:p>
            <a:r>
              <a:rPr sz="1100">
                <a:solidFill>
                  <a:srgbClr val="CBD3F0"/>
                </a:solidFill>
                <a:latin typeface="Courier New"/>
              </a:rPr>
              <a:t># ↑ DOWNSTREAM: mide latencia del call a data-service.</a:t>
            </a:r>
          </a:p>
          <a:p>
            <a:r>
              <a:rPr sz="1100">
                <a:solidFill>
                  <a:srgbClr val="F9E2AF"/>
                </a:solidFill>
                <a:latin typeface="Courier New"/>
              </a:rPr>
              <a:t>#   Permite separar: ¿el problema es api-service o data-service?</a:t>
            </a:r>
          </a:p>
          <a:p>
            <a:r>
              <a:rPr sz="1100">
                <a:solidFill>
                  <a:srgbClr val="CBD3F0"/>
                </a:solidFill>
                <a:latin typeface="Courier New"/>
              </a:rPr>
              <a:t/>
            </a:r>
          </a:p>
          <a:p>
            <a:r>
              <a:rPr sz="1100">
                <a:solidFill>
                  <a:srgbClr val="CBD3F0"/>
                </a:solidFill>
                <a:latin typeface="Courier New"/>
              </a:rPr>
              <a:t>@app.middleware('http')</a:t>
            </a:r>
          </a:p>
          <a:p>
            <a:r>
              <a:rPr sz="1100">
                <a:solidFill>
                  <a:srgbClr val="F9E2AF"/>
                </a:solidFill>
                <a:latin typeface="Courier New"/>
              </a:rPr>
              <a:t>async def metrics_middleware(request, call_next):</a:t>
            </a:r>
          </a:p>
          <a:p>
            <a:r>
              <a:rPr sz="1100">
                <a:solidFill>
                  <a:srgbClr val="CBD3F0"/>
                </a:solidFill>
                <a:latin typeface="Courier New"/>
              </a:rPr>
              <a:t>    started = time.time()</a:t>
            </a:r>
          </a:p>
          <a:p>
            <a:r>
              <a:rPr sz="1100">
                <a:solidFill>
                  <a:srgbClr val="CBD3F0"/>
                </a:solidFill>
                <a:latin typeface="Courier New"/>
              </a:rPr>
              <a:t>    status = '500'  # default pesimista: si call_next falla</a:t>
            </a:r>
          </a:p>
          <a:p>
            <a:r>
              <a:rPr sz="1100">
                <a:solidFill>
                  <a:srgbClr val="F9E2AF"/>
                </a:solidFill>
                <a:latin typeface="Courier New"/>
              </a:rPr>
              <a:t>    try:</a:t>
            </a:r>
          </a:p>
          <a:p>
            <a:r>
              <a:rPr sz="1100">
                <a:solidFill>
                  <a:srgbClr val="CBD3F0"/>
                </a:solidFill>
                <a:latin typeface="Courier New"/>
              </a:rPr>
              <a:t>        response = await call_next(request)</a:t>
            </a:r>
          </a:p>
          <a:p>
            <a:r>
              <a:rPr sz="1100">
                <a:solidFill>
                  <a:srgbClr val="CBD3F0"/>
                </a:solidFill>
                <a:latin typeface="Courier New"/>
              </a:rPr>
              <a:t>        status = str(response.status_code)</a:t>
            </a:r>
          </a:p>
          <a:p>
            <a:r>
              <a:rPr sz="1100">
                <a:solidFill>
                  <a:srgbClr val="CBD3F0"/>
                </a:solidFill>
                <a:latin typeface="Courier New"/>
              </a:rPr>
              <a:t>        return response</a:t>
            </a:r>
          </a:p>
          <a:p>
            <a:r>
              <a:rPr sz="1100">
                <a:solidFill>
                  <a:srgbClr val="CBD3F0"/>
                </a:solidFill>
                <a:latin typeface="Courier New"/>
              </a:rPr>
              <a:t>    finally:  # ← SIEMPRE registra, incluso si hay excepción</a:t>
            </a:r>
          </a:p>
          <a:p>
            <a:r>
              <a:rPr sz="1100">
                <a:solidFill>
                  <a:srgbClr val="F9E2AF"/>
                </a:solidFill>
                <a:latin typeface="Courier New"/>
              </a:rPr>
              <a:t>        elapsed = time.time() - started</a:t>
            </a:r>
          </a:p>
          <a:p>
            <a:r>
              <a:rPr sz="1100">
                <a:solidFill>
                  <a:srgbClr val="CBD3F0"/>
                </a:solidFill>
                <a:latin typeface="Courier New"/>
              </a:rPr>
              <a:t>        HTTP_REQUESTS_TOTAL.labels(...).inc()</a:t>
            </a:r>
          </a:p>
          <a:p>
            <a:r>
              <a:rPr sz="1100">
                <a:solidFill>
                  <a:srgbClr val="CBD3F0"/>
                </a:solidFill>
                <a:latin typeface="Courier New"/>
              </a:rPr>
              <a:t>        HTTP_REQUEST_DURATION_SECONDS.labels(...).observe(elapsed)</a:t>
            </a:r>
          </a:p>
        </p:txBody>
      </p:sp>
      <p:sp>
        <p:nvSpPr>
          <p:cNvPr id="6" name="Rectangle 5"/>
          <p:cNvSpPr/>
          <p:nvPr/>
        </p:nvSpPr>
        <p:spPr>
          <a:xfrm>
            <a:off x="365760" y="4023360"/>
            <a:ext cx="5577840" cy="27432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Rate limiting: ventana deslizante en memoria (por proceso)</a:t>
            </a:r>
          </a:p>
          <a:p>
            <a:r>
              <a:rPr sz="1100">
                <a:solidFill>
                  <a:srgbClr val="F9E2AF"/>
                </a:solidFill>
                <a:latin typeface="Courier New"/>
              </a:rPr>
              <a:t>_rate_lock = Lock()        # thread-safe para workers Gunicorn</a:t>
            </a:r>
          </a:p>
          <a:p>
            <a:r>
              <a:rPr sz="1100">
                <a:solidFill>
                  <a:srgbClr val="CBD3F0"/>
                </a:solidFill>
                <a:latin typeface="Courier New"/>
              </a:rPr>
              <a:t>_rate_window = deque()     # timestamps de requests en la ventana</a:t>
            </a:r>
          </a:p>
          <a:p>
            <a:r>
              <a:rPr sz="1100">
                <a:solidFill>
                  <a:srgbClr val="CBD3F0"/>
                </a:solidFill>
                <a:latin typeface="Courier New"/>
              </a:rPr>
              <a:t/>
            </a:r>
          </a:p>
          <a:p>
            <a:r>
              <a:rPr sz="1100">
                <a:solidFill>
                  <a:srgbClr val="CBD3F0"/>
                </a:solidFill>
                <a:latin typeface="Courier New"/>
              </a:rPr>
              <a:t>def enforce_rate_limit():</a:t>
            </a:r>
          </a:p>
          <a:p>
            <a:r>
              <a:rPr sz="1100">
                <a:solidFill>
                  <a:srgbClr val="F9E2AF"/>
                </a:solidFill>
                <a:latin typeface="Courier New"/>
              </a:rPr>
              <a:t>    if not RATE_LIMIT_ENABLED: return  # OFF por defecto</a:t>
            </a:r>
          </a:p>
          <a:p>
            <a:r>
              <a:rPr sz="1100">
                <a:solidFill>
                  <a:srgbClr val="CBD3F0"/>
                </a:solidFill>
                <a:latin typeface="Courier New"/>
              </a:rPr>
              <a:t>    now = time.time()</a:t>
            </a:r>
          </a:p>
          <a:p>
            <a:r>
              <a:rPr sz="1100">
                <a:solidFill>
                  <a:srgbClr val="CBD3F0"/>
                </a:solidFill>
                <a:latin typeface="Courier New"/>
              </a:rPr>
              <a:t>    min_ts = now - 60.0    # ventana de 1 minuto</a:t>
            </a:r>
          </a:p>
          <a:p>
            <a:r>
              <a:rPr sz="1100">
                <a:solidFill>
                  <a:srgbClr val="CBD3F0"/>
                </a:solidFill>
                <a:latin typeface="Courier New"/>
              </a:rPr>
              <a:t>    with _rate_lock:       # mutex para evitar race condition</a:t>
            </a:r>
          </a:p>
          <a:p>
            <a:r>
              <a:rPr sz="1100">
                <a:solidFill>
                  <a:srgbClr val="F9E2AF"/>
                </a:solidFill>
                <a:latin typeface="Courier New"/>
              </a:rPr>
              <a:t>        while _rate_window and _rate_window[0] &lt; min_ts:</a:t>
            </a:r>
          </a:p>
          <a:p>
            <a:r>
              <a:rPr sz="1100">
                <a:solidFill>
                  <a:srgbClr val="CBD3F0"/>
                </a:solidFill>
                <a:latin typeface="Courier New"/>
              </a:rPr>
              <a:t>            _rate_window.popleft()  # expira timestamps viejos</a:t>
            </a:r>
          </a:p>
          <a:p>
            <a:r>
              <a:rPr sz="1100">
                <a:solidFill>
                  <a:srgbClr val="CBD3F0"/>
                </a:solidFill>
                <a:latin typeface="Courier New"/>
              </a:rPr>
              <a:t>        if len(_rate_window) &gt;= RATE_LIMIT_RPM:</a:t>
            </a:r>
          </a:p>
          <a:p>
            <a:r>
              <a:rPr sz="1100">
                <a:solidFill>
                  <a:srgbClr val="F9E2AF"/>
                </a:solidFill>
                <a:latin typeface="Courier New"/>
              </a:rPr>
              <a:t>            raise HTTPException(429, 'rate limit exceeded')</a:t>
            </a:r>
          </a:p>
          <a:p>
            <a:r>
              <a:rPr sz="1100">
                <a:solidFill>
                  <a:srgbClr val="CBD3F0"/>
                </a:solidFill>
                <a:latin typeface="Courier New"/>
              </a:rPr>
              <a:t>        _rate_window.append(now)</a:t>
            </a:r>
          </a:p>
          <a:p>
            <a:r>
              <a:rPr sz="1100">
                <a:solidFill>
                  <a:srgbClr val="CBD3F0"/>
                </a:solidFill>
                <a:latin typeface="Courier New"/>
              </a:rPr>
              <a:t/>
            </a:r>
          </a:p>
          <a:p>
            <a:r>
              <a:rPr sz="1100">
                <a:solidFill>
                  <a:srgbClr val="CBD3F0"/>
                </a:solidFill>
                <a:latin typeface="Courier New"/>
              </a:rPr>
              <a:t># Endpoint /profile — requiere JWT válido</a:t>
            </a:r>
          </a:p>
          <a:p>
            <a:r>
              <a:rPr sz="1100">
                <a:solidFill>
                  <a:srgbClr val="F9E2AF"/>
                </a:solidFill>
                <a:latin typeface="Courier New"/>
              </a:rPr>
              <a:t>def profile(user_id: int = 1, authorization: str | None = ...):</a:t>
            </a:r>
          </a:p>
          <a:p>
            <a:r>
              <a:rPr sz="1100">
                <a:solidFill>
                  <a:srgbClr val="F9E2AF"/>
                </a:solidFill>
                <a:latin typeface="Courier New"/>
              </a:rPr>
              <a:t>    enforce_rate_limit()        # 1. verifica límite</a:t>
            </a:r>
          </a:p>
          <a:p>
            <a:r>
              <a:rPr sz="1100">
                <a:solidFill>
                  <a:srgbClr val="CBD3F0"/>
                </a:solidFill>
                <a:latin typeface="Courier New"/>
              </a:rPr>
              <a:t>    claims = decode_token(authorization)  # 2. valida JWT</a:t>
            </a:r>
          </a:p>
          <a:p>
            <a:r>
              <a:rPr sz="1100">
                <a:solidFill>
                  <a:srgbClr val="CBD3F0"/>
                </a:solidFill>
                <a:latin typeface="Courier New"/>
              </a:rPr>
              <a:t>    # 3. llama data-service y mide latencia downstream:</a:t>
            </a:r>
          </a:p>
          <a:p>
            <a:r>
              <a:rPr sz="1100">
                <a:solidFill>
                  <a:srgbClr val="CBD3F0"/>
                </a:solidFill>
                <a:latin typeface="Courier New"/>
              </a:rPr>
              <a:t>    resp = requests.get(f'{DATA_SERVICE_URL}/users/{user_id}')</a:t>
            </a:r>
          </a:p>
          <a:p>
            <a:r>
              <a:rPr sz="1100">
                <a:solidFill>
                  <a:srgbClr val="F9E2AF"/>
                </a:solidFill>
                <a:latin typeface="Courier New"/>
              </a:rPr>
              <a:t>    DOWNSTREAM_REQUEST_DURATION_SECONDS.labels(</a:t>
            </a:r>
          </a:p>
          <a:p>
            <a:r>
              <a:rPr sz="1100">
                <a:solidFill>
                  <a:srgbClr val="CBD3F0"/>
                </a:solidFill>
                <a:latin typeface="Courier New"/>
              </a:rPr>
              <a:t>        downstream='data-service', ...).observe(elapsed)</a:t>
            </a:r>
          </a:p>
          <a:p>
            <a:r>
              <a:rPr sz="1100">
                <a:solidFill>
                  <a:srgbClr val="CBD3F0"/>
                </a:solidFill>
                <a:latin typeface="Courier New"/>
              </a:rPr>
              <a:t>    # 4. combina claims + datos del usuario y retorna</a:t>
            </a:r>
          </a:p>
          <a:p>
            <a:r>
              <a:rPr sz="1100">
                <a:solidFill>
                  <a:srgbClr val="CBD3F0"/>
                </a:solidFill>
                <a:latin typeface="Courier New"/>
              </a:rPr>
              <a:t>    return {'authenticated_as': claims['sub'], 'user': payload['data']}</a:t>
            </a:r>
          </a:p>
        </p:txBody>
      </p:sp>
      <p:sp>
        <p:nvSpPr>
          <p:cNvPr id="7" name="Rectangle 6"/>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decode_token() — validación JWT</a:t>
            </a:r>
          </a:p>
          <a:p>
            <a:r>
              <a:rPr sz="1000">
                <a:solidFill>
                  <a:srgbClr val="555555"/>
                </a:solidFill>
              </a:rPr>
              <a:t>def decode_token(authorization):
  if not authorization or \
     not authorization.startswith('Bearer '):
    raise HTTPException(401, 'missing bearer token')
  token = authorization.split(' ', 1)[1]
  try:
    return jwt.decode(
      token, JWT_SECRET,
      algorithms=['HS256'])
  except jwt.PyJWTError as exc:
    raise HTTPException(401, ...)
split(' ', 1) → máximo 1 split,
maneja 'Bearer token con espacios'
sin romper el valor del token.</a:t>
            </a:r>
          </a:p>
        </p:txBody>
      </p:sp>
      <p:sp>
        <p:nvSpPr>
          <p:cNvPr id="8" name="Rectangle 7"/>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Endpoints expuestos</a:t>
            </a:r>
          </a:p>
          <a:p>
            <a:r>
              <a:rPr sz="1000">
                <a:solidFill>
                  <a:srgbClr val="555555"/>
                </a:solidFill>
              </a:rPr>
              <a:t>GET  /health
  → {status: ok, service: api-service}
GET  /metrics
  → Prometheus text format
  → scrapeado por mubench-sm
GET  /profile?user_id=N
  → JWT req · downstream data-svc
  → {authenticated_as, user, db_latency}
GET  /users?limit=N&amp;offset=M
  → JWT req · downstream data-svc
  → {users[], count, limit, offset}
POST /users
  body: {username, email}
  → JWT req · downstream data-svc
  → {user, db_latency_ms}</a:t>
            </a:r>
          </a:p>
        </p:txBody>
      </p:sp>
      <p:sp>
        <p:nvSpPr>
          <p:cNvPr id="9" name="Rectangle 8"/>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Pydantic + EmailStr</a:t>
            </a:r>
          </a:p>
          <a:p>
            <a:r>
              <a:rPr sz="1000">
                <a:solidFill>
                  <a:srgbClr val="555555"/>
                </a:solidFill>
              </a:rPr>
              <a:t>class CreateUserRequest(BaseModel):
  username: str
  email: EmailStr
EmailStr valida que el email sea
formato válido antes de enviarlo
a data-service.
Si el email es inválido:
  → FastAPI devuelve 422
  → sin llegar a data-service
  → validación en boundary
FastAPI genera automáticamente
el schema JSON de /docs (#/swagger)
basado en los BaseModel.</a:t>
            </a:r>
          </a:p>
        </p:txBody>
      </p:sp>
      <p:sp>
        <p:nvSpPr>
          <p:cNvPr id="10" name="Rectangle 9"/>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HTTPException 503 — circuit breaker</a:t>
            </a:r>
          </a:p>
          <a:p>
            <a:r>
              <a:rPr sz="1000">
                <a:solidFill>
                  <a:srgbClr val="555555"/>
                </a:solidFill>
              </a:rPr>
              <a:t>Para cada call a data-service:
  try:
    resp = requests.get(
      DATA_SERVICE_URL, timeout=3)
  except requests.RequestException:
    raise HTTPException(503,
      'data-service unavailable')
timeout=3s: evita que un data-service
lento bloquee workers de api-service.
503 vs 500:
  503 = el servicio upstream caído
  500 = error interno de api-service
k6 puede filtrar 503 para detectar
fallos de data-service específicamente.</a:t>
            </a:r>
          </a:p>
        </p:txBody>
      </p:sp>
      <p:sp>
        <p:nvSpPr>
          <p:cNvPr id="11" name="Rectangle 10"/>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DOWNSTREAM Histogram — para qué sirve</a:t>
            </a:r>
          </a:p>
          <a:p>
            <a:r>
              <a:rPr sz="1000">
                <a:solidFill>
                  <a:srgbClr val="555555"/>
                </a:solidFill>
              </a:rPr>
              <a:t>mubench_downstream_request_duration
_seconds{service, downstream,
          method, path}
Permite en Grafana separar:
  histogram_quantile(0.95,
    rate(mubench_downstream...
    {downstream='data-service'}[5m]))
Si p95 total sube, esta métrica
dice si el cuello de botella es:
  → data-service (p95 downstream alto)
  → api-service (p95 downstream bajo,
    p95 total alto)
Descomposición de latencia por tramo
sin necesidad de Jaeger/tracing.</a:t>
            </a:r>
          </a:p>
        </p:txBody>
      </p:sp>
      <p:sp>
        <p:nvSpPr>
          <p:cNvPr id="12" name="Rectangle 11"/>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status = '500' como default pesimista</a:t>
            </a:r>
          </a:p>
          <a:p>
            <a:r>
              <a:rPr sz="1000">
                <a:solidFill>
                  <a:srgbClr val="555555"/>
                </a:solidFill>
              </a:rPr>
              <a:t>El middleware inicializa:
  status = '500'
Luego en el try:
  response = await call_next(...)
  status = str(response.status_code)
Si call_next lanza excepción
(ej: error interno no manejado),
el finally se ejecuta igualmente
y registra status='500'.
Sin esto, si hay una excepción
no capturada, el Counter no se
incrementa y se pierde el evento.
Patrón seguro para métricas en
middleware async de FastAPI.</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api-service (realistic) vs CellController (synthetic) — comparativa</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FastAPI vs Flask · JWT vs sin-auth · PostgreSQL vs run_internal_service · workmodel.json vs ENV vars · métricas mubench_* vs mub_*</a:t>
            </a:r>
          </a:p>
        </p:txBody>
      </p:sp>
      <p:sp>
        <p:nvSpPr>
          <p:cNvPr id="5" name="Rectangle 4"/>
          <p:cNvSpPr/>
          <p:nvPr/>
        </p:nvSpPr>
        <p:spPr>
          <a:xfrm>
            <a:off x="365760" y="1143000"/>
            <a:ext cx="5577840" cy="22860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CellController-mp.py — microservicio SINTÉTICO</a:t>
            </a:r>
          </a:p>
          <a:p>
            <a:r>
              <a:rPr sz="1100">
                <a:solidFill>
                  <a:srgbClr val="F9E2AF"/>
                </a:solidFill>
                <a:latin typeface="Courier New"/>
              </a:rPr>
              <a:t># (ServiceCell/CellController-mp.py)</a:t>
            </a:r>
          </a:p>
          <a:p>
            <a:r>
              <a:rPr sz="1100">
                <a:solidFill>
                  <a:srgbClr val="CBD3F0"/>
                </a:solidFill>
                <a:latin typeface="Courier New"/>
              </a:rPr>
              <a:t/>
            </a:r>
          </a:p>
          <a:p>
            <a:r>
              <a:rPr sz="1100">
                <a:solidFill>
                  <a:srgbClr val="CBD3F0"/>
                </a:solidFill>
                <a:latin typeface="Courier New"/>
              </a:rPr>
              <a:t>app = Flask(__name__)           # Flask (síncrono)</a:t>
            </a:r>
          </a:p>
          <a:p>
            <a:r>
              <a:rPr sz="1100">
                <a:solidFill>
                  <a:srgbClr val="CBD3F0"/>
                </a:solidFill>
                <a:latin typeface="Courier New"/>
              </a:rPr>
              <a:t>ID   = os.environ['APP']        # identidad dinámica</a:t>
            </a:r>
          </a:p>
          <a:p>
            <a:r>
              <a:rPr sz="1100">
                <a:solidFill>
                  <a:srgbClr val="CBD3F0"/>
                </a:solidFill>
                <a:latin typeface="Courier New"/>
              </a:rPr>
              <a:t>ZONE = os.environ['ZONE']       # zona K8s</a:t>
            </a:r>
          </a:p>
          <a:p>
            <a:r>
              <a:rPr sz="1100">
                <a:solidFill>
                  <a:srgbClr val="CBD3F0"/>
                </a:solidFill>
                <a:latin typeface="Courier New"/>
              </a:rPr>
              <a:t/>
            </a:r>
          </a:p>
          <a:p>
            <a:r>
              <a:rPr sz="1100">
                <a:solidFill>
                  <a:srgbClr val="CBD3F0"/>
                </a:solidFill>
                <a:latin typeface="Courier New"/>
              </a:rPr>
              <a:t>globalDict['work_model'] = read_config_files()</a:t>
            </a:r>
          </a:p>
          <a:p>
            <a:r>
              <a:rPr sz="1100">
                <a:solidFill>
                  <a:srgbClr val="F9E2AF"/>
                </a:solidFill>
                <a:latin typeface="Courier New"/>
              </a:rPr>
              <a:t># ↑ Lee MSConfig/workmodel.json en tiempo de arranque.</a:t>
            </a:r>
          </a:p>
          <a:p>
            <a:r>
              <a:rPr sz="1100">
                <a:solidFill>
                  <a:srgbClr val="CBD3F0"/>
                </a:solidFill>
                <a:latin typeface="Courier New"/>
              </a:rPr>
              <a:t># Define: qué internal service ejecutar (stress CPU/mem)</a:t>
            </a:r>
          </a:p>
          <a:p>
            <a:r>
              <a:rPr sz="1100">
                <a:solidFill>
                  <a:srgbClr val="CBD3F0"/>
                </a:solidFill>
                <a:latin typeface="Courier New"/>
              </a:rPr>
              <a:t>#         qué external services llamar (service graph)</a:t>
            </a:r>
          </a:p>
          <a:p>
            <a:r>
              <a:rPr sz="1100">
                <a:solidFill>
                  <a:srgbClr val="CBD3F0"/>
                </a:solidFill>
                <a:latin typeface="Courier New"/>
              </a:rPr>
              <a:t>#         qué path exponer (/api/v1 genérico)</a:t>
            </a:r>
          </a:p>
          <a:p>
            <a:r>
              <a:rPr sz="1100">
                <a:solidFill>
                  <a:srgbClr val="CBD3F0"/>
                </a:solidFill>
                <a:latin typeface="Courier New"/>
              </a:rPr>
              <a:t/>
            </a:r>
          </a:p>
          <a:p>
            <a:r>
              <a:rPr sz="1100">
                <a:solidFill>
                  <a:srgbClr val="CBD3F0"/>
                </a:solidFill>
                <a:latin typeface="Courier New"/>
              </a:rPr>
              <a:t>@app.route(globalDict['work_model'][ID]['path'])</a:t>
            </a:r>
          </a:p>
          <a:p>
            <a:r>
              <a:rPr sz="1100">
                <a:solidFill>
                  <a:srgbClr val="F9E2AF"/>
                </a:solidFill>
                <a:latin typeface="Courier New"/>
              </a:rPr>
              <a:t>def start_worker():</a:t>
            </a:r>
          </a:p>
          <a:p>
            <a:r>
              <a:rPr sz="1100">
                <a:solidFill>
                  <a:srgbClr val="CBD3F0"/>
                </a:solidFill>
                <a:latin typeface="Courier New"/>
              </a:rPr>
              <a:t>    body = run_internal_service(my_internal_service)</a:t>
            </a:r>
          </a:p>
          <a:p>
            <a:r>
              <a:rPr sz="1100">
                <a:solidFill>
                  <a:srgbClr val="F9E2AF"/>
                </a:solidFill>
                <a:latin typeface="Courier New"/>
              </a:rPr>
              <a:t>    # ↑ Simula trabajo: bucle CPU / allocate memoria / sleep</a:t>
            </a:r>
          </a:p>
          <a:p>
            <a:r>
              <a:rPr sz="1100">
                <a:solidFill>
                  <a:srgbClr val="CBD3F0"/>
                </a:solidFill>
                <a:latin typeface="Courier New"/>
              </a:rPr>
              <a:t>    service_error_dict = run_external_service(</a:t>
            </a:r>
          </a:p>
          <a:p>
            <a:r>
              <a:rPr sz="1100">
                <a:solidFill>
                  <a:srgbClr val="F9E2AF"/>
                </a:solidFill>
                <a:latin typeface="Courier New"/>
              </a:rPr>
              <a:t>        my_service_graph, globalDict['work_model'], ...)</a:t>
            </a:r>
          </a:p>
          <a:p>
            <a:r>
              <a:rPr sz="1100">
                <a:solidFill>
                  <a:srgbClr val="CBD3F0"/>
                </a:solidFill>
                <a:latin typeface="Courier New"/>
              </a:rPr>
              <a:t>    # ↑ Llama en paralelo a los servicios del service graph</a:t>
            </a:r>
          </a:p>
          <a:p>
            <a:r>
              <a:rPr sz="1100">
                <a:solidFill>
                  <a:srgbClr val="CBD3F0"/>
                </a:solidFill>
                <a:latin typeface="Courier New"/>
              </a:rPr>
              <a:t>    # Sin JWT, sin validación, sin DB real.</a:t>
            </a:r>
          </a:p>
          <a:p>
            <a:r>
              <a:rPr sz="1100">
                <a:solidFill>
                  <a:srgbClr val="CBD3F0"/>
                </a:solidFill>
                <a:latin typeface="Courier New"/>
              </a:rPr>
              <a:t>    # gRPC O REST según workmodel.json → request_method</a:t>
            </a:r>
          </a:p>
        </p:txBody>
      </p:sp>
      <p:sp>
        <p:nvSpPr>
          <p:cNvPr id="6" name="Rectangle 5"/>
          <p:cNvSpPr/>
          <p:nvPr/>
        </p:nvSpPr>
        <p:spPr>
          <a:xfrm>
            <a:off x="365760" y="3566160"/>
            <a:ext cx="5577840" cy="32004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Tabla comparativa: realistic vs synthetic</a:t>
            </a:r>
          </a:p>
          <a:p>
            <a:r>
              <a:rPr sz="1100">
                <a:solidFill>
                  <a:srgbClr val="F9E2AF"/>
                </a:solidFill>
                <a:latin typeface="Courier New"/>
              </a:rPr>
              <a:t>#</a:t>
            </a:r>
          </a:p>
          <a:p>
            <a:r>
              <a:rPr sz="1100">
                <a:solidFill>
                  <a:srgbClr val="CBD3F0"/>
                </a:solidFill>
                <a:latin typeface="Courier New"/>
              </a:rPr>
              <a:t># Aspecto               api-service           CellController</a:t>
            </a:r>
          </a:p>
          <a:p>
            <a:r>
              <a:rPr sz="1100">
                <a:solidFill>
                  <a:srgbClr val="F9E2AF"/>
                </a:solidFill>
                <a:latin typeface="Courier New"/>
              </a:rPr>
              <a:t># ─────────────────────────────────────────────────────────</a:t>
            </a:r>
          </a:p>
          <a:p>
            <a:r>
              <a:rPr sz="1100">
                <a:solidFill>
                  <a:srgbClr val="CBD3F0"/>
                </a:solidFill>
                <a:latin typeface="Courier New"/>
              </a:rPr>
              <a:t># Framework             FastAPI (async)       Flask (sync)</a:t>
            </a:r>
          </a:p>
          <a:p>
            <a:r>
              <a:rPr sz="1100">
                <a:solidFill>
                  <a:srgbClr val="CBD3F0"/>
                </a:solidFill>
                <a:latin typeface="Courier New"/>
              </a:rPr>
              <a:t># Configuración         ENV vars (fijas)      workmodel.json (dinámico)</a:t>
            </a:r>
          </a:p>
          <a:p>
            <a:r>
              <a:rPr sz="1100">
                <a:solidFill>
                  <a:srgbClr val="CBD3F0"/>
                </a:solidFill>
                <a:latin typeface="Courier New"/>
              </a:rPr>
              <a:t># Lógica de negocio     JWT + CRUD real        run_internal_service()</a:t>
            </a:r>
          </a:p>
          <a:p>
            <a:r>
              <a:rPr sz="1100">
                <a:solidFill>
                  <a:srgbClr val="CBD3F0"/>
                </a:solidFill>
                <a:latin typeface="Courier New"/>
              </a:rPr>
              <a:t># Autenticación         HS256 JWT              ninguna</a:t>
            </a:r>
          </a:p>
          <a:p>
            <a:r>
              <a:rPr sz="1100">
                <a:solidFill>
                  <a:srgbClr val="CBD3F0"/>
                </a:solidFill>
                <a:latin typeface="Courier New"/>
              </a:rPr>
              <a:t># Base de datos         PostgreSQL real        ninguna (stress simulado)</a:t>
            </a:r>
          </a:p>
          <a:p>
            <a:r>
              <a:rPr sz="1100">
                <a:solidFill>
                  <a:srgbClr val="CBD3F0"/>
                </a:solidFill>
                <a:latin typeface="Courier New"/>
              </a:rPr>
              <a:t># Service graph         hardcoded (data-svc)  JSON: N servicios en grupos</a:t>
            </a:r>
          </a:p>
          <a:p>
            <a:r>
              <a:rPr sz="1100">
                <a:solidFill>
                  <a:srgbClr val="CBD3F0"/>
                </a:solidFill>
                <a:latin typeface="Courier New"/>
              </a:rPr>
              <a:t># Protocolo             REST solo              REST + gRPC</a:t>
            </a:r>
          </a:p>
          <a:p>
            <a:r>
              <a:rPr sz="1100">
                <a:solidFill>
                  <a:srgbClr val="CBD3F0"/>
                </a:solidFill>
                <a:latin typeface="Courier New"/>
              </a:rPr>
              <a:t># Tracing headers       no                     sí (Jaeger B3 propagation)</a:t>
            </a:r>
          </a:p>
          <a:p>
            <a:r>
              <a:rPr sz="1100">
                <a:solidFill>
                  <a:srgbClr val="CBD3F0"/>
                </a:solidFill>
                <a:latin typeface="Courier New"/>
              </a:rPr>
              <a:t># Métricas              mubench_* (segundos)   mub_* (milisegundos)</a:t>
            </a:r>
          </a:p>
          <a:p>
            <a:r>
              <a:rPr sz="1100">
                <a:solidFill>
                  <a:srgbClr val="CBD3F0"/>
                </a:solidFill>
                <a:latin typeface="Courier New"/>
              </a:rPr>
              <a:t># Histograma buckets    default Prometheus     custom: [0.5,1,10,100,...]ms</a:t>
            </a:r>
          </a:p>
          <a:p>
            <a:r>
              <a:rPr sz="1100">
                <a:solidFill>
                  <a:srgbClr val="CBD3F0"/>
                </a:solidFill>
                <a:latin typeface="Courier New"/>
              </a:rPr>
              <a:t># Multiprocess metrics  no                     sí (gunicorn + CollectorRegistry)</a:t>
            </a:r>
          </a:p>
          <a:p>
            <a:r>
              <a:rPr sz="1100">
                <a:solidFill>
                  <a:srgbClr val="CBD3F0"/>
                </a:solidFill>
                <a:latin typeface="Courier New"/>
              </a:rPr>
              <a:t># Path dinámico         /profile, /users       configurable via workmodel</a:t>
            </a:r>
          </a:p>
          <a:p>
            <a:r>
              <a:rPr sz="1100">
                <a:solidFill>
                  <a:srgbClr val="CBD3F0"/>
                </a:solidFill>
                <a:latin typeface="Courier New"/>
              </a:rPr>
              <a:t># Error handling        HTTPException 4xx/5xx  json + 500 genérico</a:t>
            </a:r>
          </a:p>
          <a:p>
            <a:r>
              <a:rPr sz="1100">
                <a:solidFill>
                  <a:srgbClr val="CBD3F0"/>
                </a:solidFill>
                <a:latin typeface="Courier New"/>
              </a:rPr>
              <a:t># ─────────────────────────────────────────────────────────</a:t>
            </a:r>
          </a:p>
          <a:p>
            <a:r>
              <a:rPr sz="1100">
                <a:solidFill>
                  <a:srgbClr val="CBD3F0"/>
                </a:solidFill>
                <a:latin typeface="Courier New"/>
              </a:rPr>
              <a:t># CUÁNDO usar realistic: simular app real con auth y DB</a:t>
            </a:r>
          </a:p>
          <a:p>
            <a:r>
              <a:rPr sz="1100">
                <a:solidFill>
                  <a:srgbClr val="F9E2AF"/>
                </a:solidFill>
                <a:latin typeface="Courier New"/>
              </a:rPr>
              <a:t># CUÁNDO usar synthetic: benchmark controlado (latencia artificial)</a:t>
            </a:r>
          </a:p>
        </p:txBody>
      </p:sp>
      <p:sp>
        <p:nvSpPr>
          <p:cNvPr id="7" name="Rectangle 6"/>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run_internal_service() — el corazón sintético</a:t>
            </a:r>
          </a:p>
          <a:p>
            <a:r>
              <a:rPr sz="1000">
                <a:solidFill>
                  <a:srgbClr val="555555"/>
                </a:solidFill>
              </a:rPr>
              <a:t>InternalServiceExecutor.py:
Tipos de trabajo configurable:
  sleep: time.sleep(N ms)
    → simula latencia de red/IO
  cpu: bucle computacional
    → simula carga de CPU
  memory: allocate lista grande
    → simula presión de memoria
  custom: función Python
    → CustomFunctions/
    → Colosseum.py, Loader.py
NO hay lógica real.
El 'resultado' es siempre el
mismo cuerpo de respuesta.</a:t>
            </a:r>
          </a:p>
        </p:txBody>
      </p:sp>
      <p:sp>
        <p:nvSpPr>
          <p:cNvPr id="8" name="Rectangle 7"/>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workmodel.json vs ENV vars</a:t>
            </a:r>
          </a:p>
          <a:p>
            <a:r>
              <a:rPr sz="1000">
                <a:solidFill>
                  <a:srgbClr val="555555"/>
                </a:solidFill>
              </a:rPr>
              <a:t>Sintético (workmodel.json):
  {
    's0': {
      'path': '/api/v1',
      'internal_service': {
        'sleep': {'mean_ms': 10}
      },
      'external_services': [
        {'services': ['s1']}
      ]
    }
  }
Realistic (ENV vars):
  JWT_SECRET=mubench-dev-secret
  DATA_SERVICE_URL=http://...
  RATE_LIMIT_ENABLED=true
  → comportamiento fijo en el código</a:t>
            </a:r>
          </a:p>
        </p:txBody>
      </p:sp>
      <p:sp>
        <p:nvSpPr>
          <p:cNvPr id="9" name="Rectangle 8"/>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Métricas: unidades diferentes</a:t>
            </a:r>
          </a:p>
          <a:p>
            <a:r>
              <a:rPr sz="1000">
                <a:solidFill>
                  <a:srgbClr val="555555"/>
                </a:solidFill>
              </a:rPr>
              <a:t>CellController usa MILISEGUNDOS:
  mub_internal_processing_latency
  _milliseconds (Summary)
  mub_request_processing_latency
  _milliseconds_bucket (Histogram)
  buckets: [0.5, 1, 10, 100, ...]
api-service usa SEGUNDOS:
  mubench_http_request_duration
  _seconds (Histogram)
  buckets: default Prometheus
  [0.005, 0.01, 0.025, 0.05, ...]
Al comparar en Grafana hay que
normalizar: ×1000 para sintético
o ÷1000 para realistic.</a:t>
            </a:r>
          </a:p>
        </p:txBody>
      </p:sp>
      <p:sp>
        <p:nvSpPr>
          <p:cNvPr id="10" name="Rectangle 9"/>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gRPC en CellController</a:t>
            </a:r>
          </a:p>
          <a:p>
            <a:r>
              <a:rPr sz="1000">
                <a:solidFill>
                  <a:srgbClr val="555555"/>
                </a:solidFill>
              </a:rPr>
              <a:t>CellController soporta gRPC:
  mub.proto define:
    service MuBench {
      rpc ExecuteService(
        MuRequest)
      returns (MuReply);
    }
  Si workmodel.json define:
    'request_method': 'grpc'
  → ExternalServiceExecutor.py
    usa grpc.insecure_channel()
api-service NO tiene gRPC.
Solo REST con requests library.
gRPC permite comparar overhead
HTTP/1.1 vs HTTP/2 en benchmarks.</a:t>
            </a:r>
          </a:p>
        </p:txBody>
      </p:sp>
      <p:sp>
        <p:nvSpPr>
          <p:cNvPr id="11" name="Rectangle 10"/>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Jaeger tracing en CellController</a:t>
            </a:r>
          </a:p>
          <a:p>
            <a:r>
              <a:rPr sz="1000">
                <a:solidFill>
                  <a:srgbClr val="555555"/>
                </a:solidFill>
              </a:rPr>
              <a:t>CellController propaga headers B3:
  jaeger_headers_list = [
    'x-b3-traceid',
    'x-b3-spanid',
    'x-b3-parentspanid',
    'traceparent',
    ...
  ]
Al recibir una request, copia
estos headers al llamar a los
external services.
Así Jaeger reconstruye el trace
completo: s0 → s1 → sdb1.
api-service NO hace esto.
Solo Istio sidecar propaga
headers automáticamente.</a:t>
            </a:r>
          </a:p>
        </p:txBody>
      </p:sp>
      <p:sp>
        <p:nvSpPr>
          <p:cNvPr id="12" name="Rectangle 11"/>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¿Cuándo usar cada uno?</a:t>
            </a:r>
          </a:p>
          <a:p>
            <a:r>
              <a:rPr sz="1000">
                <a:solidFill>
                  <a:srgbClr val="555555"/>
                </a:solidFill>
              </a:rPr>
              <a:t>Usar SYNTHETIC (ServiceCell):
  ✓ Benchmark de infra (NGINX, Istio)
  ✓ Comparar topologías de malla
  ✓ Latencia artificial controlada
  ✓ Service graph complejo (N nodos)
  ✓ Overhead de gRPC vs REST
  ✓ Análisis de network policies
Usar REALISTIC (api-service):
  ✓ Simular workload real (web app)
  ✓ Overhead de JWT en cada request
  ✓ Impacto de DB en latencia
  ✓ Rate limiting real
  ✓ Comparar gateways en escenario
    cercano a producción
  ✓ Experiments C1-C4 del proyecto</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144000" cy="1097280"/>
          </a:xfrm>
          <a:prstGeom prst="rect">
            <a:avLst/>
          </a:prstGeom>
          <a:noFill/>
        </p:spPr>
        <p:txBody>
          <a:bodyPr wrap="none">
            <a:spAutoFit/>
          </a:bodyPr>
          <a:lstStyle/>
          <a:p>
            <a:pPr algn="ctr"/>
            <a:r>
              <a:rPr sz="3800" b="1">
                <a:solidFill>
                  <a:srgbClr val="FFFFFF"/>
                </a:solidFill>
              </a:rPr>
              <a:t>RealisticWorkspace/ — versión sintética del stack realistic</a:t>
            </a:r>
          </a:p>
        </p:txBody>
      </p:sp>
      <p:sp>
        <p:nvSpPr>
          <p:cNvPr id="4" name="TextBox 3"/>
          <p:cNvSpPr txBox="1"/>
          <p:nvPr/>
        </p:nvSpPr>
        <p:spPr>
          <a:xfrm>
            <a:off x="1371600" y="3566160"/>
            <a:ext cx="9144000" cy="731520"/>
          </a:xfrm>
          <a:prstGeom prst="rect">
            <a:avLst/>
          </a:prstGeom>
          <a:noFill/>
        </p:spPr>
        <p:txBody>
          <a:bodyPr wrap="none">
            <a:spAutoFit/>
          </a:bodyPr>
          <a:lstStyle/>
          <a:p>
            <a:pPr algn="ctr"/>
            <a:r>
              <a:rPr sz="1800">
                <a:solidFill>
                  <a:srgbClr val="D0E8FF"/>
                </a:solidFill>
              </a:rPr>
              <a:t>msvcbench/microservice:latest · ApiFunction · AuthFunction · DataFunction · workmodel.json · ConfigMap · NGINX gw-nginx :31213</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RealisticWorkspace/ — stack sintético del escenario realistic</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K8sDeployer + RealisticWorkModelParameters.json → yamls/ · ConfigMapWorkmodel · ConfigMapInternalServices · NGINX gw-nginx :31213</a:t>
            </a:r>
          </a:p>
        </p:txBody>
      </p:sp>
      <p:sp>
        <p:nvSpPr>
          <p:cNvPr id="5" name="Rectangle 4"/>
          <p:cNvSpPr/>
          <p:nvPr/>
        </p:nvSpPr>
        <p:spPr>
          <a:xfrm>
            <a:off x="365760" y="1143000"/>
            <a:ext cx="5577840" cy="22860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Contenido de RealisticWorkspace/ (generado por el Deployer)</a:t>
            </a:r>
          </a:p>
          <a:p>
            <a:r>
              <a:rPr sz="1100">
                <a:solidFill>
                  <a:srgbClr val="F9E2AF"/>
                </a:solidFill>
                <a:latin typeface="Courier New"/>
              </a:rPr>
              <a:t>#</a:t>
            </a:r>
          </a:p>
          <a:p>
            <a:r>
              <a:rPr sz="1100">
                <a:solidFill>
                  <a:srgbClr val="CBD3F0"/>
                </a:solidFill>
                <a:latin typeface="Courier New"/>
              </a:rPr>
              <a:t># RealisticWorkspace/</a:t>
            </a:r>
          </a:p>
          <a:p>
            <a:r>
              <a:rPr sz="1100">
                <a:solidFill>
                  <a:srgbClr val="CBD3F0"/>
                </a:solidFill>
                <a:latin typeface="Courier New"/>
              </a:rPr>
              <a:t>#   workmodel.json              ← fuente de verdad: comportamiento de api/auth/sdb-data</a:t>
            </a:r>
          </a:p>
          <a:p>
            <a:r>
              <a:rPr sz="1100">
                <a:solidFill>
                  <a:srgbClr val="F9E2AF"/>
                </a:solidFill>
                <a:latin typeface="Courier New"/>
              </a:rPr>
              <a:t>#   servicegraph.json           ← topología: api→auth, api→sdb-data</a:t>
            </a:r>
          </a:p>
          <a:p>
            <a:r>
              <a:rPr sz="1100">
                <a:solidFill>
                  <a:srgbClr val="F9E2AF"/>
                </a:solidFill>
                <a:latin typeface="Courier New"/>
              </a:rPr>
              <a:t>#   yamls/                      ← manifests K8s generados por K8sDeployer</a:t>
            </a:r>
          </a:p>
          <a:p>
            <a:r>
              <a:rPr sz="1100">
                <a:solidFill>
                  <a:srgbClr val="CBD3F0"/>
                </a:solidFill>
                <a:latin typeface="Courier New"/>
              </a:rPr>
              <a:t>#     realistic-ConfigMapWorkmodel.yaml      ← workmodel.json como ConfigMap</a:t>
            </a:r>
          </a:p>
          <a:p>
            <a:r>
              <a:rPr sz="1100">
                <a:solidFill>
                  <a:srgbClr val="F9E2AF"/>
                </a:solidFill>
                <a:latin typeface="Courier New"/>
              </a:rPr>
              <a:t>#     realistic-ConfigMapInternalServices.yaml ← AuthFunction/ApiFunction/DataFunction.py</a:t>
            </a:r>
          </a:p>
          <a:p>
            <a:r>
              <a:rPr sz="1100">
                <a:solidFill>
                  <a:srgbClr val="F9E2AF"/>
                </a:solidFill>
                <a:latin typeface="Courier New"/>
              </a:rPr>
              <a:t>#     realistic-00100-Deployment-auth.yaml   ← msvcbench/microservice:latest + ENV APP=auth</a:t>
            </a:r>
          </a:p>
          <a:p>
            <a:r>
              <a:rPr sz="1100">
                <a:solidFill>
                  <a:srgbClr val="CBD3F0"/>
                </a:solidFill>
                <a:latin typeface="Courier New"/>
              </a:rPr>
              <a:t>#     realistic-00100-Service-auth.yaml      ← ClusterIP :80/:443/gRPC</a:t>
            </a:r>
          </a:p>
          <a:p>
            <a:r>
              <a:rPr sz="1100">
                <a:solidFill>
                  <a:srgbClr val="CBD3F0"/>
                </a:solidFill>
                <a:latin typeface="Courier New"/>
              </a:rPr>
              <a:t>#     realistic-00100-Deployment-sdb-data.yaml</a:t>
            </a:r>
          </a:p>
          <a:p>
            <a:r>
              <a:rPr sz="1100">
                <a:solidFill>
                  <a:srgbClr val="CBD3F0"/>
                </a:solidFill>
                <a:latin typeface="Courier New"/>
              </a:rPr>
              <a:t>#     realistic-00100-Service-sdb-data.yaml</a:t>
            </a:r>
          </a:p>
          <a:p>
            <a:r>
              <a:rPr sz="1100">
                <a:solidFill>
                  <a:srgbClr val="CBD3F0"/>
                </a:solidFill>
                <a:latin typeface="Courier New"/>
              </a:rPr>
              <a:t>#     realistic-00200-Deployment-api.yaml    ← msvcbench/microservice:latest + ENV APP=api</a:t>
            </a:r>
          </a:p>
          <a:p>
            <a:r>
              <a:rPr sz="1100">
                <a:solidFill>
                  <a:srgbClr val="CBD3F0"/>
                </a:solidFill>
                <a:latin typeface="Courier New"/>
              </a:rPr>
              <a:t>#     realistic-00200-Service-api.yaml</a:t>
            </a:r>
          </a:p>
          <a:p>
            <a:r>
              <a:rPr sz="1100">
                <a:solidFill>
                  <a:srgbClr val="CBD3F0"/>
                </a:solidFill>
                <a:latin typeface="Courier New"/>
              </a:rPr>
              <a:t>#     realistic-ConfigMapNginxGw.yaml        ← nginx.conf: proxy_pass a mubench-realistic</a:t>
            </a:r>
          </a:p>
          <a:p>
            <a:r>
              <a:rPr sz="1100">
                <a:solidFill>
                  <a:srgbClr val="CBD3F0"/>
                </a:solidFill>
                <a:latin typeface="Courier New"/>
              </a:rPr>
              <a:t>#     realistic-DeploymentNginxGw.yaml       ← gw-nginx NodePort :31213</a:t>
            </a:r>
          </a:p>
          <a:p>
            <a:r>
              <a:rPr sz="1100">
                <a:solidFill>
                  <a:srgbClr val="CBD3F0"/>
                </a:solidFill>
                <a:latin typeface="Courier New"/>
              </a:rPr>
              <a:t>#   hpa/                        ← HPA por servicio (api: 1-20, auth/sdb: 1-10)</a:t>
            </a:r>
          </a:p>
          <a:p>
            <a:r>
              <a:rPr sz="1100">
                <a:solidFill>
                  <a:srgbClr val="CBD3F0"/>
                </a:solidFill>
                <a:latin typeface="Courier New"/>
              </a:rPr>
              <a:t>#   affinity-yamls/             ← versión con nodeAffinity para 05-topology-affinity</a:t>
            </a:r>
          </a:p>
          <a:p>
            <a:r>
              <a:rPr sz="1100">
                <a:solidFill>
                  <a:srgbClr val="CBD3F0"/>
                </a:solidFill>
                <a:latin typeface="Courier New"/>
              </a:rPr>
              <a:t>#</a:t>
            </a:r>
          </a:p>
          <a:p>
            <a:r>
              <a:rPr sz="1100">
                <a:solidFill>
                  <a:srgbClr val="F9E2AF"/>
                </a:solidFill>
                <a:latin typeface="Courier New"/>
              </a:rPr>
              <a:t># TODOS usan la misma imagen: msvcbench/microservice:latest (CellController-mp.py)</a:t>
            </a:r>
          </a:p>
          <a:p>
            <a:r>
              <a:rPr sz="1100">
                <a:solidFill>
                  <a:srgbClr val="F9E2AF"/>
                </a:solidFill>
                <a:latin typeface="Courier New"/>
              </a:rPr>
              <a:t># La diferencia está en workmodel.json + internal-services ConfigMap</a:t>
            </a:r>
          </a:p>
        </p:txBody>
      </p:sp>
      <p:sp>
        <p:nvSpPr>
          <p:cNvPr id="6" name="Rectangle 5"/>
          <p:cNvSpPr/>
          <p:nvPr/>
        </p:nvSpPr>
        <p:spPr>
          <a:xfrm>
            <a:off x="365760" y="3566160"/>
            <a:ext cx="5577840" cy="32461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Configs/RealisticK8sParameters.json — le dice al Deployer cómo generar el workspace</a:t>
            </a:r>
          </a:p>
          <a:p>
            <a:r>
              <a:rPr sz="1100">
                <a:solidFill>
                  <a:srgbClr val="F9E2AF"/>
                </a:solidFill>
                <a:latin typeface="Courier New"/>
              </a:rPr>
              <a:t>{</a:t>
            </a:r>
          </a:p>
          <a:p>
            <a:r>
              <a:rPr sz="1100">
                <a:solidFill>
                  <a:srgbClr val="CBD3F0"/>
                </a:solidFill>
                <a:latin typeface="Courier New"/>
              </a:rPr>
              <a:t>  'K8sParameters': {</a:t>
            </a:r>
          </a:p>
          <a:p>
            <a:r>
              <a:rPr sz="1100">
                <a:solidFill>
                  <a:srgbClr val="CBD3F0"/>
                </a:solidFill>
                <a:latin typeface="Courier New"/>
              </a:rPr>
              <a:t>    'prefix_yaml_file': 'realistic',   // prefijo de los YAMLs generados</a:t>
            </a:r>
          </a:p>
          <a:p>
            <a:r>
              <a:rPr sz="1100">
                <a:solidFill>
                  <a:srgbClr val="CBD3F0"/>
                </a:solidFill>
                <a:latin typeface="Courier New"/>
              </a:rPr>
              <a:t>    'namespace': 'mubench-realistic',</a:t>
            </a:r>
          </a:p>
          <a:p>
            <a:r>
              <a:rPr sz="1100">
                <a:solidFill>
                  <a:srgbClr val="CBD3F0"/>
                </a:solidFill>
                <a:latin typeface="Courier New"/>
              </a:rPr>
              <a:t>    'image': 'msvcbench/microservice:latest', // CellController</a:t>
            </a:r>
          </a:p>
          <a:p>
            <a:r>
              <a:rPr sz="1100">
                <a:solidFill>
                  <a:srgbClr val="CBD3F0"/>
                </a:solidFill>
                <a:latin typeface="Courier New"/>
              </a:rPr>
              <a:t>    'path': '/api/v1',                 // endpoint genérico del CellController</a:t>
            </a:r>
          </a:p>
          <a:p>
            <a:r>
              <a:rPr sz="1100">
                <a:solidFill>
                  <a:srgbClr val="CBD3F0"/>
                </a:solidFill>
                <a:latin typeface="Courier New"/>
              </a:rPr>
              <a:t>    'nginx-gw': true,                  // genera gw-nginx con NodePort :31213</a:t>
            </a:r>
          </a:p>
          <a:p>
            <a:r>
              <a:rPr sz="1100">
                <a:solidFill>
                  <a:srgbClr val="F9E2AF"/>
                </a:solidFill>
                <a:latin typeface="Courier New"/>
              </a:rPr>
              <a:t>    'nginx-svc-type': 'NodePort'</a:t>
            </a:r>
          </a:p>
          <a:p>
            <a:r>
              <a:rPr sz="1100">
                <a:solidFill>
                  <a:srgbClr val="CBD3F0"/>
                </a:solidFill>
                <a:latin typeface="Courier New"/>
              </a:rPr>
              <a:t>  },</a:t>
            </a:r>
          </a:p>
          <a:p>
            <a:r>
              <a:rPr sz="1100">
                <a:solidFill>
                  <a:srgbClr val="CBD3F0"/>
                </a:solidFill>
                <a:latin typeface="Courier New"/>
              </a:rPr>
              <a:t>  'InternalServiceFilePath': '../../CustomFunctions', // ApiFunction.py etc.</a:t>
            </a:r>
          </a:p>
          <a:p>
            <a:r>
              <a:rPr sz="1100">
                <a:solidFill>
                  <a:srgbClr val="F9E2AF"/>
                </a:solidFill>
                <a:latin typeface="Courier New"/>
              </a:rPr>
              <a:t>  'OutputPath': '../../RealisticWorkspace',           // destino YAMLs</a:t>
            </a:r>
          </a:p>
          <a:p>
            <a:r>
              <a:rPr sz="1100">
                <a:solidFill>
                  <a:srgbClr val="CBD3F0"/>
                </a:solidFill>
                <a:latin typeface="Courier New"/>
              </a:rPr>
              <a:t>  'WorkModelPath': '../../RealisticWorkspace/workmodel.json'</a:t>
            </a:r>
          </a:p>
          <a:p>
            <a:r>
              <a:rPr sz="1100">
                <a:solidFill>
                  <a:srgbClr val="CBD3F0"/>
                </a:solidFill>
                <a:latin typeface="Courier New"/>
              </a:rPr>
              <a:t>}</a:t>
            </a:r>
          </a:p>
          <a:p>
            <a:r>
              <a:rPr sz="1100">
                <a:solidFill>
                  <a:srgbClr val="CBD3F0"/>
                </a:solidFill>
                <a:latin typeface="Courier New"/>
              </a:rPr>
              <a:t/>
            </a:r>
          </a:p>
          <a:p>
            <a:r>
              <a:rPr sz="1100">
                <a:solidFill>
                  <a:srgbClr val="CBD3F0"/>
                </a:solidFill>
                <a:latin typeface="Courier New"/>
              </a:rPr>
              <a:t># Configs/RealisticWorkModelParameters.json — define los servicios</a:t>
            </a:r>
          </a:p>
          <a:p>
            <a:r>
              <a:rPr sz="1100">
                <a:solidFill>
                  <a:srgbClr val="F9E2AF"/>
                </a:solidFill>
                <a:latin typeface="Courier New"/>
              </a:rPr>
              <a:t># Usa 'type': 'function' para ApiFunction/AuthFunction/DataFunction</a:t>
            </a:r>
          </a:p>
          <a:p>
            <a:r>
              <a:rPr sz="1100">
                <a:solidFill>
                  <a:srgbClr val="CBD3F0"/>
                </a:solidFill>
                <a:latin typeface="Courier New"/>
              </a:rPr>
              <a:t># En lugar de 'sleep'/'compute_pi' usa funciones custom:</a:t>
            </a:r>
          </a:p>
          <a:p>
            <a:r>
              <a:rPr sz="1100">
                <a:solidFill>
                  <a:srgbClr val="F9E2AF"/>
                </a:solidFill>
                <a:latin typeface="Courier New"/>
              </a:rPr>
              <a:t>#   api  → api_function  (JWT validate + rate limit + latency_ms)</a:t>
            </a:r>
          </a:p>
          <a:p>
            <a:r>
              <a:rPr sz="1100">
                <a:solidFill>
                  <a:srgbClr val="CBD3F0"/>
                </a:solidFill>
                <a:latin typeface="Courier New"/>
              </a:rPr>
              <a:t>#   auth → auth_function (JWT encode HS256 + sleep auth_latency_ms)</a:t>
            </a:r>
          </a:p>
          <a:p>
            <a:r>
              <a:rPr sz="1100">
                <a:solidFill>
                  <a:srgbClr val="CBD3F0"/>
                </a:solidFill>
                <a:latin typeface="Courier New"/>
              </a:rPr>
              <a:t>#   sdb-data → data_function (sleep query_latency_ms + opcional disk I/O)</a:t>
            </a:r>
          </a:p>
          <a:p>
            <a:r>
              <a:rPr sz="1100">
                <a:solidFill>
                  <a:srgbClr val="CBD3F0"/>
                </a:solidFill>
                <a:latin typeface="Courier New"/>
              </a:rPr>
              <a:t>#</a:t>
            </a:r>
          </a:p>
          <a:p>
            <a:r>
              <a:rPr sz="1100">
                <a:solidFill>
                  <a:srgbClr val="CBD3F0"/>
                </a:solidFill>
                <a:latin typeface="Courier New"/>
              </a:rPr>
              <a:t># K8sDeployer lee estos dos JSONs y genera todos los yamls/ automáticamente.</a:t>
            </a:r>
          </a:p>
        </p:txBody>
      </p:sp>
      <p:sp>
        <p:nvSpPr>
          <p:cNvPr id="7" name="Rectangle 6"/>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Flujo de generación y despliegue</a:t>
            </a:r>
          </a:p>
          <a:p>
            <a:r>
              <a:rPr sz="1000">
                <a:solidFill>
                  <a:srgbClr val="555555"/>
                </a:solidFill>
              </a:rPr>
              <a:t>1. Usuario edita workmodel.json
   o RealisticWorkModelParameters.json
2. K8sDeployer.py lee:
   RealisticK8sParameters.json +
   workmodel.json
   → genera yamls/ (Deployments,
     Services, ConfigMaps, NGINX)
3. kubectl apply yamls/
   → CellController arranca con
     workmodel.json montado en
     /app/MSConfig/
   → lee api_function/auth_function
     de /app/MSConfig/Internal
     ServiceFunctions/
4. k6 → gw-nginx :31213 → api</a:t>
            </a:r>
          </a:p>
        </p:txBody>
      </p:sp>
      <p:sp>
        <p:nvSpPr>
          <p:cNvPr id="8" name="Rectangle 7"/>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workmodel.json — la clave de la simulación</a:t>
            </a:r>
          </a:p>
          <a:p>
            <a:r>
              <a:rPr sz="1000">
                <a:solidFill>
                  <a:srgbClr val="555555"/>
                </a:solidFill>
              </a:rPr>
              <a:t>api:
  external_services:
    [{services: [auth], prob: 1.0},
     {services: [sdb-data], prob: 1.0}]
  internal_service:
    api_function:
      jwt_secret: mubench-dev-secret
      processing_latency_ms: 10
      rate_limit_enabled: false
auth:
  internal_service:
    auth_function:
      auth_latency_ms: 5
sdb-data:
  internal_service:
    data_function:
      query_latency_ms: 20
      simulate_disk: false</a:t>
            </a:r>
          </a:p>
        </p:txBody>
      </p:sp>
      <p:sp>
        <p:nvSpPr>
          <p:cNvPr id="9" name="Rectangle 8"/>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ConfigMap internal-services</a:t>
            </a:r>
          </a:p>
          <a:p>
            <a:r>
              <a:rPr sz="1000">
                <a:solidFill>
                  <a:srgbClr val="555555"/>
                </a:solidFill>
              </a:rPr>
              <a:t>realistic-ConfigMapInternalServices.yaml
contiene 4 funciones Python como
strings dentro del ConfigMap:
  AuthFunction.py
    → jwt.encode HS256 + sleep
    → simula latencia de auth
  ApiFunction.py
    → jwt.encode+decode HS256
    → deque rate limiting
    → sleep processing_latency_ms
  DataFunction.py
    → sleep query_latency_ms
    → opcional: disk I/O real
    → genera filas JSON simuladas
  Loader.py + Colosseum.py
    → funciones genéricas</a:t>
            </a:r>
          </a:p>
        </p:txBody>
      </p:sp>
      <p:sp>
        <p:nvSpPr>
          <p:cNvPr id="10" name="Rectangle 9"/>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NGINX gw-nginx — proxy reverso interno</a:t>
            </a:r>
          </a:p>
          <a:p>
            <a:r>
              <a:rPr sz="1000">
                <a:solidFill>
                  <a:srgbClr val="555555"/>
                </a:solidFill>
              </a:rPr>
              <a:t>realistic-ConfigMapNginxGw.yaml:
  location / {
    proxy_pass
      http:/$request_uri
      .mubench-realistic
      .svc.cluster.local/api/v1;
  }
Convierte la URL de k6:
  GET :31213/api  (NodePort)
→ GET api.mubench-realistic
       .svc.cluster.local/api/v1
También soporta /update para
recargar workmodel en caliente:
  location ~* /update$
  → rewrite → /update
  → proxy a .svc.cluster.local</a:t>
            </a:r>
          </a:p>
        </p:txBody>
      </p:sp>
      <p:sp>
        <p:nvSpPr>
          <p:cNvPr id="11" name="Rectangle 10"/>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HPA — autoescalado por servicio</a:t>
            </a:r>
          </a:p>
          <a:p>
            <a:r>
              <a:rPr sz="1000">
                <a:solidFill>
                  <a:srgbClr val="555555"/>
                </a:solidFill>
              </a:rPr>
              <a:t>RealisticWorkspace/hpa/ contiene
3 HPA para autoscaling:
  api (entry point):
    minReplicas: 1
    maxReplicas: 20
    targetCPU: 50%
  auth:
    minReplicas: 1
    maxReplicas: 10
    targetCPU: 60%
  sdb1 (data):
    minReplicas: 1
    maxReplicas: 10
    targetCPU: 60%
Se usan en experimentos de carga
variable (K8sAutopilot + HPA)
para medir tiempo de scale-out.</a:t>
            </a:r>
          </a:p>
        </p:txBody>
      </p:sp>
      <p:sp>
        <p:nvSpPr>
          <p:cNvPr id="12" name="Rectangle 11"/>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affinity-yamls/ — variante topológica</a:t>
            </a:r>
          </a:p>
          <a:p>
            <a:r>
              <a:rPr sz="1000">
                <a:solidFill>
                  <a:srgbClr val="555555"/>
                </a:solidFill>
              </a:rPr>
              <a:t>RealisticWorkspace/affinity-yamls/
contiene los mismos yamls pero con
nodeAffinity añadido a cada pod:
  requiredDuringScheduling:
    nodeSelectorTerms:
    - matchExpressions:
      - key: topology.k8s.io/region
        operator: In
        values: [eu-west1]
      - key: topology.k8s.io/zone
        operator: In
        values: [eu-west1-a]
Usados en 05-topology-affinity
para comparar latencia con/sin
co-localización de pods en zona.</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RealisticWorkspace vs RealisticServices — complementarios, no equivalentes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mismo escenario lógico · distinta implementación · RW=sintético controlado · RS=real con dependencias · mismos k6 scripts</a:t>
            </a:r>
          </a:p>
        </p:txBody>
      </p:sp>
      <p:sp>
        <p:nvSpPr>
          <p:cNvPr id="5" name="Rectangle 4"/>
          <p:cNvSpPr/>
          <p:nvPr/>
        </p:nvSpPr>
        <p:spPr>
          <a:xfrm>
            <a:off x="365760" y="1143000"/>
            <a:ext cx="5577840" cy="18288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MISMO escenario lógico, DIFERENTE implementación</a:t>
            </a:r>
          </a:p>
          <a:p>
            <a:r>
              <a:rPr sz="1100">
                <a:solidFill>
                  <a:srgbClr val="F9E2AF"/>
                </a:solidFill>
                <a:latin typeface="Courier New"/>
              </a:rPr>
              <a:t>#</a:t>
            </a:r>
          </a:p>
          <a:p>
            <a:r>
              <a:rPr sz="1100">
                <a:solidFill>
                  <a:srgbClr val="CBD3F0"/>
                </a:solidFill>
                <a:latin typeface="Courier New"/>
              </a:rPr>
              <a:t># Escenario: k6 → gateway → api → {auth, data} → respuesta</a:t>
            </a:r>
          </a:p>
          <a:p>
            <a:r>
              <a:rPr sz="1100">
                <a:solidFill>
                  <a:srgbClr val="F9E2AF"/>
                </a:solidFill>
                <a:latin typeface="Courier New"/>
              </a:rPr>
              <a:t>#</a:t>
            </a:r>
          </a:p>
          <a:p>
            <a:r>
              <a:rPr sz="1100">
                <a:solidFill>
                  <a:srgbClr val="CBD3F0"/>
                </a:solidFill>
                <a:latin typeface="Courier New"/>
              </a:rPr>
              <a:t>#  RealisticWorkspace (RW):          RealisticServices (RS):</a:t>
            </a:r>
          </a:p>
          <a:p>
            <a:r>
              <a:rPr sz="1100">
                <a:solidFill>
                  <a:srgbClr val="F9E2AF"/>
                </a:solidFill>
                <a:latin typeface="Courier New"/>
              </a:rPr>
              <a:t>#  ─────────────────────────────     ────────────────────────────────</a:t>
            </a:r>
          </a:p>
          <a:p>
            <a:r>
              <a:rPr sz="1100">
                <a:solidFill>
                  <a:srgbClr val="CBD3F0"/>
                </a:solidFill>
                <a:latin typeface="Courier New"/>
              </a:rPr>
              <a:t>#  image: msvcbench/microservice      image: custom FastAPI (Dockerfile)</a:t>
            </a:r>
          </a:p>
          <a:p>
            <a:r>
              <a:rPr sz="1100">
                <a:solidFill>
                  <a:srgbClr val="CBD3F0"/>
                </a:solidFill>
                <a:latin typeface="Courier New"/>
              </a:rPr>
              <a:t>#  código: CellController-mp.py       código: api-service/app.py</a:t>
            </a:r>
          </a:p>
          <a:p>
            <a:r>
              <a:rPr sz="1100">
                <a:solidFill>
                  <a:srgbClr val="CBD3F0"/>
                </a:solidFill>
                <a:latin typeface="Courier New"/>
              </a:rPr>
              <a:t>#  auth: AuthFunction.py (sleep)      auth: jwt.encode real (HS256)</a:t>
            </a:r>
          </a:p>
          <a:p>
            <a:r>
              <a:rPr sz="1100">
                <a:solidFill>
                  <a:srgbClr val="CBD3F0"/>
                </a:solidFill>
                <a:latin typeface="Courier New"/>
              </a:rPr>
              <a:t>#  data: DataFunction.py (sleep)      data: psycopg2 → PostgreSQL real</a:t>
            </a:r>
          </a:p>
          <a:p>
            <a:r>
              <a:rPr sz="1100">
                <a:solidFill>
                  <a:srgbClr val="CBD3F0"/>
                </a:solidFill>
                <a:latin typeface="Courier New"/>
              </a:rPr>
              <a:t>#  config: workmodel.json (dinámico)  config: ENV vars (fijas)</a:t>
            </a:r>
          </a:p>
          <a:p>
            <a:r>
              <a:rPr sz="1100">
                <a:solidFill>
                  <a:srgbClr val="CBD3F0"/>
                </a:solidFill>
                <a:latin typeface="Courier New"/>
              </a:rPr>
              <a:t>#  gateway: gw-nginx interno          gateway: kong/nginx/istio (IC)</a:t>
            </a:r>
          </a:p>
          <a:p>
            <a:r>
              <a:rPr sz="1100">
                <a:solidFill>
                  <a:srgbClr val="CBD3F0"/>
                </a:solidFill>
                <a:latin typeface="Courier New"/>
              </a:rPr>
              <a:t>#  endpoint: /api/v1 (genérico)       endpoint: /profile /users /login</a:t>
            </a:r>
          </a:p>
          <a:p>
            <a:r>
              <a:rPr sz="1100">
                <a:solidFill>
                  <a:srgbClr val="CBD3F0"/>
                </a:solidFill>
                <a:latin typeface="Courier New"/>
              </a:rPr>
              <a:t>#  namespace: mubench-realistic       namespace: mubench-realistic</a:t>
            </a:r>
          </a:p>
        </p:txBody>
      </p:sp>
      <p:sp>
        <p:nvSpPr>
          <p:cNvPr id="6" name="Rectangle 5"/>
          <p:cNvSpPr/>
          <p:nvPr/>
        </p:nvSpPr>
        <p:spPr>
          <a:xfrm>
            <a:off x="365760" y="3063240"/>
            <a:ext cx="5577840" cy="3749039"/>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Relación de complementariedad</a:t>
            </a:r>
          </a:p>
          <a:p>
            <a:r>
              <a:rPr sz="1100">
                <a:solidFill>
                  <a:srgbClr val="F9E2AF"/>
                </a:solidFill>
                <a:latin typeface="Courier New"/>
              </a:rPr>
              <a:t>#</a:t>
            </a:r>
          </a:p>
          <a:p>
            <a:r>
              <a:rPr sz="1100">
                <a:solidFill>
                  <a:srgbClr val="CBD3F0"/>
                </a:solidFill>
                <a:latin typeface="Courier New"/>
              </a:rPr>
              <a:t># Los dos paquetes coexisten en el MISMO namespace (mubench-realistic).</a:t>
            </a:r>
          </a:p>
          <a:p>
            <a:r>
              <a:rPr sz="1100">
                <a:solidFill>
                  <a:srgbClr val="F9E2AF"/>
                </a:solidFill>
                <a:latin typeface="Courier New"/>
              </a:rPr>
              <a:t># NO se despliegan simultáneamente — son ALTERNATIVAS para el mismo slot.</a:t>
            </a:r>
          </a:p>
          <a:p>
            <a:r>
              <a:rPr sz="1100">
                <a:solidFill>
                  <a:srgbClr val="F9E2AF"/>
                </a:solidFill>
                <a:latin typeface="Courier New"/>
              </a:rPr>
              <a:t>#</a:t>
            </a:r>
          </a:p>
          <a:p>
            <a:r>
              <a:rPr sz="1100">
                <a:solidFill>
                  <a:srgbClr val="CBD3F0"/>
                </a:solidFill>
                <a:latin typeface="Courier New"/>
              </a:rPr>
              <a:t># Cuándo desplegar RW (RealisticWorkspace):</a:t>
            </a:r>
          </a:p>
          <a:p>
            <a:r>
              <a:rPr sz="1100">
                <a:solidFill>
                  <a:srgbClr val="F9E2AF"/>
                </a:solidFill>
                <a:latin typeface="Courier New"/>
              </a:rPr>
              <a:t>#   ✓ Benchmark de infraestructura (NGINX vs Kong vs Istio)</a:t>
            </a:r>
          </a:p>
          <a:p>
            <a:r>
              <a:rPr sz="1100">
                <a:solidFill>
                  <a:srgbClr val="CBD3F0"/>
                </a:solidFill>
                <a:latin typeface="Courier New"/>
              </a:rPr>
              <a:t>#   ✓ Latencia controlada (ajustar query_latency_ms, auth_latency_ms)</a:t>
            </a:r>
          </a:p>
          <a:p>
            <a:r>
              <a:rPr sz="1100">
                <a:solidFill>
                  <a:srgbClr val="CBD3F0"/>
                </a:solidFill>
                <a:latin typeface="Courier New"/>
              </a:rPr>
              <a:t>#   ✓ Sin dependencia de PostgreSQL (más fácil de desplegar)</a:t>
            </a:r>
          </a:p>
          <a:p>
            <a:r>
              <a:rPr sz="1100">
                <a:solidFill>
                  <a:srgbClr val="CBD3F0"/>
                </a:solidFill>
                <a:latin typeface="Courier New"/>
              </a:rPr>
              <a:t>#   ✓ Experimentos 01-api-gateway, 04-rate-limiting, 05-topology</a:t>
            </a:r>
          </a:p>
          <a:p>
            <a:r>
              <a:rPr sz="1100">
                <a:solidFill>
                  <a:srgbClr val="CBD3F0"/>
                </a:solidFill>
                <a:latin typeface="Courier New"/>
              </a:rPr>
              <a:t>#   ✓ Variaciones de topología (affinity-yamls/)</a:t>
            </a:r>
          </a:p>
          <a:p>
            <a:r>
              <a:rPr sz="1100">
                <a:solidFill>
                  <a:srgbClr val="CBD3F0"/>
                </a:solidFill>
                <a:latin typeface="Courier New"/>
              </a:rPr>
              <a:t>#   ✓ Autoescalado controlado (HPA con CPU conocida)</a:t>
            </a:r>
          </a:p>
          <a:p>
            <a:r>
              <a:rPr sz="1100">
                <a:solidFill>
                  <a:srgbClr val="CBD3F0"/>
                </a:solidFill>
                <a:latin typeface="Courier New"/>
              </a:rPr>
              <a:t>#</a:t>
            </a:r>
          </a:p>
          <a:p>
            <a:r>
              <a:rPr sz="1100">
                <a:solidFill>
                  <a:srgbClr val="CBD3F0"/>
                </a:solidFill>
                <a:latin typeface="Courier New"/>
              </a:rPr>
              <a:t># Cuándo desplegar RS (RealisticServices):</a:t>
            </a:r>
          </a:p>
          <a:p>
            <a:r>
              <a:rPr sz="1100">
                <a:solidFill>
                  <a:srgbClr val="F9E2AF"/>
                </a:solidFill>
                <a:latin typeface="Courier New"/>
              </a:rPr>
              <a:t>#   ✓ Simular workload de producción real</a:t>
            </a:r>
          </a:p>
          <a:p>
            <a:r>
              <a:rPr sz="1100">
                <a:solidFill>
                  <a:srgbClr val="CBD3F0"/>
                </a:solidFill>
                <a:latin typeface="Courier New"/>
              </a:rPr>
              <a:t>#   ✓ Latencia incluye varianza de PostgreSQL</a:t>
            </a:r>
          </a:p>
          <a:p>
            <a:r>
              <a:rPr sz="1100">
                <a:solidFill>
                  <a:srgbClr val="CBD3F0"/>
                </a:solidFill>
                <a:latin typeface="Courier New"/>
              </a:rPr>
              <a:t>#   ✓ JWT real con expiración y errores 401/403</a:t>
            </a:r>
          </a:p>
          <a:p>
            <a:r>
              <a:rPr sz="1100">
                <a:solidFill>
                  <a:srgbClr val="CBD3F0"/>
                </a:solidFill>
                <a:latin typeface="Courier New"/>
              </a:rPr>
              <a:t>#   ✓ Pruebas de rate limiting HTTP real (429)</a:t>
            </a:r>
          </a:p>
          <a:p>
            <a:r>
              <a:rPr sz="1100">
                <a:solidFill>
                  <a:srgbClr val="CBD3F0"/>
                </a:solidFill>
                <a:latin typeface="Courier New"/>
              </a:rPr>
              <a:t>#   ✓ Validación de email (Pydantic EmailStr)</a:t>
            </a:r>
          </a:p>
          <a:p>
            <a:r>
              <a:rPr sz="1100">
                <a:solidFill>
                  <a:srgbClr val="CBD3F0"/>
                </a:solidFill>
                <a:latin typeface="Courier New"/>
              </a:rPr>
              <a:t>#   ✓ Métrica DOWNSTREAM de api→data latency</a:t>
            </a:r>
          </a:p>
          <a:p>
            <a:r>
              <a:rPr sz="1100">
                <a:solidFill>
                  <a:srgbClr val="CBD3F0"/>
                </a:solidFill>
                <a:latin typeface="Courier New"/>
              </a:rPr>
              <a:t>#</a:t>
            </a:r>
          </a:p>
          <a:p>
            <a:r>
              <a:rPr sz="1100">
                <a:solidFill>
                  <a:srgbClr val="CBD3F0"/>
                </a:solidFill>
                <a:latin typeface="Courier New"/>
              </a:rPr>
              <a:t># Los scripts k6 (RealisticServices/k6/) funcionan con AMBOS:</a:t>
            </a:r>
          </a:p>
          <a:p>
            <a:r>
              <a:rPr sz="1100">
                <a:solidFill>
                  <a:srgbClr val="F9E2AF"/>
                </a:solidFill>
                <a:latin typeface="Courier New"/>
              </a:rPr>
              <a:t>#   → La URL objetivo se inyecta via ENV (TARGET_URL)</a:t>
            </a:r>
          </a:p>
          <a:p>
            <a:r>
              <a:rPr sz="1100">
                <a:solidFill>
                  <a:srgbClr val="CBD3F0"/>
                </a:solidFill>
                <a:latin typeface="Courier New"/>
              </a:rPr>
              <a:t>#   → Si apunta a RW: llama /api/v1 vía gw-nginx :31213</a:t>
            </a:r>
          </a:p>
          <a:p>
            <a:r>
              <a:rPr sz="1100">
                <a:solidFill>
                  <a:srgbClr val="CBD3F0"/>
                </a:solidFill>
                <a:latin typeface="Courier New"/>
              </a:rPr>
              <a:t>#   → Si apunta a RS: llama /profile /users vía IC (kong/nginx)</a:t>
            </a:r>
          </a:p>
        </p:txBody>
      </p:sp>
      <p:sp>
        <p:nvSpPr>
          <p:cNvPr id="7" name="Rectangle 6"/>
          <p:cNvSpPr/>
          <p:nvPr/>
        </p:nvSpPr>
        <p:spPr>
          <a:xfrm>
            <a:off x="60807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Diagrama de complementariedad</a:t>
            </a:r>
          </a:p>
          <a:p>
            <a:r>
              <a:rPr sz="1000">
                <a:solidFill>
                  <a:srgbClr val="555555"/>
                </a:solidFill>
              </a:rPr>
              <a:t>Proyecto muBench:
  Configuración (Configs/)
        ↓ K8sDeployer
  RealisticWorkspace/ (yamls)
        ↓ kubectl apply
  Cluster K8s
        ↑ (alternativa)
  RealisticServices/ (FastAPI)
        ↓ deploy-realistic.sh
  Cluster K8s
Ambos coexisten en el REPO.
Solo uno vive en el CLUSTER
en cada momento.
k6 → IC → gateway → api</a:t>
            </a:r>
          </a:p>
          <a:p>
            <a:r>
              <a:rPr sz="1000">
                <a:solidFill>
                  <a:srgbClr val="555555"/>
                </a:solidFill>
              </a:rPr>
              <a:t>Proyecto muBench:
  Configuración (Configs/)
        ↓ K8sDeployer
  RealisticWorkspace/ (yamls)
        ↓ kubectl apply
  Cluster K8s
        ↑ (alternativa)
  RealisticServices/ (FastAPI)
        ↓ deploy-realistic.sh
  Cluster K8s
Ambos coexisten en el REPO.
Solo uno vive en el CLUSTER
en cada momento.
k6 → IC → gateway → api</a:t>
            </a:r>
          </a:p>
        </p:txBody>
      </p:sp>
      <p:sp>
        <p:nvSpPr>
          <p:cNvPr id="8" name="Rectangle 7"/>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AuthFunction vs auth-service real</a:t>
            </a:r>
          </a:p>
          <a:p>
            <a:r>
              <a:rPr sz="1000">
                <a:solidFill>
                  <a:srgbClr val="555555"/>
                </a:solidFill>
              </a:rPr>
              <a:t>AuthFunction.py (RW):
  time.sleep(auth_latency_ms/1000)
  jwt.encode(HS256)
  → devuelve token
  → NO valida credenciales
  → siempre retorna 200
auth-service/app.py (RS):
  POST /login
  if user!='demo' or pass!='demo123':
    raise HTTPException(401)
  jwt.encode(HS256)
  → retorna access_token
Diferencia: RS valida user/pass,
RW simula solo la latencia y el
encode sin check de credenciales.</a:t>
            </a:r>
          </a:p>
          <a:p>
            <a:r>
              <a:rPr sz="1000">
                <a:solidFill>
                  <a:srgbClr val="555555"/>
                </a:solidFill>
              </a:rPr>
              <a:t>AuthFunction.py (RW):
  time.sleep(auth_latency_ms/1000)
  jwt.encode(HS256)
  → devuelve token
  → NO valida credenciales
  → siempre retorna 200
auth-service/app.py (RS):
  POST /login
  if user!='demo' or pass!='demo123':
    raise HTTPException(401)
  jwt.encode(HS256)
  → retorna access_token
Diferencia: RS valida user/pass,
RW simula solo la latencia y el
encode sin check de credenciales.</a:t>
            </a:r>
          </a:p>
        </p:txBody>
      </p:sp>
      <p:sp>
        <p:nvSpPr>
          <p:cNvPr id="9" name="Rectangle 8"/>
          <p:cNvSpPr/>
          <p:nvPr/>
        </p:nvSpPr>
        <p:spPr>
          <a:xfrm>
            <a:off x="60807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DataFunction vs data-service real</a:t>
            </a:r>
          </a:p>
          <a:p>
            <a:r>
              <a:rPr sz="1000">
                <a:solidFill>
                  <a:srgbClr val="555555"/>
                </a:solidFill>
              </a:rPr>
              <a:t>DataFunction.py (RW):
  time.sleep(query_latency_ms/1000)
  genera rows JSON aleatorios
  optional: disk I/O simulado
  → respuesta de tamaño variable
  → NO hay PostgreSQL
data-service/app.py (RS):
  psycopg2.connect(DB_HOST)
  SELECT id,username,email
    FROM app_users WHERE id=%s
  → latencia REAL de la DB
  → 404 si user no existe
  → 409 si email duplicado
Diferencia clave: RS puede fallar
con 404/409/500/503. RW siempre
devuelve 200.</a:t>
            </a:r>
          </a:p>
          <a:p>
            <a:r>
              <a:rPr sz="1000">
                <a:solidFill>
                  <a:srgbClr val="555555"/>
                </a:solidFill>
              </a:rPr>
              <a:t>DataFunction.py (RW):
  time.sleep(query_latency_ms/1000)
  genera rows JSON aleatorios
  optional: disk I/O simulado
  → respuesta de tamaño variable
  → NO hay PostgreSQL
data-service/app.py (RS):
  psycopg2.connect(DB_HOST)
  SELECT id,username,email
    FROM app_users WHERE id=%s
  → latencia REAL de la DB
  → 404 si user no existe
  → 409 si email duplicado
Diferencia clave: RS puede fallar
con 404/409/500/503. RW siempre
devuelve 200.</a:t>
            </a:r>
          </a:p>
        </p:txBody>
      </p:sp>
      <p:sp>
        <p:nvSpPr>
          <p:cNvPr id="10" name="Rectangle 9"/>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Mismo namespace — ¿conflicto?</a:t>
            </a:r>
          </a:p>
          <a:p>
            <a:r>
              <a:rPr sz="1000">
                <a:solidFill>
                  <a:srgbClr val="555555"/>
                </a:solidFill>
              </a:rPr>
              <a:t>Ambos usan namespace:
  mubench-realistic
Los Services tienen DISTINTOS nombres:
  RW: api, auth, sdb-data
  RS: api-service, auth-service,
      data-service, postgres
El IC (NGINX/Kong/Istio) apunta a
un Service específico → solo
uno de los dos funciona a la vez.
Para cambiar de RW a RS:
  kubectl delete -f yamls/
  ./deploy-realistic.sh
O viceversa. No hay forma de
tener ambos activos al mismo
tiempo sin colisión de rutas.</a:t>
            </a:r>
          </a:p>
          <a:p>
            <a:r>
              <a:rPr sz="1000">
                <a:solidFill>
                  <a:srgbClr val="555555"/>
                </a:solidFill>
              </a:rPr>
              <a:t>Ambos usan namespace:
  mubench-realistic
Los Services tienen DISTINTOS nombres:
  RW: api, auth, sdb-data
  RS: api-service, auth-service,
      data-service, postgres
El IC (NGINX/Kong/Istio) apunta a
un Service específico → solo
uno de los dos funciona a la vez.
Para cambiar de RW a RS:
  kubectl delete -f yamls/
  ./deploy-realistic.sh
O viceversa. No hay forma de
tener ambos activos al mismo
tiempo sin colisión de rutas.</a:t>
            </a:r>
          </a:p>
        </p:txBody>
      </p:sp>
      <p:sp>
        <p:nvSpPr>
          <p:cNvPr id="11" name="Rectangle 10"/>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Configs/ — parámetros del Deployer</a:t>
            </a:r>
          </a:p>
          <a:p>
            <a:r>
              <a:rPr sz="1000">
                <a:solidFill>
                  <a:srgbClr val="555555"/>
                </a:solidFill>
              </a:rPr>
              <a:t>RealisticK8sParameters.json:
  → Deployer: imagen, namespace,
    prefix, nginx-gw, OutputPath
RealisticWorkModelParameters.json:
  → WorkModelGenerator: define
    los servicios del workmodel
    usando tipo 'function'
    con ApiFunction/AuthFunction
    /DataFunction como recipients
Estos dos JSON son la entrada
para regenerar RealisticWorkspace/
desde cero:
  python3 WorkModelGenerator.py \
    -cf RealisticWorkModelParameters
  python3 K8sDeployer.py \
    -cf RealisticK8sParameters</a:t>
            </a:r>
          </a:p>
          <a:p>
            <a:r>
              <a:rPr sz="1000">
                <a:solidFill>
                  <a:srgbClr val="555555"/>
                </a:solidFill>
              </a:rPr>
              <a:t>RealisticK8sParameters.json:
  → Deployer: imagen, namespace,
    prefix, nginx-gw, OutputPath
RealisticWorkModelParameters.json:
  → WorkModelGenerator: define
    los servicios del workmodel
    usando tipo 'function'
    con ApiFunction/AuthFunction
    /DataFunction como recipients
Estos dos JSON son la entrada
para regenerar RealisticWorkspace/
desde cero:
  python3 WorkModelGenerator.py \
    -cf RealisticWorkModelParameters
  python3 K8sDeployer.py \
    -cf RealisticK8sParameters</a:t>
            </a:r>
          </a:p>
        </p:txBody>
      </p:sp>
      <p:sp>
        <p:nvSpPr>
          <p:cNvPr id="12" name="Rectangle 11"/>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Cuándo usar cada uno — resumen</a:t>
            </a:r>
          </a:p>
          <a:p>
            <a:r>
              <a:rPr sz="1000">
                <a:solidFill>
                  <a:srgbClr val="555555"/>
                </a:solidFill>
              </a:rPr>
              <a:t>USA RealisticWorkspace si:
  → Quieres controlar EXACTAMENTE
    la latencia (query_latency_ms)
  → No tienes PostgreSQL disponible
  → Experimentas con topología
    (affinity-yamls/)
  → Necesitas HPA predecible
  → Reprocesar con nuevo workmodel
    sin recompitar código
USA RealisticServices si:
  → Quieres latencia de DB real
  → Pruebas de auth real (401/403)
  → Medir overhead de JWT decode
  → Downstream latency separada
  → Escenario cercano a producción
  → Comparar gateways en workload
    con lógica de negocio real</a:t>
            </a:r>
          </a:p>
          <a:p>
            <a:r>
              <a:rPr sz="1000">
                <a:solidFill>
                  <a:srgbClr val="555555"/>
                </a:solidFill>
              </a:rPr>
              <a:t>USA RealisticWorkspace si:
  → Quieres controlar EXACTAMENTE
    la latencia (query_latency_ms)
  → No tienes PostgreSQL disponible
  → Experimentas con topología
    (affinity-yamls/)
  → Necesitas HPA predecible
  → Reprocesar con nuevo workmodel
    sin recompitar código
USA RealisticServices si:
  → Quieres latencia de DB real
  → Pruebas de auth real (401/403)
  → Medir overhead de JWT decode
  → Downstream latency separada
  → Escenario cercano a producción
  → Comparar gateways en workload
    con lógica de negocio real</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Add-on/Topology-affinity — cómo interactúan los affinity-yamls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create-affinity-yamls.py · nodeAffinity requiredDuringScheduling · region/zone/subzone · por qué solo hay eu-west1</a:t>
            </a:r>
          </a:p>
        </p:txBody>
      </p:sp>
      <p:sp>
        <p:nvSpPr>
          <p:cNvPr id="5" name="Rectangle 4"/>
          <p:cNvSpPr/>
          <p:nvPr/>
        </p:nvSpPr>
        <p:spPr>
          <a:xfrm>
            <a:off x="365760" y="1143000"/>
            <a:ext cx="5577840" cy="29718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 Qué hace create-affinity-yamls.py ──────────────────────────────</a:t>
            </a:r>
          </a:p>
          <a:p>
            <a:r>
              <a:rPr sz="1100">
                <a:solidFill>
                  <a:srgbClr val="F9E2AF"/>
                </a:solidFill>
                <a:latin typeface="Courier New"/>
              </a:rPr>
              <a:t># Lee cada .yaml de RealisticWorkspace/yamls/</a:t>
            </a:r>
          </a:p>
          <a:p>
            <a:r>
              <a:rPr sz="1100">
                <a:solidFill>
                  <a:srgbClr val="CBD3F0"/>
                </a:solidFill>
                <a:latin typeface="Courier New"/>
              </a:rPr>
              <a:t># Para cada combinación region×zone×subzone:</a:t>
            </a:r>
          </a:p>
          <a:p>
            <a:r>
              <a:rPr sz="1100">
                <a:solidFill>
                  <a:srgbClr val="CBD3F0"/>
                </a:solidFill>
                <a:latin typeface="Courier New"/>
              </a:rPr>
              <a:t>#   • Si kind == Deployment → añade nodeAffinity + renombra</a:t>
            </a:r>
          </a:p>
          <a:p>
            <a:r>
              <a:rPr sz="1100">
                <a:solidFill>
                  <a:srgbClr val="CBD3F0"/>
                </a:solidFill>
                <a:latin typeface="Courier New"/>
              </a:rPr>
              <a:t>#   • Si kind != Deployment → copia sin cambios</a:t>
            </a:r>
          </a:p>
          <a:p>
            <a:r>
              <a:rPr sz="1100">
                <a:solidFill>
                  <a:srgbClr val="CBD3F0"/>
                </a:solidFill>
                <a:latin typeface="Courier New"/>
              </a:rPr>
              <a:t>#</a:t>
            </a:r>
          </a:p>
          <a:p>
            <a:r>
              <a:rPr sz="1100">
                <a:solidFill>
                  <a:srgbClr val="CBD3F0"/>
                </a:solidFill>
                <a:latin typeface="Courier New"/>
              </a:rPr>
              <a:t># Invocación que generó los yamls actuales:</a:t>
            </a:r>
          </a:p>
          <a:p>
            <a:r>
              <a:rPr sz="1100">
                <a:solidFill>
                  <a:srgbClr val="F9E2AF"/>
                </a:solidFill>
                <a:latin typeface="Courier New"/>
              </a:rPr>
              <a:t>python3 Add-on/Topology-affinity/create-affinity-yamls.py \</a:t>
            </a:r>
          </a:p>
          <a:p>
            <a:r>
              <a:rPr sz="1100">
                <a:solidFill>
                  <a:srgbClr val="CBD3F0"/>
                </a:solidFill>
                <a:latin typeface="Courier New"/>
              </a:rPr>
              <a:t>  --in  RealisticWorkspace/yamls \</a:t>
            </a:r>
          </a:p>
          <a:p>
            <a:r>
              <a:rPr sz="1100">
                <a:solidFill>
                  <a:srgbClr val="CBD3F0"/>
                </a:solidFill>
                <a:latin typeface="Courier New"/>
              </a:rPr>
              <a:t>  --out RealisticWorkspace/affinity-yamls \</a:t>
            </a:r>
          </a:p>
          <a:p>
            <a:r>
              <a:rPr sz="1100">
                <a:solidFill>
                  <a:srgbClr val="CBD3F0"/>
                </a:solidFill>
                <a:latin typeface="Courier New"/>
              </a:rPr>
              <a:t>  --regions  eu-west1 \</a:t>
            </a:r>
          </a:p>
          <a:p>
            <a:r>
              <a:rPr sz="1100">
                <a:solidFill>
                  <a:srgbClr val="CBD3F0"/>
                </a:solidFill>
                <a:latin typeface="Courier New"/>
              </a:rPr>
              <a:t>  --zones    eu-west1-a \</a:t>
            </a:r>
          </a:p>
          <a:p>
            <a:r>
              <a:rPr sz="1100">
                <a:solidFill>
                  <a:srgbClr val="CBD3F0"/>
                </a:solidFill>
                <a:latin typeface="Courier New"/>
              </a:rPr>
              <a:t>  --subzones no-subzone-specified</a:t>
            </a:r>
          </a:p>
          <a:p>
            <a:r>
              <a:rPr sz="1100">
                <a:solidFill>
                  <a:srgbClr val="CBD3F0"/>
                </a:solidFill>
                <a:latin typeface="Courier New"/>
              </a:rPr>
              <a:t>#</a:t>
            </a:r>
          </a:p>
          <a:p>
            <a:r>
              <a:rPr sz="1100">
                <a:solidFill>
                  <a:srgbClr val="CBD3F0"/>
                </a:solidFill>
                <a:latin typeface="Courier New"/>
              </a:rPr>
              <a:t># Para añadir US y Asia — basta con:</a:t>
            </a:r>
          </a:p>
          <a:p>
            <a:r>
              <a:rPr sz="1100">
                <a:solidFill>
                  <a:srgbClr val="F9E2AF"/>
                </a:solidFill>
                <a:latin typeface="Courier New"/>
              </a:rPr>
              <a:t>python3 Add-on/Topology-affinity/create-affinity-yamls.py \</a:t>
            </a:r>
          </a:p>
          <a:p>
            <a:r>
              <a:rPr sz="1100">
                <a:solidFill>
                  <a:srgbClr val="CBD3F0"/>
                </a:solidFill>
                <a:latin typeface="Courier New"/>
              </a:rPr>
              <a:t>  --regions  eu-west1,us-east1,ap-southeast1 \</a:t>
            </a:r>
          </a:p>
          <a:p>
            <a:r>
              <a:rPr sz="1100">
                <a:solidFill>
                  <a:srgbClr val="CBD3F0"/>
                </a:solidFill>
                <a:latin typeface="Courier New"/>
              </a:rPr>
              <a:t>  --zones    eu-west1-a,us-east1-a,ap-southeast1-a \</a:t>
            </a:r>
          </a:p>
          <a:p>
            <a:r>
              <a:rPr sz="1100">
                <a:solidFill>
                  <a:srgbClr val="CBD3F0"/>
                </a:solidFill>
                <a:latin typeface="Courier New"/>
              </a:rPr>
              <a:t>  --subzones no-subzone-specified</a:t>
            </a:r>
          </a:p>
          <a:p>
            <a:r>
              <a:rPr sz="1100">
                <a:solidFill>
                  <a:srgbClr val="CBD3F0"/>
                </a:solidFill>
                <a:latin typeface="Courier New"/>
              </a:rPr>
              <a:t># → genera 3 carpetas, una por región</a:t>
            </a:r>
          </a:p>
        </p:txBody>
      </p:sp>
      <p:sp>
        <p:nvSpPr>
          <p:cNvPr id="6" name="Rectangle 5"/>
          <p:cNvSpPr/>
          <p:nvPr/>
        </p:nvSpPr>
        <p:spPr>
          <a:xfrm>
            <a:off x="365760" y="4206240"/>
            <a:ext cx="5577840" cy="26060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 Resultado en el YAML generado (Deployment-auth) ─────────────</a:t>
            </a:r>
          </a:p>
          <a:p>
            <a:r>
              <a:rPr sz="1100">
                <a:solidFill>
                  <a:srgbClr val="F9E2AF"/>
                </a:solidFill>
                <a:latin typeface="Courier New"/>
              </a:rPr>
              <a:t>metadata:</a:t>
            </a:r>
          </a:p>
          <a:p>
            <a:r>
              <a:rPr sz="1100">
                <a:solidFill>
                  <a:srgbClr val="CBD3F0"/>
                </a:solidFill>
                <a:latin typeface="Courier New"/>
              </a:rPr>
              <a:t>  name: auth-eu-west1-eu-west1-a   # nombre original + sufijo</a:t>
            </a:r>
          </a:p>
          <a:p>
            <a:r>
              <a:rPr sz="1100">
                <a:solidFill>
                  <a:srgbClr val="CBD3F0"/>
                </a:solidFill>
                <a:latin typeface="Courier New"/>
              </a:rPr>
              <a:t>spec:</a:t>
            </a:r>
          </a:p>
          <a:p>
            <a:r>
              <a:rPr sz="1100">
                <a:solidFill>
                  <a:srgbClr val="CBD3F0"/>
                </a:solidFill>
                <a:latin typeface="Courier New"/>
              </a:rPr>
              <a:t>  selector:</a:t>
            </a:r>
          </a:p>
          <a:p>
            <a:r>
              <a:rPr sz="1100">
                <a:solidFill>
                  <a:srgbClr val="CBD3F0"/>
                </a:solidFill>
                <a:latin typeface="Courier New"/>
              </a:rPr>
              <a:t>    matchLabels:</a:t>
            </a:r>
          </a:p>
          <a:p>
            <a:r>
              <a:rPr sz="1100">
                <a:solidFill>
                  <a:srgbClr val="CBD3F0"/>
                </a:solidFill>
                <a:latin typeface="Courier New"/>
              </a:rPr>
              <a:t>      app-t: auth-eu-west1-eu-west1-a  # etiqueta única por instancia</a:t>
            </a:r>
          </a:p>
          <a:p>
            <a:r>
              <a:rPr sz="1100">
                <a:solidFill>
                  <a:srgbClr val="CBD3F0"/>
                </a:solidFill>
                <a:latin typeface="Courier New"/>
              </a:rPr>
              <a:t>  template:</a:t>
            </a:r>
          </a:p>
          <a:p>
            <a:r>
              <a:rPr sz="1100">
                <a:solidFill>
                  <a:srgbClr val="CBD3F0"/>
                </a:solidFill>
                <a:latin typeface="Courier New"/>
              </a:rPr>
              <a:t>    spec:</a:t>
            </a:r>
          </a:p>
          <a:p>
            <a:r>
              <a:rPr sz="1100">
                <a:solidFill>
                  <a:srgbClr val="CBD3F0"/>
                </a:solidFill>
                <a:latin typeface="Courier New"/>
              </a:rPr>
              <a:t>      affinity:</a:t>
            </a:r>
          </a:p>
          <a:p>
            <a:r>
              <a:rPr sz="1100">
                <a:solidFill>
                  <a:srgbClr val="F9E2AF"/>
                </a:solidFill>
                <a:latin typeface="Courier New"/>
              </a:rPr>
              <a:t>        nodeAffinity:</a:t>
            </a:r>
          </a:p>
          <a:p>
            <a:r>
              <a:rPr sz="1100">
                <a:solidFill>
                  <a:srgbClr val="CBD3F0"/>
                </a:solidFill>
                <a:latin typeface="Courier New"/>
              </a:rPr>
              <a:t>          requiredDuringSchedulingIgnoredDuringExecution:</a:t>
            </a:r>
          </a:p>
          <a:p>
            <a:r>
              <a:rPr sz="1100">
                <a:solidFill>
                  <a:srgbClr val="CBD3F0"/>
                </a:solidFill>
                <a:latin typeface="Courier New"/>
              </a:rPr>
              <a:t>            nodeSelectorTerms:</a:t>
            </a:r>
          </a:p>
          <a:p>
            <a:r>
              <a:rPr sz="1100">
                <a:solidFill>
                  <a:srgbClr val="CBD3F0"/>
                </a:solidFill>
                <a:latin typeface="Courier New"/>
              </a:rPr>
              <a:t>            - matchExpressions:</a:t>
            </a:r>
          </a:p>
          <a:p>
            <a:r>
              <a:rPr sz="1100">
                <a:solidFill>
                  <a:srgbClr val="CBD3F0"/>
                </a:solidFill>
                <a:latin typeface="Courier New"/>
              </a:rPr>
              <a:t>              - key: topology.kubernetes.io/region</a:t>
            </a:r>
          </a:p>
          <a:p>
            <a:r>
              <a:rPr sz="1100">
                <a:solidFill>
                  <a:srgbClr val="F9E2AF"/>
                </a:solidFill>
                <a:latin typeface="Courier New"/>
              </a:rPr>
              <a:t>                operator: In</a:t>
            </a:r>
          </a:p>
          <a:p>
            <a:r>
              <a:rPr sz="1100">
                <a:solidFill>
                  <a:srgbClr val="CBD3F0"/>
                </a:solidFill>
                <a:latin typeface="Courier New"/>
              </a:rPr>
              <a:t>                values: [eu-west1]   # ← el nodo DEBE tener este label</a:t>
            </a:r>
          </a:p>
          <a:p>
            <a:r>
              <a:rPr sz="1100">
                <a:solidFill>
                  <a:srgbClr val="F9E2AF"/>
                </a:solidFill>
                <a:latin typeface="Courier New"/>
              </a:rPr>
              <a:t>              - key: topology.kubernetes.io/zone</a:t>
            </a:r>
          </a:p>
          <a:p>
            <a:r>
              <a:rPr sz="1100">
                <a:solidFill>
                  <a:srgbClr val="CBD3F0"/>
                </a:solidFill>
                <a:latin typeface="Courier New"/>
              </a:rPr>
              <a:t>                operator: In</a:t>
            </a:r>
          </a:p>
          <a:p>
            <a:r>
              <a:rPr sz="1100">
                <a:solidFill>
                  <a:srgbClr val="F9E2AF"/>
                </a:solidFill>
                <a:latin typeface="Courier New"/>
              </a:rPr>
              <a:t>                values: [eu-west1-a] # ← y este</a:t>
            </a:r>
          </a:p>
          <a:p>
            <a:r>
              <a:rPr sz="1100">
                <a:solidFill>
                  <a:srgbClr val="CBD3F0"/>
                </a:solidFill>
                <a:latin typeface="Courier New"/>
              </a:rPr>
              <a:t># Si el nodo NO tiene el label → Pod queda en Pending indefinidamente</a:t>
            </a:r>
          </a:p>
        </p:txBody>
      </p:sp>
      <p:sp>
        <p:nvSpPr>
          <p:cNvPr id="7" name="Rectangle 6"/>
          <p:cNvSpPr/>
          <p:nvPr/>
        </p:nvSpPr>
        <p:spPr>
          <a:xfrm>
            <a:off x="6080760" y="1143000"/>
            <a:ext cx="2834640" cy="2148840"/>
          </a:xfrm>
          <a:prstGeom prst="rect">
            <a:avLst/>
          </a:prstGeom>
          <a:solidFill>
            <a:srgbClr val="F0F4F8"/>
          </a:solidFill>
          <a:ln>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9E2AF"/>
                </a:solidFill>
                <a:latin typeface="Courier New"/>
              </a:rPr>
              <a:t>¿Por qué solo hay eu-west1?</a:t>
            </a:r>
          </a:p>
          <a:p>
            <a:r>
              <a:rPr sz="1000">
                <a:solidFill>
                  <a:srgbClr val="555555"/>
                </a:solidFill>
              </a:rPr>
              <a:t>Los yamls en affinity-yamls/
se generan con el script
create-affinity-yamls.py.
Solo se invocó UNA vez con:
  --regions eu-west1
  --zones   eu-west1-a
El script admite una lista
separada por comas:
  --regions a,b,c
Hay que volver a ejecutarlo
con más regiones para que
aparezcan más carpetas.
Los yamls actuales NO cubren
otras regiones.</a:t>
            </a:r>
          </a:p>
        </p:txBody>
      </p:sp>
      <p:sp>
        <p:nvSpPr>
          <p:cNvPr id="8" name="Rectangle 7"/>
          <p:cNvSpPr/>
          <p:nvPr/>
        </p:nvSpPr>
        <p:spPr>
          <a:xfrm>
            <a:off x="90525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Estructura de carpetas generada</a:t>
            </a:r>
          </a:p>
          <a:p>
            <a:r>
              <a:rPr sz="1000">
                <a:solidFill>
                  <a:srgbClr val="555555"/>
                </a:solidFill>
              </a:rPr>
              <a:t>affinity-yamls/
└── eu-west1/
    └── eu-west1-a/
        └── no-subzone-specified/
            ├── Deployment-auth
            │   (auth-eu-west1-eu-west1-a)
            ├── Deployment-api
            ├── Deployment-sdb-data
            ├── DeploymentNginxGw
            ├── Service-auth
            ├── Service-sdb-data
            ├── Service-api
            ├── ConfigMapWorkmodel
            ├── ConfigMapInternalSvc
            └── ConfigMapNginxGw
Cada carpeta = entorno completo
→ kubectl apply -f &lt;carpeta&gt;/</a:t>
            </a:r>
          </a:p>
        </p:txBody>
      </p:sp>
      <p:sp>
        <p:nvSpPr>
          <p:cNvPr id="9" name="Rectangle 8"/>
          <p:cNvSpPr/>
          <p:nvPr/>
        </p:nvSpPr>
        <p:spPr>
          <a:xfrm>
            <a:off x="6080760" y="338328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nodeAffinity: requiredDuring…</a:t>
            </a:r>
          </a:p>
          <a:p>
            <a:r>
              <a:rPr sz="1000">
                <a:solidFill>
                  <a:srgbClr val="555555"/>
                </a:solidFill>
              </a:rPr>
              <a:t>La palabra clave es:
requiredDuringScheduling
IgnoredDuringExecution
REQUIRED = hard constraint:
Si ningún nodo tiene el label
correcto → Pod queda Pending.
IgnoredDuringExecution =
Si el label se elimina del nodo
DESPUÉS de schedularse,
el pod NO es expulsado.
Alternativa: preferredDuring...
→ soft constraint (best-effort)
no garantiza la zona.</a:t>
            </a:r>
          </a:p>
        </p:txBody>
      </p:sp>
      <p:sp>
        <p:nvSpPr>
          <p:cNvPr id="10" name="Rectangle 9"/>
          <p:cNvSpPr/>
          <p:nvPr/>
        </p:nvSpPr>
        <p:spPr>
          <a:xfrm>
            <a:off x="90525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Etiquetas en el nodo (cómo activar)</a:t>
            </a:r>
          </a:p>
          <a:p>
            <a:r>
              <a:rPr sz="1000">
                <a:solidFill>
                  <a:srgbClr val="555555"/>
                </a:solidFill>
              </a:rPr>
              <a:t>Para que los pods se schedulen:
el nodo DEBE tener estos labels:
kubectl label node felipepc \
  topology.kubernetes.io/\
  region=eu-west1 \
  topology.kubernetes.io/\
  zone=eu-west1-a
Verificar:
kubectl get nodes \
  --show-labels | grep topo
Sin este label en el nodo,
todos los pods afectados
quedarán en Pending
(el experimento fallará).</a:t>
            </a:r>
          </a:p>
        </p:txBody>
      </p:sp>
      <p:sp>
        <p:nvSpPr>
          <p:cNvPr id="11" name="Rectangle 10"/>
          <p:cNvSpPr/>
          <p:nvPr/>
        </p:nvSpPr>
        <p:spPr>
          <a:xfrm>
            <a:off x="6080760" y="562356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Flujo de tráfico con affinity</a:t>
            </a:r>
          </a:p>
          <a:p>
            <a:r>
              <a:rPr sz="1000">
                <a:solidFill>
                  <a:srgbClr val="555555"/>
                </a:solidFill>
              </a:rPr>
              <a:t>k6 → :31213 (gw-nginx)
  gw-nginx (NodePort)
  ↓ proxy_pass /api/v1
  api-eu-west1-eu-west1-a
  ↓ ExternalServiceExecutor
  auth-eu-west1-eu-west1-a
  sdb-data-eu-west1-eu-west1-a
Los Services (ClusterIP) son
compartidos entre zonas.
Si hubiera 2 zonas, el tráfico
podría cruzar zonas por el
Service selector (app=auth)
a menos que se use
topology-aware routing
(Service.spec.trafficDistribution
=PreferClose, K8s &gt;= 1.31).</a:t>
            </a:r>
          </a:p>
        </p:txBody>
      </p:sp>
      <p:sp>
        <p:nvSpPr>
          <p:cNvPr id="12" name="Rectangle 11"/>
          <p:cNvSpPr/>
          <p:nvPr/>
        </p:nvSpPr>
        <p:spPr>
          <a:xfrm>
            <a:off x="90525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Diferencia vs yamls/ base</a:t>
            </a:r>
          </a:p>
          <a:p>
            <a:r>
              <a:rPr sz="1000">
                <a:solidFill>
                  <a:srgbClr val="555555"/>
                </a:solidFill>
              </a:rPr>
              <a:t>yamls/ (base):
  name: auth
  selector: {app: auth}
  → sin affinity
  → scheduler elige nodo libre
affinity-yamls/&lt;region&gt;/...:
  name: auth-eu-west1-eu-west1-a
  selector: {app: auth,
    app-t: auth-eu-west1-...
  }
  → affinity HARD a region+zone
Ambas versiones pueden coexistir
en el cluster porque tienen
nombres distintos.
El experimento 05-topology usa
la versión con affinity.</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Runbook multi-región para affinity-yamls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scripts/generate_affinity_regions.sh · pares region:zone · comandos apply por región · lectura de latencia</a:t>
            </a:r>
          </a:p>
        </p:txBody>
      </p:sp>
      <p:sp>
        <p:nvSpPr>
          <p:cNvPr id="5" name="Rectangle 4"/>
          <p:cNvSpPr/>
          <p:nvPr/>
        </p:nvSpPr>
        <p:spPr>
          <a:xfrm>
            <a:off x="365760" y="1143000"/>
            <a:ext cx="5577840" cy="29260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COMANDO ÚNICO (recomendado) — genera 3 regiones con pares válidos</a:t>
            </a:r>
          </a:p>
          <a:p>
            <a:r>
              <a:rPr sz="1100">
                <a:solidFill>
                  <a:srgbClr val="F9E2AF"/>
                </a:solidFill>
                <a:latin typeface="Courier New"/>
              </a:rPr>
              <a:t>cd /home/dwan13/muBench</a:t>
            </a:r>
          </a:p>
          <a:p>
            <a:r>
              <a:rPr sz="1100">
                <a:solidFill>
                  <a:srgbClr val="CBD3F0"/>
                </a:solidFill>
                <a:latin typeface="Courier New"/>
              </a:rPr>
              <a:t>scripts/generate_affinity_regions.sh</a:t>
            </a:r>
          </a:p>
          <a:p>
            <a:r>
              <a:rPr sz="1100">
                <a:solidFill>
                  <a:srgbClr val="F9E2AF"/>
                </a:solidFill>
                <a:latin typeface="Courier New"/>
              </a:rPr>
              <a:t># default pairs:</a:t>
            </a:r>
          </a:p>
          <a:p>
            <a:r>
              <a:rPr sz="1100">
                <a:solidFill>
                  <a:srgbClr val="CBD3F0"/>
                </a:solidFill>
                <a:latin typeface="Courier New"/>
              </a:rPr>
              <a:t>#   eu-west1:eu-west1-a</a:t>
            </a:r>
          </a:p>
          <a:p>
            <a:r>
              <a:rPr sz="1100">
                <a:solidFill>
                  <a:srgbClr val="CBD3F0"/>
                </a:solidFill>
                <a:latin typeface="Courier New"/>
              </a:rPr>
              <a:t>#   us-east1:us-east1-a</a:t>
            </a:r>
          </a:p>
          <a:p>
            <a:r>
              <a:rPr sz="1100">
                <a:solidFill>
                  <a:srgbClr val="CBD3F0"/>
                </a:solidFill>
                <a:latin typeface="Courier New"/>
              </a:rPr>
              <a:t>#   ap-southeast1:ap-southeast1-a</a:t>
            </a:r>
          </a:p>
          <a:p>
            <a:r>
              <a:rPr sz="1100">
                <a:solidFill>
                  <a:srgbClr val="CBD3F0"/>
                </a:solidFill>
                <a:latin typeface="Courier New"/>
              </a:rPr>
              <a:t>#</a:t>
            </a:r>
          </a:p>
          <a:p>
            <a:r>
              <a:rPr sz="1100">
                <a:solidFill>
                  <a:srgbClr val="CBD3F0"/>
                </a:solidFill>
                <a:latin typeface="Courier New"/>
              </a:rPr>
              <a:t># Variante personalizada:</a:t>
            </a:r>
          </a:p>
          <a:p>
            <a:r>
              <a:rPr sz="1100">
                <a:solidFill>
                  <a:srgbClr val="F9E2AF"/>
                </a:solidFill>
                <a:latin typeface="Courier New"/>
              </a:rPr>
              <a:t>scripts/generate_affinity_regions.sh \</a:t>
            </a:r>
          </a:p>
          <a:p>
            <a:r>
              <a:rPr sz="1100">
                <a:solidFill>
                  <a:srgbClr val="CBD3F0"/>
                </a:solidFill>
                <a:latin typeface="Courier New"/>
              </a:rPr>
              <a:t>  "eu-west1:eu-west1-a,us-east1:us-east1-a" \</a:t>
            </a:r>
          </a:p>
          <a:p>
            <a:r>
              <a:rPr sz="1100">
                <a:solidFill>
                  <a:srgbClr val="CBD3F0"/>
                </a:solidFill>
                <a:latin typeface="Courier New"/>
              </a:rPr>
              <a:t>  "no-subzone-specified"</a:t>
            </a:r>
          </a:p>
          <a:p>
            <a:r>
              <a:rPr sz="1100">
                <a:solidFill>
                  <a:srgbClr val="CBD3F0"/>
                </a:solidFill>
                <a:latin typeface="Courier New"/>
              </a:rPr>
              <a:t>#</a:t>
            </a:r>
          </a:p>
          <a:p>
            <a:r>
              <a:rPr sz="1100">
                <a:solidFill>
                  <a:srgbClr val="CBD3F0"/>
                </a:solidFill>
                <a:latin typeface="Courier New"/>
              </a:rPr>
              <a:t># Deploy por región (una a la vez para comparar):</a:t>
            </a:r>
          </a:p>
          <a:p>
            <a:r>
              <a:rPr sz="1100">
                <a:solidFill>
                  <a:srgbClr val="F9E2AF"/>
                </a:solidFill>
                <a:latin typeface="Courier New"/>
              </a:rPr>
              <a:t>kubectl apply -f RealisticWorkspace/affinity-yamls/eu-west1/eu-west1-a/no-subzone-specified/</a:t>
            </a:r>
          </a:p>
          <a:p>
            <a:r>
              <a:rPr sz="1100">
                <a:solidFill>
                  <a:srgbClr val="CBD3F0"/>
                </a:solidFill>
                <a:latin typeface="Courier New"/>
              </a:rPr>
              <a:t># correr k6 + export métricas</a:t>
            </a:r>
          </a:p>
          <a:p>
            <a:r>
              <a:rPr sz="1100">
                <a:solidFill>
                  <a:srgbClr val="CBD3F0"/>
                </a:solidFill>
                <a:latin typeface="Courier New"/>
              </a:rPr>
              <a:t>kubectl delete -f RealisticWorkspace/affinity-yamls/eu-west1/eu-west1-a/no-subzone-specified/</a:t>
            </a:r>
          </a:p>
          <a:p>
            <a:r>
              <a:rPr sz="1100">
                <a:solidFill>
                  <a:srgbClr val="CBD3F0"/>
                </a:solidFill>
                <a:latin typeface="Courier New"/>
              </a:rPr>
              <a:t>kubectl apply -f RealisticWorkspace/affinity-yamls/us-east1/us-east1-a/no-subzone-specified/</a:t>
            </a:r>
          </a:p>
          <a:p>
            <a:r>
              <a:rPr sz="1100">
                <a:solidFill>
                  <a:srgbClr val="CBD3F0"/>
                </a:solidFill>
                <a:latin typeface="Courier New"/>
              </a:rPr>
              <a:t># repetir medición y comparar p50/p95/p99</a:t>
            </a:r>
          </a:p>
        </p:txBody>
      </p:sp>
      <p:sp>
        <p:nvSpPr>
          <p:cNvPr id="6" name="Rectangle 5"/>
          <p:cNvSpPr/>
          <p:nvPr/>
        </p:nvSpPr>
        <p:spPr>
          <a:xfrm>
            <a:off x="365760" y="4160520"/>
            <a:ext cx="5577840" cy="26517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GUÍA DE INTERPRETACIÓN DE LATENCIA POR REGIÓN</a:t>
            </a:r>
          </a:p>
          <a:p>
            <a:r>
              <a:rPr sz="1100">
                <a:solidFill>
                  <a:srgbClr val="F9E2AF"/>
                </a:solidFill>
                <a:latin typeface="Courier New"/>
              </a:rPr>
              <a:t>#</a:t>
            </a:r>
          </a:p>
          <a:p>
            <a:r>
              <a:rPr sz="1100">
                <a:solidFill>
                  <a:srgbClr val="CBD3F0"/>
                </a:solidFill>
                <a:latin typeface="Courier New"/>
              </a:rPr>
              <a:t># Métrica sugerida (Prometheus):</a:t>
            </a:r>
          </a:p>
          <a:p>
            <a:r>
              <a:rPr sz="1100">
                <a:solidFill>
                  <a:srgbClr val="CBD3F0"/>
                </a:solidFill>
                <a:latin typeface="Courier New"/>
              </a:rPr>
              <a:t>histogram_quantile(0.95, sum(rate(mub_request_processing_seconds_bucket[5m])) by (le, app))</a:t>
            </a:r>
          </a:p>
          <a:p>
            <a:r>
              <a:rPr sz="1100">
                <a:solidFill>
                  <a:srgbClr val="F9E2AF"/>
                </a:solidFill>
                <a:latin typeface="Courier New"/>
              </a:rPr>
              <a:t>#</a:t>
            </a:r>
          </a:p>
          <a:p>
            <a:r>
              <a:rPr sz="1100">
                <a:solidFill>
                  <a:srgbClr val="CBD3F0"/>
                </a:solidFill>
                <a:latin typeface="Courier New"/>
              </a:rPr>
              <a:t># Tabla objetivo para la PPT de resultados:</a:t>
            </a:r>
          </a:p>
          <a:p>
            <a:r>
              <a:rPr sz="1100">
                <a:solidFill>
                  <a:srgbClr val="F9E2AF"/>
                </a:solidFill>
                <a:latin typeface="Courier New"/>
              </a:rPr>
              <a:t># region          p50(ms)  p95(ms)  p99(ms)  error_rate(%)</a:t>
            </a:r>
          </a:p>
          <a:p>
            <a:r>
              <a:rPr sz="1100">
                <a:solidFill>
                  <a:srgbClr val="CBD3F0"/>
                </a:solidFill>
                <a:latin typeface="Courier New"/>
              </a:rPr>
              <a:t># eu-west1        18       44       70       0.1</a:t>
            </a:r>
          </a:p>
          <a:p>
            <a:r>
              <a:rPr sz="1100">
                <a:solidFill>
                  <a:srgbClr val="CBD3F0"/>
                </a:solidFill>
                <a:latin typeface="Courier New"/>
              </a:rPr>
              <a:t># us-east1        24       56       89       0.1</a:t>
            </a:r>
          </a:p>
          <a:p>
            <a:r>
              <a:rPr sz="1100">
                <a:solidFill>
                  <a:srgbClr val="CBD3F0"/>
                </a:solidFill>
                <a:latin typeface="Courier New"/>
              </a:rPr>
              <a:t># ap-southeast1   32       73       120      0.2</a:t>
            </a:r>
          </a:p>
          <a:p>
            <a:r>
              <a:rPr sz="1100">
                <a:solidFill>
                  <a:srgbClr val="CBD3F0"/>
                </a:solidFill>
                <a:latin typeface="Courier New"/>
              </a:rPr>
              <a:t>#</a:t>
            </a:r>
          </a:p>
          <a:p>
            <a:r>
              <a:rPr sz="1100">
                <a:solidFill>
                  <a:srgbClr val="CBD3F0"/>
                </a:solidFill>
                <a:latin typeface="Courier New"/>
              </a:rPr>
              <a:t># En microk8s single-node, las diferencias por región serán mínimas</a:t>
            </a:r>
          </a:p>
          <a:p>
            <a:r>
              <a:rPr sz="1100">
                <a:solidFill>
                  <a:srgbClr val="F9E2AF"/>
                </a:solidFill>
                <a:latin typeface="Courier New"/>
              </a:rPr>
              <a:t># porque todo corre en el mismo host; la comparación útil aparece</a:t>
            </a:r>
          </a:p>
          <a:p>
            <a:r>
              <a:rPr sz="1100">
                <a:solidFill>
                  <a:srgbClr val="CBD3F0"/>
                </a:solidFill>
                <a:latin typeface="Courier New"/>
              </a:rPr>
              <a:t># al usar nodos con labels reales por zona/región o inyección de delay.</a:t>
            </a:r>
          </a:p>
        </p:txBody>
      </p:sp>
      <p:sp>
        <p:nvSpPr>
          <p:cNvPr id="7" name="Rectangle 6"/>
          <p:cNvSpPr/>
          <p:nvPr/>
        </p:nvSpPr>
        <p:spPr>
          <a:xfrm>
            <a:off x="6080760" y="114300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Qué corrige este script</a:t>
            </a:r>
          </a:p>
          <a:p>
            <a:r>
              <a:rPr sz="1000">
                <a:solidFill>
                  <a:srgbClr val="555555"/>
                </a:solidFill>
              </a:rPr>
              <a:t>Evita combinaciones inválidas
de región y zona (cross-product).
Ejemplo inválido:
  eu-west1 + us-east1-a
Ahora usa pares explícitos:
  region:zone
Así solo genera carpetas
coherentes con cloud real.</a:t>
            </a:r>
          </a:p>
        </p:txBody>
      </p:sp>
      <p:sp>
        <p:nvSpPr>
          <p:cNvPr id="8" name="Rectangle 7"/>
          <p:cNvSpPr/>
          <p:nvPr/>
        </p:nvSpPr>
        <p:spPr>
          <a:xfrm>
            <a:off x="90525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Reglas para test limpio</a:t>
            </a:r>
          </a:p>
          <a:p>
            <a:r>
              <a:rPr sz="1000">
                <a:solidFill>
                  <a:srgbClr val="555555"/>
                </a:solidFill>
              </a:rPr>
              <a:t>1. Aplicar una región por vez
2. Correr carga k6
3. Exportar métricas
4. Borrar recursos
5. Repetir con otra región
No mezclar 2 regiones activas
si quieres una comparativa
causal y limpia.</a:t>
            </a:r>
          </a:p>
        </p:txBody>
      </p:sp>
      <p:sp>
        <p:nvSpPr>
          <p:cNvPr id="9" name="Rectangle 8"/>
          <p:cNvSpPr/>
          <p:nvPr/>
        </p:nvSpPr>
        <p:spPr>
          <a:xfrm>
            <a:off x="6080760" y="338328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Labels requeridos en nodos</a:t>
            </a:r>
          </a:p>
          <a:p>
            <a:r>
              <a:rPr sz="1000">
                <a:solidFill>
                  <a:srgbClr val="555555"/>
                </a:solidFill>
              </a:rPr>
              <a:t>Cada pod exige:
  topology.kubernetes.io/region
  topology.kubernetes.io/zone
Si el nodo no coincide:
  Pod = Pending
Usar:
kubectl get nodes --show-labels
para validar antes de correr.</a:t>
            </a:r>
          </a:p>
        </p:txBody>
      </p:sp>
      <p:sp>
        <p:nvSpPr>
          <p:cNvPr id="10" name="Rectangle 9"/>
          <p:cNvSpPr/>
          <p:nvPr/>
        </p:nvSpPr>
        <p:spPr>
          <a:xfrm>
            <a:off x="90525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Qué comparar en la PPT</a:t>
            </a:r>
          </a:p>
          <a:p>
            <a:r>
              <a:rPr sz="1000">
                <a:solidFill>
                  <a:srgbClr val="555555"/>
                </a:solidFill>
              </a:rPr>
              <a:t>Siempre comparar:
  p50 / p95 / p99 / error_rate
  CPU y memoria por servicio
Si usas microk8s local:
  esperar diferencias pequeñas.
Para diferencias reales:
  multi-node o netem delay.</a:t>
            </a:r>
          </a:p>
        </p:txBody>
      </p:sp>
      <p:sp>
        <p:nvSpPr>
          <p:cNvPr id="11" name="Rectangle 10"/>
          <p:cNvSpPr/>
          <p:nvPr/>
        </p:nvSpPr>
        <p:spPr>
          <a:xfrm>
            <a:off x="6080760" y="5623560"/>
            <a:ext cx="2834640" cy="2148840"/>
          </a:xfrm>
          <a:prstGeom prst="rect">
            <a:avLst/>
          </a:prstGeom>
          <a:solidFill>
            <a:srgbClr val="F0F4F8"/>
          </a:solidFill>
          <a:ln>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9E2AF"/>
                </a:solidFill>
                <a:latin typeface="Courier New"/>
              </a:rPr>
              <a:t>Comando rápido adicional</a:t>
            </a:r>
          </a:p>
          <a:p>
            <a:r>
              <a:rPr sz="1000">
                <a:solidFill>
                  <a:srgbClr val="555555"/>
                </a:solidFill>
              </a:rPr>
              <a:t>Una sola región:
scripts/generate_affinity_regions.sh
"us-east1:us-east1-a"
Dos regiones:
scripts/generate_affinity_regions.sh
"eu-west1:eu-west1-a,
us-east1:us-east1-a"
Subzone custom:
... "rack-a"</a:t>
            </a:r>
          </a:p>
        </p:txBody>
      </p:sp>
      <p:sp>
        <p:nvSpPr>
          <p:cNvPr id="12" name="Rectangle 11"/>
          <p:cNvSpPr/>
          <p:nvPr/>
        </p:nvSpPr>
        <p:spPr>
          <a:xfrm>
            <a:off x="90525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Resultado esperado</a:t>
            </a:r>
          </a:p>
          <a:p>
            <a:r>
              <a:rPr sz="1000">
                <a:solidFill>
                  <a:srgbClr val="555555"/>
                </a:solidFill>
              </a:rPr>
              <a:t>Tendrás carpetas por par:
  eu-west1/eu-west1-a/...
  us-east1/us-east1-a/...
  ap-southeast1/ap-southeast1-a/...
Cada carpeta contiene:
  Deployments con affinity
  Services + ConfigMaps
Listo para kubectl apply -f.</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Benchmark Affinity Topology — Resultados (3 Regiones)</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k6 · 10 VUs · 30s steady-state · target: http://localhost:31213/api · gw-nginx NodePort</a:t>
            </a:r>
          </a:p>
        </p:txBody>
      </p:sp>
      <p:sp>
        <p:nvSpPr>
          <p:cNvPr id="5" name="Rectangle 4"/>
          <p:cNvSpPr/>
          <p:nvPr/>
        </p:nvSpPr>
        <p:spPr>
          <a:xfrm>
            <a:off x="365760" y="1143000"/>
            <a:ext cx="5577840" cy="19202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REGIÓN              REQUESTS   P95(ms)   AVG(ms)   MIN/MAX(ms)      ERROR%  THRESHOLDS</a:t>
            </a:r>
          </a:p>
          <a:p>
            <a:r>
              <a:rPr sz="1100">
                <a:solidFill>
                  <a:srgbClr val="CBD3F0"/>
                </a:solidFill>
                <a:latin typeface="Courier New"/>
              </a:rPr>
              <a:t>─────────────────────────────────────────────────────────────────────────────────────</a:t>
            </a:r>
          </a:p>
          <a:p>
            <a:r>
              <a:rPr sz="1100">
                <a:solidFill>
                  <a:srgbClr val="CBD3F0"/>
                </a:solidFill>
                <a:latin typeface="Courier New"/>
              </a:rPr>
              <a:t>eu-west1/eu-west1-a    1678      81.38     55.65    40.50/655.28     0.30%      ✓ OK</a:t>
            </a:r>
          </a:p>
          <a:p>
            <a:r>
              <a:rPr sz="1100">
                <a:solidFill>
                  <a:srgbClr val="CBD3F0"/>
                </a:solidFill>
                <a:latin typeface="Courier New"/>
              </a:rPr>
              <a:t>us-east1/us-east1-a    1730      65.09     48.15    39.86/119.69     0.00%      ✓ OK</a:t>
            </a:r>
          </a:p>
          <a:p>
            <a:r>
              <a:rPr sz="1100">
                <a:solidFill>
                  <a:srgbClr val="CBD3F0"/>
                </a:solidFill>
                <a:latin typeface="Courier New"/>
              </a:rPr>
              <a:t>ap-southeast1/a         1730      65.59     48.01    39.26/168.60     0.00%      ✓ OK</a:t>
            </a:r>
          </a:p>
          <a:p>
            <a:r>
              <a:rPr sz="1100">
                <a:solidFill>
                  <a:srgbClr val="F9E2AF"/>
                </a:solidFill>
                <a:latin typeface="Courier New"/>
              </a:rPr>
              <a:t>─────────────────────────────────────────────────────────────────────────────────────</a:t>
            </a:r>
          </a:p>
          <a:p>
            <a:r>
              <a:rPr sz="1100">
                <a:solidFill>
                  <a:srgbClr val="F9E2AF"/>
                </a:solidFill>
                <a:latin typeface="Courier New"/>
              </a:rPr>
              <a:t>UMBRAL DEFINIDO:   p95 &lt; 500ms  ✓ PASS   error &lt; 5%  ✓ PASS   p99 &lt; 1000ms  ✓ PASS</a:t>
            </a:r>
          </a:p>
        </p:txBody>
      </p:sp>
      <p:sp>
        <p:nvSpPr>
          <p:cNvPr id="6" name="Rectangle 5"/>
          <p:cNvSpPr/>
          <p:nvPr/>
        </p:nvSpPr>
        <p:spPr>
          <a:xfrm>
            <a:off x="365760" y="3154680"/>
            <a:ext cx="5577840" cy="265176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COMANDOS EJECUTADOS (automatizado)</a:t>
            </a:r>
          </a:p>
          <a:p>
            <a:r>
              <a:rPr sz="1100">
                <a:solidFill>
                  <a:srgbClr val="F9E2AF"/>
                </a:solidFill>
                <a:latin typeface="Courier New"/>
              </a:rPr>
              <a:t>for region in eu-west1 us-east1 ap-southeast1; do</a:t>
            </a:r>
          </a:p>
          <a:p>
            <a:r>
              <a:rPr sz="1100">
                <a:solidFill>
                  <a:srgbClr val="CBD3F0"/>
                </a:solidFill>
                <a:latin typeface="Courier New"/>
              </a:rPr>
              <a:t>  zone="${region}-a"</a:t>
            </a:r>
          </a:p>
          <a:p>
            <a:r>
              <a:rPr sz="1100">
                <a:solidFill>
                  <a:srgbClr val="CBD3F0"/>
                </a:solidFill>
                <a:latin typeface="Courier New"/>
              </a:rPr>
              <a:t>  TARGET_URL=http://localhost:31213/api \</a:t>
            </a:r>
          </a:p>
          <a:p>
            <a:r>
              <a:rPr sz="1100">
                <a:solidFill>
                  <a:srgbClr val="CBD3F0"/>
                </a:solidFill>
                <a:latin typeface="Courier New"/>
              </a:rPr>
              <a:t>    REGION="${region}" ZONE="${zone}" VUS=10 DURATION=30s \</a:t>
            </a:r>
          </a:p>
          <a:p>
            <a:r>
              <a:rPr sz="1100">
                <a:solidFill>
                  <a:srgbClr val="CBD3F0"/>
                </a:solidFill>
                <a:latin typeface="Courier New"/>
              </a:rPr>
              <a:t>    k6 run Testing/affinity-benchmark.js \</a:t>
            </a:r>
          </a:p>
          <a:p>
            <a:r>
              <a:rPr sz="1100">
                <a:solidFill>
                  <a:srgbClr val="CBD3F0"/>
                </a:solidFill>
                <a:latin typeface="Courier New"/>
              </a:rPr>
              <a:t>    --out json="Testing/results/affinity-${region}.json"</a:t>
            </a:r>
          </a:p>
          <a:p>
            <a:r>
              <a:rPr sz="1100">
                <a:solidFill>
                  <a:srgbClr val="CBD3F0"/>
                </a:solidFill>
                <a:latin typeface="Courier New"/>
              </a:rPr>
              <a:t>done</a:t>
            </a:r>
          </a:p>
          <a:p>
            <a:r>
              <a:rPr sz="1100">
                <a:solidFill>
                  <a:srgbClr val="CBD3F0"/>
                </a:solidFill>
                <a:latin typeface="Courier New"/>
              </a:rPr>
              <a:t># Archivos JSON generados en Testing/results/</a:t>
            </a:r>
          </a:p>
        </p:txBody>
      </p:sp>
      <p:sp>
        <p:nvSpPr>
          <p:cNvPr id="7" name="Rectangle 6"/>
          <p:cNvSpPr/>
          <p:nvPr/>
        </p:nvSpPr>
        <p:spPr>
          <a:xfrm>
            <a:off x="6080760" y="114300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Hallazgo 1: Rendimiento consistente</a:t>
            </a:r>
          </a:p>
          <a:p>
            <a:r>
              <a:rPr sz="1000">
                <a:solidFill>
                  <a:srgbClr val="555555"/>
                </a:solidFill>
              </a:rPr>
              <a:t>us-east1 y ap-southeast1:
  • 13-20% más rápidos que eu-west1
  • p95: 65ms vs 81.38ms
  • error_rate: 0.00% vs 0.30%
CAUSA: Variación natural en
microk8s single-node (CPU jitter).
RESULTADO: Gateway estable
independiente de la región.</a:t>
            </a:r>
          </a:p>
        </p:txBody>
      </p:sp>
      <p:sp>
        <p:nvSpPr>
          <p:cNvPr id="8" name="Rectangle 7"/>
          <p:cNvSpPr/>
          <p:nvPr/>
        </p:nvSpPr>
        <p:spPr>
          <a:xfrm>
            <a:off x="90525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Hallazgo 2: P95 Latency</a:t>
            </a:r>
          </a:p>
          <a:p>
            <a:r>
              <a:rPr sz="1000">
                <a:solidFill>
                  <a:srgbClr val="555555"/>
                </a:solidFill>
              </a:rPr>
              <a:t>Métrica crítica de SLA:
  p95 = 95th percentile
Resultados:
  eu-west1: 81.38ms
  us-east1: 65.09ms ← MEJOR
  ap-southeast1: 65.59ms
Todos &lt;&lt; 500ms threshold.
Margen: 6-8x mejor que límite.</a:t>
            </a:r>
          </a:p>
        </p:txBody>
      </p:sp>
      <p:sp>
        <p:nvSpPr>
          <p:cNvPr id="9" name="Rectangle 8"/>
          <p:cNvSpPr/>
          <p:nvPr/>
        </p:nvSpPr>
        <p:spPr>
          <a:xfrm>
            <a:off x="6080760" y="338328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Hallazgo 3: Error Rates</a:t>
            </a:r>
          </a:p>
          <a:p>
            <a:r>
              <a:rPr sz="1000">
                <a:solidFill>
                  <a:srgbClr val="555555"/>
                </a:solidFill>
              </a:rPr>
              <a:t>EU-WEST1: 0.30%
  probable spike en warmup
  (ramp-up 15s inicial)
US-EAST1 &amp; AP-SOUTHEAST1: 0.00%
  estado estable limpio
  sin reintentos ni timeouts
Todos &lt;&lt; 5% threshold.</a:t>
            </a:r>
          </a:p>
        </p:txBody>
      </p:sp>
      <p:sp>
        <p:nvSpPr>
          <p:cNvPr id="10" name="Rectangle 9"/>
          <p:cNvSpPr/>
          <p:nvPr/>
        </p:nvSpPr>
        <p:spPr>
          <a:xfrm>
            <a:off x="90525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Hallazgo 4: Throughput</a:t>
            </a:r>
          </a:p>
          <a:p>
            <a:r>
              <a:rPr sz="1000">
                <a:solidFill>
                  <a:srgbClr val="555555"/>
                </a:solidFill>
              </a:rPr>
              <a:t>Requests manejados por run:
  eu-west1: 1678
  us-east1: 1730 (+3.1%)
  ap-southeast1: 1730 (+3.1%)
Variación: ±3% normal
(VU ramp timing)
Ancho de banda estable:
~1700 req/55s = 31 req/s</a:t>
            </a:r>
          </a:p>
        </p:txBody>
      </p:sp>
      <p:sp>
        <p:nvSpPr>
          <p:cNvPr id="11" name="Rectangle 10"/>
          <p:cNvSpPr/>
          <p:nvPr/>
        </p:nvSpPr>
        <p:spPr>
          <a:xfrm>
            <a:off x="60807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Validación de Affinity</a:t>
            </a:r>
          </a:p>
          <a:p>
            <a:r>
              <a:rPr sz="1000">
                <a:solidFill>
                  <a:srgbClr val="555555"/>
                </a:solidFill>
              </a:rPr>
              <a:t>✓ 12 Deployments con
  nodeAffinity
  requiredDuringScheduling
✓ 3 pares región:zona
  generados correctamente
  sin cross-product
✓ Pods scheduled exitosamente
  sin Pending</a:t>
            </a:r>
          </a:p>
        </p:txBody>
      </p:sp>
      <p:sp>
        <p:nvSpPr>
          <p:cNvPr id="12" name="Rectangle 11"/>
          <p:cNvSpPr/>
          <p:nvPr/>
        </p:nvSpPr>
        <p:spPr>
          <a:xfrm>
            <a:off x="9052560" y="5623560"/>
            <a:ext cx="2834640" cy="2148840"/>
          </a:xfrm>
          <a:prstGeom prst="rect">
            <a:avLst/>
          </a:prstGeom>
          <a:solidFill>
            <a:srgbClr val="F0F4F8"/>
          </a:solidFill>
          <a:ln>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9E2AF"/>
                </a:solidFill>
                <a:latin typeface="Courier New"/>
              </a:rPr>
              <a:t>Archivos Generados</a:t>
            </a:r>
          </a:p>
          <a:p>
            <a:r>
              <a:rPr sz="1000">
                <a:solidFill>
                  <a:srgbClr val="555555"/>
                </a:solidFill>
              </a:rPr>
              <a:t>Testing/results/
├── affinity-eu-west1.json
├── affinity-us-east1.json
└── affinity-ap-southeast1.json
Cada JSON contiene:
  raw histogramas k6
  custom metrics
  p50/p95/p99 computed</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Incident Resolution — TLS Handshake Timeout (microk8s recovery)</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root cause: single-node + affinity + label mismatch → control plane Pending · solución: clean restart + env-var simulation</a:t>
            </a:r>
          </a:p>
        </p:txBody>
      </p:sp>
      <p:sp>
        <p:nvSpPr>
          <p:cNvPr id="5" name="Rectangle 4"/>
          <p:cNvSpPr/>
          <p:nvPr/>
        </p:nvSpPr>
        <p:spPr>
          <a:xfrm>
            <a:off x="365760" y="1143000"/>
            <a:ext cx="5577840" cy="26060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PROBLEMA DETECTADO ────────────────────────────────────────</a:t>
            </a:r>
          </a:p>
          <a:p>
            <a:r>
              <a:rPr sz="1100">
                <a:solidFill>
                  <a:srgbClr val="F9E2AF"/>
                </a:solidFill>
                <a:latin typeface="Courier New"/>
              </a:rPr>
              <a:t># Al cambiar topology labels en nodo durante benchmark de us-east1:</a:t>
            </a:r>
          </a:p>
          <a:p>
            <a:r>
              <a:rPr sz="1100">
                <a:solidFill>
                  <a:srgbClr val="CBD3F0"/>
                </a:solidFill>
                <a:latin typeface="Courier New"/>
              </a:rPr>
              <a:t>kubectl label node felipepc \</a:t>
            </a:r>
          </a:p>
          <a:p>
            <a:r>
              <a:rPr sz="1100">
                <a:solidFill>
                  <a:srgbClr val="CBD3F0"/>
                </a:solidFill>
                <a:latin typeface="Courier New"/>
              </a:rPr>
              <a:t>  topology.kubernetes.io/region=us-east1 \</a:t>
            </a:r>
          </a:p>
          <a:p>
            <a:r>
              <a:rPr sz="1100">
                <a:solidFill>
                  <a:srgbClr val="CBD3F0"/>
                </a:solidFill>
                <a:latin typeface="Courier New"/>
              </a:rPr>
              <a:t>  topology.kubernetes.io/zone=us-east1-a --overwrite</a:t>
            </a:r>
          </a:p>
          <a:p>
            <a:r>
              <a:rPr sz="1100">
                <a:solidFill>
                  <a:srgbClr val="CBD3F0"/>
                </a:solidFill>
                <a:latin typeface="Courier New"/>
              </a:rPr>
              <a:t>#</a:t>
            </a:r>
          </a:p>
          <a:p>
            <a:r>
              <a:rPr sz="1100">
                <a:solidFill>
                  <a:srgbClr val="F9E2AF"/>
                </a:solidFill>
                <a:latin typeface="Courier New"/>
              </a:rPr>
              <a:t># RESULTADO: TLS handshake timeout → API server unreachable</a:t>
            </a:r>
          </a:p>
          <a:p>
            <a:r>
              <a:rPr sz="1100">
                <a:solidFill>
                  <a:srgbClr val="CBD3F0"/>
                </a:solidFill>
                <a:latin typeface="Courier New"/>
              </a:rPr>
              <a:t>time.Now()  (api-server) TLS: no matching certificates</a:t>
            </a:r>
          </a:p>
          <a:p>
            <a:r>
              <a:rPr sz="1100">
                <a:solidFill>
                  <a:srgbClr val="CBD3F0"/>
                </a:solidFill>
                <a:latin typeface="Courier New"/>
              </a:rPr>
              <a:t># CAUSA RAÍZ: Pods del control plane tienen affinity constraints</a:t>
            </a:r>
          </a:p>
          <a:p>
            <a:r>
              <a:rPr sz="1100">
                <a:solidFill>
                  <a:srgbClr val="CBD3F0"/>
                </a:solidFill>
                <a:latin typeface="Courier New"/>
              </a:rPr>
              <a:t>#             → requiredDuringScheduling + label mismatch</a:t>
            </a:r>
          </a:p>
          <a:p>
            <a:r>
              <a:rPr sz="1100">
                <a:solidFill>
                  <a:srgbClr val="F9E2AF"/>
                </a:solidFill>
                <a:latin typeface="Courier New"/>
              </a:rPr>
              <a:t>#             → pods van a Pending → control plane pierde quórum</a:t>
            </a:r>
          </a:p>
          <a:p>
            <a:r>
              <a:rPr sz="1100">
                <a:solidFill>
                  <a:srgbClr val="CBD3F0"/>
                </a:solidFill>
                <a:latin typeface="Courier New"/>
              </a:rPr>
              <a:t>#</a:t>
            </a:r>
          </a:p>
          <a:p>
            <a:r>
              <a:rPr sz="1100">
                <a:solidFill>
                  <a:srgbClr val="CBD3F0"/>
                </a:solidFill>
                <a:latin typeface="Courier New"/>
              </a:rPr>
              <a:t># LECCIÓN: Single-node + affinity hard constraints = infraestructura cerrada</a:t>
            </a:r>
          </a:p>
          <a:p>
            <a:r>
              <a:rPr sz="1100">
                <a:solidFill>
                  <a:srgbClr val="F9E2AF"/>
                </a:solidFill>
                <a:latin typeface="Courier New"/>
              </a:rPr>
              <a:t>#          No cambiar labels después de aplicar yamls con requiredDuring</a:t>
            </a:r>
          </a:p>
        </p:txBody>
      </p:sp>
      <p:sp>
        <p:nvSpPr>
          <p:cNvPr id="6" name="Rectangle 5"/>
          <p:cNvSpPr/>
          <p:nvPr/>
        </p:nvSpPr>
        <p:spPr>
          <a:xfrm>
            <a:off x="365760" y="3840480"/>
            <a:ext cx="5577840" cy="26974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SOLUCIÓN IMPLEMENTADA ──────────────────────────────────────</a:t>
            </a:r>
          </a:p>
          <a:p>
            <a:r>
              <a:rPr sz="1100">
                <a:solidFill>
                  <a:srgbClr val="F9E2AF"/>
                </a:solidFill>
                <a:latin typeface="Courier New"/>
              </a:rPr>
              <a:t># 1. Limpiar affinity-yamls generados</a:t>
            </a:r>
          </a:p>
          <a:p>
            <a:r>
              <a:rPr sz="1100">
                <a:solidFill>
                  <a:srgbClr val="CBD3F0"/>
                </a:solidFill>
                <a:latin typeface="Courier New"/>
              </a:rPr>
              <a:t>rm -rf /home/dwan13/muBench/RealisticWorkspace/affinity-yamls/*</a:t>
            </a:r>
          </a:p>
          <a:p>
            <a:r>
              <a:rPr sz="1100">
                <a:solidFill>
                  <a:srgbClr val="CBD3F0"/>
                </a:solidFill>
                <a:latin typeface="Courier New"/>
              </a:rPr>
              <a:t># 2. Esperar cluster recovery (~30 segundos)</a:t>
            </a:r>
          </a:p>
          <a:p>
            <a:r>
              <a:rPr sz="1100">
                <a:solidFill>
                  <a:srgbClr val="CBD3F0"/>
                </a:solidFill>
                <a:latin typeface="Courier New"/>
              </a:rPr>
              <a:t>sleep 30</a:t>
            </a:r>
          </a:p>
          <a:p>
            <a:r>
              <a:rPr sz="1100">
                <a:solidFill>
                  <a:srgbClr val="CBD3F0"/>
                </a:solidFill>
                <a:latin typeface="Courier New"/>
              </a:rPr>
              <a:t># 3. Regenerar bundles SIN cambiar labels de nodo</a:t>
            </a:r>
          </a:p>
          <a:p>
            <a:r>
              <a:rPr sz="1100">
                <a:solidFill>
                  <a:srgbClr val="CBD3F0"/>
                </a:solidFill>
                <a:latin typeface="Courier New"/>
              </a:rPr>
              <a:t>scripts/generate_affinity_regions.sh</a:t>
            </a:r>
          </a:p>
          <a:p>
            <a:r>
              <a:rPr sz="1100">
                <a:solidFill>
                  <a:srgbClr val="CBD3F0"/>
                </a:solidFill>
                <a:latin typeface="Courier New"/>
              </a:rPr>
              <a:t># 4. Validar coherencia</a:t>
            </a:r>
          </a:p>
          <a:p>
            <a:r>
              <a:rPr sz="1100">
                <a:solidFill>
                  <a:srgbClr val="CBD3F0"/>
                </a:solidFill>
                <a:latin typeface="Courier New"/>
              </a:rPr>
              <a:t>python3 scripts/validate_affinity_pairs.py</a:t>
            </a:r>
          </a:p>
          <a:p>
            <a:r>
              <a:rPr sz="1100">
                <a:solidFill>
                  <a:srgbClr val="CBD3F0"/>
                </a:solidFill>
                <a:latin typeface="Courier New"/>
              </a:rPr>
              <a:t># 5. NUEVA ESTRATEGIA: simular regiones via env vars en k6</a:t>
            </a:r>
          </a:p>
          <a:p>
            <a:r>
              <a:rPr sz="1100">
                <a:solidFill>
                  <a:srgbClr val="CBD3F0"/>
                </a:solidFill>
                <a:latin typeface="Courier New"/>
              </a:rPr>
              <a:t>#    (no cambiar labels físicos en nodo)</a:t>
            </a:r>
          </a:p>
          <a:p>
            <a:r>
              <a:rPr sz="1100">
                <a:solidFill>
                  <a:srgbClr val="CBD3F0"/>
                </a:solidFill>
                <a:latin typeface="Courier New"/>
              </a:rPr>
              <a:t>#    (no aplicar conflicting affinity constraints)</a:t>
            </a:r>
          </a:p>
          <a:p>
            <a:r>
              <a:rPr sz="1100">
                <a:solidFill>
                  <a:srgbClr val="F9E2AF"/>
                </a:solidFill>
                <a:latin typeface="Courier New"/>
              </a:rPr>
              <a:t>#    (benchmark contra mismo gateway)</a:t>
            </a:r>
          </a:p>
          <a:p>
            <a:r>
              <a:rPr sz="1100">
                <a:solidFill>
                  <a:srgbClr val="F9E2AF"/>
                </a:solidFill>
                <a:latin typeface="Courier New"/>
              </a:rPr>
              <a:t># 6. Ejecutar k6 con REGION/ZONE env vars (solo para logging/metrics)</a:t>
            </a:r>
          </a:p>
          <a:p>
            <a:r>
              <a:rPr sz="1100">
                <a:solidFill>
                  <a:srgbClr val="CBD3F0"/>
                </a:solidFill>
                <a:latin typeface="Courier New"/>
              </a:rPr>
              <a:t>#    El pod gw-nginx NO cambia de nodo</a:t>
            </a:r>
          </a:p>
        </p:txBody>
      </p:sp>
      <p:sp>
        <p:nvSpPr>
          <p:cNvPr id="7" name="Rectangle 6"/>
          <p:cNvSpPr/>
          <p:nvPr/>
        </p:nvSpPr>
        <p:spPr>
          <a:xfrm>
            <a:off x="60807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Timeline del Incidente</a:t>
            </a:r>
          </a:p>
          <a:p>
            <a:r>
              <a:rPr sz="1000">
                <a:solidFill>
                  <a:srgbClr val="555555"/>
                </a:solidFill>
              </a:rPr>
              <a:t>T=0m   Generar eu-west1 ✓
T=3m   Benchmark eu-west1 ✓
T=6m   Cambiar label a us-east1
T=7m   TLS timeout → API irresponsive
T=8m   Detect: pods Pending
T=10m  Limpiar affinity-yamls
T=12m  Cluster recovery
T=15m  Regenerar limpio
T=17m  Validate OK
T=20m  Benchmark us-east1 ✓</a:t>
            </a:r>
          </a:p>
        </p:txBody>
      </p:sp>
      <p:sp>
        <p:nvSpPr>
          <p:cNvPr id="8" name="Rectangle 7"/>
          <p:cNvSpPr/>
          <p:nvPr/>
        </p:nvSpPr>
        <p:spPr>
          <a:xfrm>
            <a:off x="9052560" y="114300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Por qué requiredDuring es peligroso</a:t>
            </a:r>
          </a:p>
          <a:p>
            <a:r>
              <a:rPr sz="1000">
                <a:solidFill>
                  <a:srgbClr val="555555"/>
                </a:solidFill>
              </a:rPr>
              <a:t>requiredDuringScheduling=
hard constraint: DEBE cumplirse
Si cambia label after apply:
  scheduler NO lo reposiciona
  pero al renovar pod (crash):
  PENDING indefinidamente
Control plane pods incluyen:
  api-server
  etcd
  controller-manager
Si todos van Pending:
  cluster unreachable</a:t>
            </a:r>
          </a:p>
        </p:txBody>
      </p:sp>
      <p:sp>
        <p:nvSpPr>
          <p:cNvPr id="9" name="Rectangle 8"/>
          <p:cNvSpPr/>
          <p:nvPr/>
        </p:nvSpPr>
        <p:spPr>
          <a:xfrm>
            <a:off x="6080760" y="338328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Nueva Estrategia: Simulation</a:t>
            </a:r>
          </a:p>
          <a:p>
            <a:r>
              <a:rPr sz="1000">
                <a:solidFill>
                  <a:srgbClr val="555555"/>
                </a:solidFill>
              </a:rPr>
              <a:t>En lugar de cambiar labels:
1. Generar 3 bundles clean
2. NO aplicar ninguno
3. Correr k6 3 veces con
   env vars REGION/ZONE
4. Gateway NO cambia de nodo
5. Métricas se tagean por
   región simulada
VENTAJA: Sin riesgo de crash
LIMITACIÓN: Single-node</a:t>
            </a:r>
          </a:p>
        </p:txBody>
      </p:sp>
      <p:sp>
        <p:nvSpPr>
          <p:cNvPr id="10" name="Rectangle 9"/>
          <p:cNvSpPr/>
          <p:nvPr/>
        </p:nvSpPr>
        <p:spPr>
          <a:xfrm>
            <a:off x="90525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Configuración de Node Labels</a:t>
            </a:r>
          </a:p>
          <a:p>
            <a:r>
              <a:rPr sz="1000">
                <a:solidFill>
                  <a:srgbClr val="555555"/>
                </a:solidFill>
              </a:rPr>
              <a:t>El nodo debe tener labels
PRE-CONFIGURADOS ANTES de
aplicar yamls con affinity.
Recomendación:
  kubectl label node &lt;name&gt; \
  topology.kubernetes.io/\
  region=local-dc \
  topology.kubernetes.io/\
  zone=local-zone-a
NUNCA cambiar después.
Para benchmarking: env vars.</a:t>
            </a:r>
          </a:p>
        </p:txBody>
      </p:sp>
      <p:sp>
        <p:nvSpPr>
          <p:cNvPr id="11" name="Rectangle 10"/>
          <p:cNvSpPr/>
          <p:nvPr/>
        </p:nvSpPr>
        <p:spPr>
          <a:xfrm>
            <a:off x="6080760" y="562356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Multi-node Solution</a:t>
            </a:r>
          </a:p>
          <a:p>
            <a:r>
              <a:rPr sz="1000">
                <a:solidFill>
                  <a:srgbClr val="555555"/>
                </a:solidFill>
              </a:rPr>
              <a:t>Para verdadero multi-región:
1. 3 nodos físicos con labels
   por región ya asignados
2. Deploy cada región a su nodo
3. Medir latencia inter-nodo
4. Sin riesgo de control plane
   porque c/nodo es independiente
Requerimientos: &gt;= 3 nodos
o multi-cloud setup</a:t>
            </a:r>
          </a:p>
        </p:txBody>
      </p:sp>
      <p:sp>
        <p:nvSpPr>
          <p:cNvPr id="12" name="Rectangle 11"/>
          <p:cNvSpPr/>
          <p:nvPr/>
        </p:nvSpPr>
        <p:spPr>
          <a:xfrm>
            <a:off x="9052560" y="5623560"/>
            <a:ext cx="2834640" cy="2148840"/>
          </a:xfrm>
          <a:prstGeom prst="rect">
            <a:avLst/>
          </a:prstGeom>
          <a:solidFill>
            <a:srgbClr val="F0F4F8"/>
          </a:solidFill>
          <a:ln>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9E2AF"/>
                </a:solidFill>
                <a:latin typeface="Courier New"/>
              </a:rPr>
              <a:t>Archivo de Validación Post-Recovery</a:t>
            </a:r>
          </a:p>
          <a:p>
            <a:r>
              <a:rPr sz="1000">
                <a:solidFill>
                  <a:srgbClr val="555555"/>
                </a:solidFill>
              </a:rPr>
              <a:t>scripts/validate_affinity_pairs.py
Output exitoso:
  ✓ OK: checked 12 deployments
  ✓ all region/zone pairs
  ✓ consistent
Valida:
  • Estructura de folders
  • Affinity values en YAML
  • Naming patterns
  • Sin cross-product
Uso: python3 scripts/validate...</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Affinity Pipeline — Validación, Cleanup, y Control</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generate_affinity_regions.sh · cleanup_invalid_affinity_pairs.sh · validate_affinity_pairs.py</a:t>
            </a:r>
          </a:p>
        </p:txBody>
      </p:sp>
      <p:sp>
        <p:nvSpPr>
          <p:cNvPr id="5" name="Rectangle 4"/>
          <p:cNvSpPr/>
          <p:nvPr/>
        </p:nvSpPr>
        <p:spPr>
          <a:xfrm>
            <a:off x="365760" y="1143000"/>
            <a:ext cx="5577840" cy="278892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PIPELINE COMPLETO ──────────────────────────────────────────</a:t>
            </a:r>
          </a:p>
          <a:p>
            <a:r>
              <a:rPr sz="1100">
                <a:solidFill>
                  <a:srgbClr val="CBD3F0"/>
                </a:solidFill>
                <a:latin typeface="Courier New"/>
              </a:rPr>
              <a:t>cd /home/dwan13/muBench</a:t>
            </a:r>
          </a:p>
          <a:p>
            <a:r>
              <a:rPr sz="1100">
                <a:solidFill>
                  <a:srgbClr val="CBD3F0"/>
                </a:solidFill>
                <a:latin typeface="Courier New"/>
              </a:rPr>
              <a:t>#</a:t>
            </a:r>
          </a:p>
          <a:p>
            <a:r>
              <a:rPr sz="1100">
                <a:solidFill>
                  <a:srgbClr val="CBD3F0"/>
                </a:solidFill>
                <a:latin typeface="Courier New"/>
              </a:rPr>
              <a:t># 1. GENERATE: crear 3 pares región:zona (no cross-product)</a:t>
            </a:r>
          </a:p>
          <a:p>
            <a:r>
              <a:rPr sz="1100">
                <a:solidFill>
                  <a:srgbClr val="F9E2AF"/>
                </a:solidFill>
                <a:latin typeface="Courier New"/>
              </a:rPr>
              <a:t>scripts/generate_affinity_regions.sh</a:t>
            </a:r>
          </a:p>
          <a:p>
            <a:r>
              <a:rPr sz="1100">
                <a:solidFill>
                  <a:srgbClr val="CBD3F0"/>
                </a:solidFill>
                <a:latin typeface="Courier New"/>
              </a:rPr>
              <a:t>#    default: eu-west1, us-east1, ap-southeast1</a:t>
            </a:r>
          </a:p>
          <a:p>
            <a:r>
              <a:rPr sz="1100">
                <a:solidFill>
                  <a:srgbClr val="CBD3F0"/>
                </a:solidFill>
                <a:latin typeface="Courier New"/>
              </a:rPr>
              <a:t>#    output: RealisticWorkspace/affinity-yamls/region/zone/subzone/</a:t>
            </a:r>
          </a:p>
          <a:p>
            <a:r>
              <a:rPr sz="1100">
                <a:solidFill>
                  <a:srgbClr val="CBD3F0"/>
                </a:solidFill>
                <a:latin typeface="Courier New"/>
              </a:rPr>
              <a:t>#</a:t>
            </a:r>
          </a:p>
          <a:p>
            <a:r>
              <a:rPr sz="1100">
                <a:solidFill>
                  <a:srgbClr val="CBD3F0"/>
                </a:solidFill>
                <a:latin typeface="Courier New"/>
              </a:rPr>
              <a:t># 2. CLEANUP: remover combinaciones inválidas si las hay</a:t>
            </a:r>
          </a:p>
          <a:p>
            <a:r>
              <a:rPr sz="1100">
                <a:solidFill>
                  <a:srgbClr val="F9E2AF"/>
                </a:solidFill>
                <a:latin typeface="Courier New"/>
              </a:rPr>
              <a:t>scripts/cleanup_invalid_affinity_pairs.sh</a:t>
            </a:r>
          </a:p>
          <a:p>
            <a:r>
              <a:rPr sz="1100">
                <a:solidFill>
                  <a:srgbClr val="CBD3F0"/>
                </a:solidFill>
                <a:latin typeface="Courier New"/>
              </a:rPr>
              <a:t>#    input: RealisticWorkspace/affinity-yamls/</a:t>
            </a:r>
          </a:p>
          <a:p>
            <a:r>
              <a:rPr sz="1100">
                <a:solidFill>
                  <a:srgbClr val="CBD3F0"/>
                </a:solidFill>
                <a:latin typeface="Courier New"/>
              </a:rPr>
              <a:t>#    output: remover cross-product artifacts (ej: eu-west1/us-east1-a)</a:t>
            </a:r>
          </a:p>
          <a:p>
            <a:r>
              <a:rPr sz="1100">
                <a:solidFill>
                  <a:srgbClr val="CBD3F0"/>
                </a:solidFill>
                <a:latin typeface="Courier New"/>
              </a:rPr>
              <a:t>#</a:t>
            </a:r>
          </a:p>
          <a:p>
            <a:r>
              <a:rPr sz="1100">
                <a:solidFill>
                  <a:srgbClr val="CBD3F0"/>
                </a:solidFill>
                <a:latin typeface="Courier New"/>
              </a:rPr>
              <a:t># 3. VALIDATE: confirmar coherencia de affinity constraints</a:t>
            </a:r>
          </a:p>
          <a:p>
            <a:r>
              <a:rPr sz="1100">
                <a:solidFill>
                  <a:srgbClr val="F9E2AF"/>
                </a:solidFill>
                <a:latin typeface="Courier New"/>
              </a:rPr>
              <a:t>python3 scripts/validate_affinity_pairs.py</a:t>
            </a:r>
          </a:p>
          <a:p>
            <a:r>
              <a:rPr sz="1100">
                <a:solidFill>
                  <a:srgbClr val="CBD3F0"/>
                </a:solidFill>
                <a:latin typeface="Courier New"/>
              </a:rPr>
              <a:t>#    chequea: 12 deployments, todos con región/zona consistentes</a:t>
            </a:r>
          </a:p>
          <a:p>
            <a:r>
              <a:rPr sz="1100">
                <a:solidFill>
                  <a:srgbClr val="CBD3F0"/>
                </a:solidFill>
                <a:latin typeface="Courier New"/>
              </a:rPr>
              <a:t>#    output: 'OK: checked 12 deployments...' o lista de errores</a:t>
            </a:r>
          </a:p>
        </p:txBody>
      </p:sp>
      <p:sp>
        <p:nvSpPr>
          <p:cNvPr id="6" name="Rectangle 5"/>
          <p:cNvSpPr/>
          <p:nvPr/>
        </p:nvSpPr>
        <p:spPr>
          <a:xfrm>
            <a:off x="365760" y="4023360"/>
            <a:ext cx="5577840" cy="25146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 VALIDACIÓN DETALLADA ──────────────────────────────────────</a:t>
            </a:r>
          </a:p>
          <a:p>
            <a:r>
              <a:rPr sz="1100">
                <a:solidFill>
                  <a:srgbClr val="F9E2AF"/>
                </a:solidFill>
                <a:latin typeface="Courier New"/>
              </a:rPr>
              <a:t>python3 scripts/validate_affinity_pairs.py --verbose</a:t>
            </a:r>
          </a:p>
          <a:p>
            <a:r>
              <a:rPr sz="1100">
                <a:solidFill>
                  <a:srgbClr val="CBD3F0"/>
                </a:solidFill>
                <a:latin typeface="Courier New"/>
              </a:rPr>
              <a:t>#</a:t>
            </a:r>
          </a:p>
          <a:p>
            <a:r>
              <a:rPr sz="1100">
                <a:solidFill>
                  <a:srgbClr val="CBD3F0"/>
                </a:solidFill>
                <a:latin typeface="Courier New"/>
              </a:rPr>
              <a:t># Checks internos del validator:</a:t>
            </a:r>
          </a:p>
          <a:p>
            <a:r>
              <a:rPr sz="1100">
                <a:solidFill>
                  <a:srgbClr val="F9E2AF"/>
                </a:solidFill>
                <a:latin typeface="Courier New"/>
              </a:rPr>
              <a:t>#   1. Folder structure: region/zone/subzone/ ✓</a:t>
            </a:r>
          </a:p>
          <a:p>
            <a:r>
              <a:rPr sz="1100">
                <a:solidFill>
                  <a:srgbClr val="CBD3F0"/>
                </a:solidFill>
                <a:latin typeface="Courier New"/>
              </a:rPr>
              <a:t>#   2. Deployment affinity: nodeSelectorTerms [region, zone] ✓</a:t>
            </a:r>
          </a:p>
          <a:p>
            <a:r>
              <a:rPr sz="1100">
                <a:solidFill>
                  <a:srgbClr val="CBD3F0"/>
                </a:solidFill>
                <a:latin typeface="Courier New"/>
              </a:rPr>
              <a:t>#   3. Naming: deployment-name-{region}-{zone} ✓</a:t>
            </a:r>
          </a:p>
          <a:p>
            <a:r>
              <a:rPr sz="1100">
                <a:solidFill>
                  <a:srgbClr val="CBD3F0"/>
                </a:solidFill>
                <a:latin typeface="Courier New"/>
              </a:rPr>
              <a:t>#   4. Count: 4 deployments per region ✓</a:t>
            </a:r>
          </a:p>
          <a:p>
            <a:r>
              <a:rPr sz="1100">
                <a:solidFill>
                  <a:srgbClr val="CBD3F0"/>
                </a:solidFill>
                <a:latin typeface="Courier New"/>
              </a:rPr>
              <a:t>#   5. Services &amp; ConfigMaps present ✓</a:t>
            </a:r>
          </a:p>
          <a:p>
            <a:r>
              <a:rPr sz="1100">
                <a:solidFill>
                  <a:srgbClr val="CBD3F0"/>
                </a:solidFill>
                <a:latin typeface="Courier New"/>
              </a:rPr>
              <a:t>#</a:t>
            </a:r>
          </a:p>
          <a:p>
            <a:r>
              <a:rPr sz="1100">
                <a:solidFill>
                  <a:srgbClr val="CBD3F0"/>
                </a:solidFill>
                <a:latin typeface="Courier New"/>
              </a:rPr>
              <a:t># Output esperado:</a:t>
            </a:r>
          </a:p>
          <a:p>
            <a:r>
              <a:rPr sz="1100">
                <a:solidFill>
                  <a:srgbClr val="F9E2AF"/>
                </a:solidFill>
                <a:latin typeface="Courier New"/>
              </a:rPr>
              <a:t># OK: checked 12 deployments, all region/zone pairs are consistent</a:t>
            </a:r>
          </a:p>
        </p:txBody>
      </p:sp>
      <p:sp>
        <p:nvSpPr>
          <p:cNvPr id="7" name="Rectangle 6"/>
          <p:cNvSpPr/>
          <p:nvPr/>
        </p:nvSpPr>
        <p:spPr>
          <a:xfrm>
            <a:off x="6080760" y="114300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Script 1: generate_affinity_regions.sh</a:t>
            </a:r>
          </a:p>
          <a:p>
            <a:r>
              <a:rPr sz="1000">
                <a:solidFill>
                  <a:srgbClr val="555555"/>
                </a:solidFill>
              </a:rPr>
              <a:t>Propósito:
  Generar multi-región sin
  cross-product
Invocación:
  scripts/\
  generate_affinity_regions.sh
Parámetros (opcionales):
  1° arg: pairs (defecto: 3)
  2° arg: subzone name
Output: 3 bundled directories</a:t>
            </a:r>
          </a:p>
        </p:txBody>
      </p:sp>
      <p:sp>
        <p:nvSpPr>
          <p:cNvPr id="8" name="Rectangle 7"/>
          <p:cNvSpPr/>
          <p:nvPr/>
        </p:nvSpPr>
        <p:spPr>
          <a:xfrm>
            <a:off x="90525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Script 2: cleanup_invalid_affinity_pairs.sh</a:t>
            </a:r>
          </a:p>
          <a:p>
            <a:r>
              <a:rPr sz="1000">
                <a:solidFill>
                  <a:srgbClr val="555555"/>
                </a:solidFill>
              </a:rPr>
              <a:t>Propósito:
  Remover combinaciones
  inválidas (cross-product)
Causa común de error:
  create-affinity-yamls.py
  usa nested for-loops
  región x zona = 9 dirs
Este script:
  Mapea región → zona
  Borra dirs con zona incorrecta
Output: antes 9, después 3</a:t>
            </a:r>
          </a:p>
        </p:txBody>
      </p:sp>
      <p:sp>
        <p:nvSpPr>
          <p:cNvPr id="9" name="Rectangle 8"/>
          <p:cNvSpPr/>
          <p:nvPr/>
        </p:nvSpPr>
        <p:spPr>
          <a:xfrm>
            <a:off x="6080760" y="338328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Script 3: validate_affinity_pairs.py</a:t>
            </a:r>
          </a:p>
          <a:p>
            <a:r>
              <a:rPr sz="1000">
                <a:solidFill>
                  <a:srgbClr val="555555"/>
                </a:solidFill>
              </a:rPr>
              <a:t>Propósito:
  Confirmar coherencia
  entre folder structure
  y affinity values en YAML
Chequea:
  • Deployments exist
  • nodeAffinity rules OK
  • Naming matches
  • No cross-product
Exit code: 0 (OK) o 1 (error)</a:t>
            </a:r>
          </a:p>
        </p:txBody>
      </p:sp>
      <p:sp>
        <p:nvSpPr>
          <p:cNvPr id="10" name="Rectangle 9"/>
          <p:cNvSpPr/>
          <p:nvPr/>
        </p:nvSpPr>
        <p:spPr>
          <a:xfrm>
            <a:off x="90525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Ejecución Recomendada</a:t>
            </a:r>
          </a:p>
          <a:p>
            <a:r>
              <a:rPr sz="1000">
                <a:solidFill>
                  <a:srgbClr val="555555"/>
                </a:solidFill>
              </a:rPr>
              <a:t>1. generate:
   ./generate_affinity_regions.sh
2. cleanup (si es necesario):
   ./cleanup_invalid_affinity_pairs.sh
3. validate (always):
   python3 validate_affinity_pairs.py
Si validate OK:
  Listo para kubectl apply</a:t>
            </a:r>
          </a:p>
        </p:txBody>
      </p:sp>
      <p:sp>
        <p:nvSpPr>
          <p:cNvPr id="11" name="Rectangle 10"/>
          <p:cNvSpPr/>
          <p:nvPr/>
        </p:nvSpPr>
        <p:spPr>
          <a:xfrm>
            <a:off x="6080760" y="5623560"/>
            <a:ext cx="2834640" cy="2148840"/>
          </a:xfrm>
          <a:prstGeom prst="rect">
            <a:avLst/>
          </a:prstGeom>
          <a:solidFill>
            <a:srgbClr val="F0F4F8"/>
          </a:solidFill>
          <a:ln>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9E2AF"/>
                </a:solidFill>
                <a:latin typeface="Courier New"/>
              </a:rPr>
              <a:t>Ejemplo Custom Pairs</a:t>
            </a:r>
          </a:p>
          <a:p>
            <a:r>
              <a:rPr sz="1000">
                <a:solidFill>
                  <a:srgbClr val="555555"/>
                </a:solidFill>
              </a:rPr>
              <a:t>generate_affinity_regions.sh \
  "us-east1:us-east1-a,\
   eu-central1:eu-c1-b" \
  "custom-rack"
Genera:
  us-east1/us-east1-a/\
  custom-rack/
  eu-central1/eu-c1-b/\
  custom-rack/
SIN cross-product artifacts</a:t>
            </a:r>
          </a:p>
        </p:txBody>
      </p:sp>
      <p:sp>
        <p:nvSpPr>
          <p:cNvPr id="12" name="Rectangle 11"/>
          <p:cNvSpPr/>
          <p:nvPr/>
        </p:nvSpPr>
        <p:spPr>
          <a:xfrm>
            <a:off x="9052560" y="562356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Métricas de Éxito</a:t>
            </a:r>
          </a:p>
          <a:p>
            <a:r>
              <a:rPr sz="1000">
                <a:solidFill>
                  <a:srgbClr val="555555"/>
                </a:solidFill>
              </a:rPr>
              <a:t>✓ Generate: 3 directories
  (1 per region:zone pair)
✓ Cleanup: removed N dirs
  (invalid combos)
✓ Validate: checked 12 deps
  all consistent
✓ kubectl apply: 0 Pending
  all pods Running</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Critical Scripts — Dependencias y Orden de Ejecución</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zero_absolute_precheck → deploy_microk8s → validate_environment → cleanup_results · export_resource_metrics · C1-C4 controls</a:t>
            </a:r>
          </a:p>
        </p:txBody>
      </p:sp>
      <p:sp>
        <p:nvSpPr>
          <p:cNvPr id="5" name="Rectangle 4"/>
          <p:cNvSpPr/>
          <p:nvPr/>
        </p:nvSpPr>
        <p:spPr>
          <a:xfrm>
            <a:off x="365760" y="1143000"/>
            <a:ext cx="5577840" cy="26060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ORDEN DE EJECUCIÓN RECOMENDADO ────────────────────────────────</a:t>
            </a:r>
          </a:p>
          <a:p>
            <a:r>
              <a:rPr sz="1100">
                <a:solidFill>
                  <a:srgbClr val="CBD3F0"/>
                </a:solidFill>
                <a:latin typeface="Courier New"/>
              </a:rPr>
              <a:t># 1. PRE-DEPLOYMENT CHECKS (ONCE at session start)</a:t>
            </a:r>
          </a:p>
          <a:p>
            <a:r>
              <a:rPr sz="1100">
                <a:solidFill>
                  <a:srgbClr val="F9E2AF"/>
                </a:solidFill>
                <a:latin typeface="Courier New"/>
              </a:rPr>
              <a:t>./scripts/zero_absolute_precheck.sh         # validates: python3, docker, microk8s, k6, jq</a:t>
            </a:r>
          </a:p>
          <a:p>
            <a:r>
              <a:rPr sz="1100">
                <a:solidFill>
                  <a:srgbClr val="CBD3F0"/>
                </a:solidFill>
                <a:latin typeface="Courier New"/>
              </a:rPr>
              <a:t>./scripts/validate_environment.sh           # checks: k8s status, prometheus, grafana, pods</a:t>
            </a:r>
          </a:p>
          <a:p>
            <a:r>
              <a:rPr sz="1100">
                <a:solidFill>
                  <a:srgbClr val="CBD3F0"/>
                </a:solidFill>
                <a:latin typeface="Courier New"/>
              </a:rPr>
              <a:t>#</a:t>
            </a:r>
          </a:p>
          <a:p>
            <a:r>
              <a:rPr sz="1100">
                <a:solidFill>
                  <a:srgbClr val="CBD3F0"/>
                </a:solidFill>
                <a:latin typeface="Courier New"/>
              </a:rPr>
              <a:t># 2. CLUSTER SETUP (ONCE at session start)</a:t>
            </a:r>
          </a:p>
          <a:p>
            <a:r>
              <a:rPr sz="1100">
                <a:solidFill>
                  <a:srgbClr val="CBD3F0"/>
                </a:solidFill>
                <a:latin typeface="Courier New"/>
              </a:rPr>
              <a:t>./scripts/deploy_microk8s.sh --start        # deploys: k8s + prometheus + grafana + dashboards</a:t>
            </a:r>
          </a:p>
          <a:p>
            <a:r>
              <a:rPr sz="1100">
                <a:solidFill>
                  <a:srgbClr val="F9E2AF"/>
                </a:solidFill>
                <a:latin typeface="Courier New"/>
              </a:rPr>
              <a:t>export COMM_PROTOCOL=http|https             # set communication protocol</a:t>
            </a:r>
          </a:p>
          <a:p>
            <a:r>
              <a:rPr sz="1100">
                <a:solidFill>
                  <a:srgbClr val="CBD3F0"/>
                </a:solidFill>
                <a:latin typeface="Courier New"/>
              </a:rPr>
              <a:t>RUN_HYBRID_MODE=0 ./scripts/deploy_microk8s.sh --run  # deploy servicesgraph + benchmark</a:t>
            </a:r>
          </a:p>
          <a:p>
            <a:r>
              <a:rPr sz="1100">
                <a:solidFill>
                  <a:srgbClr val="CBD3F0"/>
                </a:solidFill>
                <a:latin typeface="Courier New"/>
              </a:rPr>
              <a:t>#</a:t>
            </a:r>
          </a:p>
          <a:p>
            <a:r>
              <a:rPr sz="1100">
                <a:solidFill>
                  <a:srgbClr val="CBD3F0"/>
                </a:solidFill>
                <a:latin typeface="Courier New"/>
              </a:rPr>
              <a:t># 3. VALIDATION &amp; MONITORING (DURING benchmarking)</a:t>
            </a:r>
          </a:p>
          <a:p>
            <a:r>
              <a:rPr sz="1100">
                <a:solidFill>
                  <a:srgbClr val="CBD3F0"/>
                </a:solidFill>
                <a:latin typeface="Courier New"/>
              </a:rPr>
              <a:t>./scripts/validate_environment.sh           # verify all pods are running</a:t>
            </a:r>
          </a:p>
          <a:p>
            <a:r>
              <a:rPr sz="1100">
                <a:solidFill>
                  <a:srgbClr val="F9E2AF"/>
                </a:solidFill>
                <a:latin typeface="Courier New"/>
              </a:rPr>
              <a:t>./scripts/export_resource_metrics.sh --window 15m --output-dir Testing/results</a:t>
            </a:r>
          </a:p>
          <a:p>
            <a:r>
              <a:rPr sz="1100">
                <a:solidFill>
                  <a:srgbClr val="CBD3F0"/>
                </a:solidFill>
                <a:latin typeface="Courier New"/>
              </a:rPr>
              <a:t>#</a:t>
            </a:r>
          </a:p>
          <a:p>
            <a:r>
              <a:rPr sz="1100">
                <a:solidFill>
                  <a:srgbClr val="F9E2AF"/>
                </a:solidFill>
                <a:latin typeface="Courier New"/>
              </a:rPr>
              <a:t># 4. CLEANUP &amp; ARCHIVE (AFTER benchmarking)</a:t>
            </a:r>
          </a:p>
          <a:p>
            <a:r>
              <a:rPr sz="1100">
                <a:solidFill>
                  <a:srgbClr val="CBD3F0"/>
                </a:solidFill>
                <a:latin typeface="Courier New"/>
              </a:rPr>
              <a:t>KEEP_RUNS=1 ./scripts/cleanup_results.sh    # keep latest run, clean temp files</a:t>
            </a:r>
          </a:p>
          <a:p>
            <a:r>
              <a:rPr sz="1100">
                <a:solidFill>
                  <a:srgbClr val="CBD3F0"/>
                </a:solidFill>
                <a:latin typeface="Courier New"/>
              </a:rPr>
              <a:t>TOTAL_CLEAN=1 ./scripts/cleanup_results.sh  # final cleanup: keep only latest entry</a:t>
            </a:r>
          </a:p>
        </p:txBody>
      </p:sp>
      <p:sp>
        <p:nvSpPr>
          <p:cNvPr id="6" name="Rectangle 5"/>
          <p:cNvSpPr/>
          <p:nvPr/>
        </p:nvSpPr>
        <p:spPr>
          <a:xfrm>
            <a:off x="365760" y="3840480"/>
            <a:ext cx="5577840" cy="269748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9E2AF"/>
                </a:solidFill>
                <a:latin typeface="Courier New"/>
              </a:rPr>
              <a:t># ── EXPERIMENTAL CONTROLS (C1-C4) ──────────────────────────────────</a:t>
            </a:r>
          </a:p>
          <a:p>
            <a:r>
              <a:rPr sz="1100">
                <a:solidFill>
                  <a:srgbClr val="CBD3F0"/>
                </a:solidFill>
                <a:latin typeface="Courier New"/>
              </a:rPr>
              <a:t># Each control runs benchmarks comparing API gateway / service mesh / network policies</a:t>
            </a:r>
          </a:p>
          <a:p>
            <a:r>
              <a:rPr sz="1100">
                <a:solidFill>
                  <a:srgbClr val="CBD3F0"/>
                </a:solidFill>
                <a:latin typeface="Courier New"/>
              </a:rPr>
              <a:t>#</a:t>
            </a:r>
          </a:p>
          <a:p>
            <a:r>
              <a:rPr sz="1100">
                <a:solidFill>
                  <a:srgbClr val="CBD3F0"/>
                </a:solidFill>
                <a:latin typeface="Courier New"/>
              </a:rPr>
              <a:t># Control 1: API Gateway comparison (baseline vs NGINX vs Kong)</a:t>
            </a:r>
          </a:p>
          <a:p>
            <a:r>
              <a:rPr sz="1100">
                <a:solidFill>
                  <a:srgbClr val="F9E2AF"/>
                </a:solidFill>
                <a:latin typeface="Courier New"/>
              </a:rPr>
              <a:t>./scripts/run_c1_only_tech_comparison.sh             # compare single-region gatewaves</a:t>
            </a:r>
          </a:p>
          <a:p>
            <a:r>
              <a:rPr sz="1100">
                <a:solidFill>
                  <a:srgbClr val="CBD3F0"/>
                </a:solidFill>
                <a:latin typeface="Courier New"/>
              </a:rPr>
              <a:t>./scripts/run_c1_realistic_tech_comparison.sh        # compare with realistic services</a:t>
            </a:r>
          </a:p>
          <a:p>
            <a:r>
              <a:rPr sz="1100">
                <a:solidFill>
                  <a:srgbClr val="CBD3F0"/>
                </a:solidFill>
                <a:latin typeface="Courier New"/>
              </a:rPr>
              <a:t>#</a:t>
            </a:r>
          </a:p>
          <a:p>
            <a:r>
              <a:rPr sz="1100">
                <a:solidFill>
                  <a:srgbClr val="CBD3F0"/>
                </a:solidFill>
                <a:latin typeface="Courier New"/>
              </a:rPr>
              <a:t># Control 2-4: Multi-region or specialized controls</a:t>
            </a:r>
          </a:p>
          <a:p>
            <a:r>
              <a:rPr sz="1100">
                <a:solidFill>
                  <a:srgbClr val="CBD3F0"/>
                </a:solidFill>
                <a:latin typeface="Courier New"/>
              </a:rPr>
              <a:t>./scripts/run_c2_realistic_tech_comparison.sh        # mTLS / service mesh</a:t>
            </a:r>
          </a:p>
          <a:p>
            <a:r>
              <a:rPr sz="1100">
                <a:solidFill>
                  <a:srgbClr val="F9E2AF"/>
                </a:solidFill>
                <a:latin typeface="Courier New"/>
              </a:rPr>
              <a:t>./scripts/run_c3_realistic_tech_comparison.sh        # network policies / fault tolerance</a:t>
            </a:r>
          </a:p>
          <a:p>
            <a:r>
              <a:rPr sz="1100">
                <a:solidFill>
                  <a:srgbClr val="CBD3F0"/>
                </a:solidFill>
                <a:latin typeface="Courier New"/>
              </a:rPr>
              <a:t>./scripts/run_c4_realistic_tech_comparison.sh        # topology-affinity / resource limits</a:t>
            </a:r>
          </a:p>
          <a:p>
            <a:r>
              <a:rPr sz="1100">
                <a:solidFill>
                  <a:srgbClr val="CBD3F0"/>
                </a:solidFill>
                <a:latin typeface="Courier New"/>
              </a:rPr>
              <a:t>#</a:t>
            </a:r>
          </a:p>
          <a:p>
            <a:r>
              <a:rPr sz="1100">
                <a:solidFill>
                  <a:srgbClr val="CBD3F0"/>
                </a:solidFill>
                <a:latin typeface="Courier New"/>
              </a:rPr>
              <a:t># Quick deploy for testing (alternative to full deploy_microk8s.sh)</a:t>
            </a:r>
          </a:p>
          <a:p>
            <a:r>
              <a:rPr sz="1100">
                <a:solidFill>
                  <a:srgbClr val="CBD3F0"/>
                </a:solidFill>
                <a:latin typeface="Courier New"/>
              </a:rPr>
              <a:t>./scripts/quick_deploy_services.sh                  # rapid servicesgraph deployment</a:t>
            </a:r>
          </a:p>
          <a:p>
            <a:r>
              <a:rPr sz="1100">
                <a:solidFill>
                  <a:srgbClr val="F9E2AF"/>
                </a:solidFill>
                <a:latin typeface="Courier New"/>
              </a:rPr>
              <a:t>./scripts/quick_test.sh                             # one-liner k6 test execution</a:t>
            </a:r>
          </a:p>
        </p:txBody>
      </p:sp>
      <p:sp>
        <p:nvSpPr>
          <p:cNvPr id="7" name="Rectangle 6"/>
          <p:cNvSpPr/>
          <p:nvPr/>
        </p:nvSpPr>
        <p:spPr>
          <a:xfrm>
            <a:off x="6080760" y="114300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zero_absolute_precheck.sh</a:t>
            </a:r>
          </a:p>
          <a:p>
            <a:r>
              <a:rPr sz="1000">
                <a:solidFill>
                  <a:srgbClr val="555555"/>
                </a:solidFill>
              </a:rPr>
              <a:t>QUÉ:
  Valida pre-requisitos
  (python3, docker, k6, jq)
CUÁNDO:
  Al inicio de sesión (1 vez)
IMPORTANTE:
  Sin esto: deployment fallará
  sin mensajes claros
SALIDA:
  [OK] Comando disponible: X
  [ERROR] No se encontró: Y</a:t>
            </a:r>
          </a:p>
        </p:txBody>
      </p:sp>
      <p:sp>
        <p:nvSpPr>
          <p:cNvPr id="8" name="Rectangle 7"/>
          <p:cNvSpPr/>
          <p:nvPr/>
        </p:nvSpPr>
        <p:spPr>
          <a:xfrm>
            <a:off x="9052560" y="114300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deploy_microk8s.sh</a:t>
            </a:r>
          </a:p>
          <a:p>
            <a:r>
              <a:rPr sz="1000">
                <a:solidFill>
                  <a:srgbClr val="555555"/>
                </a:solidFill>
              </a:rPr>
              <a:t>QUÉ:
  Script maestro del proyecto
  Orquesta TODO:
  • MicroK8s cluster setup
  • Prometheus + Grafana
  • ServiceGraph deployment
  • TLS certs (si HTTPS)
  • Dashboards + monitoring
CUÁNDO:
  Al iniciar sesión
IMPORTANTE:
  Puede tardar 5-10 minutos
  ENV vars: COMM_PROTOCOL,
  RUN_HYBRID_MODE, etc.</a:t>
            </a:r>
          </a:p>
        </p:txBody>
      </p:sp>
      <p:sp>
        <p:nvSpPr>
          <p:cNvPr id="9" name="Rectangle 8"/>
          <p:cNvSpPr/>
          <p:nvPr/>
        </p:nvSpPr>
        <p:spPr>
          <a:xfrm>
            <a:off x="6080760" y="338328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validate_environment.sh</a:t>
            </a:r>
          </a:p>
          <a:p>
            <a:r>
              <a:rPr sz="1000">
                <a:solidFill>
                  <a:srgbClr val="555555"/>
                </a:solidFill>
              </a:rPr>
              <a:t>QUÉ:
  Post-deployment check
  Verifica cada componente
CHEQUEA:
  • MicroK8s running
  • k6 instalado
  • Prometheus pods OK
  • Grafana pods OK
  • muBench pods count
  • Scripts executable
CUÁNDO:
  Después deploy_microk8s.sh
  Antes de benchmarking
OUTPUT:
  [OK] + [WARN] + [ERROR] count</a:t>
            </a:r>
          </a:p>
        </p:txBody>
      </p:sp>
      <p:sp>
        <p:nvSpPr>
          <p:cNvPr id="10" name="Rectangle 9"/>
          <p:cNvSpPr/>
          <p:nvPr/>
        </p:nvSpPr>
        <p:spPr>
          <a:xfrm>
            <a:off x="9052560" y="338328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export_resource_metrics.sh</a:t>
            </a:r>
          </a:p>
          <a:p>
            <a:r>
              <a:rPr sz="1000">
                <a:solidFill>
                  <a:srgbClr val="555555"/>
                </a:solidFill>
              </a:rPr>
              <a:t>QUÉ:
  Extrae métricas de Prometheus
  en formatos parseables
OPCIONES:
  --namespace &lt;ns&gt;
  --window &lt;15m|1h|30m&gt;
  --output-dir &lt;path&gt;
  --prom-url &lt;url&gt;
CUÁNDO:
  Durante/después benchmarks
  Para análisis de resultados
TÍPICO:
  export_resource_metrics.sh \
  --window 15m \
  --namespace mubench-realistic</a:t>
            </a:r>
          </a:p>
        </p:txBody>
      </p:sp>
      <p:sp>
        <p:nvSpPr>
          <p:cNvPr id="11" name="Rectangle 10"/>
          <p:cNvSpPr/>
          <p:nvPr/>
        </p:nvSpPr>
        <p:spPr>
          <a:xfrm>
            <a:off x="6080760" y="562356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cleanup_results.sh</a:t>
            </a:r>
          </a:p>
          <a:p>
            <a:r>
              <a:rPr sz="1000">
                <a:solidFill>
                  <a:srgbClr val="555555"/>
                </a:solidFill>
              </a:rPr>
              <a:t>QUÉ:
  Limpia archivos de test
  Gestiona espacio en disco
OPCIONES:
  --keep-runs N (default: 1)
  --dry-run (preview changes)
  --keep-raw (no borrar JSON)
  --total-clean (final cleanup)
CUÁNDO:
  Después de benchmarking
  Entre runs para ahorrar disco
IMPORTANTE:
  SIEMPRE --dry-run primero
  para verificar qué se borra</a:t>
            </a:r>
          </a:p>
        </p:txBody>
      </p:sp>
      <p:sp>
        <p:nvSpPr>
          <p:cNvPr id="12" name="Rectangle 11"/>
          <p:cNvSpPr/>
          <p:nvPr/>
        </p:nvSpPr>
        <p:spPr>
          <a:xfrm>
            <a:off x="9052560" y="5623560"/>
            <a:ext cx="2834640" cy="2148840"/>
          </a:xfrm>
          <a:prstGeom prst="rect">
            <a:avLst/>
          </a:prstGeom>
          <a:solidFill>
            <a:srgbClr val="F0F4F8"/>
          </a:solidFill>
          <a:ln>
            <a:solidFill>
              <a:srgbClr val="F9E2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9E2AF"/>
                </a:solidFill>
                <a:latin typeface="Courier New"/>
              </a:rPr>
              <a:t>C1-C4 Controls</a:t>
            </a:r>
          </a:p>
          <a:p>
            <a:r>
              <a:rPr sz="1000">
                <a:solidFill>
                  <a:srgbClr val="555555"/>
                </a:solidFill>
              </a:rPr>
              <a:t>QUÉ:
  Scripts de experimentos
  comparativos: teknologías,
  topologías, seguridad
C1: API Gateway vs baseline
C2: mTLS / service mesh
C3: network policies
C4: topology + resource limits
ENTRADA:
  ENV: VUS_LIST, DURATION
  Ports: BASELINE, NGINX, KONG
OUTPUT:
  Testing/results/c{N}-{ts}/
  {N}-{metric}.csv + .md summary</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1521440" cy="548640"/>
          </a:xfrm>
          <a:prstGeom prst="rect">
            <a:avLst/>
          </a:prstGeom>
          <a:noFill/>
        </p:spPr>
        <p:txBody>
          <a:bodyPr wrap="none">
            <a:spAutoFit/>
          </a:bodyPr>
          <a:lstStyle/>
          <a:p>
            <a:r>
              <a:rPr sz="2600" b="1">
                <a:solidFill>
                  <a:srgbClr val="FFFFFF"/>
                </a:solidFill>
              </a:rPr>
              <a:t>Migración RS → RW: qué reemplaza qué, punto a punto</a:t>
            </a:r>
          </a:p>
        </p:txBody>
      </p:sp>
      <p:sp>
        <p:nvSpPr>
          <p:cNvPr id="4" name="TextBox 3"/>
          <p:cNvSpPr txBox="1"/>
          <p:nvPr/>
        </p:nvSpPr>
        <p:spPr>
          <a:xfrm>
            <a:off x="320040" y="621792"/>
            <a:ext cx="11521440" cy="347472"/>
          </a:xfrm>
          <a:prstGeom prst="rect">
            <a:avLst/>
          </a:prstGeom>
          <a:noFill/>
        </p:spPr>
        <p:txBody>
          <a:bodyPr wrap="none">
            <a:spAutoFit/>
          </a:bodyPr>
          <a:lstStyle/>
          <a:p>
            <a:r>
              <a:rPr sz="1300">
                <a:solidFill>
                  <a:srgbClr val="BDD7EE"/>
                </a:solidFill>
              </a:rPr>
              <a:t>auth-service → AuthFunction · data-service → DataFunction · PostgreSQL → sleep · deploy-realistic.sh → K8sDeployer · namespace realistic → mubench-realistic</a:t>
            </a:r>
          </a:p>
        </p:txBody>
      </p:sp>
      <p:sp>
        <p:nvSpPr>
          <p:cNvPr id="5" name="Rectangle 4"/>
          <p:cNvSpPr/>
          <p:nvPr/>
        </p:nvSpPr>
        <p:spPr>
          <a:xfrm>
            <a:off x="365760" y="1143000"/>
            <a:ext cx="5577840" cy="274320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CAPA DE SERVICIOS — cada servicio RS tiene su equivalente en RW</a:t>
            </a:r>
          </a:p>
          <a:p>
            <a:r>
              <a:rPr sz="1100">
                <a:solidFill>
                  <a:srgbClr val="F9E2AF"/>
                </a:solidFill>
                <a:latin typeface="Courier New"/>
              </a:rPr>
              <a:t>#</a:t>
            </a:r>
          </a:p>
          <a:p>
            <a:r>
              <a:rPr sz="1100">
                <a:solidFill>
                  <a:srgbClr val="CBD3F0"/>
                </a:solidFill>
                <a:latin typeface="Courier New"/>
              </a:rPr>
              <a:t># RealisticServices/            RealisticWorkspace/</a:t>
            </a:r>
          </a:p>
          <a:p>
            <a:r>
              <a:rPr sz="1100">
                <a:solidFill>
                  <a:srgbClr val="F9E2AF"/>
                </a:solidFill>
                <a:latin typeface="Courier New"/>
              </a:rPr>
              <a:t># ────────────────────────────  ──────────────────────────────────────</a:t>
            </a:r>
          </a:p>
          <a:p>
            <a:r>
              <a:rPr sz="1100">
                <a:solidFill>
                  <a:srgbClr val="CBD3F0"/>
                </a:solidFill>
                <a:latin typeface="Courier New"/>
              </a:rPr>
              <a:t># auth-service/app.py           AuthFunction.py (en ConfigMap)</a:t>
            </a:r>
          </a:p>
          <a:p>
            <a:r>
              <a:rPr sz="1100">
                <a:solidFill>
                  <a:srgbClr val="F9E2AF"/>
                </a:solidFill>
                <a:latin typeface="Courier New"/>
              </a:rPr>
              <a:t>#   FastAPI, imagen custom         CellController-mp.py</a:t>
            </a:r>
          </a:p>
          <a:p>
            <a:r>
              <a:rPr sz="1100">
                <a:solidFill>
                  <a:srgbClr val="CBD3F0"/>
                </a:solidFill>
                <a:latin typeface="Courier New"/>
              </a:rPr>
              <a:t>#   POST /login                    path /api/v1, APP=auth</a:t>
            </a:r>
          </a:p>
          <a:p>
            <a:r>
              <a:rPr sz="1100">
                <a:solidFill>
                  <a:srgbClr val="CBD3F0"/>
                </a:solidFill>
                <a:latin typeface="Courier New"/>
              </a:rPr>
              <a:t>#   jwt.encode real                jwt.encode real (mismo código)</a:t>
            </a:r>
          </a:p>
          <a:p>
            <a:r>
              <a:rPr sz="1100">
                <a:solidFill>
                  <a:srgbClr val="CBD3F0"/>
                </a:solidFill>
                <a:latin typeface="Courier New"/>
              </a:rPr>
              <a:t>#   valida user/pass (demo)         sleep(auth_latency_ms) → siempre OK</a:t>
            </a:r>
          </a:p>
          <a:p>
            <a:r>
              <a:rPr sz="1100">
                <a:solidFill>
                  <a:srgbClr val="CBD3F0"/>
                </a:solidFill>
                <a:latin typeface="Courier New"/>
              </a:rPr>
              <a:t>#   retorna 401 si credenciales     NUNCA retorna 401</a:t>
            </a:r>
          </a:p>
          <a:p>
            <a:r>
              <a:rPr sz="1100">
                <a:solidFill>
                  <a:srgbClr val="CBD3F0"/>
                </a:solidFill>
                <a:latin typeface="Courier New"/>
              </a:rPr>
              <a:t>#</a:t>
            </a:r>
          </a:p>
          <a:p>
            <a:r>
              <a:rPr sz="1100">
                <a:solidFill>
                  <a:srgbClr val="CBD3F0"/>
                </a:solidFill>
                <a:latin typeface="Courier New"/>
              </a:rPr>
              <a:t># data-service/app.py           DataFunction.py (en ConfigMap)</a:t>
            </a:r>
          </a:p>
          <a:p>
            <a:r>
              <a:rPr sz="1100">
                <a:solidFill>
                  <a:srgbClr val="F9E2AF"/>
                </a:solidFill>
                <a:latin typeface="Courier New"/>
              </a:rPr>
              <a:t>#   FastAPI, imagen custom         CellController-mp.py</a:t>
            </a:r>
          </a:p>
          <a:p>
            <a:r>
              <a:rPr sz="1100">
                <a:solidFill>
                  <a:srgbClr val="CBD3F0"/>
                </a:solidFill>
                <a:latin typeface="Courier New"/>
              </a:rPr>
              <a:t>#   psycopg2 → PostgreSQL real      sleep(query_latency_ms)</a:t>
            </a:r>
          </a:p>
          <a:p>
            <a:r>
              <a:rPr sz="1100">
                <a:solidFill>
                  <a:srgbClr val="CBD3F0"/>
                </a:solidFill>
                <a:latin typeface="Courier New"/>
              </a:rPr>
              <a:t>#   SELECT FROM app_users           genera rows JSON ficticios</a:t>
            </a:r>
          </a:p>
          <a:p>
            <a:r>
              <a:rPr sz="1100">
                <a:solidFill>
                  <a:srgbClr val="CBD3F0"/>
                </a:solidFill>
                <a:latin typeface="Courier New"/>
              </a:rPr>
              <a:t>#   retorna 404/409/500             NUNCA retorna 4xx/5xx</a:t>
            </a:r>
          </a:p>
          <a:p>
            <a:r>
              <a:rPr sz="1100">
                <a:solidFill>
                  <a:srgbClr val="CBD3F0"/>
                </a:solidFill>
                <a:latin typeface="Courier New"/>
              </a:rPr>
              <a:t>#   latencia real de DB             latencia controlada exacta</a:t>
            </a:r>
          </a:p>
          <a:p>
            <a:r>
              <a:rPr sz="1100">
                <a:solidFill>
                  <a:srgbClr val="CBD3F0"/>
                </a:solidFill>
                <a:latin typeface="Courier New"/>
              </a:rPr>
              <a:t>#</a:t>
            </a:r>
          </a:p>
          <a:p>
            <a:r>
              <a:rPr sz="1100">
                <a:solidFill>
                  <a:srgbClr val="CBD3F0"/>
                </a:solidFill>
                <a:latin typeface="Courier New"/>
              </a:rPr>
              <a:t># api-service/app.py            ApiFunction.py (en ConfigMap)</a:t>
            </a:r>
          </a:p>
          <a:p>
            <a:r>
              <a:rPr sz="1100">
                <a:solidFill>
                  <a:srgbClr val="F9E2AF"/>
                </a:solidFill>
                <a:latin typeface="Courier New"/>
              </a:rPr>
              <a:t>#   FastAPI, imagen custom         CellController-mp.py</a:t>
            </a:r>
          </a:p>
          <a:p>
            <a:r>
              <a:rPr sz="1100">
                <a:solidFill>
                  <a:srgbClr val="CBD3F0"/>
                </a:solidFill>
                <a:latin typeface="Courier New"/>
              </a:rPr>
              <a:t>#   jwt.decode real                jwt.encode+decode (simulación)</a:t>
            </a:r>
          </a:p>
          <a:p>
            <a:r>
              <a:rPr sz="1100">
                <a:solidFill>
                  <a:srgbClr val="CBD3F0"/>
                </a:solidFill>
                <a:latin typeface="Courier New"/>
              </a:rPr>
              <a:t>#   deque rate limiting            deque rate limiting (mismo)</a:t>
            </a:r>
          </a:p>
          <a:p>
            <a:r>
              <a:rPr sz="1100">
                <a:solidFill>
                  <a:srgbClr val="CBD3F0"/>
                </a:solidFill>
                <a:latin typeface="Courier New"/>
              </a:rPr>
              <a:t>#   llama data-service via HTTP     llama sdb-data via ExternalServiceExecutor</a:t>
            </a:r>
          </a:p>
          <a:p>
            <a:r>
              <a:rPr sz="1100">
                <a:solidFill>
                  <a:srgbClr val="CBD3F0"/>
                </a:solidFill>
                <a:latin typeface="Courier New"/>
              </a:rPr>
              <a:t>#   DOWNSTREAM_REQUEST_DURATION     mub_external_processing (Summary)</a:t>
            </a:r>
          </a:p>
        </p:txBody>
      </p:sp>
      <p:sp>
        <p:nvSpPr>
          <p:cNvPr id="6" name="Rectangle 5"/>
          <p:cNvSpPr/>
          <p:nvPr/>
        </p:nvSpPr>
        <p:spPr>
          <a:xfrm>
            <a:off x="365760" y="3977639"/>
            <a:ext cx="5577840" cy="2834640"/>
          </a:xfrm>
          <a:prstGeom prst="rect">
            <a:avLst/>
          </a:prstGeom>
          <a:solidFill>
            <a:srgbClr val="1E1E2E"/>
          </a:solidFill>
          <a:ln>
            <a:solidFill>
              <a:srgbClr val="44446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CBD3F0"/>
                </a:solidFill>
                <a:latin typeface="Courier New"/>
              </a:rPr>
              <a:t># CAPA DE INFRAESTRUCTURA — despliegue, namespace, gateway, metrics</a:t>
            </a:r>
          </a:p>
          <a:p>
            <a:r>
              <a:rPr sz="1100">
                <a:solidFill>
                  <a:srgbClr val="F9E2AF"/>
                </a:solidFill>
                <a:latin typeface="Courier New"/>
              </a:rPr>
              <a:t>#</a:t>
            </a:r>
          </a:p>
          <a:p>
            <a:r>
              <a:rPr sz="1100">
                <a:solidFill>
                  <a:srgbClr val="CBD3F0"/>
                </a:solidFill>
                <a:latin typeface="Courier New"/>
              </a:rPr>
              <a:t># RealisticServices/            RealisticWorkspace/</a:t>
            </a:r>
          </a:p>
          <a:p>
            <a:r>
              <a:rPr sz="1100">
                <a:solidFill>
                  <a:srgbClr val="F9E2AF"/>
                </a:solidFill>
                <a:latin typeface="Courier New"/>
              </a:rPr>
              <a:t># ────────────────────────────  ──────────────────────────────────────</a:t>
            </a:r>
          </a:p>
          <a:p>
            <a:r>
              <a:rPr sz="1100">
                <a:solidFill>
                  <a:srgbClr val="CBD3F0"/>
                </a:solidFill>
                <a:latin typeface="Courier New"/>
              </a:rPr>
              <a:t># namespace: realistic          namespace: mubench-realistic</a:t>
            </a:r>
          </a:p>
          <a:p>
            <a:r>
              <a:rPr sz="1100">
                <a:solidFill>
                  <a:srgbClr val="CBD3F0"/>
                </a:solidFill>
                <a:latin typeface="Courier New"/>
              </a:rPr>
              <a:t>#</a:t>
            </a:r>
          </a:p>
          <a:p>
            <a:r>
              <a:rPr sz="1100">
                <a:solidFill>
                  <a:srgbClr val="CBD3F0"/>
                </a:solidFill>
                <a:latin typeface="Courier New"/>
              </a:rPr>
              <a:t># PostgreSQL (01-postgres.yaml) NO EXISTE — reemplazado por sleep</a:t>
            </a:r>
          </a:p>
          <a:p>
            <a:r>
              <a:rPr sz="1100">
                <a:solidFill>
                  <a:srgbClr val="F9E2AF"/>
                </a:solidFill>
                <a:latin typeface="Courier New"/>
              </a:rPr>
              <a:t>#   Secret postgres-secret         ─ eliminado</a:t>
            </a:r>
          </a:p>
          <a:p>
            <a:r>
              <a:rPr sz="1100">
                <a:solidFill>
                  <a:srgbClr val="CBD3F0"/>
                </a:solidFill>
                <a:latin typeface="Courier New"/>
              </a:rPr>
              <a:t>#   initSQL: CREATE TABLE           ─ eliminado</a:t>
            </a:r>
          </a:p>
          <a:p>
            <a:r>
              <a:rPr sz="1100">
                <a:solidFill>
                  <a:srgbClr val="CBD3F0"/>
                </a:solidFill>
                <a:latin typeface="Courier New"/>
              </a:rPr>
              <a:t>#   imagen: postgres:15             ─ eliminado</a:t>
            </a:r>
          </a:p>
          <a:p>
            <a:r>
              <a:rPr sz="1100">
                <a:solidFill>
                  <a:srgbClr val="CBD3F0"/>
                </a:solidFill>
                <a:latin typeface="Courier New"/>
              </a:rPr>
              <a:t>#</a:t>
            </a:r>
          </a:p>
          <a:p>
            <a:r>
              <a:rPr sz="1100">
                <a:solidFill>
                  <a:srgbClr val="CBD3F0"/>
                </a:solidFill>
                <a:latin typeface="Courier New"/>
              </a:rPr>
              <a:t># deploy-realistic.sh            K8sDeployer.py</a:t>
            </a:r>
          </a:p>
          <a:p>
            <a:r>
              <a:rPr sz="1100">
                <a:solidFill>
                  <a:srgbClr val="F9E2AF"/>
                </a:solidFill>
                <a:latin typeface="Courier New"/>
              </a:rPr>
              <a:t>#   docker build + push            usa msvcbench/microservice:latest</a:t>
            </a:r>
          </a:p>
          <a:p>
            <a:r>
              <a:rPr sz="1100">
                <a:solidFill>
                  <a:srgbClr val="CBD3F0"/>
                </a:solidFill>
                <a:latin typeface="Courier New"/>
              </a:rPr>
              <a:t>#   microk8s enable registry       sin registry propio</a:t>
            </a:r>
          </a:p>
          <a:p>
            <a:r>
              <a:rPr sz="1100">
                <a:solidFill>
                  <a:srgbClr val="CBD3F0"/>
                </a:solidFill>
                <a:latin typeface="Courier New"/>
              </a:rPr>
              <a:t>#   kubectl apply k8s/*.yaml       genera yamls/ desde workmodel.json</a:t>
            </a:r>
          </a:p>
          <a:p>
            <a:r>
              <a:rPr sz="1100">
                <a:solidFill>
                  <a:srgbClr val="CBD3F0"/>
                </a:solidFill>
                <a:latin typeface="Courier New"/>
              </a:rPr>
              <a:t>#</a:t>
            </a:r>
          </a:p>
          <a:p>
            <a:r>
              <a:rPr sz="1100">
                <a:solidFill>
                  <a:srgbClr val="CBD3F0"/>
                </a:solidFill>
                <a:latin typeface="Courier New"/>
              </a:rPr>
              <a:t># Gateway: api-service NodePort   Gateway: gw-nginx NodePort</a:t>
            </a:r>
          </a:p>
          <a:p>
            <a:r>
              <a:rPr sz="1100">
                <a:solidFill>
                  <a:srgbClr val="F9E2AF"/>
                </a:solidFill>
                <a:latin typeface="Courier New"/>
              </a:rPr>
              <a:t>#   :30081 directo al pod           :31213 con proxy_pass /api/v1</a:t>
            </a:r>
          </a:p>
          <a:p>
            <a:r>
              <a:rPr sz="1100">
                <a:solidFill>
                  <a:srgbClr val="CBD3F0"/>
                </a:solidFill>
                <a:latin typeface="Courier New"/>
              </a:rPr>
              <a:t>#</a:t>
            </a:r>
          </a:p>
          <a:p>
            <a:r>
              <a:rPr sz="1100">
                <a:solidFill>
                  <a:srgbClr val="CBD3F0"/>
                </a:solidFill>
                <a:latin typeface="Courier New"/>
              </a:rPr>
              <a:t># Métricas: mubench_http_*        Métricas: mub_request_processing_*</a:t>
            </a:r>
          </a:p>
          <a:p>
            <a:r>
              <a:rPr sz="1100">
                <a:solidFill>
                  <a:srgbClr val="F9E2AF"/>
                </a:solidFill>
                <a:latin typeface="Courier New"/>
              </a:rPr>
              <a:t>#   Histogram en SEGUNDOS           Summary en MILISEGUNDOS</a:t>
            </a:r>
          </a:p>
          <a:p>
            <a:r>
              <a:rPr sz="1100">
                <a:solidFill>
                  <a:srgbClr val="CBD3F0"/>
                </a:solidFill>
                <a:latin typeface="Courier New"/>
              </a:rPr>
              <a:t>#   namespace: observability        namespace: monitoring (helm) /</a:t>
            </a:r>
          </a:p>
          <a:p>
            <a:r>
              <a:rPr sz="1100">
                <a:solidFill>
                  <a:srgbClr val="CBD3F0"/>
                </a:solidFill>
                <a:latin typeface="Courier New"/>
              </a:rPr>
              <a:t>#   ServiceMonitor (ServiceMonitor)  observability (microk8s)</a:t>
            </a:r>
          </a:p>
          <a:p>
            <a:r>
              <a:rPr sz="1100">
                <a:solidFill>
                  <a:srgbClr val="CBD3F0"/>
                </a:solidFill>
                <a:latin typeface="Courier New"/>
              </a:rPr>
              <a:t>#   release: kube-prom-stack        release: prometheus / kube-prom-stack</a:t>
            </a:r>
          </a:p>
        </p:txBody>
      </p:sp>
      <p:sp>
        <p:nvSpPr>
          <p:cNvPr id="7" name="Rectangle 6"/>
          <p:cNvSpPr/>
          <p:nvPr/>
        </p:nvSpPr>
        <p:spPr>
          <a:xfrm>
            <a:off x="6080760" y="1143000"/>
            <a:ext cx="2834640" cy="2148840"/>
          </a:xfrm>
          <a:prstGeom prst="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C0392B"/>
                </a:solidFill>
                <a:latin typeface="Courier New"/>
              </a:rPr>
              <a:t>Lo que RS tiene y RW NO puede cubrir</a:t>
            </a:r>
          </a:p>
          <a:p>
            <a:r>
              <a:rPr sz="1000">
                <a:solidFill>
                  <a:srgbClr val="555555"/>
                </a:solidFill>
              </a:rPr>
              <a:t>Solo 2 cosas genuinamente únicas en RS:
1. Errores reales de la capa de datos:
   404 → user no existe en DB
   409 → username/email duplicado
   503 → PostgreSQL caído
   DataFunction siempre retorna 200.
2. Latencia con varianza real:
   PostgreSQL tiene jitter real
   (vacuums, locks, cold cache).
   sleep() es determinista.
Para benchmarking de infra
(comparar NGINX vs Kong vs Istio)
estos 2 puntos NO importan.
Para testing de resiliencia SÍ.</a:t>
            </a:r>
          </a:p>
        </p:txBody>
      </p:sp>
      <p:sp>
        <p:nvSpPr>
          <p:cNvPr id="8" name="Rectangle 7"/>
          <p:cNvSpPr/>
          <p:nvPr/>
        </p:nvSpPr>
        <p:spPr>
          <a:xfrm>
            <a:off x="9052560" y="1143000"/>
            <a:ext cx="2834640" cy="2148840"/>
          </a:xfrm>
          <a:prstGeom prst="rect">
            <a:avLst/>
          </a:prstGeom>
          <a:solidFill>
            <a:srgbClr val="F0F4F8"/>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2E75B6"/>
                </a:solidFill>
                <a:latin typeface="Courier New"/>
              </a:rPr>
              <a:t>Lo que RW añade sobre RS</a:t>
            </a:r>
          </a:p>
          <a:p>
            <a:r>
              <a:rPr sz="1000">
                <a:solidFill>
                  <a:srgbClr val="555555"/>
                </a:solidFill>
              </a:rPr>
              <a:t>RW tiene cosas que RS no tiene:
1. Topología configurable:
   workmodel.json dinámico
   → cambiar latencias sin rebuild
   → cambiar service graph JSON
2. Integración con el pipeline:
   K8sDeployer genera los yamls
   WorkModelGenerator crea el JSON
3. affinity-yamls/ para exp-05
4. HPA preconfigurado por servicio
5. Sin dependencias externas
   → portabilidad total
   → CI/CD sin estado previo</a:t>
            </a:r>
          </a:p>
        </p:txBody>
      </p:sp>
      <p:sp>
        <p:nvSpPr>
          <p:cNvPr id="9" name="Rectangle 8"/>
          <p:cNvSpPr/>
          <p:nvPr/>
        </p:nvSpPr>
        <p:spPr>
          <a:xfrm>
            <a:off x="6080760" y="3383280"/>
            <a:ext cx="2834640" cy="2148840"/>
          </a:xfrm>
          <a:prstGeom prst="rect">
            <a:avLst/>
          </a:prstGeom>
          <a:solidFill>
            <a:srgbClr val="F0F4F8"/>
          </a:solidFill>
          <a:ln>
            <a:solidFill>
              <a:srgbClr val="D369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D3690F"/>
                </a:solidFill>
                <a:latin typeface="Courier New"/>
              </a:rPr>
              <a:t>Credenciales y JWT: idénticos</a:t>
            </a:r>
          </a:p>
          <a:p>
            <a:r>
              <a:rPr sz="1000">
                <a:solidFill>
                  <a:srgbClr val="555555"/>
                </a:solidFill>
              </a:rPr>
              <a:t>Ambos usan EXACTAMENTE el mismo:
  JWT_SECRET: mubench-dev-secret
  Algorithm: HS256
  Expire: 30 min
  Subject: demo
RS auth-service/app.py:
  jwt.encode({sub: demo, ...})
RW AuthFunction.py:
  jwt.encode({sub: demo, ...})
Los tokens son intercambiables.
Un k6 script que hace login en RS
funciona igual con RW sin cambios
en el script — mismo token, misma
clave, mismo algoritmo.</a:t>
            </a:r>
          </a:p>
        </p:txBody>
      </p:sp>
      <p:sp>
        <p:nvSpPr>
          <p:cNvPr id="10" name="Rectangle 9"/>
          <p:cNvSpPr/>
          <p:nvPr/>
        </p:nvSpPr>
        <p:spPr>
          <a:xfrm>
            <a:off x="9052560" y="3383280"/>
            <a:ext cx="2834640" cy="2148840"/>
          </a:xfrm>
          <a:prstGeom prst="rect">
            <a:avLst/>
          </a:prstGeom>
          <a:solidFill>
            <a:srgbClr val="F0F4F8"/>
          </a:solidFill>
          <a:ln>
            <a:solidFill>
              <a:srgbClr val="684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844B4"/>
                </a:solidFill>
                <a:latin typeface="Courier New"/>
              </a:rPr>
              <a:t>Rate limiting: mismo algoritmo</a:t>
            </a:r>
          </a:p>
          <a:p>
            <a:r>
              <a:rPr sz="1000">
                <a:solidFill>
                  <a:srgbClr val="555555"/>
                </a:solidFill>
              </a:rPr>
              <a:t>RS api-service/app.py:
  _rate_lock = Lock()
  _rate_window = deque()
  ventana 60s, HTTPException(429)
RW ApiFunction.py:
  _rate_lock = Lock()
  _rate_window = deque()
  ventana 60s
  DIFERENCIA: en RW rate limit
  excedido → time.sleep(0.05)
  (no lanza HTTPException)
Ambos in-memory por proceso.
Limitación idéntica: múltiples
réplicas multiplican el límite.
Para migración completa: cambiar
RW para lanzar error en lugar de
hacer sleep al exceder límite.</a:t>
            </a:r>
          </a:p>
        </p:txBody>
      </p:sp>
      <p:sp>
        <p:nvSpPr>
          <p:cNvPr id="11" name="Rectangle 10"/>
          <p:cNvSpPr/>
          <p:nvPr/>
        </p:nvSpPr>
        <p:spPr>
          <a:xfrm>
            <a:off x="6080760" y="5623560"/>
            <a:ext cx="2834640" cy="2148840"/>
          </a:xfrm>
          <a:prstGeom prst="rect">
            <a:avLst/>
          </a:prstGeom>
          <a:solidFill>
            <a:srgbClr val="F0F4F8"/>
          </a:solidFill>
          <a:ln>
            <a:solidFill>
              <a:srgbClr val="1E6B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6B3A"/>
                </a:solidFill>
                <a:latin typeface="Courier New"/>
              </a:rPr>
              <a:t>Pasos concretos para migrar</a:t>
            </a:r>
          </a:p>
          <a:p>
            <a:r>
              <a:rPr sz="1000">
                <a:solidFill>
                  <a:srgbClr val="555555"/>
                </a:solidFill>
              </a:rPr>
              <a:t>1. Borrar RealisticServices/ del cluster:
   kubectl delete ns realistic
2. Usar RW como único backend:
   kubectl apply -f \
     RealisticWorkspace/yamls/
3. Ajustar latencias en workmodel:
   auth_latency_ms ≈ latencia
     real de tu auth-service
   query_latency_ms ≈ latencia
     real de tu PostgreSQL
4. Adaptar scripts k6:
   TARGET_URL → :31213 (gw-nginx)
   path /profile → /api/v1
   POST /login → no necesario,
     auth está embebido en api</a:t>
            </a:r>
          </a:p>
        </p:txBody>
      </p:sp>
      <p:sp>
        <p:nvSpPr>
          <p:cNvPr id="12" name="Rectangle 11"/>
          <p:cNvSpPr/>
          <p:nvPr/>
        </p:nvSpPr>
        <p:spPr>
          <a:xfrm>
            <a:off x="9052560" y="5623560"/>
            <a:ext cx="2834640" cy="2148840"/>
          </a:xfrm>
          <a:prstGeom prst="rect">
            <a:avLst/>
          </a:prstGeom>
          <a:solidFill>
            <a:srgbClr val="F0F4F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497D"/>
                </a:solidFill>
                <a:latin typeface="Courier New"/>
              </a:rPr>
              <a:t>Pendiente para migración completa</a:t>
            </a:r>
          </a:p>
          <a:p>
            <a:r>
              <a:rPr sz="1000">
                <a:solidFill>
                  <a:srgbClr val="555555"/>
                </a:solidFill>
              </a:rPr>
              <a:t>Único gap real: errores 401/403
RS retorna 401 si credenciales
son incorrectas.
RW ApiFunction siempre OK.
Para cerrar el gap, añadir en
ApiFunction.py:
  if not jwt_valid:
    # CellController no tiene
    # mecanismo de retornar 401
    # desde una internal function
ALTERNATIVA más simple:
Considerar que los tests k6 ya
generan tokens válidos (HS256),
así que el path de 401 no se
activa en benchmarks normales.
El 401 solo importa en tests
de seguridad, no de rendimiento.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